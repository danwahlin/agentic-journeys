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Apache Superset is an open-source BI and data exploration platform. It needs init containers, a shared volume, and mounted configuration, which is why this journey uses Azure Kubernetes Service instead of Container Apps. AKS is the most expensive journey, around 200 dollars a month if left running, so we check cost and quota up front and tear down the same day. Deployment takes 15 to 25 minutes. Timing guide: 5 minutes intro, 12 minutes why AKS, 18 minutes gate and generate, 18 minutes deploy and verify, 7 minutes wrap-up.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Superset lets people explore data with charts, dashboards, and SQL. By the end, it runs on AKS backed by Azure PostgreSQL, and you sign in and create a first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pattern as the other open-source journeys. The oss-to-azure-deployer agent uses the superset-azure app skill in this repo and the Azure Skills plugin. This time it generates Bicep plus Kubernetes manifests and a hook that applies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why AKS. About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 Apps is managed, scales to zero, and costs about 10 to 35 dollars a month for Grafana or n8n. AKS gives you full Kubernetes and Helm and control of every pod, at about 200 dollars a month. Do not pick AKS by default. Pick it when the workload needs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official Superset image does not include the PostgreSQL driver. An init container installs psycopg2 into a shared emptyDir volume and runs database migrations. The main Gunicorn container reads the driver from that volume and loads superset_config.py from a ConfigMap. It connects to Azure PostgreSQL with sslmode=require. Init containers, shared volumes, and ConfigMaps are Kubernetes patterns, and that is what justifies AKS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 the Azure Skills plugin and choose the oss-to-azure-deployer agent. Also check VM quota in your region. The cluster needs two Standard_D2s_v3 nodes, and running out of quota halfway through a deployment is a slow, expensive way to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cost and for the reasoning. The explanation should mention init containers, the shared volume, and ConfigMaps. Look at the monthly cost carefully before continuing.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gate, then generate. About 18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skill includes a spec for an infrastructure gate: a script that checks the generated Bicep and manifests for the known failure modes. At least two nodes, the /healthz load balancer probe, PYTHONPATH declared as a container environment variable, waiting for the NGINX controller before applying the Ingress, no local kubectl or Helm, and more. Create it first and prove it fails. Then generate until it passes, without editing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failing gate proves the gate can detect missing work. Committing it means you can later prove it was not changed: git diff --exit-code HEAD -- scripts/check-infra-superset.mjs.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 aks command invoke runs kubectl and Helm inside Azure, so learners do not need them installed locally. Full prompt:
Generate the infrastructure for that plan: Bicep and Kubernetes manifests in infra-superset/, azure.yaml, and infra-superset/hooks/postprovision.js. Keep going until "node scripts/check-infra-superset.mjs --offline" passes, and don't change that script. Generate secure passwords for all credentials and store them only in the azd environment. The hook must attach the Kubernetes manifests to `az aks command invoke`, run Helm and kubectl inside Azure, and poll the load balancer without requiring those tools on the host. Prepare the azd environment for westus and my current subscription, then run azd provision --preview and summarize what it will create. Don't run azd up. If a step fails, inspect the relevant logs, make the smallest safe correction, rerun the failed step, and record the problem and resolution in issues.md. Do not print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Traffic enters through a public Azure Load Balancer, whose health probe must use /healthz, not /. The NGINX ingress controller, installed by Helm, routes to the Superset service and pod on a two-node AKS cluster. The pod connects to Azure PostgreSQL Flexible Server with sslmode=require. Logs go to Log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deploy and verify. About 18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azd up takes 15 to 25 minutes. Use /fork to branch the conversation and ask a what-if question without cluttering your main session. When you are done, /resume takes you back. This is a great way to learn during long waits.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verifier checks pods through az aks command invoke, confirms the logs show PostgreSQL, checks the public /health endpoint, and confirms the load balancer probe path. Get the URL and admin password with azd env get-value SUPERSET_URL and SUPERSET_ADMIN_PASSWORD. Do not paste the password into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Superset quietly falls back to SQLite if the PostgreSQL driver or configuration is missing. The app starts and looks fine, but data would be lost. The log line gives it away: PostgresqlImpl is good, SQLiteImpl means psycopg2 or superset_config.py is not wired up. Ask the agent: "Is my Superset deployment using PostgreSQL?" If a pod is stuck in Init:0/1, ask it to check the init container logs and test PostgreSQL connectivity.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the resource group name, run azd down with force and purge, and wait. Deleting AKS and PostgreSQL takes 5 to 10 minutes. Confirm with az group exists, which should return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Choose the platform from the workload's needs. Kubernetes patterns like init containers justify AKS here. Write the gate before generating infrastructure. And review cost and quota before a big deployment, then clean up the same day. To build your own app from a plan, start with WeatherView.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787301"/>
            <a:ext cx="711101"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6" name="Text 3"/>
          <p:cNvSpPr/>
          <p:nvPr/>
        </p:nvSpPr>
        <p:spPr>
          <a:xfrm>
            <a:off x="482501" y="1053852"/>
            <a:ext cx="7772400" cy="152400"/>
          </a:xfrm>
          <a:prstGeom prst="rect">
            <a:avLst/>
          </a:prstGeom>
          <a:noFill/>
          <a:ln/>
        </p:spPr>
        <p:txBody>
          <a:bodyPr wrap="square" lIns="0" tIns="0" rIns="0" bIns="0" rtlCol="0" anchor="t"/>
          <a:lstStyle/>
          <a:p>
            <a:pPr algn="l" indent="0" marL="0">
              <a:spcAft>
                <a:spcPts val="600"/>
              </a:spcAft>
              <a:buNone/>
            </a:pPr>
            <a:r>
              <a:rPr lang="en-US" sz="1100" b="1" dirty="0">
                <a:solidFill>
                  <a:srgbClr val="1A7F37"/>
                </a:solidFill>
                <a:latin typeface="Arial" pitchFamily="34" charset="0"/>
                <a:ea typeface="Arial" pitchFamily="34" charset="-122"/>
                <a:cs typeface="Arial" pitchFamily="34" charset="-120"/>
              </a:rPr>
              <a:t>AGENTIC JOURNEY · GITHUB AND AZURE</a:t>
            </a:r>
            <a:endParaRPr lang="en-US" sz="1100" dirty="0"/>
          </a:p>
        </p:txBody>
      </p:sp>
      <p:sp>
        <p:nvSpPr>
          <p:cNvPr id="7" name="Text 4"/>
          <p:cNvSpPr/>
          <p:nvPr/>
        </p:nvSpPr>
        <p:spPr>
          <a:xfrm>
            <a:off x="482501" y="1282452"/>
            <a:ext cx="7772400" cy="584150"/>
          </a:xfrm>
          <a:prstGeom prst="rect">
            <a:avLst/>
          </a:prstGeom>
          <a:noFill/>
          <a:ln/>
        </p:spPr>
        <p:txBody>
          <a:bodyPr wrap="square" lIns="0" tIns="0" rIns="0" bIns="0" rtlCol="0" anchor="t"/>
          <a:lstStyle/>
          <a:p>
            <a:pPr algn="l" indent="0" marL="0">
              <a:lnSpc>
                <a:spcPts val="4600"/>
              </a:lnSpc>
              <a:buNone/>
            </a:pPr>
            <a:r>
              <a:rPr lang="en-US" sz="4000" b="1" dirty="0">
                <a:solidFill>
                  <a:srgbClr val="1F2328"/>
                </a:solidFill>
                <a:latin typeface="Arial" pitchFamily="34" charset="0"/>
                <a:ea typeface="Arial" pitchFamily="34" charset="-122"/>
                <a:cs typeface="Arial" pitchFamily="34" charset="-120"/>
              </a:rPr>
              <a:t>Apache Superset on AKS</a:t>
            </a:r>
            <a:endParaRPr lang="en-US" sz="4000" dirty="0"/>
          </a:p>
        </p:txBody>
      </p:sp>
      <p:sp>
        <p:nvSpPr>
          <p:cNvPr id="8" name="Text 5"/>
          <p:cNvSpPr/>
          <p:nvPr/>
        </p:nvSpPr>
        <p:spPr>
          <a:xfrm>
            <a:off x="482501" y="2019002"/>
            <a:ext cx="7772400" cy="558701"/>
          </a:xfrm>
          <a:prstGeom prst="rect">
            <a:avLst/>
          </a:prstGeom>
          <a:noFill/>
          <a:ln/>
        </p:spPr>
        <p:txBody>
          <a:bodyPr wrap="square" lIns="0" tIns="0" rIns="0" bIns="0" rtlCol="0" anchor="t"/>
          <a:lstStyle/>
          <a:p>
            <a:pPr algn="l" indent="0" marL="0">
              <a:lnSpc>
                <a:spcPts val="2200"/>
              </a:lnSpc>
              <a:spcBef>
                <a:spcPts val="1200"/>
              </a:spcBef>
              <a:buNone/>
            </a:pPr>
            <a:r>
              <a:rPr lang="en-US" sz="1600" dirty="0">
                <a:solidFill>
                  <a:srgbClr val="59636E"/>
                </a:solidFill>
                <a:latin typeface="Arial" pitchFamily="34" charset="0"/>
                <a:ea typeface="Arial" pitchFamily="34" charset="-122"/>
                <a:cs typeface="Arial" pitchFamily="34" charset="-120"/>
              </a:rPr>
              <a:t>What if an app needed Kubernetes? Let an agent deploy a BI platform to AKS, and make every expensive mistake before you pay for it.</a:t>
            </a:r>
            <a:endParaRPr lang="en-US" sz="1600" dirty="0"/>
          </a:p>
        </p:txBody>
      </p:sp>
      <p:sp>
        <p:nvSpPr>
          <p:cNvPr id="9" name="Text 6"/>
          <p:cNvSpPr/>
          <p:nvPr/>
        </p:nvSpPr>
        <p:spPr>
          <a:xfrm>
            <a:off x="482501" y="3022550"/>
            <a:ext cx="355550" cy="355550"/>
          </a:xfrm>
          <a:prstGeom prst="roundRect">
            <a:avLst>
              <a:gd name="adj" fmla="val 21432"/>
            </a:avLst>
          </a:prstGeom>
          <a:solidFill>
            <a:srgbClr val="DDF4FF"/>
          </a:solidFill>
          <a:ln/>
        </p:spPr>
        <p:txBody>
          <a:bodyPr wrap="square" rtlCol="0" anchor="ctr"/>
          <a:lstStyle/>
          <a:p>
            <a:pPr indent="0" marL="0">
              <a:buNone/>
            </a:pPr>
            <a:endParaRPr lang="en-US" dirty="0"/>
          </a:p>
        </p:txBody>
      </p:sp>
      <p:pic>
        <p:nvPicPr>
          <p:cNvPr id="10" name="Image 1" descr="/Users/danwahlin/.copilot/session-state/a2da67da-2d7a-45f2-aa6a-2a42a7b82a72/files/build/icons/GoClock-0969DA.png">    </p:cNvPr>
          <p:cNvPicPr>
            <a:picLocks noChangeAspect="1"/>
          </p:cNvPicPr>
          <p:nvPr/>
        </p:nvPicPr>
        <p:blipFill>
          <a:blip r:embed="rId2"/>
          <a:stretch>
            <a:fillRect/>
          </a:stretch>
        </p:blipFill>
        <p:spPr>
          <a:xfrm>
            <a:off x="558701" y="3098750"/>
            <a:ext cx="203150" cy="203150"/>
          </a:xfrm>
          <a:prstGeom prst="rect">
            <a:avLst/>
          </a:prstGeom>
        </p:spPr>
      </p:pic>
      <p:sp>
        <p:nvSpPr>
          <p:cNvPr id="11" name="Text 7"/>
          <p:cNvSpPr/>
          <p:nvPr/>
        </p:nvSpPr>
        <p:spPr>
          <a:xfrm>
            <a:off x="952351" y="3051125"/>
            <a:ext cx="812155" cy="114300"/>
          </a:xfrm>
          <a:prstGeom prst="rect">
            <a:avLst/>
          </a:prstGeom>
          <a:noFill/>
          <a:ln/>
        </p:spPr>
        <p:txBody>
          <a:bodyPr wrap="square" lIns="0" tIns="0" rIns="0" bIns="0" rtlCol="0" anchor="t"/>
          <a:lstStyle/>
          <a:p>
            <a:pPr algn="l" indent="0" marL="0">
              <a:buNone/>
            </a:pPr>
            <a:r>
              <a:rPr lang="en-US" sz="850" b="1" dirty="0">
                <a:solidFill>
                  <a:srgbClr val="59636E"/>
                </a:solidFill>
                <a:latin typeface="Arial" pitchFamily="34" charset="0"/>
                <a:ea typeface="Arial" pitchFamily="34" charset="-122"/>
                <a:cs typeface="Arial" pitchFamily="34" charset="-120"/>
              </a:rPr>
              <a:t>SESSION</a:t>
            </a:r>
            <a:endParaRPr lang="en-US" sz="850" dirty="0"/>
          </a:p>
        </p:txBody>
      </p:sp>
      <p:sp>
        <p:nvSpPr>
          <p:cNvPr id="12" name="Text 8"/>
          <p:cNvSpPr/>
          <p:nvPr/>
        </p:nvSpPr>
        <p:spPr>
          <a:xfrm>
            <a:off x="952351" y="3178076"/>
            <a:ext cx="812155" cy="171450"/>
          </a:xfrm>
          <a:prstGeom prst="rect">
            <a:avLst/>
          </a:prstGeom>
          <a:noFill/>
          <a:ln/>
        </p:spPr>
        <p:txBody>
          <a:bodyPr wrap="square" lIns="0" tIns="0" rIns="0" bIns="0" rtlCol="0" anchor="t"/>
          <a:lstStyle/>
          <a:p>
            <a:pPr algn="l" indent="0" marL="0">
              <a:buNone/>
            </a:pPr>
            <a:r>
              <a:rPr lang="en-US" sz="1200" b="1" dirty="0">
                <a:solidFill>
                  <a:srgbClr val="1F2328"/>
                </a:solidFill>
                <a:latin typeface="Arial" pitchFamily="34" charset="0"/>
                <a:ea typeface="Arial" pitchFamily="34" charset="-122"/>
                <a:cs typeface="Arial" pitchFamily="34" charset="-120"/>
              </a:rPr>
              <a:t>60 minutes</a:t>
            </a:r>
            <a:endParaRPr lang="en-US" sz="1200" dirty="0"/>
          </a:p>
        </p:txBody>
      </p:sp>
      <p:sp>
        <p:nvSpPr>
          <p:cNvPr id="13" name="Text 9"/>
          <p:cNvSpPr/>
          <p:nvPr/>
        </p:nvSpPr>
        <p:spPr>
          <a:xfrm>
            <a:off x="2129582" y="3022550"/>
            <a:ext cx="355550" cy="355550"/>
          </a:xfrm>
          <a:prstGeom prst="roundRect">
            <a:avLst>
              <a:gd name="adj" fmla="val 21432"/>
            </a:avLst>
          </a:prstGeom>
          <a:solidFill>
            <a:srgbClr val="FFEBE9"/>
          </a:solidFill>
          <a:ln/>
        </p:spPr>
        <p:txBody>
          <a:bodyPr wrap="square" rtlCol="0" anchor="ctr"/>
          <a:lstStyle/>
          <a:p>
            <a:pPr indent="0" marL="0">
              <a:buNone/>
            </a:pPr>
            <a:endParaRPr lang="en-US" dirty="0"/>
          </a:p>
        </p:txBody>
      </p:sp>
      <p:pic>
        <p:nvPicPr>
          <p:cNvPr id="14" name="Image 2" descr="/Users/danwahlin/.copilot/session-state/a2da67da-2d7a-45f2-aa6a-2a42a7b82a72/files/build/icons/GoCreditCard-CF222E.png">    </p:cNvPr>
          <p:cNvPicPr>
            <a:picLocks noChangeAspect="1"/>
          </p:cNvPicPr>
          <p:nvPr/>
        </p:nvPicPr>
        <p:blipFill>
          <a:blip r:embed="rId3"/>
          <a:stretch>
            <a:fillRect/>
          </a:stretch>
        </p:blipFill>
        <p:spPr>
          <a:xfrm>
            <a:off x="2205782" y="3098750"/>
            <a:ext cx="203150" cy="203150"/>
          </a:xfrm>
          <a:prstGeom prst="rect">
            <a:avLst/>
          </a:prstGeom>
        </p:spPr>
      </p:pic>
      <p:sp>
        <p:nvSpPr>
          <p:cNvPr id="15" name="Text 10"/>
          <p:cNvSpPr/>
          <p:nvPr/>
        </p:nvSpPr>
        <p:spPr>
          <a:xfrm>
            <a:off x="2599432" y="3051125"/>
            <a:ext cx="1300511" cy="114300"/>
          </a:xfrm>
          <a:prstGeom prst="rect">
            <a:avLst/>
          </a:prstGeom>
          <a:noFill/>
          <a:ln/>
        </p:spPr>
        <p:txBody>
          <a:bodyPr wrap="square" lIns="0" tIns="0" rIns="0" bIns="0" rtlCol="0" anchor="t"/>
          <a:lstStyle/>
          <a:p>
            <a:pPr algn="l" indent="0" marL="0">
              <a:buNone/>
            </a:pPr>
            <a:r>
              <a:rPr lang="en-US" sz="850" b="1" dirty="0">
                <a:solidFill>
                  <a:srgbClr val="59636E"/>
                </a:solidFill>
                <a:latin typeface="Arial" pitchFamily="34" charset="0"/>
                <a:ea typeface="Arial" pitchFamily="34" charset="-122"/>
                <a:cs typeface="Arial" pitchFamily="34" charset="-120"/>
              </a:rPr>
              <a:t>COST IF LEFT RUNNING</a:t>
            </a:r>
            <a:endParaRPr lang="en-US" sz="850" dirty="0"/>
          </a:p>
        </p:txBody>
      </p:sp>
      <p:sp>
        <p:nvSpPr>
          <p:cNvPr id="16" name="Text 11"/>
          <p:cNvSpPr/>
          <p:nvPr/>
        </p:nvSpPr>
        <p:spPr>
          <a:xfrm>
            <a:off x="2599432" y="3178076"/>
            <a:ext cx="1300511" cy="171450"/>
          </a:xfrm>
          <a:prstGeom prst="rect">
            <a:avLst/>
          </a:prstGeom>
          <a:noFill/>
          <a:ln/>
        </p:spPr>
        <p:txBody>
          <a:bodyPr wrap="square" lIns="0" tIns="0" rIns="0" bIns="0" rtlCol="0" anchor="t"/>
          <a:lstStyle/>
          <a:p>
            <a:pPr algn="l" indent="0" marL="0">
              <a:buNone/>
            </a:pPr>
            <a:r>
              <a:rPr lang="en-US" sz="1200" b="1" dirty="0">
                <a:solidFill>
                  <a:srgbClr val="1F2328"/>
                </a:solidFill>
                <a:latin typeface="Arial" pitchFamily="34" charset="0"/>
                <a:ea typeface="Arial" pitchFamily="34" charset="-122"/>
                <a:cs typeface="Arial" pitchFamily="34" charset="-120"/>
              </a:rPr>
              <a:t>~$200–215/month</a:t>
            </a:r>
            <a:endParaRPr lang="en-US" sz="1200" dirty="0"/>
          </a:p>
        </p:txBody>
      </p:sp>
      <p:sp>
        <p:nvSpPr>
          <p:cNvPr id="17" name="Text 12"/>
          <p:cNvSpPr/>
          <p:nvPr/>
        </p:nvSpPr>
        <p:spPr>
          <a:xfrm>
            <a:off x="4255443" y="3022550"/>
            <a:ext cx="355550" cy="355550"/>
          </a:xfrm>
          <a:prstGeom prst="roundRect">
            <a:avLst>
              <a:gd name="adj" fmla="val 21432"/>
            </a:avLst>
          </a:prstGeom>
          <a:solidFill>
            <a:srgbClr val="FBEFFF"/>
          </a:solidFill>
          <a:ln/>
        </p:spPr>
        <p:txBody>
          <a:bodyPr wrap="square" rtlCol="0" anchor="ctr"/>
          <a:lstStyle/>
          <a:p>
            <a:pPr indent="0" marL="0">
              <a:buNone/>
            </a:pPr>
            <a:endParaRPr lang="en-US" dirty="0"/>
          </a:p>
        </p:txBody>
      </p:sp>
      <p:pic>
        <p:nvPicPr>
          <p:cNvPr id="18" name="Image 3" descr="/Users/danwahlin/.copilot/session-state/a2da67da-2d7a-45f2-aa6a-2a42a7b82a72/files/build/icons/GoCloud-8250DF.png">    </p:cNvPr>
          <p:cNvPicPr>
            <a:picLocks noChangeAspect="1"/>
          </p:cNvPicPr>
          <p:nvPr/>
        </p:nvPicPr>
        <p:blipFill>
          <a:blip r:embed="rId4"/>
          <a:stretch>
            <a:fillRect/>
          </a:stretch>
        </p:blipFill>
        <p:spPr>
          <a:xfrm>
            <a:off x="4331643" y="3098750"/>
            <a:ext cx="203150" cy="203150"/>
          </a:xfrm>
          <a:prstGeom prst="rect">
            <a:avLst/>
          </a:prstGeom>
        </p:spPr>
      </p:pic>
      <p:sp>
        <p:nvSpPr>
          <p:cNvPr id="19" name="Text 13"/>
          <p:cNvSpPr/>
          <p:nvPr/>
        </p:nvSpPr>
        <p:spPr>
          <a:xfrm>
            <a:off x="4725293" y="3051125"/>
            <a:ext cx="1403738" cy="114300"/>
          </a:xfrm>
          <a:prstGeom prst="rect">
            <a:avLst/>
          </a:prstGeom>
          <a:noFill/>
          <a:ln/>
        </p:spPr>
        <p:txBody>
          <a:bodyPr wrap="square" lIns="0" tIns="0" rIns="0" bIns="0" rtlCol="0" anchor="t"/>
          <a:lstStyle/>
          <a:p>
            <a:pPr algn="l" indent="0" marL="0">
              <a:buNone/>
            </a:pPr>
            <a:r>
              <a:rPr lang="en-US" sz="850" b="1" dirty="0">
                <a:solidFill>
                  <a:srgbClr val="59636E"/>
                </a:solidFill>
                <a:latin typeface="Arial" pitchFamily="34" charset="0"/>
                <a:ea typeface="Arial" pitchFamily="34" charset="-122"/>
                <a:cs typeface="Arial" pitchFamily="34" charset="-120"/>
              </a:rPr>
              <a:t>RUNS ON</a:t>
            </a:r>
            <a:endParaRPr lang="en-US" sz="850" dirty="0"/>
          </a:p>
        </p:txBody>
      </p:sp>
      <p:sp>
        <p:nvSpPr>
          <p:cNvPr id="20" name="Text 14"/>
          <p:cNvSpPr/>
          <p:nvPr/>
        </p:nvSpPr>
        <p:spPr>
          <a:xfrm>
            <a:off x="4725293" y="3178076"/>
            <a:ext cx="1403738" cy="171450"/>
          </a:xfrm>
          <a:prstGeom prst="rect">
            <a:avLst/>
          </a:prstGeom>
          <a:noFill/>
          <a:ln/>
        </p:spPr>
        <p:txBody>
          <a:bodyPr wrap="square" lIns="0" tIns="0" rIns="0" bIns="0" rtlCol="0" anchor="t"/>
          <a:lstStyle/>
          <a:p>
            <a:pPr algn="l" indent="0" marL="0">
              <a:buNone/>
            </a:pPr>
            <a:r>
              <a:rPr lang="en-US" sz="1200" b="1" dirty="0">
                <a:solidFill>
                  <a:srgbClr val="1F2328"/>
                </a:solidFill>
                <a:latin typeface="Arial" pitchFamily="34" charset="0"/>
                <a:ea typeface="Arial" pitchFamily="34" charset="-122"/>
                <a:cs typeface="Arial" pitchFamily="34" charset="-120"/>
              </a:rPr>
              <a:t>AKS + PostgreSQL</a:t>
            </a:r>
            <a:endParaRPr lang="en-US" sz="1200" dirty="0"/>
          </a:p>
        </p:txBody>
      </p:sp>
      <p:sp>
        <p:nvSpPr>
          <p:cNvPr id="21" name="Text 15"/>
          <p:cNvSpPr/>
          <p:nvPr/>
        </p:nvSpPr>
        <p:spPr>
          <a:xfrm>
            <a:off x="482501" y="3759101"/>
            <a:ext cx="8342275" cy="133350"/>
          </a:xfrm>
          <a:prstGeom prst="rect">
            <a:avLst/>
          </a:prstGeom>
          <a:noFill/>
          <a:ln/>
        </p:spPr>
        <p:txBody>
          <a:bodyPr wrap="square" lIns="0" tIns="0" rIns="0" bIns="0" rtlCol="0" anchor="t"/>
          <a:lstStyle/>
          <a:p>
            <a:pPr algn="l" indent="0" marL="0">
              <a:buNone/>
            </a:pPr>
            <a:r>
              <a:rPr lang="en-US" sz="900" b="1" dirty="0">
                <a:solidFill>
                  <a:srgbClr val="59636E"/>
                </a:solidFill>
                <a:latin typeface="Arial" pitchFamily="34" charset="0"/>
                <a:ea typeface="Arial" pitchFamily="34" charset="-122"/>
                <a:cs typeface="Arial" pitchFamily="34" charset="-120"/>
              </a:rPr>
              <a:t>IN THIS SESSION</a:t>
            </a:r>
            <a:endParaRPr lang="en-US" sz="900" dirty="0"/>
          </a:p>
        </p:txBody>
      </p:sp>
      <p:sp>
        <p:nvSpPr>
          <p:cNvPr id="22" name="Text 16"/>
          <p:cNvSpPr/>
          <p:nvPr/>
        </p:nvSpPr>
        <p:spPr>
          <a:xfrm>
            <a:off x="482501" y="3981301"/>
            <a:ext cx="1055638" cy="336352"/>
          </a:xfrm>
          <a:prstGeom prst="roundRect">
            <a:avLst>
              <a:gd name="adj" fmla="val 52861"/>
            </a:avLst>
          </a:prstGeom>
          <a:solidFill>
            <a:srgbClr val="DDF4FF"/>
          </a:solidFill>
          <a:ln w="9525">
            <a:solidFill>
              <a:srgbClr val="9CD7FF"/>
            </a:solidFill>
          </a:ln>
        </p:spPr>
        <p:txBody>
          <a:bodyPr wrap="square" rtlCol="0" anchor="ctr"/>
          <a:lstStyle/>
          <a:p>
            <a:pPr indent="0" marL="0">
              <a:buNone/>
            </a:pPr>
            <a:endParaRPr lang="en-US" dirty="0"/>
          </a:p>
        </p:txBody>
      </p:sp>
      <p:sp>
        <p:nvSpPr>
          <p:cNvPr id="23" name="Text 17"/>
          <p:cNvSpPr/>
          <p:nvPr/>
        </p:nvSpPr>
        <p:spPr>
          <a:xfrm>
            <a:off x="568226" y="4054227"/>
            <a:ext cx="190500" cy="190500"/>
          </a:xfrm>
          <a:prstGeom prst="roundRect">
            <a:avLst>
              <a:gd name="adj" fmla="val 480000"/>
            </a:avLst>
          </a:prstGeom>
          <a:solidFill>
            <a:srgbClr val="0969DA"/>
          </a:solidFill>
          <a:ln/>
        </p:spPr>
        <p:txBody>
          <a:bodyPr wrap="square" rtlCol="0" anchor="ctr"/>
          <a:lstStyle/>
          <a:p>
            <a:pPr indent="0" marL="0">
              <a:buNone/>
            </a:pPr>
            <a:endParaRPr lang="en-US" dirty="0"/>
          </a:p>
        </p:txBody>
      </p:sp>
      <p:sp>
        <p:nvSpPr>
          <p:cNvPr id="24" name="Text 18"/>
          <p:cNvSpPr/>
          <p:nvPr/>
        </p:nvSpPr>
        <p:spPr>
          <a:xfrm>
            <a:off x="634633" y="4092327"/>
            <a:ext cx="57686" cy="114300"/>
          </a:xfrm>
          <a:prstGeom prst="rect">
            <a:avLst/>
          </a:prstGeom>
          <a:noFill/>
          <a:ln/>
        </p:spPr>
        <p:txBody>
          <a:bodyPr wrap="square" lIns="0" tIns="0" rIns="0" bIns="0" rtlCol="0" anchor="t"/>
          <a:lstStyle/>
          <a:p>
            <a:pPr algn="ctr" indent="0" marL="0">
              <a:buNone/>
            </a:pPr>
            <a:r>
              <a:rPr lang="en-US" sz="800" b="1" dirty="0">
                <a:solidFill>
                  <a:srgbClr val="FFFFFF"/>
                </a:solidFill>
                <a:latin typeface="Arial" pitchFamily="34" charset="0"/>
                <a:ea typeface="Arial" pitchFamily="34" charset="-122"/>
                <a:cs typeface="Arial" pitchFamily="34" charset="-120"/>
              </a:rPr>
              <a:t>1</a:t>
            </a:r>
            <a:endParaRPr lang="en-US" sz="800" dirty="0"/>
          </a:p>
        </p:txBody>
      </p:sp>
      <p:sp>
        <p:nvSpPr>
          <p:cNvPr id="25" name="Text 19"/>
          <p:cNvSpPr/>
          <p:nvPr/>
        </p:nvSpPr>
        <p:spPr>
          <a:xfrm>
            <a:off x="834926" y="4078039"/>
            <a:ext cx="578072"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Why AKS</a:t>
            </a:r>
            <a:endParaRPr lang="en-US" sz="1000" dirty="0"/>
          </a:p>
        </p:txBody>
      </p:sp>
      <p:sp>
        <p:nvSpPr>
          <p:cNvPr id="26" name="Text 20"/>
          <p:cNvSpPr/>
          <p:nvPr/>
        </p:nvSpPr>
        <p:spPr>
          <a:xfrm>
            <a:off x="1639639" y="3981301"/>
            <a:ext cx="1674316" cy="336352"/>
          </a:xfrm>
          <a:prstGeom prst="roundRect">
            <a:avLst>
              <a:gd name="adj" fmla="val 52861"/>
            </a:avLst>
          </a:prstGeom>
          <a:solidFill>
            <a:srgbClr val="FBEFFF"/>
          </a:solidFill>
          <a:ln w="9525">
            <a:solidFill>
              <a:srgbClr val="E0C5FF"/>
            </a:solidFill>
          </a:ln>
        </p:spPr>
        <p:txBody>
          <a:bodyPr wrap="square" rtlCol="0" anchor="ctr"/>
          <a:lstStyle/>
          <a:p>
            <a:pPr indent="0" marL="0">
              <a:buNone/>
            </a:pPr>
            <a:endParaRPr lang="en-US" dirty="0"/>
          </a:p>
        </p:txBody>
      </p:sp>
      <p:sp>
        <p:nvSpPr>
          <p:cNvPr id="27" name="Text 21"/>
          <p:cNvSpPr/>
          <p:nvPr/>
        </p:nvSpPr>
        <p:spPr>
          <a:xfrm>
            <a:off x="1725364" y="4054227"/>
            <a:ext cx="190500" cy="190500"/>
          </a:xfrm>
          <a:prstGeom prst="roundRect">
            <a:avLst>
              <a:gd name="adj" fmla="val 480000"/>
            </a:avLst>
          </a:prstGeom>
          <a:solidFill>
            <a:srgbClr val="8250DF"/>
          </a:solidFill>
          <a:ln/>
        </p:spPr>
        <p:txBody>
          <a:bodyPr wrap="square" rtlCol="0" anchor="ctr"/>
          <a:lstStyle/>
          <a:p>
            <a:pPr indent="0" marL="0">
              <a:buNone/>
            </a:pPr>
            <a:endParaRPr lang="en-US" dirty="0"/>
          </a:p>
        </p:txBody>
      </p:sp>
      <p:sp>
        <p:nvSpPr>
          <p:cNvPr id="28" name="Text 22"/>
          <p:cNvSpPr/>
          <p:nvPr/>
        </p:nvSpPr>
        <p:spPr>
          <a:xfrm>
            <a:off x="1791772" y="4092327"/>
            <a:ext cx="57686" cy="114300"/>
          </a:xfrm>
          <a:prstGeom prst="rect">
            <a:avLst/>
          </a:prstGeom>
          <a:noFill/>
          <a:ln/>
        </p:spPr>
        <p:txBody>
          <a:bodyPr wrap="square" lIns="0" tIns="0" rIns="0" bIns="0" rtlCol="0" anchor="t"/>
          <a:lstStyle/>
          <a:p>
            <a:pPr algn="ctr" indent="0" marL="0">
              <a:buNone/>
            </a:pPr>
            <a:r>
              <a:rPr lang="en-US" sz="800" b="1" dirty="0">
                <a:solidFill>
                  <a:srgbClr val="FFFFFF"/>
                </a:solidFill>
                <a:latin typeface="Arial" pitchFamily="34" charset="0"/>
                <a:ea typeface="Arial" pitchFamily="34" charset="-122"/>
                <a:cs typeface="Arial" pitchFamily="34" charset="-120"/>
              </a:rPr>
              <a:t>2</a:t>
            </a:r>
            <a:endParaRPr lang="en-US" sz="800" dirty="0"/>
          </a:p>
        </p:txBody>
      </p:sp>
      <p:sp>
        <p:nvSpPr>
          <p:cNvPr id="29" name="Text 23"/>
          <p:cNvSpPr/>
          <p:nvPr/>
        </p:nvSpPr>
        <p:spPr>
          <a:xfrm>
            <a:off x="1992064" y="4078039"/>
            <a:ext cx="1209124" cy="142875"/>
          </a:xfrm>
          <a:prstGeom prst="rect">
            <a:avLst/>
          </a:prstGeom>
          <a:noFill/>
          <a:ln/>
        </p:spPr>
        <p:txBody>
          <a:bodyPr wrap="square" lIns="0" tIns="0" rIns="0" bIns="0" rtlCol="0" anchor="t"/>
          <a:lstStyle/>
          <a:p>
            <a:pPr algn="l" indent="0" marL="0">
              <a:buNone/>
            </a:pPr>
            <a:r>
              <a:rPr lang="en-US" sz="1000" b="1" dirty="0">
                <a:solidFill>
                  <a:srgbClr val="8250DF"/>
                </a:solidFill>
                <a:latin typeface="Arial" pitchFamily="34" charset="0"/>
                <a:ea typeface="Arial" pitchFamily="34" charset="-122"/>
                <a:cs typeface="Arial" pitchFamily="34" charset="-120"/>
              </a:rPr>
              <a:t>Gate, then generate</a:t>
            </a:r>
            <a:endParaRPr lang="en-US" sz="1000" dirty="0"/>
          </a:p>
        </p:txBody>
      </p:sp>
      <p:sp>
        <p:nvSpPr>
          <p:cNvPr id="30" name="Text 24"/>
          <p:cNvSpPr/>
          <p:nvPr/>
        </p:nvSpPr>
        <p:spPr>
          <a:xfrm>
            <a:off x="3415457" y="3981301"/>
            <a:ext cx="1547366" cy="336352"/>
          </a:xfrm>
          <a:prstGeom prst="roundRect">
            <a:avLst>
              <a:gd name="adj" fmla="val 52861"/>
            </a:avLst>
          </a:prstGeom>
          <a:solidFill>
            <a:srgbClr val="DAFBE1"/>
          </a:solidFill>
          <a:ln w="9525">
            <a:solidFill>
              <a:srgbClr val="8CE7A5"/>
            </a:solidFill>
          </a:ln>
        </p:spPr>
        <p:txBody>
          <a:bodyPr wrap="square" rtlCol="0" anchor="ctr"/>
          <a:lstStyle/>
          <a:p>
            <a:pPr indent="0" marL="0">
              <a:buNone/>
            </a:pPr>
            <a:endParaRPr lang="en-US" dirty="0"/>
          </a:p>
        </p:txBody>
      </p:sp>
      <p:sp>
        <p:nvSpPr>
          <p:cNvPr id="31" name="Text 25"/>
          <p:cNvSpPr/>
          <p:nvPr/>
        </p:nvSpPr>
        <p:spPr>
          <a:xfrm>
            <a:off x="3501182" y="4054227"/>
            <a:ext cx="190500" cy="190500"/>
          </a:xfrm>
          <a:prstGeom prst="roundRect">
            <a:avLst>
              <a:gd name="adj" fmla="val 480000"/>
            </a:avLst>
          </a:prstGeom>
          <a:solidFill>
            <a:srgbClr val="1A7F37"/>
          </a:solidFill>
          <a:ln/>
        </p:spPr>
        <p:txBody>
          <a:bodyPr wrap="square" rtlCol="0" anchor="ctr"/>
          <a:lstStyle/>
          <a:p>
            <a:pPr indent="0" marL="0">
              <a:buNone/>
            </a:pPr>
            <a:endParaRPr lang="en-US" dirty="0"/>
          </a:p>
        </p:txBody>
      </p:sp>
      <p:sp>
        <p:nvSpPr>
          <p:cNvPr id="32" name="Text 26"/>
          <p:cNvSpPr/>
          <p:nvPr/>
        </p:nvSpPr>
        <p:spPr>
          <a:xfrm>
            <a:off x="3567589" y="4092327"/>
            <a:ext cx="57686" cy="114300"/>
          </a:xfrm>
          <a:prstGeom prst="rect">
            <a:avLst/>
          </a:prstGeom>
          <a:noFill/>
          <a:ln/>
        </p:spPr>
        <p:txBody>
          <a:bodyPr wrap="square" lIns="0" tIns="0" rIns="0" bIns="0" rtlCol="0" anchor="t"/>
          <a:lstStyle/>
          <a:p>
            <a:pPr algn="ctr" indent="0" marL="0">
              <a:buNone/>
            </a:pPr>
            <a:r>
              <a:rPr lang="en-US" sz="800" b="1" dirty="0">
                <a:solidFill>
                  <a:srgbClr val="FFFFFF"/>
                </a:solidFill>
                <a:latin typeface="Arial" pitchFamily="34" charset="0"/>
                <a:ea typeface="Arial" pitchFamily="34" charset="-122"/>
                <a:cs typeface="Arial" pitchFamily="34" charset="-120"/>
              </a:rPr>
              <a:t>3</a:t>
            </a:r>
            <a:endParaRPr lang="en-US" sz="800" dirty="0"/>
          </a:p>
        </p:txBody>
      </p:sp>
      <p:sp>
        <p:nvSpPr>
          <p:cNvPr id="33" name="Text 27"/>
          <p:cNvSpPr/>
          <p:nvPr/>
        </p:nvSpPr>
        <p:spPr>
          <a:xfrm>
            <a:off x="3767882" y="4078039"/>
            <a:ext cx="1079635"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Deploy and verify</a:t>
            </a:r>
            <a:endParaRPr lang="en-US" sz="1000" dirty="0"/>
          </a:p>
        </p:txBody>
      </p:sp>
      <p:sp>
        <p:nvSpPr>
          <p:cNvPr id="34" name="Text 28"/>
          <p:cNvSpPr/>
          <p:nvPr/>
        </p:nvSpPr>
        <p:spPr>
          <a:xfrm>
            <a:off x="482501" y="4724400"/>
            <a:ext cx="2396237"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github.com/microsoft/agentic-journeys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WHERE WE ARE HEADED</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Business intelligence on Azure</a:t>
            </a:r>
            <a:endParaRPr lang="en-US" sz="2600" dirty="0"/>
          </a:p>
        </p:txBody>
      </p:sp>
      <p:pic>
        <p:nvPicPr>
          <p:cNvPr id="7" name="Image 1" descr="/Users/danwahlin/.copilot/session-state/a2da67da-2d7a-45f2-aa6a-2a42a7b82a72/files/build/img/superset-superset-data-exploration.png">    </p:cNvPr>
          <p:cNvPicPr>
            <a:picLocks noChangeAspect="1"/>
          </p:cNvPicPr>
          <p:nvPr/>
        </p:nvPicPr>
        <p:blipFill>
          <a:blip r:embed="rId2"/>
          <a:stretch>
            <a:fillRect/>
          </a:stretch>
        </p:blipFill>
        <p:spPr>
          <a:xfrm>
            <a:off x="2079427" y="1231702"/>
            <a:ext cx="4984700" cy="35559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HOW IT WORKS</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Your prompt, the agent, and the skills</a:t>
            </a:r>
            <a:endParaRPr lang="en-US" sz="2600" dirty="0"/>
          </a:p>
        </p:txBody>
      </p:sp>
      <p:pic>
        <p:nvPicPr>
          <p:cNvPr id="7" name="Image 1" descr="/Users/danwahlin/.copilot/session-state/a2da67da-2d7a-45f2-aa6a-2a42a7b82a72/files/build/img/superset-deploy-agent.png">    </p:cNvPr>
          <p:cNvPicPr>
            <a:picLocks noChangeAspect="1"/>
          </p:cNvPicPr>
          <p:nvPr/>
        </p:nvPicPr>
        <p:blipFill>
          <a:blip r:embed="rId2"/>
          <a:stretch>
            <a:fillRect/>
          </a:stretch>
        </p:blipFill>
        <p:spPr>
          <a:xfrm>
            <a:off x="690711" y="1282601"/>
            <a:ext cx="7762131" cy="345430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0969DA"/>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0969DA"/>
                </a:solidFill>
                <a:latin typeface="Arial" pitchFamily="34" charset="0"/>
                <a:ea typeface="Arial" pitchFamily="34" charset="-122"/>
                <a:cs typeface="Arial" pitchFamily="34" charset="-120"/>
              </a:rPr>
              <a:t>01</a:t>
            </a:r>
            <a:endParaRPr lang="en-US" sz="6400" dirty="0"/>
          </a:p>
        </p:txBody>
      </p:sp>
      <p:sp>
        <p:nvSpPr>
          <p:cNvPr id="7" name="Text 4"/>
          <p:cNvSpPr/>
          <p:nvPr/>
        </p:nvSpPr>
        <p:spPr>
          <a:xfrm>
            <a:off x="558701" y="1828651"/>
            <a:ext cx="3886200" cy="142875"/>
          </a:xfrm>
          <a:prstGeom prst="rect">
            <a:avLst/>
          </a:prstGeom>
          <a:noFill/>
          <a:ln/>
        </p:spPr>
        <p:txBody>
          <a:bodyPr wrap="square" lIns="0" tIns="0" rIns="0" bIns="0" rtlCol="0" anchor="t"/>
          <a:lstStyle/>
          <a:p>
            <a:pPr algn="l" indent="0" marL="0">
              <a:spcBef>
                <a:spcPts val="800"/>
              </a:spcBef>
              <a:buNone/>
            </a:pPr>
            <a:r>
              <a:rPr lang="en-US" sz="1000" b="1" dirty="0">
                <a:solidFill>
                  <a:srgbClr val="59636E"/>
                </a:solidFill>
                <a:latin typeface="Arial" pitchFamily="34" charset="0"/>
                <a:ea typeface="Arial" pitchFamily="34" charset="-122"/>
                <a:cs typeface="Arial" pitchFamily="34" charset="-120"/>
              </a:rPr>
              <a:t>SECTION 1 OF 3</a:t>
            </a:r>
            <a:endParaRPr lang="en-US" sz="1000" dirty="0"/>
          </a:p>
        </p:txBody>
      </p:sp>
      <p:sp>
        <p:nvSpPr>
          <p:cNvPr id="8" name="Text 5"/>
          <p:cNvSpPr/>
          <p:nvPr/>
        </p:nvSpPr>
        <p:spPr>
          <a:xfrm>
            <a:off x="558701" y="2034927"/>
            <a:ext cx="3886200" cy="444550"/>
          </a:xfrm>
          <a:prstGeom prst="rect">
            <a:avLst/>
          </a:prstGeom>
          <a:noFill/>
          <a:ln/>
        </p:spPr>
        <p:txBody>
          <a:bodyPr wrap="square" lIns="0" tIns="0" rIns="0" bIns="0" rtlCol="0" anchor="t"/>
          <a:lstStyle/>
          <a:p>
            <a:pPr algn="l" indent="0" marL="0">
              <a:lnSpc>
                <a:spcPts val="3500"/>
              </a:lnSpc>
              <a:spcBef>
                <a:spcPts val="500"/>
              </a:spcBef>
              <a:buNone/>
            </a:pPr>
            <a:r>
              <a:rPr lang="en-US" sz="3000" b="1" dirty="0">
                <a:solidFill>
                  <a:srgbClr val="1F2328"/>
                </a:solidFill>
                <a:latin typeface="Arial" pitchFamily="34" charset="0"/>
                <a:ea typeface="Arial" pitchFamily="34" charset="-122"/>
                <a:cs typeface="Arial" pitchFamily="34" charset="-120"/>
              </a:rPr>
              <a:t>Why AKS</a:t>
            </a:r>
            <a:endParaRPr lang="en-US" sz="3000" dirty="0"/>
          </a:p>
        </p:txBody>
      </p:sp>
      <p:sp>
        <p:nvSpPr>
          <p:cNvPr id="9" name="Text 6"/>
          <p:cNvSpPr/>
          <p:nvPr/>
        </p:nvSpPr>
        <p:spPr>
          <a:xfrm>
            <a:off x="558701" y="2606427"/>
            <a:ext cx="3886200" cy="723751"/>
          </a:xfrm>
          <a:prstGeom prst="rect">
            <a:avLst/>
          </a:prstGeom>
          <a:noFill/>
          <a:ln/>
        </p:spPr>
        <p:txBody>
          <a:bodyPr wrap="square" lIns="0" tIns="0" rIns="0" bIns="0" rtlCol="0" anchor="t"/>
          <a:lstStyle/>
          <a:p>
            <a:pPr algn="l" indent="0" marL="0">
              <a:lnSpc>
                <a:spcPts val="1900"/>
              </a:lnSpc>
              <a:spcBef>
                <a:spcPts val="1000"/>
              </a:spcBef>
              <a:buNone/>
            </a:pPr>
            <a:r>
              <a:rPr lang="en-US" sz="1400" dirty="0">
                <a:solidFill>
                  <a:srgbClr val="59636E"/>
                </a:solidFill>
                <a:latin typeface="Arial" pitchFamily="34" charset="0"/>
                <a:ea typeface="Arial" pitchFamily="34" charset="-122"/>
                <a:cs typeface="Arial" pitchFamily="34" charset="-120"/>
              </a:rPr>
              <a:t>Workload requirements pick the platform. Superset needs things Container Apps does not give you.</a:t>
            </a:r>
            <a:endParaRPr lang="en-US" sz="1400" dirty="0"/>
          </a:p>
        </p:txBody>
      </p:sp>
      <p:sp>
        <p:nvSpPr>
          <p:cNvPr id="10" name="Text 7"/>
          <p:cNvSpPr/>
          <p:nvPr/>
        </p:nvSpPr>
        <p:spPr>
          <a:xfrm>
            <a:off x="5486400" y="914400"/>
            <a:ext cx="2793950" cy="2793950"/>
          </a:xfrm>
          <a:prstGeom prst="roundRect">
            <a:avLst>
              <a:gd name="adj" fmla="val 32728"/>
            </a:avLst>
          </a:prstGeom>
          <a:solidFill>
            <a:srgbClr val="DDF4FF"/>
          </a:solidFill>
          <a:ln/>
        </p:spPr>
        <p:txBody>
          <a:bodyPr wrap="square" rtlCol="0" anchor="ctr"/>
          <a:lstStyle/>
          <a:p>
            <a:pPr indent="0" marL="0">
              <a:buNone/>
            </a:pPr>
            <a:endParaRPr lang="en-US" dirty="0"/>
          </a:p>
        </p:txBody>
      </p:sp>
      <p:pic>
        <p:nvPicPr>
          <p:cNvPr id="11" name="Image 1" descr="/Users/danwahlin/.copilot/session-state/a2da67da-2d7a-45f2-aa6a-2a42a7b82a72/files/build/icons/GoContainer-0969DA.png">    </p:cNvPr>
          <p:cNvPicPr>
            <a:picLocks noChangeAspect="1"/>
          </p:cNvPicPr>
          <p:nvPr/>
        </p:nvPicPr>
        <p:blipFill>
          <a:blip r:embed="rId2"/>
          <a:stretch>
            <a:fillRect/>
          </a:stretch>
        </p:blipFill>
        <p:spPr>
          <a:xfrm>
            <a:off x="6184850" y="1612850"/>
            <a:ext cx="1396901" cy="1396901"/>
          </a:xfrm>
          <a:prstGeom prst="rect">
            <a:avLst/>
          </a:prstGeom>
        </p:spPr>
      </p:pic>
      <p:sp>
        <p:nvSpPr>
          <p:cNvPr id="12" name="Text 8"/>
          <p:cNvSpPr/>
          <p:nvPr/>
        </p:nvSpPr>
        <p:spPr>
          <a:xfrm>
            <a:off x="558701" y="4368701"/>
            <a:ext cx="999083" cy="336352"/>
          </a:xfrm>
          <a:prstGeom prst="roundRect">
            <a:avLst>
              <a:gd name="adj" fmla="val 52861"/>
            </a:avLst>
          </a:prstGeom>
          <a:solidFill>
            <a:srgbClr val="0969DA"/>
          </a:solidFill>
          <a:ln w="9525">
            <a:solidFill>
              <a:srgbClr val="0969DA"/>
            </a:solidFill>
          </a:ln>
        </p:spPr>
        <p:txBody>
          <a:bodyPr wrap="square" rtlCol="0" anchor="ctr"/>
          <a:lstStyle/>
          <a:p>
            <a:pPr indent="0" marL="0">
              <a:buNone/>
            </a:pPr>
            <a:endParaRPr lang="en-US" dirty="0"/>
          </a:p>
        </p:txBody>
      </p:sp>
      <p:sp>
        <p:nvSpPr>
          <p:cNvPr id="13" name="Text 9"/>
          <p:cNvSpPr/>
          <p:nvPr/>
        </p:nvSpPr>
        <p:spPr>
          <a:xfrm>
            <a:off x="644426" y="4441627"/>
            <a:ext cx="190500" cy="190500"/>
          </a:xfrm>
          <a:prstGeom prst="roundRect">
            <a:avLst>
              <a:gd name="adj" fmla="val 480000"/>
            </a:avLst>
          </a:prstGeom>
          <a:solidFill>
            <a:srgbClr val="FFFFFF"/>
          </a:solidFill>
          <a:ln/>
        </p:spPr>
        <p:txBody>
          <a:bodyPr wrap="square" rtlCol="0" anchor="ctr"/>
          <a:lstStyle/>
          <a:p>
            <a:pPr indent="0" marL="0">
              <a:buNone/>
            </a:pPr>
            <a:endParaRPr lang="en-US" dirty="0"/>
          </a:p>
        </p:txBody>
      </p:sp>
      <p:sp>
        <p:nvSpPr>
          <p:cNvPr id="14" name="Text 10"/>
          <p:cNvSpPr/>
          <p:nvPr/>
        </p:nvSpPr>
        <p:spPr>
          <a:xfrm>
            <a:off x="710833" y="4479727"/>
            <a:ext cx="57686" cy="114300"/>
          </a:xfrm>
          <a:prstGeom prst="rect">
            <a:avLst/>
          </a:prstGeom>
          <a:noFill/>
          <a:ln/>
        </p:spPr>
        <p:txBody>
          <a:bodyPr wrap="square" lIns="0" tIns="0" rIns="0" bIns="0" rtlCol="0" anchor="t"/>
          <a:lstStyle/>
          <a:p>
            <a:pPr algn="ctr" indent="0" marL="0">
              <a:buNone/>
            </a:pPr>
            <a:r>
              <a:rPr lang="en-US" sz="800" b="1" dirty="0">
                <a:solidFill>
                  <a:srgbClr val="0969DA"/>
                </a:solidFill>
                <a:latin typeface="Arial" pitchFamily="34" charset="0"/>
                <a:ea typeface="Arial" pitchFamily="34" charset="-122"/>
                <a:cs typeface="Arial" pitchFamily="34" charset="-120"/>
              </a:rPr>
              <a:t>1</a:t>
            </a:r>
            <a:endParaRPr lang="en-US" sz="800" dirty="0"/>
          </a:p>
        </p:txBody>
      </p:sp>
      <p:sp>
        <p:nvSpPr>
          <p:cNvPr id="15" name="Text 11"/>
          <p:cNvSpPr/>
          <p:nvPr/>
        </p:nvSpPr>
        <p:spPr>
          <a:xfrm>
            <a:off x="911126" y="4470202"/>
            <a:ext cx="520386"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Why AKS</a:t>
            </a:r>
            <a:endParaRPr lang="en-US" sz="900" dirty="0"/>
          </a:p>
        </p:txBody>
      </p:sp>
      <p:sp>
        <p:nvSpPr>
          <p:cNvPr id="16" name="Text 12"/>
          <p:cNvSpPr/>
          <p:nvPr/>
        </p:nvSpPr>
        <p:spPr>
          <a:xfrm>
            <a:off x="1659285" y="4368701"/>
            <a:ext cx="1555998"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17" name="Text 13"/>
          <p:cNvSpPr/>
          <p:nvPr/>
        </p:nvSpPr>
        <p:spPr>
          <a:xfrm>
            <a:off x="1745010"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18" name="Text 14"/>
          <p:cNvSpPr/>
          <p:nvPr/>
        </p:nvSpPr>
        <p:spPr>
          <a:xfrm>
            <a:off x="1811417"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2</a:t>
            </a:r>
            <a:endParaRPr lang="en-US" sz="800" dirty="0"/>
          </a:p>
        </p:txBody>
      </p:sp>
      <p:sp>
        <p:nvSpPr>
          <p:cNvPr id="19" name="Text 15"/>
          <p:cNvSpPr/>
          <p:nvPr/>
        </p:nvSpPr>
        <p:spPr>
          <a:xfrm>
            <a:off x="2011710" y="4470202"/>
            <a:ext cx="1088440"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Gate, then generate</a:t>
            </a:r>
            <a:endParaRPr lang="en-US" sz="900" dirty="0"/>
          </a:p>
        </p:txBody>
      </p:sp>
      <p:sp>
        <p:nvSpPr>
          <p:cNvPr id="20" name="Text 16"/>
          <p:cNvSpPr/>
          <p:nvPr/>
        </p:nvSpPr>
        <p:spPr>
          <a:xfrm>
            <a:off x="3316784" y="4368701"/>
            <a:ext cx="1441698"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21" name="Text 17"/>
          <p:cNvSpPr/>
          <p:nvPr/>
        </p:nvSpPr>
        <p:spPr>
          <a:xfrm>
            <a:off x="3402509"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22" name="Text 18"/>
          <p:cNvSpPr/>
          <p:nvPr/>
        </p:nvSpPr>
        <p:spPr>
          <a:xfrm>
            <a:off x="3468916"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3</a:t>
            </a:r>
            <a:endParaRPr lang="en-US" sz="800" dirty="0"/>
          </a:p>
        </p:txBody>
      </p:sp>
      <p:sp>
        <p:nvSpPr>
          <p:cNvPr id="23" name="Text 19"/>
          <p:cNvSpPr/>
          <p:nvPr/>
        </p:nvSpPr>
        <p:spPr>
          <a:xfrm>
            <a:off x="3669209" y="4470202"/>
            <a:ext cx="971854"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Deploy and verify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CHOOSE THE PLATFORM</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Container Apps or AKS?</a:t>
            </a:r>
            <a:endParaRPr lang="en-US" sz="2600" dirty="0"/>
          </a:p>
        </p:txBody>
      </p:sp>
      <p:pic>
        <p:nvPicPr>
          <p:cNvPr id="7" name="Image 1" descr="/Users/danwahlin/.copilot/session-state/a2da67da-2d7a-45f2-aa6a-2a42a7b82a72/files/build/img/superset-container-apps-vs-aks.png">    </p:cNvPr>
          <p:cNvPicPr>
            <a:picLocks noChangeAspect="1"/>
          </p:cNvPicPr>
          <p:nvPr/>
        </p:nvPicPr>
        <p:blipFill>
          <a:blip r:embed="rId2"/>
          <a:stretch>
            <a:fillRect/>
          </a:stretch>
        </p:blipFill>
        <p:spPr>
          <a:xfrm>
            <a:off x="1904851" y="1231702"/>
            <a:ext cx="5334000" cy="35559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WHY SUPERSET NEEDS IT</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Inside the Superset pod</a:t>
            </a:r>
            <a:endParaRPr lang="en-US" sz="2600" dirty="0"/>
          </a:p>
        </p:txBody>
      </p:sp>
      <p:pic>
        <p:nvPicPr>
          <p:cNvPr id="7" name="Image 1" descr="/Users/danwahlin/.copilot/session-state/a2da67da-2d7a-45f2-aa6a-2a42a7b82a72/files/build/img/superset-superset-pod.png">    </p:cNvPr>
          <p:cNvPicPr>
            <a:picLocks noChangeAspect="1"/>
          </p:cNvPicPr>
          <p:nvPr/>
        </p:nvPicPr>
        <p:blipFill>
          <a:blip r:embed="rId2"/>
          <a:stretch>
            <a:fillRect/>
          </a:stretch>
        </p:blipFill>
        <p:spPr>
          <a:xfrm>
            <a:off x="1759446" y="1282601"/>
            <a:ext cx="5624810" cy="34543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GET STARTED</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Load the Azure skills and the deploy agent</a:t>
            </a:r>
            <a:endParaRPr lang="en-US" sz="2600" dirty="0"/>
          </a:p>
        </p:txBody>
      </p:sp>
      <p:sp>
        <p:nvSpPr>
          <p:cNvPr id="7" name="Text 4"/>
          <p:cNvSpPr/>
          <p:nvPr/>
        </p:nvSpPr>
        <p:spPr>
          <a:xfrm>
            <a:off x="1269802" y="1638895"/>
            <a:ext cx="6603950" cy="2297162"/>
          </a:xfrm>
          <a:prstGeom prst="roundRect">
            <a:avLst>
              <a:gd name="adj" fmla="val 4423"/>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1269802" y="1638895"/>
            <a:ext cx="6603950"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1396752" y="1721346"/>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1549003" y="1721346"/>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701254" y="1721346"/>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955006" y="1708696"/>
            <a:ext cx="462397" cy="114300"/>
          </a:xfrm>
          <a:prstGeom prst="rect">
            <a:avLst/>
          </a:prstGeom>
          <a:noFill/>
          <a:ln/>
        </p:spPr>
        <p:txBody>
          <a:bodyPr wrap="square" lIns="0" tIns="0" rIns="0" bIns="0" rtlCol="0" anchor="t"/>
          <a:lstStyle/>
          <a:p>
            <a:pPr algn="l" indent="0" marL="0">
              <a:buNone/>
            </a:pPr>
            <a:r>
              <a:rPr lang="en-US" sz="850" dirty="0">
                <a:solidFill>
                  <a:srgbClr val="8B949E"/>
                </a:solidFill>
                <a:latin typeface="Courier New" pitchFamily="34" charset="0"/>
                <a:ea typeface="Courier New" pitchFamily="34" charset="-122"/>
                <a:cs typeface="Courier New" pitchFamily="34" charset="-120"/>
              </a:rPr>
              <a:t>copilot</a:t>
            </a:r>
            <a:endParaRPr lang="en-US" sz="850" dirty="0"/>
          </a:p>
        </p:txBody>
      </p:sp>
      <p:sp>
        <p:nvSpPr>
          <p:cNvPr id="13" name="Text 10"/>
          <p:cNvSpPr/>
          <p:nvPr/>
        </p:nvSpPr>
        <p:spPr>
          <a:xfrm>
            <a:off x="1498402" y="2070497"/>
            <a:ext cx="6269685" cy="275630"/>
          </a:xfrm>
          <a:prstGeom prst="rect">
            <a:avLst/>
          </a:prstGeom>
          <a:noFill/>
          <a:ln/>
        </p:spPr>
        <p:txBody>
          <a:bodyPr wrap="square" lIns="0" tIns="0" rIns="0" bIns="0" rtlCol="0" anchor="t"/>
          <a:lstStyle/>
          <a:p>
            <a:pPr algn="l" indent="0" marL="0">
              <a:lnSpc>
                <a:spcPts val="2170"/>
              </a:lnSpc>
              <a:buNone/>
            </a:pPr>
            <a:r>
              <a:rPr lang="en-US" sz="1400" b="1" dirty="0">
                <a:solidFill>
                  <a:srgbClr val="D2A8FF"/>
                </a:solidFill>
                <a:latin typeface="Courier New" pitchFamily="34" charset="0"/>
                <a:ea typeface="Courier New" pitchFamily="34" charset="-122"/>
                <a:cs typeface="Courier New" pitchFamily="34" charset="-120"/>
              </a:rPr>
              <a:t>&gt;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/plugin marketplace add microsoft/azure-skills</a:t>
            </a:r>
            <a:endParaRPr lang="en-US" sz="1400" dirty="0"/>
          </a:p>
        </p:txBody>
      </p:sp>
      <p:sp>
        <p:nvSpPr>
          <p:cNvPr id="14" name="Text 11"/>
          <p:cNvSpPr/>
          <p:nvPr/>
        </p:nvSpPr>
        <p:spPr>
          <a:xfrm>
            <a:off x="1498402" y="2346127"/>
            <a:ext cx="6269685" cy="275630"/>
          </a:xfrm>
          <a:prstGeom prst="rect">
            <a:avLst/>
          </a:prstGeom>
          <a:noFill/>
          <a:ln/>
        </p:spPr>
        <p:txBody>
          <a:bodyPr wrap="square" lIns="0" tIns="0" rIns="0" bIns="0" rtlCol="0" anchor="t"/>
          <a:lstStyle/>
          <a:p>
            <a:pPr algn="l" indent="0" marL="0">
              <a:lnSpc>
                <a:spcPts val="2170"/>
              </a:lnSpc>
              <a:buNone/>
            </a:pPr>
            <a:r>
              <a:rPr lang="en-US" sz="1400" b="1" dirty="0">
                <a:solidFill>
                  <a:srgbClr val="D2A8FF"/>
                </a:solidFill>
                <a:latin typeface="Courier New" pitchFamily="34" charset="0"/>
                <a:ea typeface="Courier New" pitchFamily="34" charset="-122"/>
                <a:cs typeface="Courier New" pitchFamily="34" charset="-120"/>
              </a:rPr>
              <a:t>&gt;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/plugin install azure@azure-skills</a:t>
            </a:r>
            <a:endParaRPr lang="en-US" sz="1400" dirty="0"/>
          </a:p>
        </p:txBody>
      </p:sp>
      <p:sp>
        <p:nvSpPr>
          <p:cNvPr id="15" name="Text 12"/>
          <p:cNvSpPr/>
          <p:nvPr/>
        </p:nvSpPr>
        <p:spPr>
          <a:xfrm>
            <a:off x="1498402" y="2763887"/>
            <a:ext cx="6269685" cy="275630"/>
          </a:xfrm>
          <a:prstGeom prst="rect">
            <a:avLst/>
          </a:prstGeom>
          <a:noFill/>
          <a:ln/>
        </p:spPr>
        <p:txBody>
          <a:bodyPr wrap="square" lIns="0" tIns="0" rIns="0" bIns="0" rtlCol="0" anchor="t"/>
          <a:lstStyle/>
          <a:p>
            <a:pPr algn="l" indent="0" marL="0">
              <a:lnSpc>
                <a:spcPts val="2170"/>
              </a:lnSpc>
              <a:buNone/>
            </a:pPr>
            <a:r>
              <a:rPr lang="en-US" sz="1400" b="1" dirty="0">
                <a:solidFill>
                  <a:srgbClr val="D2A8FF"/>
                </a:solidFill>
                <a:latin typeface="Courier New" pitchFamily="34" charset="0"/>
                <a:ea typeface="Courier New" pitchFamily="34" charset="-122"/>
                <a:cs typeface="Courier New" pitchFamily="34" charset="-120"/>
              </a:rPr>
              <a:t>&gt;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/agent</a:t>
            </a:r>
            <a:endParaRPr lang="en-US" sz="1400" dirty="0"/>
          </a:p>
        </p:txBody>
      </p:sp>
      <p:sp>
        <p:nvSpPr>
          <p:cNvPr id="16" name="Text 13"/>
          <p:cNvSpPr/>
          <p:nvPr/>
        </p:nvSpPr>
        <p:spPr>
          <a:xfrm>
            <a:off x="1498402" y="3039517"/>
            <a:ext cx="6269685" cy="275630"/>
          </a:xfrm>
          <a:prstGeom prst="rect">
            <a:avLst/>
          </a:prstGeom>
          <a:noFill/>
          <a:ln/>
        </p:spPr>
        <p:txBody>
          <a:bodyPr wrap="square" lIns="0" tIns="0" rIns="0" bIns="0" rtlCol="0" anchor="t"/>
          <a:lstStyle/>
          <a:p>
            <a:pPr algn="l" indent="0" marL="0">
              <a:lnSpc>
                <a:spcPts val="2170"/>
              </a:lnSpc>
              <a:buNone/>
            </a:pPr>
            <a:r>
              <a:rPr lang="en-US" sz="1400" dirty="0">
                <a:solidFill>
                  <a:srgbClr val="8B949E"/>
                </a:solidFill>
                <a:latin typeface="Courier New" pitchFamily="34" charset="0"/>
                <a:ea typeface="Courier New" pitchFamily="34" charset="-122"/>
                <a:cs typeface="Courier New" pitchFamily="34" charset="-120"/>
              </a:rPr>
              <a:t># choose oss-to-azure-deployer</a:t>
            </a:r>
            <a:endParaRPr lang="en-US" sz="1400" dirty="0"/>
          </a:p>
        </p:txBody>
      </p:sp>
      <p:sp>
        <p:nvSpPr>
          <p:cNvPr id="17" name="Text 14"/>
          <p:cNvSpPr/>
          <p:nvPr/>
        </p:nvSpPr>
        <p:spPr>
          <a:xfrm>
            <a:off x="1498402" y="3457277"/>
            <a:ext cx="6269685" cy="275630"/>
          </a:xfrm>
          <a:prstGeom prst="rect">
            <a:avLst/>
          </a:prstGeom>
          <a:noFill/>
          <a:ln/>
        </p:spPr>
        <p:txBody>
          <a:bodyPr wrap="square" lIns="0" tIns="0" rIns="0" bIns="0" rtlCol="0" anchor="t"/>
          <a:lstStyle/>
          <a:p>
            <a:pPr algn="l" indent="0" marL="0">
              <a:lnSpc>
                <a:spcPts val="2170"/>
              </a:lnSpc>
              <a:buNone/>
            </a:pPr>
            <a:r>
              <a:rPr lang="en-US" sz="1400" b="1" dirty="0">
                <a:solidFill>
                  <a:srgbClr val="3FB950"/>
                </a:solidFill>
                <a:latin typeface="Courier New" pitchFamily="34" charset="0"/>
                <a:ea typeface="Courier New" pitchFamily="34" charset="-122"/>
                <a:cs typeface="Courier New" pitchFamily="34" charset="-120"/>
              </a:rPr>
              <a: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az vm list-usage --location westus --output table</a:t>
            </a:r>
            <a:endParaRPr lang="en-US" sz="1400" dirty="0"/>
          </a:p>
        </p:txBody>
      </p:sp>
      <p:pic>
        <p:nvPicPr>
          <p:cNvPr id="18" name="Image 1" descr="/Users/danwahlin/.copilot/session-state/a2da67da-2d7a-45f2-aa6a-2a42a7b82a72/files/build/icons/GoCopilot-8250DF.png">    </p:cNvPr>
          <p:cNvPicPr>
            <a:picLocks noChangeAspect="1"/>
          </p:cNvPicPr>
          <p:nvPr/>
        </p:nvPicPr>
        <p:blipFill>
          <a:blip r:embed="rId2"/>
          <a:stretch>
            <a:fillRect/>
          </a:stretch>
        </p:blipFill>
        <p:spPr>
          <a:xfrm>
            <a:off x="1269802" y="4177308"/>
            <a:ext cx="190500" cy="190500"/>
          </a:xfrm>
          <a:prstGeom prst="rect">
            <a:avLst/>
          </a:prstGeom>
        </p:spPr>
      </p:pic>
      <p:sp>
        <p:nvSpPr>
          <p:cNvPr id="19" name="Text 15"/>
          <p:cNvSpPr/>
          <p:nvPr/>
        </p:nvSpPr>
        <p:spPr>
          <a:xfrm>
            <a:off x="1561802" y="4164657"/>
            <a:ext cx="5011225" cy="215950"/>
          </a:xfrm>
          <a:prstGeom prst="rect">
            <a:avLst/>
          </a:prstGeom>
          <a:noFill/>
          <a:ln/>
        </p:spPr>
        <p:txBody>
          <a:bodyPr wrap="square" lIns="0" tIns="0" rIns="0" bIns="0" rtlCol="0" anchor="t"/>
          <a:lstStyle/>
          <a:p>
            <a:pPr algn="l" indent="0" marL="0">
              <a:lnSpc>
                <a:spcPts val="1700"/>
              </a:lnSpc>
              <a:buNone/>
            </a:pPr>
            <a:r>
              <a:rPr lang="en-US" sz="1250" dirty="0">
                <a:solidFill>
                  <a:srgbClr val="1F2328"/>
                </a:solidFill>
                <a:latin typeface="Arial" pitchFamily="34" charset="0"/>
                <a:ea typeface="Arial" pitchFamily="34" charset="-122"/>
                <a:cs typeface="Arial" pitchFamily="34" charset="-120"/>
              </a:rPr>
              <a:t>The agent brings the workflow. Skills bring the app-specific know-how.</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PLAN AND COST FIRST</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Ask it to justify the platform</a:t>
            </a:r>
            <a:endParaRPr lang="en-US" sz="2600" dirty="0"/>
          </a:p>
        </p:txBody>
      </p:sp>
      <p:sp>
        <p:nvSpPr>
          <p:cNvPr id="7" name="Text 4"/>
          <p:cNvSpPr/>
          <p:nvPr/>
        </p:nvSpPr>
        <p:spPr>
          <a:xfrm>
            <a:off x="634901" y="1993850"/>
            <a:ext cx="7873901" cy="2082850"/>
          </a:xfrm>
          <a:prstGeom prst="roundRect">
            <a:avLst>
              <a:gd name="adj" fmla="val 4878"/>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998613"/>
            <a:ext cx="7873901" cy="0"/>
          </a:xfrm>
          <a:prstGeom prst="line">
            <a:avLst/>
          </a:prstGeom>
          <a:noFill/>
          <a:ln w="9525">
            <a:solidFill>
              <a:srgbClr val="E0C5FF"/>
            </a:solidFill>
            <a:prstDash val="solid"/>
          </a:ln>
        </p:spPr>
      </p:sp>
      <p:sp>
        <p:nvSpPr>
          <p:cNvPr id="9" name="Shape 6"/>
          <p:cNvSpPr/>
          <p:nvPr/>
        </p:nvSpPr>
        <p:spPr>
          <a:xfrm>
            <a:off x="8504039" y="1993850"/>
            <a:ext cx="0" cy="2082850"/>
          </a:xfrm>
          <a:prstGeom prst="line">
            <a:avLst/>
          </a:prstGeom>
          <a:noFill/>
          <a:ln w="9525">
            <a:solidFill>
              <a:srgbClr val="E0C5FF"/>
            </a:solidFill>
            <a:prstDash val="solid"/>
          </a:ln>
        </p:spPr>
      </p:sp>
      <p:sp>
        <p:nvSpPr>
          <p:cNvPr id="10" name="Shape 7"/>
          <p:cNvSpPr/>
          <p:nvPr/>
        </p:nvSpPr>
        <p:spPr>
          <a:xfrm>
            <a:off x="634901" y="4071938"/>
            <a:ext cx="7873901" cy="0"/>
          </a:xfrm>
          <a:prstGeom prst="line">
            <a:avLst/>
          </a:prstGeom>
          <a:noFill/>
          <a:ln w="9525">
            <a:solidFill>
              <a:srgbClr val="E0C5FF"/>
            </a:solidFill>
            <a:prstDash val="solid"/>
          </a:ln>
        </p:spPr>
      </p:sp>
      <p:sp>
        <p:nvSpPr>
          <p:cNvPr id="11" name="Shape 8"/>
          <p:cNvSpPr/>
          <p:nvPr/>
        </p:nvSpPr>
        <p:spPr>
          <a:xfrm>
            <a:off x="663476" y="1993850"/>
            <a:ext cx="0" cy="2082850"/>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45952" y="2206526"/>
            <a:ext cx="165050" cy="165050"/>
          </a:xfrm>
          <a:prstGeom prst="rect">
            <a:avLst/>
          </a:prstGeom>
        </p:spPr>
      </p:pic>
      <p:sp>
        <p:nvSpPr>
          <p:cNvPr id="13" name="Text 9"/>
          <p:cNvSpPr/>
          <p:nvPr/>
        </p:nvSpPr>
        <p:spPr>
          <a:xfrm>
            <a:off x="1187202" y="2222302"/>
            <a:ext cx="498830" cy="133350"/>
          </a:xfrm>
          <a:prstGeom prst="rect">
            <a:avLst/>
          </a:prstGeom>
          <a:noFill/>
          <a:ln/>
        </p:spPr>
        <p:txBody>
          <a:bodyPr wrap="square" lIns="0" tIns="0" rIns="0" bIns="0" rtlCol="0" anchor="t"/>
          <a:lstStyle/>
          <a:p>
            <a:pPr algn="l" indent="0" marL="0">
              <a:buNone/>
            </a:pPr>
            <a:r>
              <a:rPr lang="en-US" sz="900" b="1" dirty="0">
                <a:solidFill>
                  <a:srgbClr val="8250DF"/>
                </a:solidFill>
                <a:latin typeface="Arial" pitchFamily="34" charset="0"/>
                <a:ea typeface="Arial" pitchFamily="34" charset="-122"/>
                <a:cs typeface="Arial" pitchFamily="34" charset="-120"/>
              </a:rPr>
              <a:t>PROMPT</a:t>
            </a:r>
            <a:endParaRPr lang="en-US" sz="900" dirty="0"/>
          </a:p>
        </p:txBody>
      </p:sp>
      <p:sp>
        <p:nvSpPr>
          <p:cNvPr id="14" name="Text 10"/>
          <p:cNvSpPr/>
          <p:nvPr/>
        </p:nvSpPr>
        <p:spPr>
          <a:xfrm>
            <a:off x="945952" y="2485727"/>
            <a:ext cx="7445413" cy="1352848"/>
          </a:xfrm>
          <a:prstGeom prst="rect">
            <a:avLst/>
          </a:prstGeom>
          <a:noFill/>
          <a:ln/>
        </p:spPr>
        <p:txBody>
          <a:bodyPr wrap="square" lIns="0" tIns="0" rIns="0" bIns="0" rtlCol="0" anchor="t"/>
          <a:lstStyle/>
          <a:p>
            <a:pPr algn="l" indent="0" marL="0">
              <a:lnSpc>
                <a:spcPts val="2130"/>
              </a:lnSpc>
              <a:buNone/>
            </a:pPr>
            <a:r>
              <a:rPr lang="en-US" sz="1500" dirty="0">
                <a:solidFill>
                  <a:srgbClr val="1F2328"/>
                </a:solidFill>
                <a:latin typeface="Arial" pitchFamily="34" charset="0"/>
                <a:ea typeface="Arial" pitchFamily="34" charset="-122"/>
                <a:cs typeface="Arial" pitchFamily="34" charset="-120"/>
              </a:rPr>
              <a:t>Plan an Apache Superset deployment to Azure with Bicep and azd, using AKS with two Standard_D2s_v3 nodes (not Container Apps), Azure Database for PostgreSQL Flexible Server, and the westus region. </a:t>
            </a:r>
            <a:pPr algn="l" indent="0" marL="0">
              <a:lnSpc>
                <a:spcPts val="2130"/>
              </a:lnSpc>
              <a:buNone/>
            </a:pPr>
            <a:r>
              <a:rPr lang="en-US" sz="1500" b="1" dirty="0">
                <a:solidFill>
                  <a:srgbClr val="1F2328"/>
                </a:solidFill>
                <a:latin typeface="Arial" pitchFamily="34" charset="0"/>
                <a:ea typeface="Arial" pitchFamily="34" charset="-122"/>
                <a:cs typeface="Arial" pitchFamily="34" charset="-120"/>
              </a:rPr>
              <a:t>List each Azure resource, its SKU, and the estimated monthly cost</a:t>
            </a:r>
            <a:pPr algn="l" indent="0" marL="0">
              <a:lnSpc>
                <a:spcPts val="2130"/>
              </a:lnSpc>
              <a:buNone/>
            </a:pPr>
            <a:r>
              <a:rPr lang="en-US" sz="1500" dirty="0">
                <a:solidFill>
                  <a:srgbClr val="1F2328"/>
                </a:solidFill>
                <a:latin typeface="Arial" pitchFamily="34" charset="0"/>
                <a:ea typeface="Arial" pitchFamily="34" charset="-122"/>
                <a:cs typeface="Arial" pitchFamily="34" charset="-120"/>
              </a:rPr>
              <a:t> if left running, and </a:t>
            </a:r>
            <a:pPr algn="l" indent="0" marL="0">
              <a:lnSpc>
                <a:spcPts val="2130"/>
              </a:lnSpc>
              <a:buNone/>
            </a:pPr>
            <a:r>
              <a:rPr lang="en-US" sz="1500" b="1" dirty="0">
                <a:solidFill>
                  <a:srgbClr val="1F2328"/>
                </a:solidFill>
                <a:latin typeface="Arial" pitchFamily="34" charset="0"/>
                <a:ea typeface="Arial" pitchFamily="34" charset="-122"/>
                <a:cs typeface="Arial" pitchFamily="34" charset="-120"/>
              </a:rPr>
              <a:t>explain why this workload uses AKS</a:t>
            </a:r>
            <a:pPr algn="l" indent="0" marL="0">
              <a:lnSpc>
                <a:spcPts val="2130"/>
              </a:lnSpc>
              <a:buNone/>
            </a:pPr>
            <a:r>
              <a:rPr lang="en-US" sz="1500" dirty="0">
                <a:solidFill>
                  <a:srgbClr val="1F2328"/>
                </a:solidFill>
                <a:latin typeface="Arial" pitchFamily="34" charset="0"/>
                <a:ea typeface="Arial" pitchFamily="34" charset="-122"/>
                <a:cs typeface="Arial" pitchFamily="34" charset="-120"/>
              </a:rPr>
              <a:t>. Don't create files or Azure resources yet.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8250DF"/>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8250DF"/>
                </a:solidFill>
                <a:latin typeface="Arial" pitchFamily="34" charset="0"/>
                <a:ea typeface="Arial" pitchFamily="34" charset="-122"/>
                <a:cs typeface="Arial" pitchFamily="34" charset="-120"/>
              </a:rPr>
              <a:t>02</a:t>
            </a:r>
            <a:endParaRPr lang="en-US" sz="6400" dirty="0"/>
          </a:p>
        </p:txBody>
      </p:sp>
      <p:sp>
        <p:nvSpPr>
          <p:cNvPr id="7" name="Text 4"/>
          <p:cNvSpPr/>
          <p:nvPr/>
        </p:nvSpPr>
        <p:spPr>
          <a:xfrm>
            <a:off x="558701" y="1828651"/>
            <a:ext cx="3886200" cy="142875"/>
          </a:xfrm>
          <a:prstGeom prst="rect">
            <a:avLst/>
          </a:prstGeom>
          <a:noFill/>
          <a:ln/>
        </p:spPr>
        <p:txBody>
          <a:bodyPr wrap="square" lIns="0" tIns="0" rIns="0" bIns="0" rtlCol="0" anchor="t"/>
          <a:lstStyle/>
          <a:p>
            <a:pPr algn="l" indent="0" marL="0">
              <a:spcBef>
                <a:spcPts val="800"/>
              </a:spcBef>
              <a:buNone/>
            </a:pPr>
            <a:r>
              <a:rPr lang="en-US" sz="1000" b="1" dirty="0">
                <a:solidFill>
                  <a:srgbClr val="59636E"/>
                </a:solidFill>
                <a:latin typeface="Arial" pitchFamily="34" charset="0"/>
                <a:ea typeface="Arial" pitchFamily="34" charset="-122"/>
                <a:cs typeface="Arial" pitchFamily="34" charset="-120"/>
              </a:rPr>
              <a:t>SECTION 2 OF 3</a:t>
            </a:r>
            <a:endParaRPr lang="en-US" sz="1000" dirty="0"/>
          </a:p>
        </p:txBody>
      </p:sp>
      <p:sp>
        <p:nvSpPr>
          <p:cNvPr id="8" name="Text 5"/>
          <p:cNvSpPr/>
          <p:nvPr/>
        </p:nvSpPr>
        <p:spPr>
          <a:xfrm>
            <a:off x="558701" y="2034927"/>
            <a:ext cx="3886200" cy="444550"/>
          </a:xfrm>
          <a:prstGeom prst="rect">
            <a:avLst/>
          </a:prstGeom>
          <a:noFill/>
          <a:ln/>
        </p:spPr>
        <p:txBody>
          <a:bodyPr wrap="square" lIns="0" tIns="0" rIns="0" bIns="0" rtlCol="0" anchor="t"/>
          <a:lstStyle/>
          <a:p>
            <a:pPr algn="l" indent="0" marL="0">
              <a:lnSpc>
                <a:spcPts val="3500"/>
              </a:lnSpc>
              <a:spcBef>
                <a:spcPts val="500"/>
              </a:spcBef>
              <a:buNone/>
            </a:pPr>
            <a:r>
              <a:rPr lang="en-US" sz="3000" b="1" dirty="0">
                <a:solidFill>
                  <a:srgbClr val="1F2328"/>
                </a:solidFill>
                <a:latin typeface="Arial" pitchFamily="34" charset="0"/>
                <a:ea typeface="Arial" pitchFamily="34" charset="-122"/>
                <a:cs typeface="Arial" pitchFamily="34" charset="-120"/>
              </a:rPr>
              <a:t>Gate, then generate</a:t>
            </a:r>
            <a:endParaRPr lang="en-US" sz="3000" dirty="0"/>
          </a:p>
        </p:txBody>
      </p:sp>
      <p:sp>
        <p:nvSpPr>
          <p:cNvPr id="9" name="Text 6"/>
          <p:cNvSpPr/>
          <p:nvPr/>
        </p:nvSpPr>
        <p:spPr>
          <a:xfrm>
            <a:off x="558701" y="2606427"/>
            <a:ext cx="3886200" cy="723751"/>
          </a:xfrm>
          <a:prstGeom prst="rect">
            <a:avLst/>
          </a:prstGeom>
          <a:noFill/>
          <a:ln/>
        </p:spPr>
        <p:txBody>
          <a:bodyPr wrap="square" lIns="0" tIns="0" rIns="0" bIns="0" rtlCol="0" anchor="t"/>
          <a:lstStyle/>
          <a:p>
            <a:pPr algn="l" indent="0" marL="0">
              <a:lnSpc>
                <a:spcPts val="1900"/>
              </a:lnSpc>
              <a:spcBef>
                <a:spcPts val="1000"/>
              </a:spcBef>
              <a:buNone/>
            </a:pPr>
            <a:r>
              <a:rPr lang="en-US" sz="1400" dirty="0">
                <a:solidFill>
                  <a:srgbClr val="59636E"/>
                </a:solidFill>
                <a:latin typeface="Arial" pitchFamily="34" charset="0"/>
                <a:ea typeface="Arial" pitchFamily="34" charset="-122"/>
                <a:cs typeface="Arial" pitchFamily="34" charset="-120"/>
              </a:rPr>
              <a:t>Write an automated check before the infrastructure exists, so the expensive failures happen offline.</a:t>
            </a:r>
            <a:endParaRPr lang="en-US" sz="1400" dirty="0"/>
          </a:p>
        </p:txBody>
      </p:sp>
      <p:sp>
        <p:nvSpPr>
          <p:cNvPr id="10" name="Text 7"/>
          <p:cNvSpPr/>
          <p:nvPr/>
        </p:nvSpPr>
        <p:spPr>
          <a:xfrm>
            <a:off x="5486400" y="914400"/>
            <a:ext cx="2793950" cy="2793950"/>
          </a:xfrm>
          <a:prstGeom prst="roundRect">
            <a:avLst>
              <a:gd name="adj" fmla="val 32728"/>
            </a:avLst>
          </a:prstGeom>
          <a:solidFill>
            <a:srgbClr val="FBEFFF"/>
          </a:solidFill>
          <a:ln/>
        </p:spPr>
        <p:txBody>
          <a:bodyPr wrap="square" rtlCol="0" anchor="ctr"/>
          <a:lstStyle/>
          <a:p>
            <a:pPr indent="0" marL="0">
              <a:buNone/>
            </a:pPr>
            <a:endParaRPr lang="en-US" dirty="0"/>
          </a:p>
        </p:txBody>
      </p:sp>
      <p:pic>
        <p:nvPicPr>
          <p:cNvPr id="11" name="Image 1" descr="/Users/danwahlin/.copilot/session-state/a2da67da-2d7a-45f2-aa6a-2a42a7b82a72/files/build/icons/GoShieldCheck-8250DF.png">    </p:cNvPr>
          <p:cNvPicPr>
            <a:picLocks noChangeAspect="1"/>
          </p:cNvPicPr>
          <p:nvPr/>
        </p:nvPicPr>
        <p:blipFill>
          <a:blip r:embed="rId2"/>
          <a:stretch>
            <a:fillRect/>
          </a:stretch>
        </p:blipFill>
        <p:spPr>
          <a:xfrm>
            <a:off x="6184850" y="1612850"/>
            <a:ext cx="1396901" cy="1396901"/>
          </a:xfrm>
          <a:prstGeom prst="rect">
            <a:avLst/>
          </a:prstGeom>
        </p:spPr>
      </p:pic>
      <p:sp>
        <p:nvSpPr>
          <p:cNvPr id="12" name="Text 8"/>
          <p:cNvSpPr/>
          <p:nvPr/>
        </p:nvSpPr>
        <p:spPr>
          <a:xfrm>
            <a:off x="558701" y="4368701"/>
            <a:ext cx="999083"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13" name="Text 9"/>
          <p:cNvSpPr/>
          <p:nvPr/>
        </p:nvSpPr>
        <p:spPr>
          <a:xfrm>
            <a:off x="644426"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14" name="Text 10"/>
          <p:cNvSpPr/>
          <p:nvPr/>
        </p:nvSpPr>
        <p:spPr>
          <a:xfrm>
            <a:off x="710833"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1</a:t>
            </a:r>
            <a:endParaRPr lang="en-US" sz="800" dirty="0"/>
          </a:p>
        </p:txBody>
      </p:sp>
      <p:sp>
        <p:nvSpPr>
          <p:cNvPr id="15" name="Text 11"/>
          <p:cNvSpPr/>
          <p:nvPr/>
        </p:nvSpPr>
        <p:spPr>
          <a:xfrm>
            <a:off x="911126" y="4470202"/>
            <a:ext cx="520386"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Why AKS</a:t>
            </a:r>
            <a:endParaRPr lang="en-US" sz="900" dirty="0"/>
          </a:p>
        </p:txBody>
      </p:sp>
      <p:sp>
        <p:nvSpPr>
          <p:cNvPr id="16" name="Text 12"/>
          <p:cNvSpPr/>
          <p:nvPr/>
        </p:nvSpPr>
        <p:spPr>
          <a:xfrm>
            <a:off x="1659285" y="4368701"/>
            <a:ext cx="1555998" cy="336352"/>
          </a:xfrm>
          <a:prstGeom prst="roundRect">
            <a:avLst>
              <a:gd name="adj" fmla="val 52861"/>
            </a:avLst>
          </a:prstGeom>
          <a:solidFill>
            <a:srgbClr val="8250DF"/>
          </a:solidFill>
          <a:ln w="9525">
            <a:solidFill>
              <a:srgbClr val="8250DF"/>
            </a:solidFill>
          </a:ln>
        </p:spPr>
        <p:txBody>
          <a:bodyPr wrap="square" rtlCol="0" anchor="ctr"/>
          <a:lstStyle/>
          <a:p>
            <a:pPr indent="0" marL="0">
              <a:buNone/>
            </a:pPr>
            <a:endParaRPr lang="en-US" dirty="0"/>
          </a:p>
        </p:txBody>
      </p:sp>
      <p:sp>
        <p:nvSpPr>
          <p:cNvPr id="17" name="Text 13"/>
          <p:cNvSpPr/>
          <p:nvPr/>
        </p:nvSpPr>
        <p:spPr>
          <a:xfrm>
            <a:off x="1745010" y="4441627"/>
            <a:ext cx="190500" cy="190500"/>
          </a:xfrm>
          <a:prstGeom prst="roundRect">
            <a:avLst>
              <a:gd name="adj" fmla="val 480000"/>
            </a:avLst>
          </a:prstGeom>
          <a:solidFill>
            <a:srgbClr val="FFFFFF"/>
          </a:solidFill>
          <a:ln/>
        </p:spPr>
        <p:txBody>
          <a:bodyPr wrap="square" rtlCol="0" anchor="ctr"/>
          <a:lstStyle/>
          <a:p>
            <a:pPr indent="0" marL="0">
              <a:buNone/>
            </a:pPr>
            <a:endParaRPr lang="en-US" dirty="0"/>
          </a:p>
        </p:txBody>
      </p:sp>
      <p:sp>
        <p:nvSpPr>
          <p:cNvPr id="18" name="Text 14"/>
          <p:cNvSpPr/>
          <p:nvPr/>
        </p:nvSpPr>
        <p:spPr>
          <a:xfrm>
            <a:off x="1811417" y="4479727"/>
            <a:ext cx="57686" cy="114300"/>
          </a:xfrm>
          <a:prstGeom prst="rect">
            <a:avLst/>
          </a:prstGeom>
          <a:noFill/>
          <a:ln/>
        </p:spPr>
        <p:txBody>
          <a:bodyPr wrap="square" lIns="0" tIns="0" rIns="0" bIns="0" rtlCol="0" anchor="t"/>
          <a:lstStyle/>
          <a:p>
            <a:pPr algn="ctr" indent="0" marL="0">
              <a:buNone/>
            </a:pPr>
            <a:r>
              <a:rPr lang="en-US" sz="800" b="1" dirty="0">
                <a:solidFill>
                  <a:srgbClr val="8250DF"/>
                </a:solidFill>
                <a:latin typeface="Arial" pitchFamily="34" charset="0"/>
                <a:ea typeface="Arial" pitchFamily="34" charset="-122"/>
                <a:cs typeface="Arial" pitchFamily="34" charset="-120"/>
              </a:rPr>
              <a:t>2</a:t>
            </a:r>
            <a:endParaRPr lang="en-US" sz="800" dirty="0"/>
          </a:p>
        </p:txBody>
      </p:sp>
      <p:sp>
        <p:nvSpPr>
          <p:cNvPr id="19" name="Text 15"/>
          <p:cNvSpPr/>
          <p:nvPr/>
        </p:nvSpPr>
        <p:spPr>
          <a:xfrm>
            <a:off x="2011710" y="4470202"/>
            <a:ext cx="1088440"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Gate, then generate</a:t>
            </a:r>
            <a:endParaRPr lang="en-US" sz="900" dirty="0"/>
          </a:p>
        </p:txBody>
      </p:sp>
      <p:sp>
        <p:nvSpPr>
          <p:cNvPr id="20" name="Text 16"/>
          <p:cNvSpPr/>
          <p:nvPr/>
        </p:nvSpPr>
        <p:spPr>
          <a:xfrm>
            <a:off x="3316784" y="4368701"/>
            <a:ext cx="1441698"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21" name="Text 17"/>
          <p:cNvSpPr/>
          <p:nvPr/>
        </p:nvSpPr>
        <p:spPr>
          <a:xfrm>
            <a:off x="3402509"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22" name="Text 18"/>
          <p:cNvSpPr/>
          <p:nvPr/>
        </p:nvSpPr>
        <p:spPr>
          <a:xfrm>
            <a:off x="3468916"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3</a:t>
            </a:r>
            <a:endParaRPr lang="en-US" sz="800" dirty="0"/>
          </a:p>
        </p:txBody>
      </p:sp>
      <p:sp>
        <p:nvSpPr>
          <p:cNvPr id="23" name="Text 19"/>
          <p:cNvSpPr/>
          <p:nvPr/>
        </p:nvSpPr>
        <p:spPr>
          <a:xfrm>
            <a:off x="3669209" y="4470202"/>
            <a:ext cx="971854"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Deploy and verify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8250DF"/>
                </a:solidFill>
                <a:latin typeface="Arial" pitchFamily="34" charset="0"/>
                <a:ea typeface="Arial" pitchFamily="34" charset="-122"/>
                <a:cs typeface="Arial" pitchFamily="34" charset="-120"/>
              </a:rPr>
              <a:t>TEST-FIRST INFRASTRUCTURE</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Fail fast, offline, for free</a:t>
            </a:r>
            <a:endParaRPr lang="en-US" sz="2600" dirty="0"/>
          </a:p>
        </p:txBody>
      </p:sp>
      <p:sp>
        <p:nvSpPr>
          <p:cNvPr id="7" name="Text 4"/>
          <p:cNvSpPr/>
          <p:nvPr/>
        </p:nvSpPr>
        <p:spPr>
          <a:xfrm>
            <a:off x="901601" y="1903065"/>
            <a:ext cx="584150" cy="584150"/>
          </a:xfrm>
          <a:prstGeom prst="roundRect">
            <a:avLst>
              <a:gd name="adj" fmla="val 13045"/>
            </a:avLst>
          </a:prstGeom>
          <a:solidFill>
            <a:srgbClr val="FFEBE9"/>
          </a:solidFill>
          <a:ln/>
        </p:spPr>
        <p:txBody>
          <a:bodyPr wrap="square" rtlCol="0" anchor="ctr"/>
          <a:lstStyle/>
          <a:p>
            <a:pPr indent="0" marL="0">
              <a:buNone/>
            </a:pPr>
            <a:endParaRPr lang="en-US" dirty="0"/>
          </a:p>
        </p:txBody>
      </p:sp>
      <p:pic>
        <p:nvPicPr>
          <p:cNvPr id="8" name="Image 1" descr="/Users/danwahlin/.copilot/session-state/a2da67da-2d7a-45f2-aa6a-2a42a7b82a72/files/build/icons/GoXCircle-CF222E.png">    </p:cNvPr>
          <p:cNvPicPr>
            <a:picLocks noChangeAspect="1"/>
          </p:cNvPicPr>
          <p:nvPr/>
        </p:nvPicPr>
        <p:blipFill>
          <a:blip r:embed="rId2"/>
          <a:stretch>
            <a:fillRect/>
          </a:stretch>
        </p:blipFill>
        <p:spPr>
          <a:xfrm>
            <a:off x="1028551" y="2030016"/>
            <a:ext cx="330101" cy="330101"/>
          </a:xfrm>
          <a:prstGeom prst="rect">
            <a:avLst/>
          </a:prstGeom>
        </p:spPr>
      </p:pic>
      <p:sp>
        <p:nvSpPr>
          <p:cNvPr id="9" name="Text 5"/>
          <p:cNvSpPr/>
          <p:nvPr/>
        </p:nvSpPr>
        <p:spPr>
          <a:xfrm>
            <a:off x="814694" y="2588716"/>
            <a:ext cx="758113" cy="206425"/>
          </a:xfrm>
          <a:prstGeom prst="rect">
            <a:avLst/>
          </a:prstGeom>
          <a:noFill/>
          <a:ln/>
        </p:spPr>
        <p:txBody>
          <a:bodyPr wrap="square" lIns="0" tIns="0" rIns="0" bIns="0" rtlCol="0" anchor="t"/>
          <a:lstStyle/>
          <a:p>
            <a:pPr algn="ctr" indent="0" marL="0">
              <a:lnSpc>
                <a:spcPts val="1625"/>
              </a:lnSpc>
              <a:buNone/>
            </a:pPr>
            <a:r>
              <a:rPr lang="en-US" sz="1300" b="1" dirty="0">
                <a:solidFill>
                  <a:srgbClr val="1F2328"/>
                </a:solidFill>
                <a:latin typeface="Arial" pitchFamily="34" charset="0"/>
                <a:ea typeface="Arial" pitchFamily="34" charset="-122"/>
                <a:cs typeface="Arial" pitchFamily="34" charset="-120"/>
              </a:rPr>
              <a:t>Gate fails</a:t>
            </a:r>
            <a:endParaRPr lang="en-US" sz="1300" dirty="0"/>
          </a:p>
        </p:txBody>
      </p:sp>
      <p:sp>
        <p:nvSpPr>
          <p:cNvPr id="10" name="Text 6"/>
          <p:cNvSpPr/>
          <p:nvPr/>
        </p:nvSpPr>
        <p:spPr>
          <a:xfrm>
            <a:off x="474803" y="2896642"/>
            <a:ext cx="1437894" cy="360164"/>
          </a:xfrm>
          <a:prstGeom prst="rect">
            <a:avLst/>
          </a:prstGeom>
          <a:noFill/>
          <a:ln/>
        </p:spPr>
        <p:txBody>
          <a:bodyPr wrap="square" lIns="0" tIns="0" rIns="0" bIns="0" rtlCol="0" anchor="t"/>
          <a:lstStyle/>
          <a:p>
            <a:pPr algn="ctr" indent="0" marL="0">
              <a:lnSpc>
                <a:spcPts val="1418"/>
              </a:lnSpc>
              <a:buNone/>
            </a:pPr>
            <a:r>
              <a:rPr lang="en-US" sz="1050" dirty="0">
                <a:solidFill>
                  <a:srgbClr val="59636E"/>
                </a:solidFill>
                <a:latin typeface="Arial" pitchFamily="34" charset="0"/>
                <a:ea typeface="Arial" pitchFamily="34" charset="-122"/>
                <a:cs typeface="Arial" pitchFamily="34" charset="-120"/>
              </a:rPr>
              <a:t>infra-superset/ doesn't exist yet</a:t>
            </a:r>
            <a:endParaRPr lang="en-US" sz="1050" dirty="0"/>
          </a:p>
        </p:txBody>
      </p:sp>
      <p:sp>
        <p:nvSpPr>
          <p:cNvPr id="11" name="Text 7"/>
          <p:cNvSpPr/>
          <p:nvPr/>
        </p:nvSpPr>
        <p:spPr>
          <a:xfrm>
            <a:off x="1934519" y="2076004"/>
            <a:ext cx="207365" cy="238125"/>
          </a:xfrm>
          <a:prstGeom prst="rect">
            <a:avLst/>
          </a:prstGeom>
          <a:noFill/>
          <a:ln/>
        </p:spPr>
        <p:txBody>
          <a:bodyPr wrap="square" lIns="0" tIns="0" rIns="0" bIns="0" rtlCol="0" anchor="t"/>
          <a:lstStyle/>
          <a:p>
            <a:pPr algn="ctr" indent="0" marL="0">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12" name="Text 8"/>
          <p:cNvSpPr/>
          <p:nvPr/>
        </p:nvSpPr>
        <p:spPr>
          <a:xfrm>
            <a:off x="2590651" y="1903065"/>
            <a:ext cx="584150" cy="584150"/>
          </a:xfrm>
          <a:prstGeom prst="roundRect">
            <a:avLst>
              <a:gd name="adj" fmla="val 13045"/>
            </a:avLst>
          </a:prstGeom>
          <a:solidFill>
            <a:srgbClr val="FBEFFF"/>
          </a:solidFill>
          <a:ln/>
        </p:spPr>
        <p:txBody>
          <a:bodyPr wrap="square" rtlCol="0" anchor="ctr"/>
          <a:lstStyle/>
          <a:p>
            <a:pPr indent="0" marL="0">
              <a:buNone/>
            </a:pPr>
            <a:endParaRPr lang="en-US" dirty="0"/>
          </a:p>
        </p:txBody>
      </p:sp>
      <p:pic>
        <p:nvPicPr>
          <p:cNvPr id="13" name="Image 2" descr="/Users/danwahlin/.copilot/session-state/a2da67da-2d7a-45f2-aa6a-2a42a7b82a72/files/build/icons/GoFileCode-8250DF.png">    </p:cNvPr>
          <p:cNvPicPr>
            <a:picLocks noChangeAspect="1"/>
          </p:cNvPicPr>
          <p:nvPr/>
        </p:nvPicPr>
        <p:blipFill>
          <a:blip r:embed="rId3"/>
          <a:stretch>
            <a:fillRect/>
          </a:stretch>
        </p:blipFill>
        <p:spPr>
          <a:xfrm>
            <a:off x="2717602" y="2030016"/>
            <a:ext cx="330101" cy="330101"/>
          </a:xfrm>
          <a:prstGeom prst="rect">
            <a:avLst/>
          </a:prstGeom>
        </p:spPr>
      </p:pic>
      <p:sp>
        <p:nvSpPr>
          <p:cNvPr id="14" name="Text 9"/>
          <p:cNvSpPr/>
          <p:nvPr/>
        </p:nvSpPr>
        <p:spPr>
          <a:xfrm>
            <a:off x="2517712" y="2588716"/>
            <a:ext cx="730029" cy="206425"/>
          </a:xfrm>
          <a:prstGeom prst="rect">
            <a:avLst/>
          </a:prstGeom>
          <a:noFill/>
          <a:ln/>
        </p:spPr>
        <p:txBody>
          <a:bodyPr wrap="square" lIns="0" tIns="0" rIns="0" bIns="0" rtlCol="0" anchor="t"/>
          <a:lstStyle/>
          <a:p>
            <a:pPr algn="ctr" indent="0" marL="0">
              <a:lnSpc>
                <a:spcPts val="1625"/>
              </a:lnSpc>
              <a:buNone/>
            </a:pPr>
            <a:r>
              <a:rPr lang="en-US" sz="1300" b="1" dirty="0">
                <a:solidFill>
                  <a:srgbClr val="1F2328"/>
                </a:solidFill>
                <a:latin typeface="Arial" pitchFamily="34" charset="0"/>
                <a:ea typeface="Arial" pitchFamily="34" charset="-122"/>
                <a:cs typeface="Arial" pitchFamily="34" charset="-120"/>
              </a:rPr>
              <a:t>Generate</a:t>
            </a:r>
            <a:endParaRPr lang="en-US" sz="1300" dirty="0"/>
          </a:p>
        </p:txBody>
      </p:sp>
      <p:sp>
        <p:nvSpPr>
          <p:cNvPr id="15" name="Text 10"/>
          <p:cNvSpPr/>
          <p:nvPr/>
        </p:nvSpPr>
        <p:spPr>
          <a:xfrm>
            <a:off x="2198467" y="2896642"/>
            <a:ext cx="1368519" cy="180082"/>
          </a:xfrm>
          <a:prstGeom prst="rect">
            <a:avLst/>
          </a:prstGeom>
          <a:noFill/>
          <a:ln/>
        </p:spPr>
        <p:txBody>
          <a:bodyPr wrap="square" lIns="0" tIns="0" rIns="0" bIns="0" rtlCol="0" anchor="t"/>
          <a:lstStyle/>
          <a:p>
            <a:pPr algn="ctr" indent="0" marL="0">
              <a:lnSpc>
                <a:spcPts val="1418"/>
              </a:lnSpc>
              <a:buNone/>
            </a:pPr>
            <a:r>
              <a:rPr lang="en-US" sz="1050" dirty="0">
                <a:solidFill>
                  <a:srgbClr val="59636E"/>
                </a:solidFill>
                <a:latin typeface="Arial" pitchFamily="34" charset="0"/>
                <a:ea typeface="Arial" pitchFamily="34" charset="-122"/>
                <a:cs typeface="Arial" pitchFamily="34" charset="-120"/>
              </a:rPr>
              <a:t>Bicep, manifests, hook</a:t>
            </a:r>
            <a:endParaRPr lang="en-US" sz="1050" dirty="0"/>
          </a:p>
        </p:txBody>
      </p:sp>
      <p:sp>
        <p:nvSpPr>
          <p:cNvPr id="16" name="Text 11"/>
          <p:cNvSpPr/>
          <p:nvPr/>
        </p:nvSpPr>
        <p:spPr>
          <a:xfrm>
            <a:off x="3623569" y="2076004"/>
            <a:ext cx="207365" cy="238125"/>
          </a:xfrm>
          <a:prstGeom prst="rect">
            <a:avLst/>
          </a:prstGeom>
          <a:noFill/>
          <a:ln/>
        </p:spPr>
        <p:txBody>
          <a:bodyPr wrap="square" lIns="0" tIns="0" rIns="0" bIns="0" rtlCol="0" anchor="t"/>
          <a:lstStyle/>
          <a:p>
            <a:pPr algn="ctr" indent="0" marL="0">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17" name="Text 12"/>
          <p:cNvSpPr/>
          <p:nvPr/>
        </p:nvSpPr>
        <p:spPr>
          <a:xfrm>
            <a:off x="4279702" y="1903065"/>
            <a:ext cx="584150" cy="584150"/>
          </a:xfrm>
          <a:prstGeom prst="roundRect">
            <a:avLst>
              <a:gd name="adj" fmla="val 13045"/>
            </a:avLst>
          </a:prstGeom>
          <a:solidFill>
            <a:srgbClr val="DAFBE1"/>
          </a:solidFill>
          <a:ln/>
        </p:spPr>
        <p:txBody>
          <a:bodyPr wrap="square" rtlCol="0" anchor="ctr"/>
          <a:lstStyle/>
          <a:p>
            <a:pPr indent="0" marL="0">
              <a:buNone/>
            </a:pPr>
            <a:endParaRPr lang="en-US" dirty="0"/>
          </a:p>
        </p:txBody>
      </p:sp>
      <p:pic>
        <p:nvPicPr>
          <p:cNvPr id="18" name="Image 3" descr="/Users/danwahlin/.copilot/session-state/a2da67da-2d7a-45f2-aa6a-2a42a7b82a72/files/build/icons/GoCheckCircle-1A7F37.png">    </p:cNvPr>
          <p:cNvPicPr>
            <a:picLocks noChangeAspect="1"/>
          </p:cNvPicPr>
          <p:nvPr/>
        </p:nvPicPr>
        <p:blipFill>
          <a:blip r:embed="rId4"/>
          <a:stretch>
            <a:fillRect/>
          </a:stretch>
        </p:blipFill>
        <p:spPr>
          <a:xfrm>
            <a:off x="4406652" y="2030016"/>
            <a:ext cx="330101" cy="330101"/>
          </a:xfrm>
          <a:prstGeom prst="rect">
            <a:avLst/>
          </a:prstGeom>
        </p:spPr>
      </p:pic>
      <p:sp>
        <p:nvSpPr>
          <p:cNvPr id="19" name="Text 13"/>
          <p:cNvSpPr/>
          <p:nvPr/>
        </p:nvSpPr>
        <p:spPr>
          <a:xfrm>
            <a:off x="4075753" y="2588716"/>
            <a:ext cx="992195" cy="206425"/>
          </a:xfrm>
          <a:prstGeom prst="rect">
            <a:avLst/>
          </a:prstGeom>
          <a:noFill/>
          <a:ln/>
        </p:spPr>
        <p:txBody>
          <a:bodyPr wrap="square" lIns="0" tIns="0" rIns="0" bIns="0" rtlCol="0" anchor="t"/>
          <a:lstStyle/>
          <a:p>
            <a:pPr algn="ctr" indent="0" marL="0">
              <a:lnSpc>
                <a:spcPts val="1625"/>
              </a:lnSpc>
              <a:buNone/>
            </a:pPr>
            <a:r>
              <a:rPr lang="en-US" sz="1300" b="1" dirty="0">
                <a:solidFill>
                  <a:srgbClr val="1F2328"/>
                </a:solidFill>
                <a:latin typeface="Arial" pitchFamily="34" charset="0"/>
                <a:ea typeface="Arial" pitchFamily="34" charset="-122"/>
                <a:cs typeface="Arial" pitchFamily="34" charset="-120"/>
              </a:rPr>
              <a:t>Gate passes</a:t>
            </a:r>
            <a:endParaRPr lang="en-US" sz="1300" dirty="0"/>
          </a:p>
        </p:txBody>
      </p:sp>
      <p:sp>
        <p:nvSpPr>
          <p:cNvPr id="20" name="Text 14"/>
          <p:cNvSpPr/>
          <p:nvPr/>
        </p:nvSpPr>
        <p:spPr>
          <a:xfrm>
            <a:off x="3852904" y="2896642"/>
            <a:ext cx="1437894" cy="360164"/>
          </a:xfrm>
          <a:prstGeom prst="rect">
            <a:avLst/>
          </a:prstGeom>
          <a:noFill/>
          <a:ln/>
        </p:spPr>
        <p:txBody>
          <a:bodyPr wrap="square" lIns="0" tIns="0" rIns="0" bIns="0" rtlCol="0" anchor="t"/>
          <a:lstStyle/>
          <a:p>
            <a:pPr algn="ctr" indent="0" marL="0">
              <a:lnSpc>
                <a:spcPts val="1418"/>
              </a:lnSpc>
              <a:buNone/>
            </a:pPr>
            <a:r>
              <a:rPr lang="en-US" sz="1050" dirty="0">
                <a:solidFill>
                  <a:srgbClr val="59636E"/>
                </a:solidFill>
                <a:latin typeface="Arial" pitchFamily="34" charset="0"/>
                <a:ea typeface="Arial" pitchFamily="34" charset="-122"/>
                <a:cs typeface="Arial" pitchFamily="34" charset="-120"/>
              </a:rPr>
              <a:t>Without changing the gate</a:t>
            </a:r>
            <a:endParaRPr lang="en-US" sz="1050" dirty="0"/>
          </a:p>
        </p:txBody>
      </p:sp>
      <p:sp>
        <p:nvSpPr>
          <p:cNvPr id="21" name="Text 15"/>
          <p:cNvSpPr/>
          <p:nvPr/>
        </p:nvSpPr>
        <p:spPr>
          <a:xfrm>
            <a:off x="5312619" y="2076004"/>
            <a:ext cx="207365" cy="238125"/>
          </a:xfrm>
          <a:prstGeom prst="rect">
            <a:avLst/>
          </a:prstGeom>
          <a:noFill/>
          <a:ln/>
        </p:spPr>
        <p:txBody>
          <a:bodyPr wrap="square" lIns="0" tIns="0" rIns="0" bIns="0" rtlCol="0" anchor="t"/>
          <a:lstStyle/>
          <a:p>
            <a:pPr algn="ctr" indent="0" marL="0">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22" name="Text 16"/>
          <p:cNvSpPr/>
          <p:nvPr/>
        </p:nvSpPr>
        <p:spPr>
          <a:xfrm>
            <a:off x="5968752" y="1903065"/>
            <a:ext cx="584150" cy="584150"/>
          </a:xfrm>
          <a:prstGeom prst="roundRect">
            <a:avLst>
              <a:gd name="adj" fmla="val 13045"/>
            </a:avLst>
          </a:prstGeom>
          <a:solidFill>
            <a:srgbClr val="DDF4FF"/>
          </a:solidFill>
          <a:ln/>
        </p:spPr>
        <p:txBody>
          <a:bodyPr wrap="square" rtlCol="0" anchor="ctr"/>
          <a:lstStyle/>
          <a:p>
            <a:pPr indent="0" marL="0">
              <a:buNone/>
            </a:pPr>
            <a:endParaRPr lang="en-US" dirty="0"/>
          </a:p>
        </p:txBody>
      </p:sp>
      <p:pic>
        <p:nvPicPr>
          <p:cNvPr id="23" name="Image 4" descr="/Users/danwahlin/.copilot/session-state/a2da67da-2d7a-45f2-aa6a-2a42a7b82a72/files/build/icons/GoEye-0969DA.png">    </p:cNvPr>
          <p:cNvPicPr>
            <a:picLocks noChangeAspect="1"/>
          </p:cNvPicPr>
          <p:nvPr/>
        </p:nvPicPr>
        <p:blipFill>
          <a:blip r:embed="rId5"/>
          <a:stretch>
            <a:fillRect/>
          </a:stretch>
        </p:blipFill>
        <p:spPr>
          <a:xfrm>
            <a:off x="6095702" y="2030016"/>
            <a:ext cx="330101" cy="330101"/>
          </a:xfrm>
          <a:prstGeom prst="rect">
            <a:avLst/>
          </a:prstGeom>
        </p:spPr>
      </p:pic>
      <p:sp>
        <p:nvSpPr>
          <p:cNvPr id="24" name="Text 17"/>
          <p:cNvSpPr/>
          <p:nvPr/>
        </p:nvSpPr>
        <p:spPr>
          <a:xfrm>
            <a:off x="5942569" y="2588716"/>
            <a:ext cx="636517" cy="206425"/>
          </a:xfrm>
          <a:prstGeom prst="rect">
            <a:avLst/>
          </a:prstGeom>
          <a:noFill/>
          <a:ln/>
        </p:spPr>
        <p:txBody>
          <a:bodyPr wrap="square" lIns="0" tIns="0" rIns="0" bIns="0" rtlCol="0" anchor="t"/>
          <a:lstStyle/>
          <a:p>
            <a:pPr algn="ctr" indent="0" marL="0">
              <a:lnSpc>
                <a:spcPts val="1625"/>
              </a:lnSpc>
              <a:buNone/>
            </a:pPr>
            <a:r>
              <a:rPr lang="en-US" sz="1300" b="1" dirty="0">
                <a:solidFill>
                  <a:srgbClr val="1F2328"/>
                </a:solidFill>
                <a:latin typeface="Arial" pitchFamily="34" charset="0"/>
                <a:ea typeface="Arial" pitchFamily="34" charset="-122"/>
                <a:cs typeface="Arial" pitchFamily="34" charset="-120"/>
              </a:rPr>
              <a:t>Preview</a:t>
            </a:r>
            <a:endParaRPr lang="en-US" sz="1300" dirty="0"/>
          </a:p>
        </p:txBody>
      </p:sp>
      <p:sp>
        <p:nvSpPr>
          <p:cNvPr id="25" name="Text 18"/>
          <p:cNvSpPr/>
          <p:nvPr/>
        </p:nvSpPr>
        <p:spPr>
          <a:xfrm>
            <a:off x="5561539" y="2896642"/>
            <a:ext cx="1398577" cy="180082"/>
          </a:xfrm>
          <a:prstGeom prst="rect">
            <a:avLst/>
          </a:prstGeom>
          <a:noFill/>
          <a:ln/>
        </p:spPr>
        <p:txBody>
          <a:bodyPr wrap="square" lIns="0" tIns="0" rIns="0" bIns="0" rtlCol="0" anchor="t"/>
          <a:lstStyle/>
          <a:p>
            <a:pPr algn="ctr" indent="0" marL="0">
              <a:lnSpc>
                <a:spcPts val="1418"/>
              </a:lnSpc>
              <a:buNone/>
            </a:pPr>
            <a:r>
              <a:rPr lang="en-US" sz="1050" dirty="0">
                <a:solidFill>
                  <a:srgbClr val="59636E"/>
                </a:solidFill>
                <a:latin typeface="Arial" pitchFamily="34" charset="0"/>
                <a:ea typeface="Arial" pitchFamily="34" charset="-122"/>
                <a:cs typeface="Arial" pitchFamily="34" charset="-120"/>
              </a:rPr>
              <a:t>azd provision --preview</a:t>
            </a:r>
            <a:endParaRPr lang="en-US" sz="1050" dirty="0"/>
          </a:p>
        </p:txBody>
      </p:sp>
      <p:sp>
        <p:nvSpPr>
          <p:cNvPr id="26" name="Text 19"/>
          <p:cNvSpPr/>
          <p:nvPr/>
        </p:nvSpPr>
        <p:spPr>
          <a:xfrm>
            <a:off x="7001670" y="2076004"/>
            <a:ext cx="207365" cy="238125"/>
          </a:xfrm>
          <a:prstGeom prst="rect">
            <a:avLst/>
          </a:prstGeom>
          <a:noFill/>
          <a:ln/>
        </p:spPr>
        <p:txBody>
          <a:bodyPr wrap="square" lIns="0" tIns="0" rIns="0" bIns="0" rtlCol="0" anchor="t"/>
          <a:lstStyle/>
          <a:p>
            <a:pPr algn="ctr" indent="0" marL="0">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27" name="Text 20"/>
          <p:cNvSpPr/>
          <p:nvPr/>
        </p:nvSpPr>
        <p:spPr>
          <a:xfrm>
            <a:off x="7657802" y="1903065"/>
            <a:ext cx="584150" cy="584150"/>
          </a:xfrm>
          <a:prstGeom prst="roundRect">
            <a:avLst>
              <a:gd name="adj" fmla="val 13045"/>
            </a:avLst>
          </a:prstGeom>
          <a:solidFill>
            <a:srgbClr val="FFF1E5"/>
          </a:solidFill>
          <a:ln/>
        </p:spPr>
        <p:txBody>
          <a:bodyPr wrap="square" rtlCol="0" anchor="ctr"/>
          <a:lstStyle/>
          <a:p>
            <a:pPr indent="0" marL="0">
              <a:buNone/>
            </a:pPr>
            <a:endParaRPr lang="en-US" dirty="0"/>
          </a:p>
        </p:txBody>
      </p:sp>
      <p:pic>
        <p:nvPicPr>
          <p:cNvPr id="28" name="Image 5" descr="/Users/danwahlin/.copilot/session-state/a2da67da-2d7a-45f2-aa6a-2a42a7b82a72/files/build/icons/GoRocket-BC4C00.png">    </p:cNvPr>
          <p:cNvPicPr>
            <a:picLocks noChangeAspect="1"/>
          </p:cNvPicPr>
          <p:nvPr/>
        </p:nvPicPr>
        <p:blipFill>
          <a:blip r:embed="rId6"/>
          <a:stretch>
            <a:fillRect/>
          </a:stretch>
        </p:blipFill>
        <p:spPr>
          <a:xfrm>
            <a:off x="7784753" y="2030016"/>
            <a:ext cx="330101" cy="330101"/>
          </a:xfrm>
          <a:prstGeom prst="rect">
            <a:avLst/>
          </a:prstGeom>
        </p:spPr>
      </p:pic>
      <p:sp>
        <p:nvSpPr>
          <p:cNvPr id="29" name="Text 21"/>
          <p:cNvSpPr/>
          <p:nvPr/>
        </p:nvSpPr>
        <p:spPr>
          <a:xfrm>
            <a:off x="7683233" y="2588716"/>
            <a:ext cx="533290" cy="206425"/>
          </a:xfrm>
          <a:prstGeom prst="rect">
            <a:avLst/>
          </a:prstGeom>
          <a:noFill/>
          <a:ln/>
        </p:spPr>
        <p:txBody>
          <a:bodyPr wrap="square" lIns="0" tIns="0" rIns="0" bIns="0" rtlCol="0" anchor="t"/>
          <a:lstStyle/>
          <a:p>
            <a:pPr algn="ctr" indent="0" marL="0">
              <a:lnSpc>
                <a:spcPts val="1625"/>
              </a:lnSpc>
              <a:buNone/>
            </a:pPr>
            <a:r>
              <a:rPr lang="en-US" sz="1300" b="1" dirty="0">
                <a:solidFill>
                  <a:srgbClr val="1F2328"/>
                </a:solidFill>
                <a:latin typeface="Arial" pitchFamily="34" charset="0"/>
                <a:ea typeface="Arial" pitchFamily="34" charset="-122"/>
                <a:cs typeface="Arial" pitchFamily="34" charset="-120"/>
              </a:rPr>
              <a:t>azd up</a:t>
            </a:r>
            <a:endParaRPr lang="en-US" sz="1300" dirty="0"/>
          </a:p>
        </p:txBody>
      </p:sp>
      <p:sp>
        <p:nvSpPr>
          <p:cNvPr id="30" name="Text 22"/>
          <p:cNvSpPr/>
          <p:nvPr/>
        </p:nvSpPr>
        <p:spPr>
          <a:xfrm>
            <a:off x="7231005" y="2896642"/>
            <a:ext cx="1437894" cy="360164"/>
          </a:xfrm>
          <a:prstGeom prst="rect">
            <a:avLst/>
          </a:prstGeom>
          <a:noFill/>
          <a:ln/>
        </p:spPr>
        <p:txBody>
          <a:bodyPr wrap="square" lIns="0" tIns="0" rIns="0" bIns="0" rtlCol="0" anchor="t"/>
          <a:lstStyle/>
          <a:p>
            <a:pPr algn="ctr" indent="0" marL="0">
              <a:lnSpc>
                <a:spcPts val="1418"/>
              </a:lnSpc>
              <a:buNone/>
            </a:pPr>
            <a:r>
              <a:rPr lang="en-US" sz="1050" dirty="0">
                <a:solidFill>
                  <a:srgbClr val="59636E"/>
                </a:solidFill>
                <a:latin typeface="Arial" pitchFamily="34" charset="0"/>
                <a:ea typeface="Arial" pitchFamily="34" charset="-122"/>
                <a:cs typeface="Arial" pitchFamily="34" charset="-120"/>
              </a:rPr>
              <a:t>Now it's worth paying for</a:t>
            </a:r>
            <a:endParaRPr lang="en-US" sz="1050" dirty="0"/>
          </a:p>
        </p:txBody>
      </p:sp>
      <p:sp>
        <p:nvSpPr>
          <p:cNvPr id="31" name="Text 23"/>
          <p:cNvSpPr/>
          <p:nvPr/>
        </p:nvSpPr>
        <p:spPr>
          <a:xfrm>
            <a:off x="2186285" y="3688556"/>
            <a:ext cx="4770983" cy="427732"/>
          </a:xfrm>
          <a:prstGeom prst="roundRect">
            <a:avLst>
              <a:gd name="adj" fmla="val 17815"/>
            </a:avLst>
          </a:prstGeom>
          <a:solidFill>
            <a:srgbClr val="FBEFFF"/>
          </a:solidFill>
          <a:ln w="9525">
            <a:solidFill>
              <a:srgbClr val="E0C5FF"/>
            </a:solidFill>
          </a:ln>
        </p:spPr>
        <p:txBody>
          <a:bodyPr wrap="square" rtlCol="0" anchor="ctr"/>
          <a:lstStyle/>
          <a:p>
            <a:pPr indent="0" marL="0">
              <a:buNone/>
            </a:pPr>
            <a:endParaRPr lang="en-US" dirty="0"/>
          </a:p>
        </p:txBody>
      </p:sp>
      <p:pic>
        <p:nvPicPr>
          <p:cNvPr id="32" name="Image 6" descr="/Users/danwahlin/.copilot/session-state/a2da67da-2d7a-45f2-aa6a-2a42a7b82a72/files/build/icons/GoStopwatch-8250DF.png">    </p:cNvPr>
          <p:cNvPicPr>
            <a:picLocks noChangeAspect="1"/>
          </p:cNvPicPr>
          <p:nvPr/>
        </p:nvPicPr>
        <p:blipFill>
          <a:blip r:embed="rId7"/>
          <a:stretch>
            <a:fillRect/>
          </a:stretch>
        </p:blipFill>
        <p:spPr>
          <a:xfrm>
            <a:off x="2348210" y="3813572"/>
            <a:ext cx="177701" cy="177701"/>
          </a:xfrm>
          <a:prstGeom prst="rect">
            <a:avLst/>
          </a:prstGeom>
        </p:spPr>
      </p:pic>
      <p:sp>
        <p:nvSpPr>
          <p:cNvPr id="33" name="Text 24"/>
          <p:cNvSpPr/>
          <p:nvPr/>
        </p:nvSpPr>
        <p:spPr>
          <a:xfrm>
            <a:off x="2627412" y="3799582"/>
            <a:ext cx="4251290" cy="205680"/>
          </a:xfrm>
          <a:prstGeom prst="rect">
            <a:avLst/>
          </a:prstGeom>
          <a:noFill/>
          <a:ln/>
        </p:spPr>
        <p:txBody>
          <a:bodyPr wrap="square" lIns="0" tIns="0" rIns="0" bIns="0" rtlCol="0" anchor="t"/>
          <a:lstStyle/>
          <a:p>
            <a:pPr algn="l" indent="0" marL="0">
              <a:lnSpc>
                <a:spcPts val="1620"/>
              </a:lnSpc>
              <a:buNone/>
            </a:pPr>
            <a:r>
              <a:rPr lang="en-US" sz="1200" dirty="0">
                <a:solidFill>
                  <a:srgbClr val="1F2328"/>
                </a:solidFill>
                <a:latin typeface="Arial" pitchFamily="34" charset="0"/>
                <a:ea typeface="Arial" pitchFamily="34" charset="-122"/>
                <a:cs typeface="Arial" pitchFamily="34" charset="-120"/>
              </a:rPr>
              <a:t>An AKS failure costs 20 minutes. A failing gate costs seconds.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8250DF"/>
                </a:solidFill>
                <a:latin typeface="Arial" pitchFamily="34" charset="0"/>
                <a:ea typeface="Arial" pitchFamily="34" charset="-122"/>
                <a:cs typeface="Arial" pitchFamily="34" charset="-120"/>
              </a:rPr>
              <a:t>RED</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Write the gate first</a:t>
            </a:r>
            <a:endParaRPr lang="en-US" sz="2600" dirty="0"/>
          </a:p>
        </p:txBody>
      </p:sp>
      <p:sp>
        <p:nvSpPr>
          <p:cNvPr id="7" name="Text 4"/>
          <p:cNvSpPr/>
          <p:nvPr/>
        </p:nvSpPr>
        <p:spPr>
          <a:xfrm>
            <a:off x="634901" y="2129135"/>
            <a:ext cx="7873901" cy="1812280"/>
          </a:xfrm>
          <a:prstGeom prst="roundRect">
            <a:avLst>
              <a:gd name="adj" fmla="val 5606"/>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2133898"/>
            <a:ext cx="7873901" cy="0"/>
          </a:xfrm>
          <a:prstGeom prst="line">
            <a:avLst/>
          </a:prstGeom>
          <a:noFill/>
          <a:ln w="9525">
            <a:solidFill>
              <a:srgbClr val="E0C5FF"/>
            </a:solidFill>
            <a:prstDash val="solid"/>
          </a:ln>
        </p:spPr>
      </p:sp>
      <p:sp>
        <p:nvSpPr>
          <p:cNvPr id="9" name="Shape 6"/>
          <p:cNvSpPr/>
          <p:nvPr/>
        </p:nvSpPr>
        <p:spPr>
          <a:xfrm>
            <a:off x="8504039" y="2129135"/>
            <a:ext cx="0" cy="1812280"/>
          </a:xfrm>
          <a:prstGeom prst="line">
            <a:avLst/>
          </a:prstGeom>
          <a:noFill/>
          <a:ln w="9525">
            <a:solidFill>
              <a:srgbClr val="E0C5FF"/>
            </a:solidFill>
            <a:prstDash val="solid"/>
          </a:ln>
        </p:spPr>
      </p:sp>
      <p:sp>
        <p:nvSpPr>
          <p:cNvPr id="10" name="Shape 7"/>
          <p:cNvSpPr/>
          <p:nvPr/>
        </p:nvSpPr>
        <p:spPr>
          <a:xfrm>
            <a:off x="634901" y="3936653"/>
            <a:ext cx="7873901" cy="0"/>
          </a:xfrm>
          <a:prstGeom prst="line">
            <a:avLst/>
          </a:prstGeom>
          <a:noFill/>
          <a:ln w="9525">
            <a:solidFill>
              <a:srgbClr val="E0C5FF"/>
            </a:solidFill>
            <a:prstDash val="solid"/>
          </a:ln>
        </p:spPr>
      </p:sp>
      <p:sp>
        <p:nvSpPr>
          <p:cNvPr id="11" name="Shape 8"/>
          <p:cNvSpPr/>
          <p:nvPr/>
        </p:nvSpPr>
        <p:spPr>
          <a:xfrm>
            <a:off x="663476" y="2129135"/>
            <a:ext cx="0" cy="1812280"/>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45952" y="2341811"/>
            <a:ext cx="165050" cy="165050"/>
          </a:xfrm>
          <a:prstGeom prst="rect">
            <a:avLst/>
          </a:prstGeom>
        </p:spPr>
      </p:pic>
      <p:sp>
        <p:nvSpPr>
          <p:cNvPr id="13" name="Text 9"/>
          <p:cNvSpPr/>
          <p:nvPr/>
        </p:nvSpPr>
        <p:spPr>
          <a:xfrm>
            <a:off x="1187202" y="2357586"/>
            <a:ext cx="498830" cy="133350"/>
          </a:xfrm>
          <a:prstGeom prst="rect">
            <a:avLst/>
          </a:prstGeom>
          <a:noFill/>
          <a:ln/>
        </p:spPr>
        <p:txBody>
          <a:bodyPr wrap="square" lIns="0" tIns="0" rIns="0" bIns="0" rtlCol="0" anchor="t"/>
          <a:lstStyle/>
          <a:p>
            <a:pPr algn="l" indent="0" marL="0">
              <a:buNone/>
            </a:pPr>
            <a:r>
              <a:rPr lang="en-US" sz="900" b="1" dirty="0">
                <a:solidFill>
                  <a:srgbClr val="8250DF"/>
                </a:solidFill>
                <a:latin typeface="Arial" pitchFamily="34" charset="0"/>
                <a:ea typeface="Arial" pitchFamily="34" charset="-122"/>
                <a:cs typeface="Arial" pitchFamily="34" charset="-120"/>
              </a:rPr>
              <a:t>PROMPT</a:t>
            </a:r>
            <a:endParaRPr lang="en-US" sz="900" dirty="0"/>
          </a:p>
        </p:txBody>
      </p:sp>
      <p:sp>
        <p:nvSpPr>
          <p:cNvPr id="14" name="Text 10"/>
          <p:cNvSpPr/>
          <p:nvPr/>
        </p:nvSpPr>
        <p:spPr>
          <a:xfrm>
            <a:off x="945952" y="2621012"/>
            <a:ext cx="7445413" cy="1082278"/>
          </a:xfrm>
          <a:prstGeom prst="rect">
            <a:avLst/>
          </a:prstGeom>
          <a:noFill/>
          <a:ln/>
        </p:spPr>
        <p:txBody>
          <a:bodyPr wrap="square" lIns="0" tIns="0" rIns="0" bIns="0" rtlCol="0" anchor="t"/>
          <a:lstStyle/>
          <a:p>
            <a:pPr algn="l" indent="0" marL="0">
              <a:lnSpc>
                <a:spcPts val="2130"/>
              </a:lnSpc>
              <a:buNone/>
            </a:pPr>
            <a:r>
              <a:rPr lang="en-US" sz="1500" dirty="0">
                <a:solidFill>
                  <a:srgbClr val="1F2328"/>
                </a:solidFill>
                <a:latin typeface="Arial" pitchFamily="34" charset="0"/>
                <a:ea typeface="Arial" pitchFamily="34" charset="-122"/>
                <a:cs typeface="Arial" pitchFamily="34" charset="-120"/>
              </a:rPr>
              <a:t>Create scripts/check-infra-superset.mjs exactly as .github/skills/superset-azure/config/infrastructure-gate.md specifies. Run it with --offline and </a:t>
            </a:r>
            <a:pPr algn="l" indent="0" marL="0">
              <a:lnSpc>
                <a:spcPts val="2130"/>
              </a:lnSpc>
              <a:buNone/>
            </a:pPr>
            <a:r>
              <a:rPr lang="en-US" sz="1500" b="1" dirty="0">
                <a:solidFill>
                  <a:srgbClr val="1F2328"/>
                </a:solidFill>
                <a:latin typeface="Arial" pitchFamily="34" charset="0"/>
                <a:ea typeface="Arial" pitchFamily="34" charset="-122"/>
                <a:cs typeface="Arial" pitchFamily="34" charset="-120"/>
              </a:rPr>
              <a:t>show me that it fails</a:t>
            </a:r>
            <a:pPr algn="l" indent="0" marL="0">
              <a:lnSpc>
                <a:spcPts val="2130"/>
              </a:lnSpc>
              <a:buNone/>
            </a:pPr>
            <a:r>
              <a:rPr lang="en-US" sz="1500" dirty="0">
                <a:solidFill>
                  <a:srgbClr val="1F2328"/>
                </a:solidFill>
                <a:latin typeface="Arial" pitchFamily="34" charset="0"/>
                <a:ea typeface="Arial" pitchFamily="34" charset="-122"/>
                <a:cs typeface="Arial" pitchFamily="34" charset="-120"/>
              </a:rPr>
              <a:t> because infra-superset/ doesn't exist yet. Commit only that script, and </a:t>
            </a:r>
            <a:pPr algn="l" indent="0" marL="0">
              <a:lnSpc>
                <a:spcPts val="2130"/>
              </a:lnSpc>
              <a:buNone/>
            </a:pPr>
            <a:r>
              <a:rPr lang="en-US" sz="1500" b="1" dirty="0">
                <a:solidFill>
                  <a:srgbClr val="1F2328"/>
                </a:solidFill>
                <a:latin typeface="Arial" pitchFamily="34" charset="0"/>
                <a:ea typeface="Arial" pitchFamily="34" charset="-122"/>
                <a:cs typeface="Arial" pitchFamily="34" charset="-120"/>
              </a:rPr>
              <a:t>don't generate any infrastructure yet.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8250DF"/>
                </a:solidFill>
                <a:latin typeface="Arial" pitchFamily="34" charset="0"/>
                <a:ea typeface="Arial" pitchFamily="34" charset="-122"/>
                <a:cs typeface="Arial" pitchFamily="34" charset="-120"/>
              </a:rPr>
              <a:t>GREEN</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Generate until the gate passes</a:t>
            </a:r>
            <a:endParaRPr lang="en-US" sz="2600" dirty="0"/>
          </a:p>
        </p:txBody>
      </p:sp>
      <p:sp>
        <p:nvSpPr>
          <p:cNvPr id="7" name="Text 4"/>
          <p:cNvSpPr/>
          <p:nvPr/>
        </p:nvSpPr>
        <p:spPr>
          <a:xfrm>
            <a:off x="634901" y="2067818"/>
            <a:ext cx="7873901" cy="1934766"/>
          </a:xfrm>
          <a:prstGeom prst="roundRect">
            <a:avLst>
              <a:gd name="adj" fmla="val 5251"/>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2072580"/>
            <a:ext cx="7873901" cy="0"/>
          </a:xfrm>
          <a:prstGeom prst="line">
            <a:avLst/>
          </a:prstGeom>
          <a:noFill/>
          <a:ln w="9525">
            <a:solidFill>
              <a:srgbClr val="E0C5FF"/>
            </a:solidFill>
            <a:prstDash val="solid"/>
          </a:ln>
        </p:spPr>
      </p:sp>
      <p:sp>
        <p:nvSpPr>
          <p:cNvPr id="9" name="Shape 6"/>
          <p:cNvSpPr/>
          <p:nvPr/>
        </p:nvSpPr>
        <p:spPr>
          <a:xfrm>
            <a:off x="8504039" y="2067818"/>
            <a:ext cx="0" cy="1934766"/>
          </a:xfrm>
          <a:prstGeom prst="line">
            <a:avLst/>
          </a:prstGeom>
          <a:noFill/>
          <a:ln w="9525">
            <a:solidFill>
              <a:srgbClr val="E0C5FF"/>
            </a:solidFill>
            <a:prstDash val="solid"/>
          </a:ln>
        </p:spPr>
      </p:sp>
      <p:sp>
        <p:nvSpPr>
          <p:cNvPr id="10" name="Shape 7"/>
          <p:cNvSpPr/>
          <p:nvPr/>
        </p:nvSpPr>
        <p:spPr>
          <a:xfrm>
            <a:off x="634901" y="3997821"/>
            <a:ext cx="7873901" cy="0"/>
          </a:xfrm>
          <a:prstGeom prst="line">
            <a:avLst/>
          </a:prstGeom>
          <a:noFill/>
          <a:ln w="9525">
            <a:solidFill>
              <a:srgbClr val="E0C5FF"/>
            </a:solidFill>
            <a:prstDash val="solid"/>
          </a:ln>
        </p:spPr>
      </p:sp>
      <p:sp>
        <p:nvSpPr>
          <p:cNvPr id="11" name="Shape 8"/>
          <p:cNvSpPr/>
          <p:nvPr/>
        </p:nvSpPr>
        <p:spPr>
          <a:xfrm>
            <a:off x="663476" y="2067818"/>
            <a:ext cx="0" cy="1934766"/>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45952" y="2280493"/>
            <a:ext cx="165050" cy="165050"/>
          </a:xfrm>
          <a:prstGeom prst="rect">
            <a:avLst/>
          </a:prstGeom>
        </p:spPr>
      </p:pic>
      <p:sp>
        <p:nvSpPr>
          <p:cNvPr id="13" name="Text 9"/>
          <p:cNvSpPr/>
          <p:nvPr/>
        </p:nvSpPr>
        <p:spPr>
          <a:xfrm>
            <a:off x="1187202" y="2296269"/>
            <a:ext cx="1220054" cy="133350"/>
          </a:xfrm>
          <a:prstGeom prst="rect">
            <a:avLst/>
          </a:prstGeom>
          <a:noFill/>
          <a:ln/>
        </p:spPr>
        <p:txBody>
          <a:bodyPr wrap="square" lIns="0" tIns="0" rIns="0" bIns="0" rtlCol="0" anchor="t"/>
          <a:lstStyle/>
          <a:p>
            <a:pPr algn="l" indent="0" marL="0">
              <a:buNone/>
            </a:pPr>
            <a:r>
              <a:rPr lang="en-US" sz="900" dirty="0">
                <a:solidFill>
                  <a:srgbClr val="8250DF"/>
                </a:solidFill>
                <a:latin typeface="Arial" pitchFamily="34" charset="0"/>
                <a:ea typeface="Arial" pitchFamily="34" charset="-122"/>
                <a:cs typeface="Arial" pitchFamily="34" charset="-120"/>
              </a:rPr>
              <a:t>PROMPT</a:t>
            </a:r>
            <a:pPr algn="l" indent="0" marL="0">
              <a:buNone/>
            </a:pPr>
            <a:r>
              <a:rPr lang="en-US" sz="900" b="1" dirty="0">
                <a:solidFill>
                  <a:srgbClr val="818B98"/>
                </a:solidFill>
                <a:latin typeface="Arial" pitchFamily="34" charset="0"/>
                <a:ea typeface="Arial" pitchFamily="34" charset="-122"/>
                <a:cs typeface="Arial" pitchFamily="34" charset="-120"/>
              </a:rPr>
              <a:t> · ABRIDGED</a:t>
            </a:r>
            <a:endParaRPr lang="en-US" sz="900" dirty="0"/>
          </a:p>
        </p:txBody>
      </p:sp>
      <p:sp>
        <p:nvSpPr>
          <p:cNvPr id="14" name="Text 10"/>
          <p:cNvSpPr/>
          <p:nvPr/>
        </p:nvSpPr>
        <p:spPr>
          <a:xfrm>
            <a:off x="945952" y="2547045"/>
            <a:ext cx="7445413" cy="1217414"/>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Generate the infrastructure for that plan: Bicep and Kubernetes manifests in infra-superset/, azure.yaml, and infra-superset/hooks/postprovision.js. </a:t>
            </a:r>
            <a:pPr algn="l" indent="0" marL="0">
              <a:lnSpc>
                <a:spcPts val="1917"/>
              </a:lnSpc>
              <a:buNone/>
            </a:pPr>
            <a:r>
              <a:rPr lang="en-US" sz="1350" b="1" dirty="0">
                <a:solidFill>
                  <a:srgbClr val="1F2328"/>
                </a:solidFill>
                <a:latin typeface="Arial" pitchFamily="34" charset="0"/>
                <a:ea typeface="Arial" pitchFamily="34" charset="-122"/>
                <a:cs typeface="Arial" pitchFamily="34" charset="-120"/>
              </a:rPr>
              <a:t>Keep going until "node scripts/check-infra-superset.mjs --offline" passes, and don't change that script.</a:t>
            </a:r>
            <a:pPr algn="l" indent="0" marL="0">
              <a:lnSpc>
                <a:spcPts val="1917"/>
              </a:lnSpc>
              <a:buNone/>
            </a:pPr>
            <a:r>
              <a:rPr lang="en-US" sz="1350" dirty="0">
                <a:solidFill>
                  <a:srgbClr val="1F2328"/>
                </a:solidFill>
                <a:latin typeface="Arial" pitchFamily="34" charset="0"/>
                <a:ea typeface="Arial" pitchFamily="34" charset="-122"/>
                <a:cs typeface="Arial" pitchFamily="34" charset="-120"/>
              </a:rPr>
              <a:t> … The hook must attach the Kubernetes manifests to </a:t>
            </a:r>
            <a:pPr algn="l" indent="0" marL="0">
              <a:lnSpc>
                <a:spcPts val="1917"/>
              </a:lnSpc>
              <a:buNone/>
            </a:pPr>
            <a:r>
              <a:rPr lang="en-US" sz="1350" b="1" dirty="0">
                <a:solidFill>
                  <a:srgbClr val="1F2328"/>
                </a:solidFill>
                <a:latin typeface="Arial" pitchFamily="34" charset="0"/>
                <a:ea typeface="Arial" pitchFamily="34" charset="-122"/>
                <a:cs typeface="Arial" pitchFamily="34" charset="-120"/>
              </a:rPr>
              <a:t>az aks command invoke</a:t>
            </a:r>
            <a:pPr algn="l" indent="0" marL="0">
              <a:lnSpc>
                <a:spcPts val="1917"/>
              </a:lnSpc>
              <a:buNone/>
            </a:pPr>
            <a:r>
              <a:rPr lang="en-US" sz="1350" dirty="0">
                <a:solidFill>
                  <a:srgbClr val="1F2328"/>
                </a:solidFill>
                <a:latin typeface="Arial" pitchFamily="34" charset="0"/>
                <a:ea typeface="Arial" pitchFamily="34" charset="-122"/>
                <a:cs typeface="Arial" pitchFamily="34" charset="-120"/>
              </a:rPr>
              <a:t>, run Helm and kubectl inside Azure … without requiring those tools on the host. … Run azd provision --preview … </a:t>
            </a:r>
            <a:pPr algn="l" indent="0" marL="0">
              <a:lnSpc>
                <a:spcPts val="1917"/>
              </a:lnSpc>
              <a:buNone/>
            </a:pPr>
            <a:r>
              <a:rPr lang="en-US" sz="1350" b="1" dirty="0">
                <a:solidFill>
                  <a:srgbClr val="1F2328"/>
                </a:solidFill>
                <a:latin typeface="Arial" pitchFamily="34" charset="0"/>
                <a:ea typeface="Arial" pitchFamily="34" charset="-122"/>
                <a:cs typeface="Arial" pitchFamily="34" charset="-120"/>
              </a:rPr>
              <a:t>Don't run azd up.</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8250DF"/>
                </a:solidFill>
                <a:latin typeface="Arial" pitchFamily="34" charset="0"/>
                <a:ea typeface="Arial" pitchFamily="34" charset="-122"/>
                <a:cs typeface="Arial" pitchFamily="34" charset="-120"/>
              </a:rPr>
              <a:t>ARCHITECTURE</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What azd creates</a:t>
            </a:r>
            <a:endParaRPr lang="en-US" sz="2600" dirty="0"/>
          </a:p>
        </p:txBody>
      </p:sp>
      <p:sp>
        <p:nvSpPr>
          <p:cNvPr id="7" name="Text 4"/>
          <p:cNvSpPr/>
          <p:nvPr/>
        </p:nvSpPr>
        <p:spPr>
          <a:xfrm>
            <a:off x="346472" y="2479625"/>
            <a:ext cx="1066800" cy="1060252"/>
          </a:xfrm>
          <a:prstGeom prst="roundRect">
            <a:avLst>
              <a:gd name="adj" fmla="val 9583"/>
            </a:avLst>
          </a:prstGeom>
          <a:solidFill>
            <a:srgbClr val="FFFFFF"/>
          </a:solidFill>
          <a:ln w="9525">
            <a:solidFill>
              <a:srgbClr val="E0C5FF"/>
            </a:solidFill>
          </a:ln>
        </p:spPr>
        <p:txBody>
          <a:bodyPr wrap="square" rtlCol="0" anchor="ctr"/>
          <a:lstStyle/>
          <a:p>
            <a:pPr indent="0" marL="0">
              <a:buNone/>
            </a:pPr>
            <a:endParaRPr lang="en-US" dirty="0"/>
          </a:p>
        </p:txBody>
      </p:sp>
      <p:sp>
        <p:nvSpPr>
          <p:cNvPr id="8" name="Text 5"/>
          <p:cNvSpPr/>
          <p:nvPr/>
        </p:nvSpPr>
        <p:spPr>
          <a:xfrm>
            <a:off x="689372" y="2603450"/>
            <a:ext cx="381000" cy="381000"/>
          </a:xfrm>
          <a:prstGeom prst="roundRect">
            <a:avLst>
              <a:gd name="adj" fmla="val 20000"/>
            </a:avLst>
          </a:prstGeom>
          <a:solidFill>
            <a:srgbClr val="FBEFFF"/>
          </a:solidFill>
          <a:ln/>
        </p:spPr>
        <p:txBody>
          <a:bodyPr wrap="square" rtlCol="0" anchor="ctr"/>
          <a:lstStyle/>
          <a:p>
            <a:pPr indent="0" marL="0">
              <a:buNone/>
            </a:pPr>
            <a:endParaRPr lang="en-US" dirty="0"/>
          </a:p>
        </p:txBody>
      </p:sp>
      <p:pic>
        <p:nvPicPr>
          <p:cNvPr id="9" name="Image 1" descr="/Users/danwahlin/.copilot/session-state/a2da67da-2d7a-45f2-aa6a-2a42a7b82a72/files/build/icons/GoPerson-8250DF.png">    </p:cNvPr>
          <p:cNvPicPr>
            <a:picLocks noChangeAspect="1"/>
          </p:cNvPicPr>
          <p:nvPr/>
        </p:nvPicPr>
        <p:blipFill>
          <a:blip r:embed="rId2"/>
          <a:stretch>
            <a:fillRect/>
          </a:stretch>
        </p:blipFill>
        <p:spPr>
          <a:xfrm>
            <a:off x="771971" y="2686050"/>
            <a:ext cx="215801" cy="215801"/>
          </a:xfrm>
          <a:prstGeom prst="rect">
            <a:avLst/>
          </a:prstGeom>
        </p:spPr>
      </p:pic>
      <p:sp>
        <p:nvSpPr>
          <p:cNvPr id="10" name="Text 6"/>
          <p:cNvSpPr/>
          <p:nvPr/>
        </p:nvSpPr>
        <p:spPr>
          <a:xfrm>
            <a:off x="756455" y="3047851"/>
            <a:ext cx="246834" cy="165050"/>
          </a:xfrm>
          <a:prstGeom prst="rect">
            <a:avLst/>
          </a:prstGeom>
          <a:noFill/>
          <a:ln/>
        </p:spPr>
        <p:txBody>
          <a:bodyPr wrap="square" lIns="0" tIns="0" rIns="0" bIns="0" rtlCol="0" anchor="t"/>
          <a:lstStyle/>
          <a:p>
            <a:pPr algn="ctr" indent="0" marL="0">
              <a:lnSpc>
                <a:spcPts val="1300"/>
              </a:lnSpc>
              <a:buNone/>
            </a:pPr>
            <a:r>
              <a:rPr lang="en-US" sz="1050" b="1" dirty="0">
                <a:solidFill>
                  <a:srgbClr val="1F2328"/>
                </a:solidFill>
                <a:latin typeface="Arial" pitchFamily="34" charset="0"/>
                <a:ea typeface="Arial" pitchFamily="34" charset="-122"/>
                <a:cs typeface="Arial" pitchFamily="34" charset="-120"/>
              </a:rPr>
              <a:t>You</a:t>
            </a:r>
            <a:endParaRPr lang="en-US" sz="1050" dirty="0"/>
          </a:p>
        </p:txBody>
      </p:sp>
      <p:sp>
        <p:nvSpPr>
          <p:cNvPr id="11" name="Text 7"/>
          <p:cNvSpPr/>
          <p:nvPr/>
        </p:nvSpPr>
        <p:spPr>
          <a:xfrm>
            <a:off x="677972" y="3276302"/>
            <a:ext cx="403800" cy="139750"/>
          </a:xfrm>
          <a:prstGeom prst="rect">
            <a:avLst/>
          </a:prstGeom>
          <a:noFill/>
          <a:ln/>
        </p:spPr>
        <p:txBody>
          <a:bodyPr wrap="square" lIns="0" tIns="0" rIns="0" bIns="0" rtlCol="0" anchor="t"/>
          <a:lstStyle/>
          <a:p>
            <a:pPr algn="ctr" indent="0" marL="0">
              <a:lnSpc>
                <a:spcPts val="1100"/>
              </a:lnSpc>
              <a:buNone/>
            </a:pPr>
            <a:r>
              <a:rPr lang="en-US" sz="850" dirty="0">
                <a:solidFill>
                  <a:srgbClr val="59636E"/>
                </a:solidFill>
                <a:latin typeface="Arial" pitchFamily="34" charset="0"/>
                <a:ea typeface="Arial" pitchFamily="34" charset="-122"/>
                <a:cs typeface="Arial" pitchFamily="34" charset="-120"/>
              </a:rPr>
              <a:t>Browser</a:t>
            </a:r>
            <a:endParaRPr lang="en-US" sz="850" dirty="0"/>
          </a:p>
        </p:txBody>
      </p:sp>
      <p:sp>
        <p:nvSpPr>
          <p:cNvPr id="12" name="Text 8"/>
          <p:cNvSpPr/>
          <p:nvPr/>
        </p:nvSpPr>
        <p:spPr>
          <a:xfrm>
            <a:off x="1538040" y="2895451"/>
            <a:ext cx="207365" cy="228600"/>
          </a:xfrm>
          <a:prstGeom prst="rect">
            <a:avLst/>
          </a:prstGeom>
          <a:noFill/>
          <a:ln/>
        </p:spPr>
        <p:txBody>
          <a:bodyPr wrap="square" lIns="0" tIns="0" rIns="0" bIns="0" rtlCol="0" anchor="t"/>
          <a:lstStyle/>
          <a:p>
            <a:pPr algn="ctr" indent="0" marL="0">
              <a:lnSpc>
                <a:spcPts val="1800"/>
              </a:lnSpc>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13" name="Text 9"/>
          <p:cNvSpPr/>
          <p:nvPr/>
        </p:nvSpPr>
        <p:spPr>
          <a:xfrm>
            <a:off x="1870323" y="2479625"/>
            <a:ext cx="1371600" cy="1060252"/>
          </a:xfrm>
          <a:prstGeom prst="roundRect">
            <a:avLst>
              <a:gd name="adj" fmla="val 9583"/>
            </a:avLst>
          </a:prstGeom>
          <a:solidFill>
            <a:srgbClr val="FFFFFF"/>
          </a:solidFill>
          <a:ln w="9525">
            <a:solidFill>
              <a:srgbClr val="9CD7FF"/>
            </a:solidFill>
          </a:ln>
        </p:spPr>
        <p:txBody>
          <a:bodyPr wrap="square" rtlCol="0" anchor="ctr"/>
          <a:lstStyle/>
          <a:p>
            <a:pPr indent="0" marL="0">
              <a:buNone/>
            </a:pPr>
            <a:endParaRPr lang="en-US" dirty="0"/>
          </a:p>
        </p:txBody>
      </p:sp>
      <p:sp>
        <p:nvSpPr>
          <p:cNvPr id="14" name="Text 10"/>
          <p:cNvSpPr/>
          <p:nvPr/>
        </p:nvSpPr>
        <p:spPr>
          <a:xfrm>
            <a:off x="2365623" y="2603450"/>
            <a:ext cx="381000" cy="381000"/>
          </a:xfrm>
          <a:prstGeom prst="roundRect">
            <a:avLst>
              <a:gd name="adj" fmla="val 20000"/>
            </a:avLst>
          </a:prstGeom>
          <a:solidFill>
            <a:srgbClr val="DDF4FF"/>
          </a:solidFill>
          <a:ln/>
        </p:spPr>
        <p:txBody>
          <a:bodyPr wrap="square" rtlCol="0" anchor="ctr"/>
          <a:lstStyle/>
          <a:p>
            <a:pPr indent="0" marL="0">
              <a:buNone/>
            </a:pPr>
            <a:endParaRPr lang="en-US" dirty="0"/>
          </a:p>
        </p:txBody>
      </p:sp>
      <p:pic>
        <p:nvPicPr>
          <p:cNvPr id="15" name="Image 2" descr="/Users/danwahlin/.copilot/session-state/a2da67da-2d7a-45f2-aa6a-2a42a7b82a72/files/build/icons/GoGlobe-0969DA.png">    </p:cNvPr>
          <p:cNvPicPr>
            <a:picLocks noChangeAspect="1"/>
          </p:cNvPicPr>
          <p:nvPr/>
        </p:nvPicPr>
        <p:blipFill>
          <a:blip r:embed="rId3"/>
          <a:stretch>
            <a:fillRect/>
          </a:stretch>
        </p:blipFill>
        <p:spPr>
          <a:xfrm>
            <a:off x="2448223" y="2686050"/>
            <a:ext cx="215801" cy="215801"/>
          </a:xfrm>
          <a:prstGeom prst="rect">
            <a:avLst/>
          </a:prstGeom>
        </p:spPr>
      </p:pic>
      <p:sp>
        <p:nvSpPr>
          <p:cNvPr id="16" name="Text 11"/>
          <p:cNvSpPr/>
          <p:nvPr/>
        </p:nvSpPr>
        <p:spPr>
          <a:xfrm>
            <a:off x="2087352" y="3047851"/>
            <a:ext cx="937394" cy="165050"/>
          </a:xfrm>
          <a:prstGeom prst="rect">
            <a:avLst/>
          </a:prstGeom>
          <a:noFill/>
          <a:ln/>
        </p:spPr>
        <p:txBody>
          <a:bodyPr wrap="square" lIns="0" tIns="0" rIns="0" bIns="0" rtlCol="0" anchor="t"/>
          <a:lstStyle/>
          <a:p>
            <a:pPr algn="ctr" indent="0" marL="0">
              <a:lnSpc>
                <a:spcPts val="1300"/>
              </a:lnSpc>
              <a:buNone/>
            </a:pPr>
            <a:r>
              <a:rPr lang="en-US" sz="1050" b="1" dirty="0">
                <a:solidFill>
                  <a:srgbClr val="1F2328"/>
                </a:solidFill>
                <a:latin typeface="Arial" pitchFamily="34" charset="0"/>
                <a:ea typeface="Arial" pitchFamily="34" charset="-122"/>
                <a:cs typeface="Arial" pitchFamily="34" charset="-120"/>
              </a:rPr>
              <a:t>Load Balancer</a:t>
            </a:r>
            <a:endParaRPr lang="en-US" sz="1050" dirty="0"/>
          </a:p>
        </p:txBody>
      </p:sp>
      <p:sp>
        <p:nvSpPr>
          <p:cNvPr id="17" name="Text 12"/>
          <p:cNvSpPr/>
          <p:nvPr/>
        </p:nvSpPr>
        <p:spPr>
          <a:xfrm>
            <a:off x="2207276" y="3276302"/>
            <a:ext cx="697694" cy="139750"/>
          </a:xfrm>
          <a:prstGeom prst="rect">
            <a:avLst/>
          </a:prstGeom>
          <a:noFill/>
          <a:ln/>
        </p:spPr>
        <p:txBody>
          <a:bodyPr wrap="square" lIns="0" tIns="0" rIns="0" bIns="0" rtlCol="0" anchor="t"/>
          <a:lstStyle/>
          <a:p>
            <a:pPr algn="ctr" indent="0" marL="0">
              <a:lnSpc>
                <a:spcPts val="1100"/>
              </a:lnSpc>
              <a:buNone/>
            </a:pPr>
            <a:r>
              <a:rPr lang="en-US" sz="850" dirty="0">
                <a:solidFill>
                  <a:srgbClr val="59636E"/>
                </a:solidFill>
                <a:latin typeface="Arial" pitchFamily="34" charset="0"/>
                <a:ea typeface="Arial" pitchFamily="34" charset="-122"/>
                <a:cs typeface="Arial" pitchFamily="34" charset="-120"/>
              </a:rPr>
              <a:t>probe /healthz</a:t>
            </a:r>
            <a:endParaRPr lang="en-US" sz="850" dirty="0"/>
          </a:p>
        </p:txBody>
      </p:sp>
      <p:sp>
        <p:nvSpPr>
          <p:cNvPr id="18" name="Text 13"/>
          <p:cNvSpPr/>
          <p:nvPr/>
        </p:nvSpPr>
        <p:spPr>
          <a:xfrm>
            <a:off x="3366692" y="2895451"/>
            <a:ext cx="207365" cy="228600"/>
          </a:xfrm>
          <a:prstGeom prst="rect">
            <a:avLst/>
          </a:prstGeom>
          <a:noFill/>
          <a:ln/>
        </p:spPr>
        <p:txBody>
          <a:bodyPr wrap="square" lIns="0" tIns="0" rIns="0" bIns="0" rtlCol="0" anchor="t"/>
          <a:lstStyle/>
          <a:p>
            <a:pPr algn="ctr" indent="0" marL="0">
              <a:lnSpc>
                <a:spcPts val="1800"/>
              </a:lnSpc>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19" name="Text 14"/>
          <p:cNvSpPr/>
          <p:nvPr/>
        </p:nvSpPr>
        <p:spPr>
          <a:xfrm>
            <a:off x="3698974" y="2209800"/>
            <a:ext cx="3345954" cy="1599902"/>
          </a:xfrm>
          <a:prstGeom prst="roundRect">
            <a:avLst>
              <a:gd name="adj" fmla="val 7938"/>
            </a:avLst>
          </a:prstGeom>
          <a:solidFill>
            <a:srgbClr val="DDF4FF"/>
          </a:solidFill>
          <a:ln w="9525">
            <a:solidFill>
              <a:srgbClr val="9CD7FF"/>
            </a:solidFill>
          </a:ln>
        </p:spPr>
        <p:txBody>
          <a:bodyPr wrap="square" rtlCol="0" anchor="ctr"/>
          <a:lstStyle/>
          <a:p>
            <a:pPr indent="0" marL="0">
              <a:buNone/>
            </a:pPr>
            <a:endParaRPr lang="en-US" dirty="0"/>
          </a:p>
        </p:txBody>
      </p:sp>
      <p:pic>
        <p:nvPicPr>
          <p:cNvPr id="20" name="Image 3" descr="/Users/danwahlin/.copilot/session-state/a2da67da-2d7a-45f2-aa6a-2a42a7b82a72/files/build/icons/GoCloud-0969DA.png">    </p:cNvPr>
          <p:cNvPicPr>
            <a:picLocks noChangeAspect="1"/>
          </p:cNvPicPr>
          <p:nvPr/>
        </p:nvPicPr>
        <p:blipFill>
          <a:blip r:embed="rId4"/>
          <a:stretch>
            <a:fillRect/>
          </a:stretch>
        </p:blipFill>
        <p:spPr>
          <a:xfrm>
            <a:off x="3860899" y="2371725"/>
            <a:ext cx="139601" cy="139601"/>
          </a:xfrm>
          <a:prstGeom prst="rect">
            <a:avLst/>
          </a:prstGeom>
        </p:spPr>
      </p:pic>
      <p:sp>
        <p:nvSpPr>
          <p:cNvPr id="21" name="Text 15"/>
          <p:cNvSpPr/>
          <p:nvPr/>
        </p:nvSpPr>
        <p:spPr>
          <a:xfrm>
            <a:off x="4063901" y="2384375"/>
            <a:ext cx="813521" cy="114300"/>
          </a:xfrm>
          <a:prstGeom prst="rect">
            <a:avLst/>
          </a:prstGeom>
          <a:noFill/>
          <a:ln/>
        </p:spPr>
        <p:txBody>
          <a:bodyPr wrap="square" lIns="0" tIns="0" rIns="0" bIns="0" rtlCol="0" anchor="t"/>
          <a:lstStyle/>
          <a:p>
            <a:pPr algn="l" indent="0" marL="0">
              <a:buNone/>
            </a:pPr>
            <a:r>
              <a:rPr lang="en-US" sz="850" b="1" dirty="0">
                <a:solidFill>
                  <a:srgbClr val="0969DA"/>
                </a:solidFill>
                <a:latin typeface="Arial" pitchFamily="34" charset="0"/>
                <a:ea typeface="Arial" pitchFamily="34" charset="-122"/>
                <a:cs typeface="Arial" pitchFamily="34" charset="-120"/>
              </a:rPr>
              <a:t>AKS · 2 NODES</a:t>
            </a:r>
            <a:endParaRPr lang="en-US" sz="850" dirty="0"/>
          </a:p>
        </p:txBody>
      </p:sp>
      <p:sp>
        <p:nvSpPr>
          <p:cNvPr id="22" name="Text 16"/>
          <p:cNvSpPr/>
          <p:nvPr/>
        </p:nvSpPr>
        <p:spPr>
          <a:xfrm>
            <a:off x="3860899" y="2587526"/>
            <a:ext cx="1320701" cy="1060252"/>
          </a:xfrm>
          <a:prstGeom prst="roundRect">
            <a:avLst>
              <a:gd name="adj" fmla="val 9583"/>
            </a:avLst>
          </a:prstGeom>
          <a:solidFill>
            <a:srgbClr val="FFFFFF"/>
          </a:solidFill>
          <a:ln w="9525">
            <a:solidFill>
              <a:srgbClr val="9CD7FF"/>
            </a:solidFill>
          </a:ln>
        </p:spPr>
        <p:txBody>
          <a:bodyPr wrap="square" rtlCol="0" anchor="ctr"/>
          <a:lstStyle/>
          <a:p>
            <a:pPr indent="0" marL="0">
              <a:buNone/>
            </a:pPr>
            <a:endParaRPr lang="en-US" dirty="0"/>
          </a:p>
        </p:txBody>
      </p:sp>
      <p:sp>
        <p:nvSpPr>
          <p:cNvPr id="23" name="Text 17"/>
          <p:cNvSpPr/>
          <p:nvPr/>
        </p:nvSpPr>
        <p:spPr>
          <a:xfrm>
            <a:off x="4330750" y="2711351"/>
            <a:ext cx="381000" cy="381000"/>
          </a:xfrm>
          <a:prstGeom prst="roundRect">
            <a:avLst>
              <a:gd name="adj" fmla="val 20000"/>
            </a:avLst>
          </a:prstGeom>
          <a:solidFill>
            <a:srgbClr val="DDF4FF"/>
          </a:solidFill>
          <a:ln/>
        </p:spPr>
        <p:txBody>
          <a:bodyPr wrap="square" rtlCol="0" anchor="ctr"/>
          <a:lstStyle/>
          <a:p>
            <a:pPr indent="0" marL="0">
              <a:buNone/>
            </a:pPr>
            <a:endParaRPr lang="en-US" dirty="0"/>
          </a:p>
        </p:txBody>
      </p:sp>
      <p:pic>
        <p:nvPicPr>
          <p:cNvPr id="24" name="Image 4" descr="/Users/danwahlin/.copilot/session-state/a2da67da-2d7a-45f2-aa6a-2a42a7b82a72/files/build/icons/GoArrowSwitch-0969DA.png">    </p:cNvPr>
          <p:cNvPicPr>
            <a:picLocks noChangeAspect="1"/>
          </p:cNvPicPr>
          <p:nvPr/>
        </p:nvPicPr>
        <p:blipFill>
          <a:blip r:embed="rId5"/>
          <a:stretch>
            <a:fillRect/>
          </a:stretch>
        </p:blipFill>
        <p:spPr>
          <a:xfrm>
            <a:off x="4413349" y="2793950"/>
            <a:ext cx="215801" cy="215801"/>
          </a:xfrm>
          <a:prstGeom prst="rect">
            <a:avLst/>
          </a:prstGeom>
        </p:spPr>
      </p:pic>
      <p:sp>
        <p:nvSpPr>
          <p:cNvPr id="25" name="Text 18"/>
          <p:cNvSpPr/>
          <p:nvPr/>
        </p:nvSpPr>
        <p:spPr>
          <a:xfrm>
            <a:off x="4045038" y="3155752"/>
            <a:ext cx="952423" cy="165050"/>
          </a:xfrm>
          <a:prstGeom prst="rect">
            <a:avLst/>
          </a:prstGeom>
          <a:noFill/>
          <a:ln/>
        </p:spPr>
        <p:txBody>
          <a:bodyPr wrap="square" lIns="0" tIns="0" rIns="0" bIns="0" rtlCol="0" anchor="t"/>
          <a:lstStyle/>
          <a:p>
            <a:pPr algn="ctr" indent="0" marL="0">
              <a:lnSpc>
                <a:spcPts val="1300"/>
              </a:lnSpc>
              <a:buNone/>
            </a:pPr>
            <a:r>
              <a:rPr lang="en-US" sz="1050" b="1" dirty="0">
                <a:solidFill>
                  <a:srgbClr val="1F2328"/>
                </a:solidFill>
                <a:latin typeface="Arial" pitchFamily="34" charset="0"/>
                <a:ea typeface="Arial" pitchFamily="34" charset="-122"/>
                <a:cs typeface="Arial" pitchFamily="34" charset="-120"/>
              </a:rPr>
              <a:t>NGINX ingress</a:t>
            </a:r>
            <a:endParaRPr lang="en-US" sz="1050" dirty="0"/>
          </a:p>
        </p:txBody>
      </p:sp>
      <p:sp>
        <p:nvSpPr>
          <p:cNvPr id="26" name="Text 19"/>
          <p:cNvSpPr/>
          <p:nvPr/>
        </p:nvSpPr>
        <p:spPr>
          <a:xfrm>
            <a:off x="4392673" y="3384203"/>
            <a:ext cx="257005" cy="139750"/>
          </a:xfrm>
          <a:prstGeom prst="rect">
            <a:avLst/>
          </a:prstGeom>
          <a:noFill/>
          <a:ln/>
        </p:spPr>
        <p:txBody>
          <a:bodyPr wrap="square" lIns="0" tIns="0" rIns="0" bIns="0" rtlCol="0" anchor="t"/>
          <a:lstStyle/>
          <a:p>
            <a:pPr algn="ctr" indent="0" marL="0">
              <a:lnSpc>
                <a:spcPts val="1100"/>
              </a:lnSpc>
              <a:buNone/>
            </a:pPr>
            <a:r>
              <a:rPr lang="en-US" sz="850" dirty="0">
                <a:solidFill>
                  <a:srgbClr val="59636E"/>
                </a:solidFill>
                <a:latin typeface="Arial" pitchFamily="34" charset="0"/>
                <a:ea typeface="Arial" pitchFamily="34" charset="-122"/>
                <a:cs typeface="Arial" pitchFamily="34" charset="-120"/>
              </a:rPr>
              <a:t>Helm</a:t>
            </a:r>
            <a:endParaRPr lang="en-US" sz="850" dirty="0"/>
          </a:p>
        </p:txBody>
      </p:sp>
      <p:sp>
        <p:nvSpPr>
          <p:cNvPr id="27" name="Text 20"/>
          <p:cNvSpPr/>
          <p:nvPr/>
        </p:nvSpPr>
        <p:spPr>
          <a:xfrm>
            <a:off x="5268269" y="3003352"/>
            <a:ext cx="207365" cy="228600"/>
          </a:xfrm>
          <a:prstGeom prst="rect">
            <a:avLst/>
          </a:prstGeom>
          <a:noFill/>
          <a:ln/>
        </p:spPr>
        <p:txBody>
          <a:bodyPr wrap="square" lIns="0" tIns="0" rIns="0" bIns="0" rtlCol="0" anchor="t"/>
          <a:lstStyle/>
          <a:p>
            <a:pPr algn="ctr" indent="0" marL="0">
              <a:lnSpc>
                <a:spcPts val="1800"/>
              </a:lnSpc>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28" name="Text 21"/>
          <p:cNvSpPr/>
          <p:nvPr/>
        </p:nvSpPr>
        <p:spPr>
          <a:xfrm>
            <a:off x="5562302" y="2587526"/>
            <a:ext cx="1320701" cy="1060252"/>
          </a:xfrm>
          <a:prstGeom prst="roundRect">
            <a:avLst>
              <a:gd name="adj" fmla="val 9583"/>
            </a:avLst>
          </a:prstGeom>
          <a:solidFill>
            <a:srgbClr val="FFFFFF"/>
          </a:solidFill>
          <a:ln w="9525">
            <a:solidFill>
              <a:srgbClr val="FFC49B"/>
            </a:solidFill>
          </a:ln>
        </p:spPr>
        <p:txBody>
          <a:bodyPr wrap="square" rtlCol="0" anchor="ctr"/>
          <a:lstStyle/>
          <a:p>
            <a:pPr indent="0" marL="0">
              <a:buNone/>
            </a:pPr>
            <a:endParaRPr lang="en-US" dirty="0"/>
          </a:p>
        </p:txBody>
      </p:sp>
      <p:sp>
        <p:nvSpPr>
          <p:cNvPr id="29" name="Text 22"/>
          <p:cNvSpPr/>
          <p:nvPr/>
        </p:nvSpPr>
        <p:spPr>
          <a:xfrm>
            <a:off x="6032153" y="2711351"/>
            <a:ext cx="381000" cy="381000"/>
          </a:xfrm>
          <a:prstGeom prst="roundRect">
            <a:avLst>
              <a:gd name="adj" fmla="val 20000"/>
            </a:avLst>
          </a:prstGeom>
          <a:solidFill>
            <a:srgbClr val="FFF1E5"/>
          </a:solidFill>
          <a:ln/>
        </p:spPr>
        <p:txBody>
          <a:bodyPr wrap="square" rtlCol="0" anchor="ctr"/>
          <a:lstStyle/>
          <a:p>
            <a:pPr indent="0" marL="0">
              <a:buNone/>
            </a:pPr>
            <a:endParaRPr lang="en-US" dirty="0"/>
          </a:p>
        </p:txBody>
      </p:sp>
      <p:pic>
        <p:nvPicPr>
          <p:cNvPr id="30" name="Image 5" descr="/Users/danwahlin/.copilot/session-state/a2da67da-2d7a-45f2-aa6a-2a42a7b82a72/files/build/icons/GoGraph-BC4C00.png">    </p:cNvPr>
          <p:cNvPicPr>
            <a:picLocks noChangeAspect="1"/>
          </p:cNvPicPr>
          <p:nvPr/>
        </p:nvPicPr>
        <p:blipFill>
          <a:blip r:embed="rId6"/>
          <a:stretch>
            <a:fillRect/>
          </a:stretch>
        </p:blipFill>
        <p:spPr>
          <a:xfrm>
            <a:off x="6114752" y="2793950"/>
            <a:ext cx="215801" cy="215801"/>
          </a:xfrm>
          <a:prstGeom prst="rect">
            <a:avLst/>
          </a:prstGeom>
        </p:spPr>
      </p:pic>
      <p:sp>
        <p:nvSpPr>
          <p:cNvPr id="31" name="Text 23"/>
          <p:cNvSpPr/>
          <p:nvPr/>
        </p:nvSpPr>
        <p:spPr>
          <a:xfrm>
            <a:off x="5788036" y="3155752"/>
            <a:ext cx="869234" cy="165050"/>
          </a:xfrm>
          <a:prstGeom prst="rect">
            <a:avLst/>
          </a:prstGeom>
          <a:noFill/>
          <a:ln/>
        </p:spPr>
        <p:txBody>
          <a:bodyPr wrap="square" lIns="0" tIns="0" rIns="0" bIns="0" rtlCol="0" anchor="t"/>
          <a:lstStyle/>
          <a:p>
            <a:pPr algn="ctr" indent="0" marL="0">
              <a:lnSpc>
                <a:spcPts val="1300"/>
              </a:lnSpc>
              <a:buNone/>
            </a:pPr>
            <a:r>
              <a:rPr lang="en-US" sz="1050" b="1" dirty="0">
                <a:solidFill>
                  <a:srgbClr val="1F2328"/>
                </a:solidFill>
                <a:latin typeface="Arial" pitchFamily="34" charset="0"/>
                <a:ea typeface="Arial" pitchFamily="34" charset="-122"/>
                <a:cs typeface="Arial" pitchFamily="34" charset="-120"/>
              </a:rPr>
              <a:t>Superset pod</a:t>
            </a:r>
            <a:endParaRPr lang="en-US" sz="1050" dirty="0"/>
          </a:p>
        </p:txBody>
      </p:sp>
      <p:sp>
        <p:nvSpPr>
          <p:cNvPr id="32" name="Text 24"/>
          <p:cNvSpPr/>
          <p:nvPr/>
        </p:nvSpPr>
        <p:spPr>
          <a:xfrm>
            <a:off x="5970203" y="3384203"/>
            <a:ext cx="504751" cy="139750"/>
          </a:xfrm>
          <a:prstGeom prst="rect">
            <a:avLst/>
          </a:prstGeom>
          <a:noFill/>
          <a:ln/>
        </p:spPr>
        <p:txBody>
          <a:bodyPr wrap="square" lIns="0" tIns="0" rIns="0" bIns="0" rtlCol="0" anchor="t"/>
          <a:lstStyle/>
          <a:p>
            <a:pPr algn="ctr" indent="0" marL="0">
              <a:lnSpc>
                <a:spcPts val="1100"/>
              </a:lnSpc>
              <a:buNone/>
            </a:pPr>
            <a:r>
              <a:rPr lang="en-US" sz="850" dirty="0">
                <a:solidFill>
                  <a:srgbClr val="59636E"/>
                </a:solidFill>
                <a:latin typeface="Arial" pitchFamily="34" charset="0"/>
                <a:ea typeface="Arial" pitchFamily="34" charset="-122"/>
                <a:cs typeface="Arial" pitchFamily="34" charset="-120"/>
              </a:rPr>
              <a:t>init + main</a:t>
            </a:r>
            <a:endParaRPr lang="en-US" sz="850" dirty="0"/>
          </a:p>
        </p:txBody>
      </p:sp>
      <p:sp>
        <p:nvSpPr>
          <p:cNvPr id="33" name="Text 25"/>
          <p:cNvSpPr/>
          <p:nvPr/>
        </p:nvSpPr>
        <p:spPr>
          <a:xfrm>
            <a:off x="7194337" y="2843064"/>
            <a:ext cx="183684" cy="104775"/>
          </a:xfrm>
          <a:prstGeom prst="rect">
            <a:avLst/>
          </a:prstGeom>
          <a:noFill/>
          <a:ln/>
        </p:spPr>
        <p:txBody>
          <a:bodyPr wrap="square" lIns="0" tIns="0" rIns="0" bIns="0" rtlCol="0" anchor="t"/>
          <a:lstStyle/>
          <a:p>
            <a:pPr algn="ctr" indent="0" marL="0">
              <a:buNone/>
            </a:pPr>
            <a:r>
              <a:rPr lang="en-US" sz="750" dirty="0">
                <a:solidFill>
                  <a:srgbClr val="59636E"/>
                </a:solidFill>
                <a:latin typeface="Arial" pitchFamily="34" charset="0"/>
                <a:ea typeface="Arial" pitchFamily="34" charset="-122"/>
                <a:cs typeface="Arial" pitchFamily="34" charset="-120"/>
              </a:rPr>
              <a:t>SSL</a:t>
            </a:r>
            <a:endParaRPr lang="en-US" sz="750" dirty="0"/>
          </a:p>
        </p:txBody>
      </p:sp>
      <p:sp>
        <p:nvSpPr>
          <p:cNvPr id="34" name="Text 26"/>
          <p:cNvSpPr/>
          <p:nvPr/>
        </p:nvSpPr>
        <p:spPr>
          <a:xfrm>
            <a:off x="7182496" y="2947839"/>
            <a:ext cx="207365" cy="228600"/>
          </a:xfrm>
          <a:prstGeom prst="rect">
            <a:avLst/>
          </a:prstGeom>
          <a:noFill/>
          <a:ln/>
        </p:spPr>
        <p:txBody>
          <a:bodyPr wrap="square" lIns="0" tIns="0" rIns="0" bIns="0" rtlCol="0" anchor="t"/>
          <a:lstStyle/>
          <a:p>
            <a:pPr algn="ctr" indent="0" marL="0">
              <a:lnSpc>
                <a:spcPts val="1800"/>
              </a:lnSpc>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35" name="Text 27"/>
          <p:cNvSpPr/>
          <p:nvPr/>
        </p:nvSpPr>
        <p:spPr>
          <a:xfrm>
            <a:off x="7527429" y="2479625"/>
            <a:ext cx="1269950" cy="1060252"/>
          </a:xfrm>
          <a:prstGeom prst="roundRect">
            <a:avLst>
              <a:gd name="adj" fmla="val 9583"/>
            </a:avLst>
          </a:prstGeom>
          <a:solidFill>
            <a:srgbClr val="FFFFFF"/>
          </a:solidFill>
          <a:ln w="9525">
            <a:solidFill>
              <a:srgbClr val="8CE7A5"/>
            </a:solidFill>
          </a:ln>
        </p:spPr>
        <p:txBody>
          <a:bodyPr wrap="square" rtlCol="0" anchor="ctr"/>
          <a:lstStyle/>
          <a:p>
            <a:pPr indent="0" marL="0">
              <a:buNone/>
            </a:pPr>
            <a:endParaRPr lang="en-US" dirty="0"/>
          </a:p>
        </p:txBody>
      </p:sp>
      <p:sp>
        <p:nvSpPr>
          <p:cNvPr id="36" name="Text 28"/>
          <p:cNvSpPr/>
          <p:nvPr/>
        </p:nvSpPr>
        <p:spPr>
          <a:xfrm>
            <a:off x="7971830" y="2603450"/>
            <a:ext cx="381000" cy="381000"/>
          </a:xfrm>
          <a:prstGeom prst="roundRect">
            <a:avLst>
              <a:gd name="adj" fmla="val 20000"/>
            </a:avLst>
          </a:prstGeom>
          <a:solidFill>
            <a:srgbClr val="DAFBE1"/>
          </a:solidFill>
          <a:ln/>
        </p:spPr>
        <p:txBody>
          <a:bodyPr wrap="square" rtlCol="0" anchor="ctr"/>
          <a:lstStyle/>
          <a:p>
            <a:pPr indent="0" marL="0">
              <a:buNone/>
            </a:pPr>
            <a:endParaRPr lang="en-US" dirty="0"/>
          </a:p>
        </p:txBody>
      </p:sp>
      <p:pic>
        <p:nvPicPr>
          <p:cNvPr id="37" name="Image 6" descr="/Users/danwahlin/.copilot/session-state/a2da67da-2d7a-45f2-aa6a-2a42a7b82a72/files/build/icons/GoDatabase-1A7F37.png">    </p:cNvPr>
          <p:cNvPicPr>
            <a:picLocks noChangeAspect="1"/>
          </p:cNvPicPr>
          <p:nvPr/>
        </p:nvPicPr>
        <p:blipFill>
          <a:blip r:embed="rId7"/>
          <a:stretch>
            <a:fillRect/>
          </a:stretch>
        </p:blipFill>
        <p:spPr>
          <a:xfrm>
            <a:off x="8054429" y="2686050"/>
            <a:ext cx="215801" cy="215801"/>
          </a:xfrm>
          <a:prstGeom prst="rect">
            <a:avLst/>
          </a:prstGeom>
        </p:spPr>
      </p:pic>
      <p:sp>
        <p:nvSpPr>
          <p:cNvPr id="38" name="Text 29"/>
          <p:cNvSpPr/>
          <p:nvPr/>
        </p:nvSpPr>
        <p:spPr>
          <a:xfrm>
            <a:off x="7769307" y="3047851"/>
            <a:ext cx="786045" cy="165050"/>
          </a:xfrm>
          <a:prstGeom prst="rect">
            <a:avLst/>
          </a:prstGeom>
          <a:noFill/>
          <a:ln/>
        </p:spPr>
        <p:txBody>
          <a:bodyPr wrap="square" lIns="0" tIns="0" rIns="0" bIns="0" rtlCol="0" anchor="t"/>
          <a:lstStyle/>
          <a:p>
            <a:pPr algn="ctr" indent="0" marL="0">
              <a:lnSpc>
                <a:spcPts val="1300"/>
              </a:lnSpc>
              <a:buNone/>
            </a:pPr>
            <a:r>
              <a:rPr lang="en-US" sz="1050" b="1" dirty="0">
                <a:solidFill>
                  <a:srgbClr val="1F2328"/>
                </a:solidFill>
                <a:latin typeface="Arial" pitchFamily="34" charset="0"/>
                <a:ea typeface="Arial" pitchFamily="34" charset="-122"/>
                <a:cs typeface="Arial" pitchFamily="34" charset="-120"/>
              </a:rPr>
              <a:t>PostgreSQL</a:t>
            </a:r>
            <a:endParaRPr lang="en-US" sz="1050" dirty="0"/>
          </a:p>
        </p:txBody>
      </p:sp>
      <p:sp>
        <p:nvSpPr>
          <p:cNvPr id="39" name="Text 30"/>
          <p:cNvSpPr/>
          <p:nvPr/>
        </p:nvSpPr>
        <p:spPr>
          <a:xfrm>
            <a:off x="7795266" y="3276302"/>
            <a:ext cx="734127" cy="139750"/>
          </a:xfrm>
          <a:prstGeom prst="rect">
            <a:avLst/>
          </a:prstGeom>
          <a:noFill/>
          <a:ln/>
        </p:spPr>
        <p:txBody>
          <a:bodyPr wrap="square" lIns="0" tIns="0" rIns="0" bIns="0" rtlCol="0" anchor="t"/>
          <a:lstStyle/>
          <a:p>
            <a:pPr algn="ctr" indent="0" marL="0">
              <a:lnSpc>
                <a:spcPts val="1100"/>
              </a:lnSpc>
              <a:buNone/>
            </a:pPr>
            <a:r>
              <a:rPr lang="en-US" sz="850" dirty="0">
                <a:solidFill>
                  <a:srgbClr val="59636E"/>
                </a:solidFill>
                <a:latin typeface="Arial" pitchFamily="34" charset="0"/>
                <a:ea typeface="Arial" pitchFamily="34" charset="-122"/>
                <a:cs typeface="Arial" pitchFamily="34" charset="-120"/>
              </a:rPr>
              <a:t>Flexible Server</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1A7F37"/>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1A7F37"/>
                </a:solidFill>
                <a:latin typeface="Arial" pitchFamily="34" charset="0"/>
                <a:ea typeface="Arial" pitchFamily="34" charset="-122"/>
                <a:cs typeface="Arial" pitchFamily="34" charset="-120"/>
              </a:rPr>
              <a:t>03</a:t>
            </a:r>
            <a:endParaRPr lang="en-US" sz="6400" dirty="0"/>
          </a:p>
        </p:txBody>
      </p:sp>
      <p:sp>
        <p:nvSpPr>
          <p:cNvPr id="7" name="Text 4"/>
          <p:cNvSpPr/>
          <p:nvPr/>
        </p:nvSpPr>
        <p:spPr>
          <a:xfrm>
            <a:off x="558701" y="1828651"/>
            <a:ext cx="3886200" cy="142875"/>
          </a:xfrm>
          <a:prstGeom prst="rect">
            <a:avLst/>
          </a:prstGeom>
          <a:noFill/>
          <a:ln/>
        </p:spPr>
        <p:txBody>
          <a:bodyPr wrap="square" lIns="0" tIns="0" rIns="0" bIns="0" rtlCol="0" anchor="t"/>
          <a:lstStyle/>
          <a:p>
            <a:pPr algn="l" indent="0" marL="0">
              <a:spcBef>
                <a:spcPts val="800"/>
              </a:spcBef>
              <a:buNone/>
            </a:pPr>
            <a:r>
              <a:rPr lang="en-US" sz="1000" b="1" dirty="0">
                <a:solidFill>
                  <a:srgbClr val="59636E"/>
                </a:solidFill>
                <a:latin typeface="Arial" pitchFamily="34" charset="0"/>
                <a:ea typeface="Arial" pitchFamily="34" charset="-122"/>
                <a:cs typeface="Arial" pitchFamily="34" charset="-120"/>
              </a:rPr>
              <a:t>SECTION 3 OF 3</a:t>
            </a:r>
            <a:endParaRPr lang="en-US" sz="1000" dirty="0"/>
          </a:p>
        </p:txBody>
      </p:sp>
      <p:sp>
        <p:nvSpPr>
          <p:cNvPr id="8" name="Text 5"/>
          <p:cNvSpPr/>
          <p:nvPr/>
        </p:nvSpPr>
        <p:spPr>
          <a:xfrm>
            <a:off x="558701" y="2034927"/>
            <a:ext cx="3886200" cy="444550"/>
          </a:xfrm>
          <a:prstGeom prst="rect">
            <a:avLst/>
          </a:prstGeom>
          <a:noFill/>
          <a:ln/>
        </p:spPr>
        <p:txBody>
          <a:bodyPr wrap="square" lIns="0" tIns="0" rIns="0" bIns="0" rtlCol="0" anchor="t"/>
          <a:lstStyle/>
          <a:p>
            <a:pPr algn="l" indent="0" marL="0">
              <a:lnSpc>
                <a:spcPts val="3500"/>
              </a:lnSpc>
              <a:spcBef>
                <a:spcPts val="500"/>
              </a:spcBef>
              <a:buNone/>
            </a:pPr>
            <a:r>
              <a:rPr lang="en-US" sz="3000" b="1" dirty="0">
                <a:solidFill>
                  <a:srgbClr val="1F2328"/>
                </a:solidFill>
                <a:latin typeface="Arial" pitchFamily="34" charset="0"/>
                <a:ea typeface="Arial" pitchFamily="34" charset="-122"/>
                <a:cs typeface="Arial" pitchFamily="34" charset="-120"/>
              </a:rPr>
              <a:t>Deploy and verify</a:t>
            </a:r>
            <a:endParaRPr lang="en-US" sz="3000" dirty="0"/>
          </a:p>
        </p:txBody>
      </p:sp>
      <p:sp>
        <p:nvSpPr>
          <p:cNvPr id="9" name="Text 6"/>
          <p:cNvSpPr/>
          <p:nvPr/>
        </p:nvSpPr>
        <p:spPr>
          <a:xfrm>
            <a:off x="558701" y="2606427"/>
            <a:ext cx="3886200" cy="723751"/>
          </a:xfrm>
          <a:prstGeom prst="rect">
            <a:avLst/>
          </a:prstGeom>
          <a:noFill/>
          <a:ln/>
        </p:spPr>
        <p:txBody>
          <a:bodyPr wrap="square" lIns="0" tIns="0" rIns="0" bIns="0" rtlCol="0" anchor="t"/>
          <a:lstStyle/>
          <a:p>
            <a:pPr algn="l" indent="0" marL="0">
              <a:lnSpc>
                <a:spcPts val="1900"/>
              </a:lnSpc>
              <a:spcBef>
                <a:spcPts val="1000"/>
              </a:spcBef>
              <a:buNone/>
            </a:pPr>
            <a:r>
              <a:rPr lang="en-US" sz="1400" dirty="0">
                <a:solidFill>
                  <a:srgbClr val="59636E"/>
                </a:solidFill>
                <a:latin typeface="Arial" pitchFamily="34" charset="0"/>
                <a:ea typeface="Arial" pitchFamily="34" charset="-122"/>
                <a:cs typeface="Arial" pitchFamily="34" charset="-120"/>
              </a:rPr>
              <a:t>Deploy with one command, explore a what-if while you wait, and prove Superset is really using PostgreSQL.</a:t>
            </a:r>
            <a:endParaRPr lang="en-US" sz="1400" dirty="0"/>
          </a:p>
        </p:txBody>
      </p:sp>
      <p:sp>
        <p:nvSpPr>
          <p:cNvPr id="10" name="Text 7"/>
          <p:cNvSpPr/>
          <p:nvPr/>
        </p:nvSpPr>
        <p:spPr>
          <a:xfrm>
            <a:off x="5486400" y="914400"/>
            <a:ext cx="2793950" cy="2793950"/>
          </a:xfrm>
          <a:prstGeom prst="roundRect">
            <a:avLst>
              <a:gd name="adj" fmla="val 32728"/>
            </a:avLst>
          </a:prstGeom>
          <a:solidFill>
            <a:srgbClr val="DAFBE1"/>
          </a:solidFill>
          <a:ln/>
        </p:spPr>
        <p:txBody>
          <a:bodyPr wrap="square" rtlCol="0" anchor="ctr"/>
          <a:lstStyle/>
          <a:p>
            <a:pPr indent="0" marL="0">
              <a:buNone/>
            </a:pPr>
            <a:endParaRPr lang="en-US" dirty="0"/>
          </a:p>
        </p:txBody>
      </p:sp>
      <p:pic>
        <p:nvPicPr>
          <p:cNvPr id="11" name="Image 1" descr="/Users/danwahlin/.copilot/session-state/a2da67da-2d7a-45f2-aa6a-2a42a7b82a72/files/build/icons/GoRocket-1A7F37.png">    </p:cNvPr>
          <p:cNvPicPr>
            <a:picLocks noChangeAspect="1"/>
          </p:cNvPicPr>
          <p:nvPr/>
        </p:nvPicPr>
        <p:blipFill>
          <a:blip r:embed="rId2"/>
          <a:stretch>
            <a:fillRect/>
          </a:stretch>
        </p:blipFill>
        <p:spPr>
          <a:xfrm>
            <a:off x="6184850" y="1612850"/>
            <a:ext cx="1396901" cy="1396901"/>
          </a:xfrm>
          <a:prstGeom prst="rect">
            <a:avLst/>
          </a:prstGeom>
        </p:spPr>
      </p:pic>
      <p:sp>
        <p:nvSpPr>
          <p:cNvPr id="12" name="Text 8"/>
          <p:cNvSpPr/>
          <p:nvPr/>
        </p:nvSpPr>
        <p:spPr>
          <a:xfrm>
            <a:off x="558701" y="4368701"/>
            <a:ext cx="999083"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13" name="Text 9"/>
          <p:cNvSpPr/>
          <p:nvPr/>
        </p:nvSpPr>
        <p:spPr>
          <a:xfrm>
            <a:off x="644426"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14" name="Text 10"/>
          <p:cNvSpPr/>
          <p:nvPr/>
        </p:nvSpPr>
        <p:spPr>
          <a:xfrm>
            <a:off x="710833"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1</a:t>
            </a:r>
            <a:endParaRPr lang="en-US" sz="800" dirty="0"/>
          </a:p>
        </p:txBody>
      </p:sp>
      <p:sp>
        <p:nvSpPr>
          <p:cNvPr id="15" name="Text 11"/>
          <p:cNvSpPr/>
          <p:nvPr/>
        </p:nvSpPr>
        <p:spPr>
          <a:xfrm>
            <a:off x="911126" y="4470202"/>
            <a:ext cx="520386"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Why AKS</a:t>
            </a:r>
            <a:endParaRPr lang="en-US" sz="900" dirty="0"/>
          </a:p>
        </p:txBody>
      </p:sp>
      <p:sp>
        <p:nvSpPr>
          <p:cNvPr id="16" name="Text 12"/>
          <p:cNvSpPr/>
          <p:nvPr/>
        </p:nvSpPr>
        <p:spPr>
          <a:xfrm>
            <a:off x="1659285" y="4368701"/>
            <a:ext cx="1555998"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17" name="Text 13"/>
          <p:cNvSpPr/>
          <p:nvPr/>
        </p:nvSpPr>
        <p:spPr>
          <a:xfrm>
            <a:off x="1745010"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18" name="Text 14"/>
          <p:cNvSpPr/>
          <p:nvPr/>
        </p:nvSpPr>
        <p:spPr>
          <a:xfrm>
            <a:off x="1811417"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2</a:t>
            </a:r>
            <a:endParaRPr lang="en-US" sz="800" dirty="0"/>
          </a:p>
        </p:txBody>
      </p:sp>
      <p:sp>
        <p:nvSpPr>
          <p:cNvPr id="19" name="Text 15"/>
          <p:cNvSpPr/>
          <p:nvPr/>
        </p:nvSpPr>
        <p:spPr>
          <a:xfrm>
            <a:off x="2011710" y="4470202"/>
            <a:ext cx="1088440"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Gate, then generate</a:t>
            </a:r>
            <a:endParaRPr lang="en-US" sz="900" dirty="0"/>
          </a:p>
        </p:txBody>
      </p:sp>
      <p:sp>
        <p:nvSpPr>
          <p:cNvPr id="20" name="Text 16"/>
          <p:cNvSpPr/>
          <p:nvPr/>
        </p:nvSpPr>
        <p:spPr>
          <a:xfrm>
            <a:off x="3316784" y="4368701"/>
            <a:ext cx="1441698" cy="336352"/>
          </a:xfrm>
          <a:prstGeom prst="roundRect">
            <a:avLst>
              <a:gd name="adj" fmla="val 52861"/>
            </a:avLst>
          </a:prstGeom>
          <a:solidFill>
            <a:srgbClr val="1A7F37"/>
          </a:solidFill>
          <a:ln w="9525">
            <a:solidFill>
              <a:srgbClr val="1A7F37"/>
            </a:solidFill>
          </a:ln>
        </p:spPr>
        <p:txBody>
          <a:bodyPr wrap="square" rtlCol="0" anchor="ctr"/>
          <a:lstStyle/>
          <a:p>
            <a:pPr indent="0" marL="0">
              <a:buNone/>
            </a:pPr>
            <a:endParaRPr lang="en-US" dirty="0"/>
          </a:p>
        </p:txBody>
      </p:sp>
      <p:sp>
        <p:nvSpPr>
          <p:cNvPr id="21" name="Text 17"/>
          <p:cNvSpPr/>
          <p:nvPr/>
        </p:nvSpPr>
        <p:spPr>
          <a:xfrm>
            <a:off x="3402509" y="4441627"/>
            <a:ext cx="190500" cy="190500"/>
          </a:xfrm>
          <a:prstGeom prst="roundRect">
            <a:avLst>
              <a:gd name="adj" fmla="val 480000"/>
            </a:avLst>
          </a:prstGeom>
          <a:solidFill>
            <a:srgbClr val="FFFFFF"/>
          </a:solidFill>
          <a:ln/>
        </p:spPr>
        <p:txBody>
          <a:bodyPr wrap="square" rtlCol="0" anchor="ctr"/>
          <a:lstStyle/>
          <a:p>
            <a:pPr indent="0" marL="0">
              <a:buNone/>
            </a:pPr>
            <a:endParaRPr lang="en-US" dirty="0"/>
          </a:p>
        </p:txBody>
      </p:sp>
      <p:sp>
        <p:nvSpPr>
          <p:cNvPr id="22" name="Text 18"/>
          <p:cNvSpPr/>
          <p:nvPr/>
        </p:nvSpPr>
        <p:spPr>
          <a:xfrm>
            <a:off x="3468916" y="4479727"/>
            <a:ext cx="57686" cy="114300"/>
          </a:xfrm>
          <a:prstGeom prst="rect">
            <a:avLst/>
          </a:prstGeom>
          <a:noFill/>
          <a:ln/>
        </p:spPr>
        <p:txBody>
          <a:bodyPr wrap="square" lIns="0" tIns="0" rIns="0" bIns="0" rtlCol="0" anchor="t"/>
          <a:lstStyle/>
          <a:p>
            <a:pPr algn="ctr" indent="0" marL="0">
              <a:buNone/>
            </a:pPr>
            <a:r>
              <a:rPr lang="en-US" sz="800" b="1" dirty="0">
                <a:solidFill>
                  <a:srgbClr val="1A7F37"/>
                </a:solidFill>
                <a:latin typeface="Arial" pitchFamily="34" charset="0"/>
                <a:ea typeface="Arial" pitchFamily="34" charset="-122"/>
                <a:cs typeface="Arial" pitchFamily="34" charset="-120"/>
              </a:rPr>
              <a:t>3</a:t>
            </a:r>
            <a:endParaRPr lang="en-US" sz="800" dirty="0"/>
          </a:p>
        </p:txBody>
      </p:sp>
      <p:sp>
        <p:nvSpPr>
          <p:cNvPr id="23" name="Text 19"/>
          <p:cNvSpPr/>
          <p:nvPr/>
        </p:nvSpPr>
        <p:spPr>
          <a:xfrm>
            <a:off x="3669209" y="4470202"/>
            <a:ext cx="971854"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Deploy and verify</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WHILE AZD UP RUNS</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Fork a what-if conversation</a:t>
            </a:r>
            <a:endParaRPr lang="en-US" sz="2600" dirty="0"/>
          </a:p>
        </p:txBody>
      </p:sp>
      <p:sp>
        <p:nvSpPr>
          <p:cNvPr id="7" name="Text 4"/>
          <p:cNvSpPr/>
          <p:nvPr/>
        </p:nvSpPr>
        <p:spPr>
          <a:xfrm>
            <a:off x="1282601" y="2435126"/>
            <a:ext cx="762000" cy="762000"/>
          </a:xfrm>
          <a:prstGeom prst="roundRect">
            <a:avLst>
              <a:gd name="adj" fmla="val 10000"/>
            </a:avLst>
          </a:prstGeom>
          <a:solidFill>
            <a:srgbClr val="DAFBE1"/>
          </a:solidFill>
          <a:ln/>
        </p:spPr>
        <p:txBody>
          <a:bodyPr wrap="square" rtlCol="0" anchor="ctr"/>
          <a:lstStyle/>
          <a:p>
            <a:pPr indent="0" marL="0">
              <a:buNone/>
            </a:pPr>
            <a:endParaRPr lang="en-US" dirty="0"/>
          </a:p>
        </p:txBody>
      </p:sp>
      <p:pic>
        <p:nvPicPr>
          <p:cNvPr id="8" name="Image 1" descr="/Users/danwahlin/.copilot/session-state/a2da67da-2d7a-45f2-aa6a-2a42a7b82a72/files/build/icons/GoRepoForked-1A7F37.png">    </p:cNvPr>
          <p:cNvPicPr>
            <a:picLocks noChangeAspect="1"/>
          </p:cNvPicPr>
          <p:nvPr/>
        </p:nvPicPr>
        <p:blipFill>
          <a:blip r:embed="rId2"/>
          <a:stretch>
            <a:fillRect/>
          </a:stretch>
        </p:blipFill>
        <p:spPr>
          <a:xfrm>
            <a:off x="1447651" y="2600176"/>
            <a:ext cx="431750" cy="431750"/>
          </a:xfrm>
          <a:prstGeom prst="rect">
            <a:avLst/>
          </a:prstGeom>
        </p:spPr>
      </p:pic>
      <p:sp>
        <p:nvSpPr>
          <p:cNvPr id="9" name="Text 5"/>
          <p:cNvSpPr/>
          <p:nvPr/>
        </p:nvSpPr>
        <p:spPr>
          <a:xfrm>
            <a:off x="1282601" y="3298627"/>
            <a:ext cx="777240" cy="285750"/>
          </a:xfrm>
          <a:prstGeom prst="rect">
            <a:avLst/>
          </a:prstGeom>
          <a:noFill/>
          <a:ln/>
        </p:spPr>
        <p:txBody>
          <a:bodyPr wrap="square" lIns="0" tIns="0" rIns="0" bIns="0" rtlCol="0" anchor="t"/>
          <a:lstStyle/>
          <a:p>
            <a:pPr algn="l" indent="0" marL="0">
              <a:buNone/>
            </a:pPr>
            <a:r>
              <a:rPr lang="en-US" sz="2000" b="1" dirty="0">
                <a:solidFill>
                  <a:srgbClr val="1A7F37"/>
                </a:solidFill>
                <a:latin typeface="Courier New" pitchFamily="34" charset="0"/>
                <a:ea typeface="Courier New" pitchFamily="34" charset="-122"/>
                <a:cs typeface="Courier New" pitchFamily="34" charset="-120"/>
              </a:rPr>
              <a:t>/fork</a:t>
            </a:r>
            <a:endParaRPr lang="en-US" sz="2000" dirty="0"/>
          </a:p>
        </p:txBody>
      </p:sp>
      <p:sp>
        <p:nvSpPr>
          <p:cNvPr id="10" name="Text 6"/>
          <p:cNvSpPr/>
          <p:nvPr/>
        </p:nvSpPr>
        <p:spPr>
          <a:xfrm>
            <a:off x="2323951" y="2211884"/>
            <a:ext cx="4191000" cy="1595735"/>
          </a:xfrm>
          <a:prstGeom prst="roundRect">
            <a:avLst>
              <a:gd name="adj" fmla="val 6367"/>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11" name="Shape 7"/>
          <p:cNvSpPr/>
          <p:nvPr/>
        </p:nvSpPr>
        <p:spPr>
          <a:xfrm>
            <a:off x="2323951" y="2216646"/>
            <a:ext cx="4191000" cy="0"/>
          </a:xfrm>
          <a:prstGeom prst="line">
            <a:avLst/>
          </a:prstGeom>
          <a:noFill/>
          <a:ln w="9525">
            <a:solidFill>
              <a:srgbClr val="E0C5FF"/>
            </a:solidFill>
            <a:prstDash val="solid"/>
          </a:ln>
        </p:spPr>
      </p:sp>
      <p:sp>
        <p:nvSpPr>
          <p:cNvPr id="12" name="Shape 8"/>
          <p:cNvSpPr/>
          <p:nvPr/>
        </p:nvSpPr>
        <p:spPr>
          <a:xfrm>
            <a:off x="6510189" y="2211884"/>
            <a:ext cx="0" cy="1595735"/>
          </a:xfrm>
          <a:prstGeom prst="line">
            <a:avLst/>
          </a:prstGeom>
          <a:noFill/>
          <a:ln w="9525">
            <a:solidFill>
              <a:srgbClr val="E0C5FF"/>
            </a:solidFill>
            <a:prstDash val="solid"/>
          </a:ln>
        </p:spPr>
      </p:sp>
      <p:sp>
        <p:nvSpPr>
          <p:cNvPr id="13" name="Shape 9"/>
          <p:cNvSpPr/>
          <p:nvPr/>
        </p:nvSpPr>
        <p:spPr>
          <a:xfrm>
            <a:off x="2323951" y="3802856"/>
            <a:ext cx="4191000" cy="0"/>
          </a:xfrm>
          <a:prstGeom prst="line">
            <a:avLst/>
          </a:prstGeom>
          <a:noFill/>
          <a:ln w="9525">
            <a:solidFill>
              <a:srgbClr val="E0C5FF"/>
            </a:solidFill>
            <a:prstDash val="solid"/>
          </a:ln>
        </p:spPr>
      </p:sp>
      <p:sp>
        <p:nvSpPr>
          <p:cNvPr id="14" name="Shape 10"/>
          <p:cNvSpPr/>
          <p:nvPr/>
        </p:nvSpPr>
        <p:spPr>
          <a:xfrm>
            <a:off x="2352526" y="2211884"/>
            <a:ext cx="0" cy="1595735"/>
          </a:xfrm>
          <a:prstGeom prst="line">
            <a:avLst/>
          </a:prstGeom>
          <a:noFill/>
          <a:ln w="57150">
            <a:solidFill>
              <a:srgbClr val="8250DF"/>
            </a:solidFill>
            <a:prstDash val="solid"/>
          </a:ln>
        </p:spPr>
      </p:sp>
      <p:pic>
        <p:nvPicPr>
          <p:cNvPr id="15" name="Image 2" descr="/Users/danwahlin/.copilot/session-state/a2da67da-2d7a-45f2-aa6a-2a42a7b82a72/files/build/icons/GoCopilot-8250DF.png">    </p:cNvPr>
          <p:cNvPicPr>
            <a:picLocks noChangeAspect="1"/>
          </p:cNvPicPr>
          <p:nvPr/>
        </p:nvPicPr>
        <p:blipFill>
          <a:blip r:embed="rId3"/>
          <a:stretch>
            <a:fillRect/>
          </a:stretch>
        </p:blipFill>
        <p:spPr>
          <a:xfrm>
            <a:off x="2635002" y="2424559"/>
            <a:ext cx="165050" cy="165050"/>
          </a:xfrm>
          <a:prstGeom prst="rect">
            <a:avLst/>
          </a:prstGeom>
        </p:spPr>
      </p:pic>
      <p:sp>
        <p:nvSpPr>
          <p:cNvPr id="16" name="Text 11"/>
          <p:cNvSpPr/>
          <p:nvPr/>
        </p:nvSpPr>
        <p:spPr>
          <a:xfrm>
            <a:off x="2876252" y="2440335"/>
            <a:ext cx="498830" cy="133350"/>
          </a:xfrm>
          <a:prstGeom prst="rect">
            <a:avLst/>
          </a:prstGeom>
          <a:noFill/>
          <a:ln/>
        </p:spPr>
        <p:txBody>
          <a:bodyPr wrap="square" lIns="0" tIns="0" rIns="0" bIns="0" rtlCol="0" anchor="t"/>
          <a:lstStyle/>
          <a:p>
            <a:pPr algn="l" indent="0" marL="0">
              <a:buNone/>
            </a:pPr>
            <a:r>
              <a:rPr lang="en-US" sz="900" b="1" dirty="0">
                <a:solidFill>
                  <a:srgbClr val="8250DF"/>
                </a:solidFill>
                <a:latin typeface="Arial" pitchFamily="34" charset="0"/>
                <a:ea typeface="Arial" pitchFamily="34" charset="-122"/>
                <a:cs typeface="Arial" pitchFamily="34" charset="-120"/>
              </a:rPr>
              <a:t>PROMPT</a:t>
            </a:r>
            <a:endParaRPr lang="en-US" sz="900" dirty="0"/>
          </a:p>
        </p:txBody>
      </p:sp>
      <p:sp>
        <p:nvSpPr>
          <p:cNvPr id="17" name="Text 12"/>
          <p:cNvSpPr/>
          <p:nvPr/>
        </p:nvSpPr>
        <p:spPr>
          <a:xfrm>
            <a:off x="2635002" y="2703761"/>
            <a:ext cx="3688854" cy="865733"/>
          </a:xfrm>
          <a:prstGeom prst="rect">
            <a:avLst/>
          </a:prstGeom>
          <a:noFill/>
          <a:ln/>
        </p:spPr>
        <p:txBody>
          <a:bodyPr wrap="square" lIns="0" tIns="0" rIns="0" bIns="0" rtlCol="0" anchor="t"/>
          <a:lstStyle/>
          <a:p>
            <a:pPr algn="l" indent="0" marL="0">
              <a:lnSpc>
                <a:spcPts val="2272"/>
              </a:lnSpc>
              <a:buNone/>
            </a:pPr>
            <a:r>
              <a:rPr lang="en-US" sz="1600" dirty="0">
                <a:solidFill>
                  <a:srgbClr val="1F2328"/>
                </a:solidFill>
                <a:latin typeface="Arial" pitchFamily="34" charset="0"/>
                <a:ea typeface="Arial" pitchFamily="34" charset="-122"/>
                <a:cs typeface="Arial" pitchFamily="34" charset="-120"/>
              </a:rPr>
              <a:t>How would this Superset setup run on </a:t>
            </a:r>
            <a:pPr algn="l" indent="0" marL="0">
              <a:lnSpc>
                <a:spcPts val="2272"/>
              </a:lnSpc>
              <a:buNone/>
            </a:pPr>
            <a:r>
              <a:rPr lang="en-US" sz="1600" b="1" dirty="0">
                <a:solidFill>
                  <a:srgbClr val="1F2328"/>
                </a:solidFill>
                <a:latin typeface="Arial" pitchFamily="34" charset="0"/>
                <a:ea typeface="Arial" pitchFamily="34" charset="-122"/>
                <a:cs typeface="Arial" pitchFamily="34" charset="-120"/>
              </a:rPr>
              <a:t>Container Apps</a:t>
            </a:r>
            <a:pPr algn="l" indent="0" marL="0">
              <a:lnSpc>
                <a:spcPts val="2272"/>
              </a:lnSpc>
              <a:buNone/>
            </a:pPr>
            <a:r>
              <a:rPr lang="en-US" sz="1600" dirty="0">
                <a:solidFill>
                  <a:srgbClr val="1F2328"/>
                </a:solidFill>
                <a:latin typeface="Arial" pitchFamily="34" charset="0"/>
                <a:ea typeface="Arial" pitchFamily="34" charset="-122"/>
                <a:cs typeface="Arial" pitchFamily="34" charset="-120"/>
              </a:rPr>
              <a:t> instead, and what would I give up?</a:t>
            </a:r>
            <a:endParaRPr lang="en-US" sz="1600" dirty="0"/>
          </a:p>
        </p:txBody>
      </p:sp>
      <p:sp>
        <p:nvSpPr>
          <p:cNvPr id="18" name="Text 13"/>
          <p:cNvSpPr/>
          <p:nvPr/>
        </p:nvSpPr>
        <p:spPr>
          <a:xfrm>
            <a:off x="6946702" y="2435126"/>
            <a:ext cx="762000" cy="762000"/>
          </a:xfrm>
          <a:prstGeom prst="roundRect">
            <a:avLst>
              <a:gd name="adj" fmla="val 10000"/>
            </a:avLst>
          </a:prstGeom>
          <a:solidFill>
            <a:srgbClr val="DDF4FF"/>
          </a:solidFill>
          <a:ln/>
        </p:spPr>
        <p:txBody>
          <a:bodyPr wrap="square" rtlCol="0" anchor="ctr"/>
          <a:lstStyle/>
          <a:p>
            <a:pPr indent="0" marL="0">
              <a:buNone/>
            </a:pPr>
            <a:endParaRPr lang="en-US" dirty="0"/>
          </a:p>
        </p:txBody>
      </p:sp>
      <p:pic>
        <p:nvPicPr>
          <p:cNvPr id="19" name="Image 3" descr="/Users/danwahlin/.copilot/session-state/a2da67da-2d7a-45f2-aa6a-2a42a7b82a72/files/build/icons/GoReply-0969DA.png">    </p:cNvPr>
          <p:cNvPicPr>
            <a:picLocks noChangeAspect="1"/>
          </p:cNvPicPr>
          <p:nvPr/>
        </p:nvPicPr>
        <p:blipFill>
          <a:blip r:embed="rId4"/>
          <a:stretch>
            <a:fillRect/>
          </a:stretch>
        </p:blipFill>
        <p:spPr>
          <a:xfrm>
            <a:off x="7111752" y="2600176"/>
            <a:ext cx="431750" cy="431750"/>
          </a:xfrm>
          <a:prstGeom prst="rect">
            <a:avLst/>
          </a:prstGeom>
        </p:spPr>
      </p:pic>
      <p:sp>
        <p:nvSpPr>
          <p:cNvPr id="20" name="Text 14"/>
          <p:cNvSpPr/>
          <p:nvPr/>
        </p:nvSpPr>
        <p:spPr>
          <a:xfrm>
            <a:off x="6794302" y="3298627"/>
            <a:ext cx="1088136" cy="285750"/>
          </a:xfrm>
          <a:prstGeom prst="rect">
            <a:avLst/>
          </a:prstGeom>
          <a:noFill/>
          <a:ln/>
        </p:spPr>
        <p:txBody>
          <a:bodyPr wrap="square" lIns="0" tIns="0" rIns="0" bIns="0" rtlCol="0" anchor="t"/>
          <a:lstStyle/>
          <a:p>
            <a:pPr algn="l" indent="0" marL="0">
              <a:buNone/>
            </a:pPr>
            <a:r>
              <a:rPr lang="en-US" sz="2000" b="1" dirty="0">
                <a:solidFill>
                  <a:srgbClr val="0969DA"/>
                </a:solidFill>
                <a:latin typeface="Courier New" pitchFamily="34" charset="0"/>
                <a:ea typeface="Courier New" pitchFamily="34" charset="-122"/>
                <a:cs typeface="Courier New" pitchFamily="34" charset="-120"/>
              </a:rPr>
              <a:t>/resume</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VERIFY</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Six checks, all green</a:t>
            </a:r>
            <a:endParaRPr lang="en-US" sz="2600" dirty="0"/>
          </a:p>
        </p:txBody>
      </p:sp>
      <p:sp>
        <p:nvSpPr>
          <p:cNvPr id="7" name="Text 4"/>
          <p:cNvSpPr/>
          <p:nvPr/>
        </p:nvSpPr>
        <p:spPr>
          <a:xfrm>
            <a:off x="1015901" y="1985516"/>
            <a:ext cx="7111901" cy="1603772"/>
          </a:xfrm>
          <a:prstGeom prst="roundRect">
            <a:avLst>
              <a:gd name="adj" fmla="val 6335"/>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1015901" y="1985516"/>
            <a:ext cx="7111901"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1142851" y="2067967"/>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1295102" y="2067967"/>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447354" y="2067967"/>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701105" y="2055316"/>
            <a:ext cx="528584" cy="114300"/>
          </a:xfrm>
          <a:prstGeom prst="rect">
            <a:avLst/>
          </a:prstGeom>
          <a:noFill/>
          <a:ln/>
        </p:spPr>
        <p:txBody>
          <a:bodyPr wrap="square" lIns="0" tIns="0" rIns="0" bIns="0" rtlCol="0" anchor="t"/>
          <a:lstStyle/>
          <a:p>
            <a:pPr algn="l" indent="0" marL="0">
              <a:buNone/>
            </a:pPr>
            <a:r>
              <a:rPr lang="en-US" sz="850" dirty="0">
                <a:solidFill>
                  <a:srgbClr val="8B949E"/>
                </a:solidFill>
                <a:latin typeface="Courier New" pitchFamily="34" charset="0"/>
                <a:ea typeface="Courier New" pitchFamily="34" charset="-122"/>
                <a:cs typeface="Courier New" pitchFamily="34" charset="-120"/>
              </a:rPr>
              <a:t>Terminal</a:t>
            </a:r>
            <a:endParaRPr lang="en-US" sz="850" dirty="0"/>
          </a:p>
        </p:txBody>
      </p:sp>
      <p:sp>
        <p:nvSpPr>
          <p:cNvPr id="13" name="Text 10"/>
          <p:cNvSpPr/>
          <p:nvPr/>
        </p:nvSpPr>
        <p:spPr>
          <a:xfrm>
            <a:off x="1244501" y="2417118"/>
            <a:ext cx="6787795" cy="275630"/>
          </a:xfrm>
          <a:prstGeom prst="rect">
            <a:avLst/>
          </a:prstGeom>
          <a:noFill/>
          <a:ln/>
        </p:spPr>
        <p:txBody>
          <a:bodyPr wrap="square" lIns="0" tIns="0" rIns="0" bIns="0" rtlCol="0" anchor="t"/>
          <a:lstStyle/>
          <a:p>
            <a:pPr algn="l" indent="0" marL="0">
              <a:lnSpc>
                <a:spcPts val="2170"/>
              </a:lnSpc>
              <a:buNone/>
            </a:pPr>
            <a:r>
              <a:rPr lang="en-US" sz="1400" b="1" dirty="0">
                <a:solidFill>
                  <a:srgbClr val="3FB950"/>
                </a:solidFill>
                <a:latin typeface="Courier New" pitchFamily="34" charset="0"/>
                <a:ea typeface="Courier New" pitchFamily="34" charset="-122"/>
                <a:cs typeface="Courier New" pitchFamily="34" charset="-120"/>
              </a:rPr>
              <a: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azd up</a:t>
            </a:r>
            <a:endParaRPr lang="en-US" sz="1400" dirty="0"/>
          </a:p>
        </p:txBody>
      </p:sp>
      <p:sp>
        <p:nvSpPr>
          <p:cNvPr id="14" name="Text 11"/>
          <p:cNvSpPr/>
          <p:nvPr/>
        </p:nvSpPr>
        <p:spPr>
          <a:xfrm>
            <a:off x="1244501" y="2834878"/>
            <a:ext cx="6787795" cy="275630"/>
          </a:xfrm>
          <a:prstGeom prst="rect">
            <a:avLst/>
          </a:prstGeom>
          <a:noFill/>
          <a:ln/>
        </p:spPr>
        <p:txBody>
          <a:bodyPr wrap="square" lIns="0" tIns="0" rIns="0" bIns="0" rtlCol="0" anchor="t"/>
          <a:lstStyle/>
          <a:p>
            <a:pPr algn="l" indent="0" marL="0">
              <a:lnSpc>
                <a:spcPts val="2170"/>
              </a:lnSpc>
              <a:buNone/>
            </a:pPr>
            <a:r>
              <a:rPr lang="en-US" sz="1400" b="1" dirty="0">
                <a:solidFill>
                  <a:srgbClr val="3FB950"/>
                </a:solidFill>
                <a:latin typeface="Courier New" pitchFamily="34" charset="0"/>
                <a:ea typeface="Courier New" pitchFamily="34" charset="-122"/>
                <a:cs typeface="Courier New" pitchFamily="34" charset="-120"/>
              </a:rPr>
              <a: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node ../../.github/scripts/verify-superset.mjs</a:t>
            </a:r>
            <a:endParaRPr lang="en-US" sz="1400" dirty="0"/>
          </a:p>
        </p:txBody>
      </p:sp>
      <p:sp>
        <p:nvSpPr>
          <p:cNvPr id="15" name="Text 12"/>
          <p:cNvSpPr/>
          <p:nvPr/>
        </p:nvSpPr>
        <p:spPr>
          <a:xfrm>
            <a:off x="1244501" y="3110508"/>
            <a:ext cx="6787795" cy="275630"/>
          </a:xfrm>
          <a:prstGeom prst="rect">
            <a:avLst/>
          </a:prstGeom>
          <a:noFill/>
          <a:ln/>
        </p:spPr>
        <p:txBody>
          <a:bodyPr wrap="square" lIns="0" tIns="0" rIns="0" bIns="0" rtlCol="0" anchor="t"/>
          <a:lstStyle/>
          <a:p>
            <a:pPr algn="l" indent="0" marL="0">
              <a:lnSpc>
                <a:spcPts val="2170"/>
              </a:lnSpc>
              <a:buNone/>
            </a:pPr>
            <a:r>
              <a:rPr lang="en-US" sz="1400" b="1" dirty="0">
                <a:solidFill>
                  <a:srgbClr val="3FB950"/>
                </a:solidFill>
                <a:latin typeface="Courier New" pitchFamily="34" charset="0"/>
                <a:ea typeface="Courier New" pitchFamily="34" charset="-122"/>
                <a:cs typeface="Courier New" pitchFamily="34" charset="-120"/>
              </a:rPr>
              <a:t>PASS: 6/6 checks passed</a:t>
            </a:r>
            <a:endParaRPr lang="en-US" sz="1400" dirty="0"/>
          </a:p>
        </p:txBody>
      </p:sp>
      <p:pic>
        <p:nvPicPr>
          <p:cNvPr id="16" name="Image 1" descr="/Users/danwahlin/.copilot/session-state/a2da67da-2d7a-45f2-aa6a-2a42a7b82a72/files/build/icons/GoGraph-0969DA.png">    </p:cNvPr>
          <p:cNvPicPr>
            <a:picLocks noChangeAspect="1"/>
          </p:cNvPicPr>
          <p:nvPr/>
        </p:nvPicPr>
        <p:blipFill>
          <a:blip r:embed="rId2"/>
          <a:stretch>
            <a:fillRect/>
          </a:stretch>
        </p:blipFill>
        <p:spPr>
          <a:xfrm>
            <a:off x="1015901" y="3830538"/>
            <a:ext cx="190500" cy="190500"/>
          </a:xfrm>
          <a:prstGeom prst="rect">
            <a:avLst/>
          </a:prstGeom>
        </p:spPr>
      </p:pic>
      <p:sp>
        <p:nvSpPr>
          <p:cNvPr id="17" name="Text 13"/>
          <p:cNvSpPr/>
          <p:nvPr/>
        </p:nvSpPr>
        <p:spPr>
          <a:xfrm>
            <a:off x="1307902" y="3817888"/>
            <a:ext cx="3544639" cy="215950"/>
          </a:xfrm>
          <a:prstGeom prst="rect">
            <a:avLst/>
          </a:prstGeom>
          <a:noFill/>
          <a:ln/>
        </p:spPr>
        <p:txBody>
          <a:bodyPr wrap="square" lIns="0" tIns="0" rIns="0" bIns="0" rtlCol="0" anchor="t"/>
          <a:lstStyle/>
          <a:p>
            <a:pPr algn="l" indent="0" marL="0">
              <a:lnSpc>
                <a:spcPts val="1700"/>
              </a:lnSpc>
              <a:buNone/>
            </a:pPr>
            <a:r>
              <a:rPr lang="en-US" sz="1250" dirty="0">
                <a:solidFill>
                  <a:srgbClr val="1F2328"/>
                </a:solidFill>
                <a:latin typeface="Arial" pitchFamily="34" charset="0"/>
                <a:ea typeface="Arial" pitchFamily="34" charset="-122"/>
                <a:cs typeface="Arial" pitchFamily="34" charset="-120"/>
              </a:rPr>
              <a:t>Then sign in as </a:t>
            </a:r>
            <a:pPr algn="l" indent="0" marL="0">
              <a:lnSpc>
                <a:spcPts val="1700"/>
              </a:lnSpc>
              <a:buNone/>
            </a:pPr>
            <a:r>
              <a:rPr lang="en-US" sz="1250" b="1" dirty="0">
                <a:solidFill>
                  <a:srgbClr val="1F2328"/>
                </a:solidFill>
                <a:latin typeface="Arial" pitchFamily="34" charset="0"/>
                <a:ea typeface="Arial" pitchFamily="34" charset="-122"/>
                <a:cs typeface="Arial" pitchFamily="34" charset="-120"/>
              </a:rPr>
              <a:t>admin</a:t>
            </a:r>
            <a:pPr algn="l" indent="0" marL="0">
              <a:lnSpc>
                <a:spcPts val="1700"/>
              </a:lnSpc>
              <a:buNone/>
            </a:pPr>
            <a:r>
              <a:rPr lang="en-US" sz="1250" dirty="0">
                <a:solidFill>
                  <a:srgbClr val="1F2328"/>
                </a:solidFill>
                <a:latin typeface="Arial" pitchFamily="34" charset="0"/>
                <a:ea typeface="Arial" pitchFamily="34" charset="-122"/>
                <a:cs typeface="Arial" pitchFamily="34" charset="-120"/>
              </a:rPr>
              <a:t> and create your first chart.</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THE TELLTALE LOG LINE</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Is it really using PostgreSQL?</a:t>
            </a:r>
            <a:endParaRPr lang="en-US" sz="2600" dirty="0"/>
          </a:p>
        </p:txBody>
      </p:sp>
      <p:sp>
        <p:nvSpPr>
          <p:cNvPr id="7" name="Text 4"/>
          <p:cNvSpPr/>
          <p:nvPr/>
        </p:nvSpPr>
        <p:spPr>
          <a:xfrm>
            <a:off x="990451" y="1314152"/>
            <a:ext cx="3429000" cy="2136577"/>
          </a:xfrm>
          <a:prstGeom prst="roundRect">
            <a:avLst>
              <a:gd name="adj" fmla="val 5944"/>
            </a:avLst>
          </a:prstGeom>
          <a:solidFill>
            <a:srgbClr val="DAFBE1"/>
          </a:solidFill>
          <a:ln w="9525">
            <a:solidFill>
              <a:srgbClr val="8CE7A5"/>
            </a:solidFill>
          </a:ln>
        </p:spPr>
        <p:txBody>
          <a:bodyPr wrap="square" rtlCol="0" anchor="ctr"/>
          <a:lstStyle/>
          <a:p>
            <a:pPr indent="0" marL="0">
              <a:buNone/>
            </a:pPr>
            <a:endParaRPr lang="en-US" dirty="0"/>
          </a:p>
        </p:txBody>
      </p:sp>
      <p:pic>
        <p:nvPicPr>
          <p:cNvPr id="8" name="Image 1" descr="/Users/danwahlin/.copilot/session-state/a2da67da-2d7a-45f2-aa6a-2a42a7b82a72/files/build/icons/GoCheckCircle-1A7F37.png">    </p:cNvPr>
          <p:cNvPicPr>
            <a:picLocks noChangeAspect="1"/>
          </p:cNvPicPr>
          <p:nvPr/>
        </p:nvPicPr>
        <p:blipFill>
          <a:blip r:embed="rId2"/>
          <a:stretch>
            <a:fillRect/>
          </a:stretch>
        </p:blipFill>
        <p:spPr>
          <a:xfrm>
            <a:off x="2425601" y="1577578"/>
            <a:ext cx="558701" cy="558701"/>
          </a:xfrm>
          <a:prstGeom prst="rect">
            <a:avLst/>
          </a:prstGeom>
        </p:spPr>
      </p:pic>
      <p:sp>
        <p:nvSpPr>
          <p:cNvPr id="9" name="Text 5"/>
          <p:cNvSpPr/>
          <p:nvPr/>
        </p:nvSpPr>
        <p:spPr>
          <a:xfrm>
            <a:off x="1507821" y="2288679"/>
            <a:ext cx="2394112" cy="314325"/>
          </a:xfrm>
          <a:prstGeom prst="rect">
            <a:avLst/>
          </a:prstGeom>
          <a:noFill/>
          <a:ln/>
        </p:spPr>
        <p:txBody>
          <a:bodyPr wrap="square" lIns="0" tIns="0" rIns="0" bIns="0" rtlCol="0" anchor="t"/>
          <a:lstStyle/>
          <a:p>
            <a:pPr algn="ctr" indent="0" marL="0">
              <a:buNone/>
            </a:pPr>
            <a:r>
              <a:rPr lang="en-US" sz="2200" b="1" dirty="0">
                <a:solidFill>
                  <a:srgbClr val="1A7F37"/>
                </a:solidFill>
                <a:latin typeface="Courier New" pitchFamily="34" charset="0"/>
                <a:ea typeface="Courier New" pitchFamily="34" charset="-122"/>
                <a:cs typeface="Courier New" pitchFamily="34" charset="-120"/>
              </a:rPr>
              <a:t>PostgresqlImpl</a:t>
            </a:r>
            <a:endParaRPr lang="en-US" sz="2200" dirty="0"/>
          </a:p>
        </p:txBody>
      </p:sp>
      <p:sp>
        <p:nvSpPr>
          <p:cNvPr id="10" name="Text 6"/>
          <p:cNvSpPr/>
          <p:nvPr/>
        </p:nvSpPr>
        <p:spPr>
          <a:xfrm>
            <a:off x="1577194" y="2755404"/>
            <a:ext cx="2255514" cy="215950"/>
          </a:xfrm>
          <a:prstGeom prst="rect">
            <a:avLst/>
          </a:prstGeom>
          <a:noFill/>
          <a:ln/>
        </p:spPr>
        <p:txBody>
          <a:bodyPr wrap="square" lIns="0" tIns="0" rIns="0" bIns="0" rtlCol="0" anchor="t"/>
          <a:lstStyle/>
          <a:p>
            <a:pPr algn="ctr" indent="0" marL="0">
              <a:lnSpc>
                <a:spcPts val="1700"/>
              </a:lnSpc>
              <a:buNone/>
            </a:pPr>
            <a:r>
              <a:rPr lang="en-US" sz="1300" dirty="0">
                <a:solidFill>
                  <a:srgbClr val="1F2328"/>
                </a:solidFill>
                <a:latin typeface="Arial" pitchFamily="34" charset="0"/>
                <a:ea typeface="Arial" pitchFamily="34" charset="-122"/>
                <a:cs typeface="Arial" pitchFamily="34" charset="-120"/>
              </a:rPr>
              <a:t>Superset is using PostgreSQL</a:t>
            </a:r>
            <a:endParaRPr lang="en-US" sz="1300" dirty="0"/>
          </a:p>
        </p:txBody>
      </p:sp>
      <p:sp>
        <p:nvSpPr>
          <p:cNvPr id="11" name="Text 7"/>
          <p:cNvSpPr/>
          <p:nvPr/>
        </p:nvSpPr>
        <p:spPr>
          <a:xfrm>
            <a:off x="4724251" y="1314152"/>
            <a:ext cx="3429000" cy="2136577"/>
          </a:xfrm>
          <a:prstGeom prst="roundRect">
            <a:avLst>
              <a:gd name="adj" fmla="val 5944"/>
            </a:avLst>
          </a:prstGeom>
          <a:solidFill>
            <a:srgbClr val="FFEBE9"/>
          </a:solidFill>
          <a:ln w="9525">
            <a:solidFill>
              <a:srgbClr val="FFCECB"/>
            </a:solidFill>
          </a:ln>
        </p:spPr>
        <p:txBody>
          <a:bodyPr wrap="square" rtlCol="0" anchor="ctr"/>
          <a:lstStyle/>
          <a:p>
            <a:pPr indent="0" marL="0">
              <a:buNone/>
            </a:pPr>
            <a:endParaRPr lang="en-US" dirty="0"/>
          </a:p>
        </p:txBody>
      </p:sp>
      <p:pic>
        <p:nvPicPr>
          <p:cNvPr id="12" name="Image 2" descr="/Users/danwahlin/.copilot/session-state/a2da67da-2d7a-45f2-aa6a-2a42a7b82a72/files/build/icons/GoXCircle-CF222E.png">    </p:cNvPr>
          <p:cNvPicPr>
            <a:picLocks noChangeAspect="1"/>
          </p:cNvPicPr>
          <p:nvPr/>
        </p:nvPicPr>
        <p:blipFill>
          <a:blip r:embed="rId3"/>
          <a:stretch>
            <a:fillRect/>
          </a:stretch>
        </p:blipFill>
        <p:spPr>
          <a:xfrm>
            <a:off x="6159401" y="1577578"/>
            <a:ext cx="558701" cy="558701"/>
          </a:xfrm>
          <a:prstGeom prst="rect">
            <a:avLst/>
          </a:prstGeom>
        </p:spPr>
      </p:pic>
      <p:sp>
        <p:nvSpPr>
          <p:cNvPr id="13" name="Text 8"/>
          <p:cNvSpPr/>
          <p:nvPr/>
        </p:nvSpPr>
        <p:spPr>
          <a:xfrm>
            <a:off x="5583637" y="2288679"/>
            <a:ext cx="1710080" cy="314325"/>
          </a:xfrm>
          <a:prstGeom prst="rect">
            <a:avLst/>
          </a:prstGeom>
          <a:noFill/>
          <a:ln/>
        </p:spPr>
        <p:txBody>
          <a:bodyPr wrap="square" lIns="0" tIns="0" rIns="0" bIns="0" rtlCol="0" anchor="t"/>
          <a:lstStyle/>
          <a:p>
            <a:pPr algn="ctr" indent="0" marL="0">
              <a:buNone/>
            </a:pPr>
            <a:r>
              <a:rPr lang="en-US" sz="2200" b="1" dirty="0">
                <a:solidFill>
                  <a:srgbClr val="CF222E"/>
                </a:solidFill>
                <a:latin typeface="Courier New" pitchFamily="34" charset="0"/>
                <a:ea typeface="Courier New" pitchFamily="34" charset="-122"/>
                <a:cs typeface="Courier New" pitchFamily="34" charset="-120"/>
              </a:rPr>
              <a:t>SQLiteImpl</a:t>
            </a:r>
            <a:endParaRPr lang="en-US" sz="2200" dirty="0"/>
          </a:p>
        </p:txBody>
      </p:sp>
      <p:sp>
        <p:nvSpPr>
          <p:cNvPr id="14" name="Text 9"/>
          <p:cNvSpPr/>
          <p:nvPr/>
        </p:nvSpPr>
        <p:spPr>
          <a:xfrm>
            <a:off x="4958655" y="2755404"/>
            <a:ext cx="2960191" cy="431899"/>
          </a:xfrm>
          <a:prstGeom prst="rect">
            <a:avLst/>
          </a:prstGeom>
          <a:noFill/>
          <a:ln/>
        </p:spPr>
        <p:txBody>
          <a:bodyPr wrap="square" lIns="0" tIns="0" rIns="0" bIns="0" rtlCol="0" anchor="t"/>
          <a:lstStyle/>
          <a:p>
            <a:pPr algn="ctr" indent="0" marL="0">
              <a:lnSpc>
                <a:spcPts val="1700"/>
              </a:lnSpc>
              <a:buNone/>
            </a:pPr>
            <a:r>
              <a:rPr lang="en-US" sz="1300" dirty="0">
                <a:solidFill>
                  <a:srgbClr val="1F2328"/>
                </a:solidFill>
                <a:latin typeface="Arial" pitchFamily="34" charset="0"/>
                <a:ea typeface="Arial" pitchFamily="34" charset="-122"/>
                <a:cs typeface="Arial" pitchFamily="34" charset="-120"/>
              </a:rPr>
              <a:t>The PostgreSQL driver or config is missing</a:t>
            </a:r>
            <a:endParaRPr lang="en-US" sz="1300" dirty="0"/>
          </a:p>
        </p:txBody>
      </p:sp>
      <p:sp>
        <p:nvSpPr>
          <p:cNvPr id="15" name="Text 10"/>
          <p:cNvSpPr/>
          <p:nvPr/>
        </p:nvSpPr>
        <p:spPr>
          <a:xfrm>
            <a:off x="990451" y="3704630"/>
            <a:ext cx="7162800" cy="1000571"/>
          </a:xfrm>
          <a:prstGeom prst="roundRect">
            <a:avLst>
              <a:gd name="adj" fmla="val 10154"/>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16" name="Shape 11"/>
          <p:cNvSpPr/>
          <p:nvPr/>
        </p:nvSpPr>
        <p:spPr>
          <a:xfrm>
            <a:off x="990451" y="3709392"/>
            <a:ext cx="7162800" cy="0"/>
          </a:xfrm>
          <a:prstGeom prst="line">
            <a:avLst/>
          </a:prstGeom>
          <a:noFill/>
          <a:ln w="9525">
            <a:solidFill>
              <a:srgbClr val="E0C5FF"/>
            </a:solidFill>
            <a:prstDash val="solid"/>
          </a:ln>
        </p:spPr>
      </p:sp>
      <p:sp>
        <p:nvSpPr>
          <p:cNvPr id="17" name="Shape 12"/>
          <p:cNvSpPr/>
          <p:nvPr/>
        </p:nvSpPr>
        <p:spPr>
          <a:xfrm>
            <a:off x="8148489" y="3704630"/>
            <a:ext cx="0" cy="1000571"/>
          </a:xfrm>
          <a:prstGeom prst="line">
            <a:avLst/>
          </a:prstGeom>
          <a:noFill/>
          <a:ln w="9525">
            <a:solidFill>
              <a:srgbClr val="E0C5FF"/>
            </a:solidFill>
            <a:prstDash val="solid"/>
          </a:ln>
        </p:spPr>
      </p:sp>
      <p:sp>
        <p:nvSpPr>
          <p:cNvPr id="18" name="Shape 13"/>
          <p:cNvSpPr/>
          <p:nvPr/>
        </p:nvSpPr>
        <p:spPr>
          <a:xfrm>
            <a:off x="990451" y="4700439"/>
            <a:ext cx="7162800" cy="0"/>
          </a:xfrm>
          <a:prstGeom prst="line">
            <a:avLst/>
          </a:prstGeom>
          <a:noFill/>
          <a:ln w="9525">
            <a:solidFill>
              <a:srgbClr val="E0C5FF"/>
            </a:solidFill>
            <a:prstDash val="solid"/>
          </a:ln>
        </p:spPr>
      </p:sp>
      <p:sp>
        <p:nvSpPr>
          <p:cNvPr id="19" name="Shape 14"/>
          <p:cNvSpPr/>
          <p:nvPr/>
        </p:nvSpPr>
        <p:spPr>
          <a:xfrm>
            <a:off x="1019026" y="3704630"/>
            <a:ext cx="0" cy="1000571"/>
          </a:xfrm>
          <a:prstGeom prst="line">
            <a:avLst/>
          </a:prstGeom>
          <a:noFill/>
          <a:ln w="57150">
            <a:solidFill>
              <a:srgbClr val="8250DF"/>
            </a:solidFill>
            <a:prstDash val="solid"/>
          </a:ln>
        </p:spPr>
      </p:sp>
      <p:pic>
        <p:nvPicPr>
          <p:cNvPr id="20" name="Image 3" descr="/Users/danwahlin/.copilot/session-state/a2da67da-2d7a-45f2-aa6a-2a42a7b82a72/files/build/icons/GoCopilot-8250DF.png">    </p:cNvPr>
          <p:cNvPicPr>
            <a:picLocks noChangeAspect="1"/>
          </p:cNvPicPr>
          <p:nvPr/>
        </p:nvPicPr>
        <p:blipFill>
          <a:blip r:embed="rId4"/>
          <a:stretch>
            <a:fillRect/>
          </a:stretch>
        </p:blipFill>
        <p:spPr>
          <a:xfrm>
            <a:off x="1301502" y="3917305"/>
            <a:ext cx="165050" cy="165050"/>
          </a:xfrm>
          <a:prstGeom prst="rect">
            <a:avLst/>
          </a:prstGeom>
        </p:spPr>
      </p:pic>
      <p:sp>
        <p:nvSpPr>
          <p:cNvPr id="21" name="Text 15"/>
          <p:cNvSpPr/>
          <p:nvPr/>
        </p:nvSpPr>
        <p:spPr>
          <a:xfrm>
            <a:off x="1542752" y="3933081"/>
            <a:ext cx="498830" cy="133350"/>
          </a:xfrm>
          <a:prstGeom prst="rect">
            <a:avLst/>
          </a:prstGeom>
          <a:noFill/>
          <a:ln/>
        </p:spPr>
        <p:txBody>
          <a:bodyPr wrap="square" lIns="0" tIns="0" rIns="0" bIns="0" rtlCol="0" anchor="t"/>
          <a:lstStyle/>
          <a:p>
            <a:pPr algn="l" indent="0" marL="0">
              <a:buNone/>
            </a:pPr>
            <a:r>
              <a:rPr lang="en-US" sz="900" b="1" dirty="0">
                <a:solidFill>
                  <a:srgbClr val="8250DF"/>
                </a:solidFill>
                <a:latin typeface="Arial" pitchFamily="34" charset="0"/>
                <a:ea typeface="Arial" pitchFamily="34" charset="-122"/>
                <a:cs typeface="Arial" pitchFamily="34" charset="-120"/>
              </a:rPr>
              <a:t>PROMPT</a:t>
            </a:r>
            <a:endParaRPr lang="en-US" sz="900" dirty="0"/>
          </a:p>
        </p:txBody>
      </p:sp>
      <p:sp>
        <p:nvSpPr>
          <p:cNvPr id="22" name="Text 16"/>
          <p:cNvSpPr/>
          <p:nvPr/>
        </p:nvSpPr>
        <p:spPr>
          <a:xfrm>
            <a:off x="1301502" y="4196507"/>
            <a:ext cx="6720090" cy="270570"/>
          </a:xfrm>
          <a:prstGeom prst="rect">
            <a:avLst/>
          </a:prstGeom>
          <a:noFill/>
          <a:ln/>
        </p:spPr>
        <p:txBody>
          <a:bodyPr wrap="square" lIns="0" tIns="0" rIns="0" bIns="0" rtlCol="0" anchor="t"/>
          <a:lstStyle/>
          <a:p>
            <a:pPr algn="l" indent="0" marL="0">
              <a:lnSpc>
                <a:spcPts val="2130"/>
              </a:lnSpc>
              <a:buNone/>
            </a:pPr>
            <a:r>
              <a:rPr lang="en-US" sz="1500" dirty="0">
                <a:solidFill>
                  <a:srgbClr val="1F2328"/>
                </a:solidFill>
                <a:latin typeface="Arial" pitchFamily="34" charset="0"/>
                <a:ea typeface="Arial" pitchFamily="34" charset="-122"/>
                <a:cs typeface="Arial" pitchFamily="34" charset="-120"/>
              </a:rPr>
              <a:t>Is my Superset deployment using PostgreSQL?</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CLEAN UP</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Tear it down the same day</a:t>
            </a:r>
            <a:endParaRPr lang="en-US" sz="2600" dirty="0"/>
          </a:p>
        </p:txBody>
      </p:sp>
      <p:sp>
        <p:nvSpPr>
          <p:cNvPr id="7" name="Text 4"/>
          <p:cNvSpPr/>
          <p:nvPr/>
        </p:nvSpPr>
        <p:spPr>
          <a:xfrm>
            <a:off x="1015901" y="1695301"/>
            <a:ext cx="7111901" cy="1968252"/>
          </a:xfrm>
          <a:prstGeom prst="roundRect">
            <a:avLst>
              <a:gd name="adj" fmla="val 5162"/>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1015901" y="1695301"/>
            <a:ext cx="7111901"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1142851" y="1777752"/>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1295102" y="1777752"/>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447354" y="1777752"/>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701105" y="1765102"/>
            <a:ext cx="528584" cy="114300"/>
          </a:xfrm>
          <a:prstGeom prst="rect">
            <a:avLst/>
          </a:prstGeom>
          <a:noFill/>
          <a:ln/>
        </p:spPr>
        <p:txBody>
          <a:bodyPr wrap="square" lIns="0" tIns="0" rIns="0" bIns="0" rtlCol="0" anchor="t"/>
          <a:lstStyle/>
          <a:p>
            <a:pPr algn="l" indent="0" marL="0">
              <a:buNone/>
            </a:pPr>
            <a:r>
              <a:rPr lang="en-US" sz="850" dirty="0">
                <a:solidFill>
                  <a:srgbClr val="8B949E"/>
                </a:solidFill>
                <a:latin typeface="Courier New" pitchFamily="34" charset="0"/>
                <a:ea typeface="Courier New" pitchFamily="34" charset="-122"/>
                <a:cs typeface="Courier New" pitchFamily="34" charset="-120"/>
              </a:rPr>
              <a:t>Terminal</a:t>
            </a:r>
            <a:endParaRPr lang="en-US" sz="850" dirty="0"/>
          </a:p>
        </p:txBody>
      </p:sp>
      <p:sp>
        <p:nvSpPr>
          <p:cNvPr id="13" name="Text 10"/>
          <p:cNvSpPr/>
          <p:nvPr/>
        </p:nvSpPr>
        <p:spPr>
          <a:xfrm>
            <a:off x="1244501" y="2126903"/>
            <a:ext cx="6787795" cy="295275"/>
          </a:xfrm>
          <a:prstGeom prst="rect">
            <a:avLst/>
          </a:prstGeom>
          <a:noFill/>
          <a:ln/>
        </p:spPr>
        <p:txBody>
          <a:bodyPr wrap="square" lIns="0" tIns="0" rIns="0" bIns="0" rtlCol="0" anchor="t"/>
          <a:lstStyle/>
          <a:p>
            <a:pPr algn="l" indent="0" marL="0">
              <a:lnSpc>
                <a:spcPts val="2325"/>
              </a:lnSpc>
              <a:buNone/>
            </a:pPr>
            <a:r>
              <a:rPr lang="en-US" sz="1500" b="1" dirty="0">
                <a:solidFill>
                  <a:srgbClr val="3FB950"/>
                </a:solidFill>
                <a:latin typeface="Courier New" pitchFamily="34" charset="0"/>
                <a:ea typeface="Courier New" pitchFamily="34" charset="-122"/>
                <a:cs typeface="Courier New" pitchFamily="34" charset="-120"/>
              </a:rPr>
              <a:t>$</a:t>
            </a:r>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 azd down --force --purge</a:t>
            </a:r>
            <a:endParaRPr lang="en-US" sz="1500" dirty="0"/>
          </a:p>
        </p:txBody>
      </p:sp>
      <p:sp>
        <p:nvSpPr>
          <p:cNvPr id="14" name="Text 11"/>
          <p:cNvSpPr/>
          <p:nvPr/>
        </p:nvSpPr>
        <p:spPr>
          <a:xfrm>
            <a:off x="1244501" y="2574578"/>
            <a:ext cx="6787795" cy="295275"/>
          </a:xfrm>
          <a:prstGeom prst="rect">
            <a:avLst/>
          </a:prstGeom>
          <a:noFill/>
          <a:ln/>
        </p:spPr>
        <p:txBody>
          <a:bodyPr wrap="square" lIns="0" tIns="0" rIns="0" bIns="0" rtlCol="0" anchor="t"/>
          <a:lstStyle/>
          <a:p>
            <a:pPr algn="l" indent="0" marL="0">
              <a:lnSpc>
                <a:spcPts val="2325"/>
              </a:lnSpc>
              <a:buNone/>
            </a:pPr>
            <a:r>
              <a:rPr lang="en-US" sz="1500" dirty="0">
                <a:solidFill>
                  <a:srgbClr val="8B949E"/>
                </a:solidFill>
                <a:latin typeface="Courier New" pitchFamily="34" charset="0"/>
                <a:ea typeface="Courier New" pitchFamily="34" charset="-122"/>
                <a:cs typeface="Courier New" pitchFamily="34" charset="-120"/>
              </a:rPr>
              <a:t># Confirm it is really gone</a:t>
            </a:r>
            <a:endParaRPr lang="en-US" sz="1500" dirty="0"/>
          </a:p>
        </p:txBody>
      </p:sp>
      <p:sp>
        <p:nvSpPr>
          <p:cNvPr id="15" name="Text 12"/>
          <p:cNvSpPr/>
          <p:nvPr/>
        </p:nvSpPr>
        <p:spPr>
          <a:xfrm>
            <a:off x="1244501" y="2869853"/>
            <a:ext cx="6787795" cy="295275"/>
          </a:xfrm>
          <a:prstGeom prst="rect">
            <a:avLst/>
          </a:prstGeom>
          <a:noFill/>
          <a:ln/>
        </p:spPr>
        <p:txBody>
          <a:bodyPr wrap="square" lIns="0" tIns="0" rIns="0" bIns="0" rtlCol="0" anchor="t"/>
          <a:lstStyle/>
          <a:p>
            <a:pPr algn="l" indent="0" marL="0">
              <a:lnSpc>
                <a:spcPts val="2325"/>
              </a:lnSpc>
              <a:buNone/>
            </a:pPr>
            <a:r>
              <a:rPr lang="en-US" sz="1500" b="1" dirty="0">
                <a:solidFill>
                  <a:srgbClr val="3FB950"/>
                </a:solidFill>
                <a:latin typeface="Courier New" pitchFamily="34" charset="0"/>
                <a:ea typeface="Courier New" pitchFamily="34" charset="-122"/>
                <a:cs typeface="Courier New" pitchFamily="34" charset="-120"/>
              </a:rPr>
              <a:t>$</a:t>
            </a:r>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 az group exists --name &lt;resource-group-name&gt;</a:t>
            </a:r>
            <a:endParaRPr lang="en-US" sz="1500" dirty="0"/>
          </a:p>
        </p:txBody>
      </p:sp>
      <p:sp>
        <p:nvSpPr>
          <p:cNvPr id="16" name="Text 13"/>
          <p:cNvSpPr/>
          <p:nvPr/>
        </p:nvSpPr>
        <p:spPr>
          <a:xfrm>
            <a:off x="1244501" y="3165128"/>
            <a:ext cx="6787795" cy="295275"/>
          </a:xfrm>
          <a:prstGeom prst="rect">
            <a:avLst/>
          </a:prstGeom>
          <a:noFill/>
          <a:ln/>
        </p:spPr>
        <p:txBody>
          <a:bodyPr wrap="square" lIns="0" tIns="0" rIns="0" bIns="0" rtlCol="0" anchor="t"/>
          <a:lstStyle/>
          <a:p>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false</a:t>
            </a:r>
            <a:endParaRPr lang="en-US" sz="1500" dirty="0"/>
          </a:p>
        </p:txBody>
      </p:sp>
      <p:pic>
        <p:nvPicPr>
          <p:cNvPr id="17" name="Image 1" descr="/Users/danwahlin/.copilot/session-state/a2da67da-2d7a-45f2-aa6a-2a42a7b82a72/files/build/icons/GoAlert-9A6700.png">    </p:cNvPr>
          <p:cNvPicPr>
            <a:picLocks noChangeAspect="1"/>
          </p:cNvPicPr>
          <p:nvPr/>
        </p:nvPicPr>
        <p:blipFill>
          <a:blip r:embed="rId2"/>
          <a:stretch>
            <a:fillRect/>
          </a:stretch>
        </p:blipFill>
        <p:spPr>
          <a:xfrm>
            <a:off x="1015901" y="4012853"/>
            <a:ext cx="190500" cy="190500"/>
          </a:xfrm>
          <a:prstGeom prst="rect">
            <a:avLst/>
          </a:prstGeom>
        </p:spPr>
      </p:pic>
      <p:sp>
        <p:nvSpPr>
          <p:cNvPr id="18" name="Text 14"/>
          <p:cNvSpPr/>
          <p:nvPr/>
        </p:nvSpPr>
        <p:spPr>
          <a:xfrm>
            <a:off x="1307902" y="3892153"/>
            <a:ext cx="6956298" cy="431899"/>
          </a:xfrm>
          <a:prstGeom prst="rect">
            <a:avLst/>
          </a:prstGeom>
          <a:noFill/>
          <a:ln/>
        </p:spPr>
        <p:txBody>
          <a:bodyPr wrap="square" lIns="0" tIns="0" rIns="0" bIns="0" rtlCol="0" anchor="t"/>
          <a:lstStyle/>
          <a:p>
            <a:pPr algn="l" indent="0" marL="0">
              <a:lnSpc>
                <a:spcPts val="1700"/>
              </a:lnSpc>
              <a:buNone/>
            </a:pPr>
            <a:r>
              <a:rPr lang="en-US" sz="1250" dirty="0">
                <a:solidFill>
                  <a:srgbClr val="1F2328"/>
                </a:solidFill>
                <a:latin typeface="Arial" pitchFamily="34" charset="0"/>
                <a:ea typeface="Arial" pitchFamily="34" charset="-122"/>
                <a:cs typeface="Arial" pitchFamily="34" charset="-120"/>
              </a:rPr>
              <a:t>This is the most expensive journey. </a:t>
            </a:r>
            <a:pPr algn="l" indent="0" marL="0">
              <a:lnSpc>
                <a:spcPts val="1700"/>
              </a:lnSpc>
              <a:buNone/>
            </a:pPr>
            <a:r>
              <a:rPr lang="en-US" sz="1250" b="1" dirty="0">
                <a:solidFill>
                  <a:srgbClr val="1F2328"/>
                </a:solidFill>
                <a:latin typeface="Arial" pitchFamily="34" charset="0"/>
                <a:ea typeface="Arial" pitchFamily="34" charset="-122"/>
                <a:cs typeface="Arial" pitchFamily="34" charset="-120"/>
              </a:rPr>
              <a:t>Tear it down today.</a:t>
            </a:r>
            <a:pPr algn="l" indent="0" marL="0">
              <a:lnSpc>
                <a:spcPts val="1700"/>
              </a:lnSpc>
              <a:buNone/>
            </a:pPr>
            <a:r>
              <a:rPr lang="en-US" sz="1250" dirty="0">
                <a:solidFill>
                  <a:srgbClr val="1F2328"/>
                </a:solidFill>
                <a:latin typeface="Arial" pitchFamily="34" charset="0"/>
                <a:ea typeface="Arial" pitchFamily="34" charset="-122"/>
                <a:cs typeface="Arial" pitchFamily="34" charset="-120"/>
              </a:rPr>
              <a:t> AKS and PostgreSQL deletion takes 5–10 minutes.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9800" y="152400"/>
            <a:ext cx="870049"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10589" y="219075"/>
            <a:ext cx="628471"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SUPERSET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KEY TAKEAWAYS</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What to remember</a:t>
            </a:r>
            <a:endParaRPr lang="en-US" sz="2600" dirty="0"/>
          </a:p>
        </p:txBody>
      </p:sp>
      <p:sp>
        <p:nvSpPr>
          <p:cNvPr id="7" name="Text 4"/>
          <p:cNvSpPr/>
          <p:nvPr/>
        </p:nvSpPr>
        <p:spPr>
          <a:xfrm>
            <a:off x="482501" y="1320701"/>
            <a:ext cx="431750" cy="431750"/>
          </a:xfrm>
          <a:prstGeom prst="roundRect">
            <a:avLst>
              <a:gd name="adj" fmla="val 17649"/>
            </a:avLst>
          </a:prstGeom>
          <a:solidFill>
            <a:srgbClr val="DDF4FF"/>
          </a:solidFill>
          <a:ln/>
        </p:spPr>
        <p:txBody>
          <a:bodyPr wrap="square" rtlCol="0" anchor="ctr"/>
          <a:lstStyle/>
          <a:p>
            <a:pPr indent="0" marL="0">
              <a:buNone/>
            </a:pPr>
            <a:endParaRPr lang="en-US" dirty="0"/>
          </a:p>
        </p:txBody>
      </p:sp>
      <p:pic>
        <p:nvPicPr>
          <p:cNvPr id="8" name="Image 1" descr="/Users/danwahlin/.copilot/session-state/a2da67da-2d7a-45f2-aa6a-2a42a7b82a72/files/build/icons/GoContainer-0969DA.png">    </p:cNvPr>
          <p:cNvPicPr>
            <a:picLocks noChangeAspect="1"/>
          </p:cNvPicPr>
          <p:nvPr/>
        </p:nvPicPr>
        <p:blipFill>
          <a:blip r:embed="rId2"/>
          <a:stretch>
            <a:fillRect/>
          </a:stretch>
        </p:blipFill>
        <p:spPr>
          <a:xfrm>
            <a:off x="577751" y="1415951"/>
            <a:ext cx="241250" cy="241250"/>
          </a:xfrm>
          <a:prstGeom prst="rect">
            <a:avLst/>
          </a:prstGeom>
        </p:spPr>
      </p:pic>
      <p:sp>
        <p:nvSpPr>
          <p:cNvPr id="9" name="Text 5"/>
          <p:cNvSpPr/>
          <p:nvPr/>
        </p:nvSpPr>
        <p:spPr>
          <a:xfrm>
            <a:off x="1066651" y="1320701"/>
            <a:ext cx="3355035" cy="431899"/>
          </a:xfrm>
          <a:prstGeom prst="rect">
            <a:avLst/>
          </a:prstGeom>
          <a:noFill/>
          <a:ln/>
        </p:spPr>
        <p:txBody>
          <a:bodyPr wrap="square" lIns="0" tIns="0" rIns="0" bIns="0" rtlCol="0" anchor="t"/>
          <a:lstStyle/>
          <a:p>
            <a:pPr algn="l" indent="0" marL="0">
              <a:lnSpc>
                <a:spcPts val="1700"/>
              </a:lnSpc>
              <a:buNone/>
            </a:pPr>
            <a:r>
              <a:rPr lang="en-US" sz="1300" dirty="0">
                <a:solidFill>
                  <a:srgbClr val="1F2328"/>
                </a:solidFill>
                <a:latin typeface="Arial" pitchFamily="34" charset="0"/>
                <a:ea typeface="Arial" pitchFamily="34" charset="-122"/>
                <a:cs typeface="Arial" pitchFamily="34" charset="-120"/>
              </a:rPr>
              <a:t>The workload decides the platform. Don't default to AKS.</a:t>
            </a:r>
            <a:endParaRPr lang="en-US" sz="1300" dirty="0"/>
          </a:p>
        </p:txBody>
      </p:sp>
      <p:sp>
        <p:nvSpPr>
          <p:cNvPr id="10" name="Text 6"/>
          <p:cNvSpPr/>
          <p:nvPr/>
        </p:nvSpPr>
        <p:spPr>
          <a:xfrm>
            <a:off x="4736902" y="1320701"/>
            <a:ext cx="431750" cy="431750"/>
          </a:xfrm>
          <a:prstGeom prst="roundRect">
            <a:avLst>
              <a:gd name="adj" fmla="val 17649"/>
            </a:avLst>
          </a:prstGeom>
          <a:solidFill>
            <a:srgbClr val="FBEFFF"/>
          </a:solidFill>
          <a:ln/>
        </p:spPr>
        <p:txBody>
          <a:bodyPr wrap="square" rtlCol="0" anchor="ctr"/>
          <a:lstStyle/>
          <a:p>
            <a:pPr indent="0" marL="0">
              <a:buNone/>
            </a:pPr>
            <a:endParaRPr lang="en-US" dirty="0"/>
          </a:p>
        </p:txBody>
      </p:sp>
      <p:pic>
        <p:nvPicPr>
          <p:cNvPr id="11" name="Image 2" descr="/Users/danwahlin/.copilot/session-state/a2da67da-2d7a-45f2-aa6a-2a42a7b82a72/files/build/icons/GoStack-8250DF.png">    </p:cNvPr>
          <p:cNvPicPr>
            <a:picLocks noChangeAspect="1"/>
          </p:cNvPicPr>
          <p:nvPr/>
        </p:nvPicPr>
        <p:blipFill>
          <a:blip r:embed="rId3"/>
          <a:stretch>
            <a:fillRect/>
          </a:stretch>
        </p:blipFill>
        <p:spPr>
          <a:xfrm>
            <a:off x="4832152" y="1415951"/>
            <a:ext cx="241250" cy="241250"/>
          </a:xfrm>
          <a:prstGeom prst="rect">
            <a:avLst/>
          </a:prstGeom>
        </p:spPr>
      </p:pic>
      <p:sp>
        <p:nvSpPr>
          <p:cNvPr id="12" name="Text 7"/>
          <p:cNvSpPr/>
          <p:nvPr/>
        </p:nvSpPr>
        <p:spPr>
          <a:xfrm>
            <a:off x="5321052" y="1320701"/>
            <a:ext cx="3355035" cy="431899"/>
          </a:xfrm>
          <a:prstGeom prst="rect">
            <a:avLst/>
          </a:prstGeom>
          <a:noFill/>
          <a:ln/>
        </p:spPr>
        <p:txBody>
          <a:bodyPr wrap="square" lIns="0" tIns="0" rIns="0" bIns="0" rtlCol="0" anchor="t"/>
          <a:lstStyle/>
          <a:p>
            <a:pPr algn="l" indent="0" marL="0">
              <a:lnSpc>
                <a:spcPts val="1700"/>
              </a:lnSpc>
              <a:buNone/>
            </a:pPr>
            <a:r>
              <a:rPr lang="en-US" sz="1300" dirty="0">
                <a:solidFill>
                  <a:srgbClr val="1F2328"/>
                </a:solidFill>
                <a:latin typeface="Arial" pitchFamily="34" charset="0"/>
                <a:ea typeface="Arial" pitchFamily="34" charset="-122"/>
                <a:cs typeface="Arial" pitchFamily="34" charset="-120"/>
              </a:rPr>
              <a:t>Init containers, shared volumes, and ConfigMaps justify Kubernetes.</a:t>
            </a:r>
            <a:endParaRPr lang="en-US" sz="1300" dirty="0"/>
          </a:p>
        </p:txBody>
      </p:sp>
      <p:sp>
        <p:nvSpPr>
          <p:cNvPr id="13" name="Text 8"/>
          <p:cNvSpPr/>
          <p:nvPr/>
        </p:nvSpPr>
        <p:spPr>
          <a:xfrm>
            <a:off x="482501" y="2082701"/>
            <a:ext cx="431750" cy="431750"/>
          </a:xfrm>
          <a:prstGeom prst="roundRect">
            <a:avLst>
              <a:gd name="adj" fmla="val 17649"/>
            </a:avLst>
          </a:prstGeom>
          <a:solidFill>
            <a:srgbClr val="DAFBE1"/>
          </a:solidFill>
          <a:ln/>
        </p:spPr>
        <p:txBody>
          <a:bodyPr wrap="square" rtlCol="0" anchor="ctr"/>
          <a:lstStyle/>
          <a:p>
            <a:pPr indent="0" marL="0">
              <a:buNone/>
            </a:pPr>
            <a:endParaRPr lang="en-US" dirty="0"/>
          </a:p>
        </p:txBody>
      </p:sp>
      <p:pic>
        <p:nvPicPr>
          <p:cNvPr id="14" name="Image 3" descr="/Users/danwahlin/.copilot/session-state/a2da67da-2d7a-45f2-aa6a-2a42a7b82a72/files/build/icons/GoShieldCheck-1A7F37.png">    </p:cNvPr>
          <p:cNvPicPr>
            <a:picLocks noChangeAspect="1"/>
          </p:cNvPicPr>
          <p:nvPr/>
        </p:nvPicPr>
        <p:blipFill>
          <a:blip r:embed="rId4"/>
          <a:stretch>
            <a:fillRect/>
          </a:stretch>
        </p:blipFill>
        <p:spPr>
          <a:xfrm>
            <a:off x="577751" y="2177951"/>
            <a:ext cx="241250" cy="241250"/>
          </a:xfrm>
          <a:prstGeom prst="rect">
            <a:avLst/>
          </a:prstGeom>
        </p:spPr>
      </p:pic>
      <p:sp>
        <p:nvSpPr>
          <p:cNvPr id="15" name="Text 9"/>
          <p:cNvSpPr/>
          <p:nvPr/>
        </p:nvSpPr>
        <p:spPr>
          <a:xfrm>
            <a:off x="1066651" y="2190601"/>
            <a:ext cx="3250594" cy="215950"/>
          </a:xfrm>
          <a:prstGeom prst="rect">
            <a:avLst/>
          </a:prstGeom>
          <a:noFill/>
          <a:ln/>
        </p:spPr>
        <p:txBody>
          <a:bodyPr wrap="square" lIns="0" tIns="0" rIns="0" bIns="0" rtlCol="0" anchor="t"/>
          <a:lstStyle/>
          <a:p>
            <a:pPr algn="l" indent="0" marL="0">
              <a:lnSpc>
                <a:spcPts val="1700"/>
              </a:lnSpc>
              <a:buNone/>
            </a:pPr>
            <a:r>
              <a:rPr lang="en-US" sz="1300" dirty="0">
                <a:solidFill>
                  <a:srgbClr val="1F2328"/>
                </a:solidFill>
                <a:latin typeface="Arial" pitchFamily="34" charset="0"/>
                <a:ea typeface="Arial" pitchFamily="34" charset="-122"/>
                <a:cs typeface="Arial" pitchFamily="34" charset="-120"/>
              </a:rPr>
              <a:t>Write the gate first. Fail offline, not in Azure.</a:t>
            </a:r>
            <a:endParaRPr lang="en-US" sz="1300" dirty="0"/>
          </a:p>
        </p:txBody>
      </p:sp>
      <p:sp>
        <p:nvSpPr>
          <p:cNvPr id="16" name="Text 10"/>
          <p:cNvSpPr/>
          <p:nvPr/>
        </p:nvSpPr>
        <p:spPr>
          <a:xfrm>
            <a:off x="4736902" y="2082701"/>
            <a:ext cx="431750" cy="431750"/>
          </a:xfrm>
          <a:prstGeom prst="roundRect">
            <a:avLst>
              <a:gd name="adj" fmla="val 17649"/>
            </a:avLst>
          </a:prstGeom>
          <a:solidFill>
            <a:srgbClr val="FFEBE9"/>
          </a:solidFill>
          <a:ln/>
        </p:spPr>
        <p:txBody>
          <a:bodyPr wrap="square" rtlCol="0" anchor="ctr"/>
          <a:lstStyle/>
          <a:p>
            <a:pPr indent="0" marL="0">
              <a:buNone/>
            </a:pPr>
            <a:endParaRPr lang="en-US" dirty="0"/>
          </a:p>
        </p:txBody>
      </p:sp>
      <p:pic>
        <p:nvPicPr>
          <p:cNvPr id="17" name="Image 4" descr="/Users/danwahlin/.copilot/session-state/a2da67da-2d7a-45f2-aa6a-2a42a7b82a72/files/build/icons/GoCreditCard-CF222E.png">    </p:cNvPr>
          <p:cNvPicPr>
            <a:picLocks noChangeAspect="1"/>
          </p:cNvPicPr>
          <p:nvPr/>
        </p:nvPicPr>
        <p:blipFill>
          <a:blip r:embed="rId5"/>
          <a:stretch>
            <a:fillRect/>
          </a:stretch>
        </p:blipFill>
        <p:spPr>
          <a:xfrm>
            <a:off x="4832152" y="2177951"/>
            <a:ext cx="241250" cy="241250"/>
          </a:xfrm>
          <a:prstGeom prst="rect">
            <a:avLst/>
          </a:prstGeom>
        </p:spPr>
      </p:pic>
      <p:sp>
        <p:nvSpPr>
          <p:cNvPr id="18" name="Text 11"/>
          <p:cNvSpPr/>
          <p:nvPr/>
        </p:nvSpPr>
        <p:spPr>
          <a:xfrm>
            <a:off x="5321052" y="2082701"/>
            <a:ext cx="3355035" cy="431899"/>
          </a:xfrm>
          <a:prstGeom prst="rect">
            <a:avLst/>
          </a:prstGeom>
          <a:noFill/>
          <a:ln/>
        </p:spPr>
        <p:txBody>
          <a:bodyPr wrap="square" lIns="0" tIns="0" rIns="0" bIns="0" rtlCol="0" anchor="t"/>
          <a:lstStyle/>
          <a:p>
            <a:pPr algn="l" indent="0" marL="0">
              <a:lnSpc>
                <a:spcPts val="1700"/>
              </a:lnSpc>
              <a:buNone/>
            </a:pPr>
            <a:r>
              <a:rPr lang="en-US" sz="1300" dirty="0">
                <a:solidFill>
                  <a:srgbClr val="1F2328"/>
                </a:solidFill>
                <a:latin typeface="Arial" pitchFamily="34" charset="0"/>
                <a:ea typeface="Arial" pitchFamily="34" charset="-122"/>
                <a:cs typeface="Arial" pitchFamily="34" charset="-120"/>
              </a:rPr>
              <a:t>Review cost and quota before a big deploy. Clean up today.</a:t>
            </a:r>
            <a:endParaRPr lang="en-US" sz="1300" dirty="0"/>
          </a:p>
        </p:txBody>
      </p:sp>
      <p:sp>
        <p:nvSpPr>
          <p:cNvPr id="19" name="Text 12"/>
          <p:cNvSpPr/>
          <p:nvPr/>
        </p:nvSpPr>
        <p:spPr>
          <a:xfrm>
            <a:off x="482501" y="3886200"/>
            <a:ext cx="8178701" cy="711101"/>
          </a:xfrm>
          <a:prstGeom prst="roundRect">
            <a:avLst>
              <a:gd name="adj" fmla="val 14288"/>
            </a:avLst>
          </a:prstGeom>
          <a:solidFill>
            <a:srgbClr val="DDF4FF"/>
          </a:solidFill>
          <a:ln w="9525">
            <a:solidFill>
              <a:srgbClr val="9CD7FF"/>
            </a:solidFill>
          </a:ln>
        </p:spPr>
        <p:txBody>
          <a:bodyPr wrap="square" rtlCol="0" anchor="ctr"/>
          <a:lstStyle/>
          <a:p>
            <a:pPr indent="0" marL="0">
              <a:buNone/>
            </a:pPr>
            <a:endParaRPr lang="en-US" dirty="0"/>
          </a:p>
        </p:txBody>
      </p:sp>
      <p:sp>
        <p:nvSpPr>
          <p:cNvPr id="20" name="Text 13"/>
          <p:cNvSpPr/>
          <p:nvPr/>
        </p:nvSpPr>
        <p:spPr>
          <a:xfrm>
            <a:off x="669727" y="4051250"/>
            <a:ext cx="381000" cy="381000"/>
          </a:xfrm>
          <a:prstGeom prst="roundRect">
            <a:avLst>
              <a:gd name="adj" fmla="val 20000"/>
            </a:avLst>
          </a:prstGeom>
          <a:solidFill>
            <a:srgbClr val="DDF4FF"/>
          </a:solidFill>
          <a:ln/>
        </p:spPr>
        <p:txBody>
          <a:bodyPr wrap="square" rtlCol="0" anchor="ctr"/>
          <a:lstStyle/>
          <a:p>
            <a:pPr indent="0" marL="0">
              <a:buNone/>
            </a:pPr>
            <a:endParaRPr lang="en-US" dirty="0"/>
          </a:p>
        </p:txBody>
      </p:sp>
      <p:pic>
        <p:nvPicPr>
          <p:cNvPr id="21" name="Image 5" descr="/Users/danwahlin/.copilot/session-state/a2da67da-2d7a-45f2-aa6a-2a42a7b82a72/files/build/icons/GoArrowRight-0969DA.png">    </p:cNvPr>
          <p:cNvPicPr>
            <a:picLocks noChangeAspect="1"/>
          </p:cNvPicPr>
          <p:nvPr/>
        </p:nvPicPr>
        <p:blipFill>
          <a:blip r:embed="rId6"/>
          <a:stretch>
            <a:fillRect/>
          </a:stretch>
        </p:blipFill>
        <p:spPr>
          <a:xfrm>
            <a:off x="752326" y="4133850"/>
            <a:ext cx="215801" cy="215801"/>
          </a:xfrm>
          <a:prstGeom prst="rect">
            <a:avLst/>
          </a:prstGeom>
        </p:spPr>
      </p:pic>
      <p:sp>
        <p:nvSpPr>
          <p:cNvPr id="22" name="Text 14"/>
          <p:cNvSpPr/>
          <p:nvPr/>
        </p:nvSpPr>
        <p:spPr>
          <a:xfrm>
            <a:off x="1203127" y="4067175"/>
            <a:ext cx="5464362" cy="133350"/>
          </a:xfrm>
          <a:prstGeom prst="rect">
            <a:avLst/>
          </a:prstGeom>
          <a:noFill/>
          <a:ln/>
        </p:spPr>
        <p:txBody>
          <a:bodyPr wrap="square" lIns="0" tIns="0" rIns="0" bIns="0" rtlCol="0" anchor="t"/>
          <a:lstStyle/>
          <a:p>
            <a:pPr algn="l" indent="0" marL="0">
              <a:buNone/>
            </a:pPr>
            <a:r>
              <a:rPr lang="en-US" sz="900" b="1" dirty="0">
                <a:solidFill>
                  <a:srgbClr val="0969DA"/>
                </a:solidFill>
                <a:latin typeface="Arial" pitchFamily="34" charset="0"/>
                <a:ea typeface="Arial" pitchFamily="34" charset="-122"/>
                <a:cs typeface="Arial" pitchFamily="34" charset="-120"/>
              </a:rPr>
              <a:t>Build your own</a:t>
            </a:r>
            <a:endParaRPr lang="en-US" sz="900" dirty="0"/>
          </a:p>
        </p:txBody>
      </p:sp>
      <p:sp>
        <p:nvSpPr>
          <p:cNvPr id="23" name="Text 15"/>
          <p:cNvSpPr/>
          <p:nvPr/>
        </p:nvSpPr>
        <p:spPr>
          <a:xfrm>
            <a:off x="1203127" y="4225826"/>
            <a:ext cx="5464362" cy="190500"/>
          </a:xfrm>
          <a:prstGeom prst="rect">
            <a:avLst/>
          </a:prstGeom>
          <a:noFill/>
          <a:ln/>
        </p:spPr>
        <p:txBody>
          <a:bodyPr wrap="square" lIns="0" tIns="0" rIns="0" bIns="0" rtlCol="0" anchor="t"/>
          <a:lstStyle/>
          <a:p>
            <a:pPr algn="l" indent="0" marL="0">
              <a:buNone/>
            </a:pPr>
            <a:r>
              <a:rPr lang="en-US" sz="1250" b="1" dirty="0">
                <a:solidFill>
                  <a:srgbClr val="1F2328"/>
                </a:solidFill>
                <a:latin typeface="Arial" pitchFamily="34" charset="0"/>
                <a:ea typeface="Arial" pitchFamily="34" charset="-122"/>
                <a:cs typeface="Arial" pitchFamily="34" charset="-120"/>
              </a:rPr>
              <a:t>WeatherView</a:t>
            </a:r>
            <a:pPr algn="l" indent="0" marL="0">
              <a:buNone/>
            </a:pPr>
            <a:r>
              <a:rPr lang="en-US" sz="1250" dirty="0">
                <a:solidFill>
                  <a:srgbClr val="1F2328"/>
                </a:solidFill>
                <a:latin typeface="Arial" pitchFamily="34" charset="0"/>
                <a:ea typeface="Arial" pitchFamily="34" charset="-122"/>
                <a:cs typeface="Arial" pitchFamily="34" charset="-120"/>
              </a:rPr>
              <a:t> </a:t>
            </a:r>
            <a:pPr algn="l" indent="0" marL="0">
              <a:buNone/>
            </a:pPr>
            <a:r>
              <a:rPr lang="en-US" sz="1250" dirty="0">
                <a:solidFill>
                  <a:srgbClr val="59636E"/>
                </a:solidFill>
                <a:latin typeface="Arial" pitchFamily="34" charset="0"/>
                <a:ea typeface="Arial" pitchFamily="34" charset="-122"/>
                <a:cs typeface="Arial" pitchFamily="34" charset="-120"/>
              </a:rPr>
              <a:t>· Go from a plan to your own app, and deploy it the same way</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Apache Superset on AKS: Agentic Journey</dc:title>
  <dc:subject>PptxGenJS Presentation</dc:subject>
  <dc:creator>GitHub and Azure Agentic Journeys</dc:creator>
  <cp:lastModifiedBy>GitHub and Azure Agentic Journeys</cp:lastModifiedBy>
  <cp:revision>1</cp:revision>
  <dcterms:created xsi:type="dcterms:W3CDTF">2026-09-30T08:25:40Z</dcterms:created>
  <dcterms:modified xsi:type="dcterms:W3CDTF">2026-09-30T08:25:40Z</dcterms:modified>
</cp:coreProperties>
</file>