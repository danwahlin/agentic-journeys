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is an open-source workflow automation platform. Compared with Grafana, this journey adds a real database, careful health probes, and a post-provision hook that solves a chicken-and-egg configuration problem. Deployment takes about 7 to 15 minutes, and we will use that time to build a workflow in parallel. Timing guide: 5 minutes intro, 18 minutes plan and generate, 15 minutes deploy in parallel, 15 minutes operate, 7 minutes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connects triggers, actions, conditions, APIs, and webhooks into workflows. By the end of the session we will have n8n running on Azure with PostgreSQL, plus a workflow that the agent created and triggered through the n8n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write a prompt. The oss-to-azure-deployer agent uses the n8n-azure app skill in this repo and the Azure Skills plugin for current Bicep schemas and guidance. It generates Bicep, azure.yaml, and a hook. azd deploys, and a verifier proves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resource group. The n8n container app listens on port 5678 behind HTTPS ingress, uses /healthz for its probes, and scales between 0 and 3 replicas, with minReplicas set to 1 for verification. It stores workflows in Azure Database for PostgreSQL Flexible Server over SSL. Logs go to Log Analytics. After provisioning, a hook sets WEBHOOK_URL to the app's real public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plan and generate. About 18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Copilot CLI from the repository root. Add the Azure Skills marketplace and install the plugin once. Then choose the oss-to-azure-deployer agent with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habit as every deployment journey: plan and cost before creating anything. Expect roughly 25 to 35 dollars a month if left running.
Full prompt:
Plan an n8n deployment to Azure Container Apps with Bicep and azd: PostgreSQL Flexible Server for storage, /healthz for probes, and the westus region. List each Azure resource, its SKU, and the estimated monthly cost if left running. Don't create files or Azure resources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prompt:
Generate the infrastructure for that plan: Bicep in infra-n8n/, azure.yaml, and the post-provision hook that sets WEBHOOK_URL. Generate secure passwords for all credentials and store them only in the azd environment. Set the Container App minReplicas to 1 so I can verify it right away without a cold start, and use n8n's /healthz endpoint for startup, readiness, and liveness probes. Prepare the azd environment for westus and my current subscription, then run azd provision --preview and summarize what it will create. Don't run azd up. If a step fails, inspect the relevant logs, make the smallest safe correction, rerun the failed step, and record the problem and resolution in issues.md. Do not print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takes over 60 seconds to start. A default probe would kill it too early and cause a restart loop. The n8n-azure skill knows this: the startup probe checks /healthz every 30 seconds, up to 10 tries, which is a five-minute window. Liveness waits 60 seconds. Ask the agent, "Why does the liveness probe have a 60-second initial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needs WEBHOOK_URL to be its own public URL, but that URL does not exist until the container app is created. The post-provision hook solves the circular dependency: after azd up assigns the URL, the hook sets WEBHOOK_URL, which creates a new revision, and waits for six consecutive healthy checks. Ask the agent, "What does the post-provision hook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deploy in parallel.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takes 7 to 15 minutes. Do not just wait. Run azd up in one terminal. In your Copilot session, ask the agent to create the workflow and a runner script, and tell it clearly not to run any deployment commands, because azd is already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prompt:
My azd up is running in another terminal, so don't run azd or any deployment command. Meanwhile, create n8n-workflows/github-zen.json: an n8n workflow named "GitHub Zen" with a Webhook trigger (POST, path github-zen), an HTTP Request node that calls https://api.github.com/zen, and a Respond to Webhook node that returns that text. Then create scripts/run-n8n-workflow.mjs. It reads N8N_URL through azd env get-value with an argument array and an API key from the N8N_API_KEY environment variable, and never prints the key. Through the n8n public API, it creates the workflow (or updates the one with the same name), activates it, calls its production webhook URL, and prints the response. Don't run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azd up finishes, run the checked-in verifier. You can also ask: "Verify the n8n deployment. Report each acceptance criterion as pass or fail." Then open the URL. n8n shows the owner setup page on first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operate the app.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the owner account in the browser. Generate an API key in n8n settings and set it in an environment variable: export N8N_API_KEY on Mac and Linux, or $env:N8N_API_KEY in PowerShell. Never paste the key into chat. Run the script. It creates and activates the workflow, calls the webhook, and prints a line of GitHub Zen. Check the Workflows page and execution history. Extension: ask the agent to add a timestamp node and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Troubleshooting is where agents shine. Common causes are probe timing and PostgreSQL SSL settings. The README also includes a reusable failure prompt: paste the exact command and redacted error output, and ask the agent to inspect logs, explain the root cause, make the smallest safe fix, rerun, run the verifier, and log it in issues.md.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the resource group name with azd env get-value RESOURCE_GROUP_NAME, run azd down with force and purge, then confirm with az group exists, which should return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Plan and preview first. App skills carry the hard-won details. Post-provision hooks handle circular configuration. And deployment time is working time. Next: Apache Superset, where the app needs Kubernetes and a pre-deploy gate to avoid expensive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787301"/>
            <a:ext cx="711101"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6" name="Text 3"/>
          <p:cNvSpPr/>
          <p:nvPr/>
        </p:nvSpPr>
        <p:spPr>
          <a:xfrm>
            <a:off x="482501" y="1053852"/>
            <a:ext cx="7772400" cy="171450"/>
          </a:xfrm>
          <a:prstGeom prst="rect">
            <a:avLst/>
          </a:prstGeom>
          <a:noFill/>
          <a:ln/>
        </p:spPr>
        <p:txBody>
          <a:bodyPr wrap="square" lIns="0" tIns="0" rIns="0" bIns="0" rtlCol="0" anchor="t"/>
          <a:lstStyle/>
          <a:p>
            <a:pPr algn="l" indent="0" marL="0">
              <a:spcAft>
                <a:spcPts val="600"/>
              </a:spcAft>
              <a:buNone/>
            </a:pPr>
            <a:r>
              <a:rPr lang="en-US" sz="1200" b="1" dirty="0">
                <a:solidFill>
                  <a:srgbClr val="1A7F37"/>
                </a:solidFill>
                <a:latin typeface="Arial" pitchFamily="34" charset="0"/>
                <a:ea typeface="Arial" pitchFamily="34" charset="-122"/>
                <a:cs typeface="Arial" pitchFamily="34" charset="-120"/>
              </a:rPr>
              <a:t>AGENTIC JOURNEY · GITHUB AND AZURE</a:t>
            </a:r>
            <a:endParaRPr lang="en-US" sz="1200" dirty="0"/>
          </a:p>
        </p:txBody>
      </p:sp>
      <p:sp>
        <p:nvSpPr>
          <p:cNvPr id="7" name="Text 4"/>
          <p:cNvSpPr/>
          <p:nvPr/>
        </p:nvSpPr>
        <p:spPr>
          <a:xfrm>
            <a:off x="482501" y="1301502"/>
            <a:ext cx="7772400" cy="584150"/>
          </a:xfrm>
          <a:prstGeom prst="rect">
            <a:avLst/>
          </a:prstGeom>
          <a:noFill/>
          <a:ln/>
        </p:spPr>
        <p:txBody>
          <a:bodyPr wrap="square" lIns="0" tIns="0" rIns="0" bIns="0" rtlCol="0" anchor="t"/>
          <a:lstStyle/>
          <a:p>
            <a:pPr algn="l" indent="0" marL="0">
              <a:lnSpc>
                <a:spcPts val="4600"/>
              </a:lnSpc>
              <a:buNone/>
            </a:pPr>
            <a:r>
              <a:rPr lang="en-US" sz="4000" b="1" dirty="0">
                <a:solidFill>
                  <a:srgbClr val="1F2328"/>
                </a:solidFill>
                <a:latin typeface="Arial" pitchFamily="34" charset="0"/>
                <a:ea typeface="Arial" pitchFamily="34" charset="-122"/>
                <a:cs typeface="Arial" pitchFamily="34" charset="-120"/>
              </a:rPr>
              <a:t>n8n on Azure</a:t>
            </a:r>
            <a:endParaRPr lang="en-US" sz="4000" dirty="0"/>
          </a:p>
        </p:txBody>
      </p:sp>
      <p:sp>
        <p:nvSpPr>
          <p:cNvPr id="8" name="Text 5"/>
          <p:cNvSpPr/>
          <p:nvPr/>
        </p:nvSpPr>
        <p:spPr>
          <a:xfrm>
            <a:off x="482501" y="2038052"/>
            <a:ext cx="7772400" cy="584299"/>
          </a:xfrm>
          <a:prstGeom prst="rect">
            <a:avLst/>
          </a:prstGeom>
          <a:noFill/>
          <a:ln/>
        </p:spPr>
        <p:txBody>
          <a:bodyPr wrap="square" lIns="0" tIns="0" rIns="0" bIns="0" rtlCol="0" anchor="t"/>
          <a:lstStyle/>
          <a:p>
            <a:pPr algn="l" indent="0" marL="0">
              <a:lnSpc>
                <a:spcPts val="2300"/>
              </a:lnSpc>
              <a:spcBef>
                <a:spcPts val="1200"/>
              </a:spcBef>
              <a:buNone/>
            </a:pPr>
            <a:r>
              <a:rPr lang="en-US" sz="1700" dirty="0">
                <a:solidFill>
                  <a:srgbClr val="59636E"/>
                </a:solidFill>
                <a:latin typeface="Arial" pitchFamily="34" charset="0"/>
                <a:ea typeface="Arial" pitchFamily="34" charset="-122"/>
                <a:cs typeface="Arial" pitchFamily="34" charset="-120"/>
              </a:rPr>
              <a:t>What if an agent could deploy a production-style workflow platform to Azure, then build and run your first workflow?</a:t>
            </a:r>
            <a:endParaRPr lang="en-US" sz="1700" dirty="0"/>
          </a:p>
        </p:txBody>
      </p:sp>
      <p:sp>
        <p:nvSpPr>
          <p:cNvPr id="9" name="Text 6"/>
          <p:cNvSpPr/>
          <p:nvPr/>
        </p:nvSpPr>
        <p:spPr>
          <a:xfrm>
            <a:off x="482501" y="2946350"/>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10" name="Image 1" descr="/Users/danwahlin/.copilot/session-state/a2da67da-2d7a-45f2-aa6a-2a42a7b82a72/files/build/icons/GoClock-0969DA.png">    </p:cNvPr>
          <p:cNvPicPr>
            <a:picLocks noChangeAspect="1"/>
          </p:cNvPicPr>
          <p:nvPr/>
        </p:nvPicPr>
        <p:blipFill>
          <a:blip r:embed="rId2"/>
          <a:stretch>
            <a:fillRect/>
          </a:stretch>
        </p:blipFill>
        <p:spPr>
          <a:xfrm>
            <a:off x="577751" y="3041600"/>
            <a:ext cx="241250" cy="241250"/>
          </a:xfrm>
          <a:prstGeom prst="rect">
            <a:avLst/>
          </a:prstGeom>
        </p:spPr>
      </p:pic>
      <p:sp>
        <p:nvSpPr>
          <p:cNvPr id="11" name="Text 7"/>
          <p:cNvSpPr/>
          <p:nvPr/>
        </p:nvSpPr>
        <p:spPr>
          <a:xfrm>
            <a:off x="1028551" y="2973288"/>
            <a:ext cx="947109"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SESSION</a:t>
            </a:r>
            <a:endParaRPr lang="en-US" sz="1000" dirty="0"/>
          </a:p>
        </p:txBody>
      </p:sp>
      <p:sp>
        <p:nvSpPr>
          <p:cNvPr id="12" name="Text 8"/>
          <p:cNvSpPr/>
          <p:nvPr/>
        </p:nvSpPr>
        <p:spPr>
          <a:xfrm>
            <a:off x="1028551" y="3141464"/>
            <a:ext cx="947109"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60 minutes</a:t>
            </a:r>
            <a:endParaRPr lang="en-US" sz="1400" dirty="0"/>
          </a:p>
        </p:txBody>
      </p:sp>
      <p:sp>
        <p:nvSpPr>
          <p:cNvPr id="13" name="Text 9"/>
          <p:cNvSpPr/>
          <p:nvPr/>
        </p:nvSpPr>
        <p:spPr>
          <a:xfrm>
            <a:off x="2312640" y="2946350"/>
            <a:ext cx="431750" cy="431750"/>
          </a:xfrm>
          <a:prstGeom prst="roundRect">
            <a:avLst>
              <a:gd name="adj" fmla="val 17649"/>
            </a:avLst>
          </a:prstGeom>
          <a:solidFill>
            <a:srgbClr val="DAFBE1"/>
          </a:solidFill>
          <a:ln/>
        </p:spPr>
        <p:txBody>
          <a:bodyPr wrap="square" rtlCol="0" anchor="ctr"/>
          <a:lstStyle/>
          <a:p>
            <a:pPr indent="0" marL="0">
              <a:buNone/>
            </a:pPr>
            <a:endParaRPr lang="en-US" dirty="0"/>
          </a:p>
        </p:txBody>
      </p:sp>
      <p:pic>
        <p:nvPicPr>
          <p:cNvPr id="14" name="Image 2" descr="/Users/danwahlin/.copilot/session-state/a2da67da-2d7a-45f2-aa6a-2a42a7b82a72/files/build/icons/GoCreditCard-1A7F37.png">    </p:cNvPr>
          <p:cNvPicPr>
            <a:picLocks noChangeAspect="1"/>
          </p:cNvPicPr>
          <p:nvPr/>
        </p:nvPicPr>
        <p:blipFill>
          <a:blip r:embed="rId3"/>
          <a:stretch>
            <a:fillRect/>
          </a:stretch>
        </p:blipFill>
        <p:spPr>
          <a:xfrm>
            <a:off x="2407890" y="3041600"/>
            <a:ext cx="241250" cy="241250"/>
          </a:xfrm>
          <a:prstGeom prst="rect">
            <a:avLst/>
          </a:prstGeom>
        </p:spPr>
      </p:pic>
      <p:sp>
        <p:nvSpPr>
          <p:cNvPr id="15" name="Text 10"/>
          <p:cNvSpPr/>
          <p:nvPr/>
        </p:nvSpPr>
        <p:spPr>
          <a:xfrm>
            <a:off x="2858691" y="2973288"/>
            <a:ext cx="1510912"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COST IF LEFT RUNNING</a:t>
            </a:r>
            <a:endParaRPr lang="en-US" sz="1000" dirty="0"/>
          </a:p>
        </p:txBody>
      </p:sp>
      <p:sp>
        <p:nvSpPr>
          <p:cNvPr id="16" name="Text 11"/>
          <p:cNvSpPr/>
          <p:nvPr/>
        </p:nvSpPr>
        <p:spPr>
          <a:xfrm>
            <a:off x="2858691" y="3141464"/>
            <a:ext cx="1510912"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~$25–35/month</a:t>
            </a:r>
            <a:endParaRPr lang="en-US" sz="1400" dirty="0"/>
          </a:p>
        </p:txBody>
      </p:sp>
      <p:sp>
        <p:nvSpPr>
          <p:cNvPr id="17" name="Text 12"/>
          <p:cNvSpPr/>
          <p:nvPr/>
        </p:nvSpPr>
        <p:spPr>
          <a:xfrm>
            <a:off x="4695527" y="2946350"/>
            <a:ext cx="431750" cy="431750"/>
          </a:xfrm>
          <a:prstGeom prst="roundRect">
            <a:avLst>
              <a:gd name="adj" fmla="val 17649"/>
            </a:avLst>
          </a:prstGeom>
          <a:solidFill>
            <a:srgbClr val="FBEFFF"/>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Cloud-8250DF.png">    </p:cNvPr>
          <p:cNvPicPr>
            <a:picLocks noChangeAspect="1"/>
          </p:cNvPicPr>
          <p:nvPr/>
        </p:nvPicPr>
        <p:blipFill>
          <a:blip r:embed="rId4"/>
          <a:stretch>
            <a:fillRect/>
          </a:stretch>
        </p:blipFill>
        <p:spPr>
          <a:xfrm>
            <a:off x="4790777" y="3041600"/>
            <a:ext cx="241250" cy="241250"/>
          </a:xfrm>
          <a:prstGeom prst="rect">
            <a:avLst/>
          </a:prstGeom>
        </p:spPr>
      </p:pic>
      <p:sp>
        <p:nvSpPr>
          <p:cNvPr id="19" name="Text 13"/>
          <p:cNvSpPr/>
          <p:nvPr/>
        </p:nvSpPr>
        <p:spPr>
          <a:xfrm>
            <a:off x="5241578" y="2973288"/>
            <a:ext cx="2597226"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RUNS ON</a:t>
            </a:r>
            <a:endParaRPr lang="en-US" sz="1000" dirty="0"/>
          </a:p>
        </p:txBody>
      </p:sp>
      <p:sp>
        <p:nvSpPr>
          <p:cNvPr id="20" name="Text 14"/>
          <p:cNvSpPr/>
          <p:nvPr/>
        </p:nvSpPr>
        <p:spPr>
          <a:xfrm>
            <a:off x="5241578" y="3141464"/>
            <a:ext cx="2597226"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Container Apps + PostgreSQL</a:t>
            </a:r>
            <a:endParaRPr lang="en-US" sz="1400" dirty="0"/>
          </a:p>
        </p:txBody>
      </p:sp>
      <p:sp>
        <p:nvSpPr>
          <p:cNvPr id="21" name="Text 15"/>
          <p:cNvSpPr/>
          <p:nvPr/>
        </p:nvSpPr>
        <p:spPr>
          <a:xfrm>
            <a:off x="482501" y="3708350"/>
            <a:ext cx="8342275" cy="142875"/>
          </a:xfrm>
          <a:prstGeom prst="rect">
            <a:avLst/>
          </a:prstGeom>
          <a:noFill/>
          <a:ln/>
        </p:spPr>
        <p:txBody>
          <a:bodyPr wrap="square" lIns="0" tIns="0" rIns="0" bIns="0" rtlCol="0" anchor="t"/>
          <a:lstStyle/>
          <a:p>
            <a:pPr algn="l" indent="0" marL="0">
              <a:buNone/>
            </a:pPr>
            <a:r>
              <a:rPr lang="en-US" sz="1000" b="1" dirty="0">
                <a:solidFill>
                  <a:srgbClr val="59636E"/>
                </a:solidFill>
                <a:latin typeface="Arial" pitchFamily="34" charset="0"/>
                <a:ea typeface="Arial" pitchFamily="34" charset="-122"/>
                <a:cs typeface="Arial" pitchFamily="34" charset="-120"/>
              </a:rPr>
              <a:t>IN THIS SESSION</a:t>
            </a:r>
            <a:endParaRPr lang="en-US" sz="1000" dirty="0"/>
          </a:p>
        </p:txBody>
      </p:sp>
      <p:sp>
        <p:nvSpPr>
          <p:cNvPr id="22" name="Text 16"/>
          <p:cNvSpPr/>
          <p:nvPr/>
        </p:nvSpPr>
        <p:spPr>
          <a:xfrm>
            <a:off x="482501" y="3952726"/>
            <a:ext cx="1784747" cy="361652"/>
          </a:xfrm>
          <a:prstGeom prst="roundRect">
            <a:avLst>
              <a:gd name="adj" fmla="val 52675"/>
            </a:avLst>
          </a:prstGeom>
          <a:solidFill>
            <a:srgbClr val="DDF4FF"/>
          </a:solidFill>
          <a:ln w="9525">
            <a:solidFill>
              <a:srgbClr val="9CD7FF"/>
            </a:solidFill>
          </a:ln>
        </p:spPr>
        <p:txBody>
          <a:bodyPr wrap="square" rtlCol="0" anchor="ctr"/>
          <a:lstStyle/>
          <a:p>
            <a:pPr indent="0" marL="0">
              <a:buNone/>
            </a:pPr>
            <a:endParaRPr lang="en-US" dirty="0"/>
          </a:p>
        </p:txBody>
      </p:sp>
      <p:sp>
        <p:nvSpPr>
          <p:cNvPr id="23" name="Text 17"/>
          <p:cNvSpPr/>
          <p:nvPr/>
        </p:nvSpPr>
        <p:spPr>
          <a:xfrm>
            <a:off x="568226" y="4025652"/>
            <a:ext cx="215801" cy="215801"/>
          </a:xfrm>
          <a:prstGeom prst="roundRect">
            <a:avLst>
              <a:gd name="adj" fmla="val 423724"/>
            </a:avLst>
          </a:prstGeom>
          <a:solidFill>
            <a:srgbClr val="0969DA"/>
          </a:solidFill>
          <a:ln/>
        </p:spPr>
        <p:txBody>
          <a:bodyPr wrap="square" rtlCol="0" anchor="ctr"/>
          <a:lstStyle/>
          <a:p>
            <a:pPr indent="0" marL="0">
              <a:buNone/>
            </a:pPr>
            <a:endParaRPr lang="en-US" dirty="0"/>
          </a:p>
        </p:txBody>
      </p:sp>
      <p:sp>
        <p:nvSpPr>
          <p:cNvPr id="24" name="Text 18"/>
          <p:cNvSpPr/>
          <p:nvPr/>
        </p:nvSpPr>
        <p:spPr>
          <a:xfrm>
            <a:off x="643640"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5" name="Text 19"/>
          <p:cNvSpPr/>
          <p:nvPr/>
        </p:nvSpPr>
        <p:spPr>
          <a:xfrm>
            <a:off x="860227" y="4047827"/>
            <a:ext cx="1283053"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Plan and generate</a:t>
            </a:r>
            <a:endParaRPr lang="en-US" sz="1150" dirty="0"/>
          </a:p>
        </p:txBody>
      </p:sp>
      <p:sp>
        <p:nvSpPr>
          <p:cNvPr id="26" name="Text 20"/>
          <p:cNvSpPr/>
          <p:nvPr/>
        </p:nvSpPr>
        <p:spPr>
          <a:xfrm>
            <a:off x="2368748" y="3952726"/>
            <a:ext cx="1735931" cy="361652"/>
          </a:xfrm>
          <a:prstGeom prst="roundRect">
            <a:avLst>
              <a:gd name="adj" fmla="val 52675"/>
            </a:avLst>
          </a:prstGeom>
          <a:solidFill>
            <a:srgbClr val="FBEFFF"/>
          </a:solidFill>
          <a:ln w="9525">
            <a:solidFill>
              <a:srgbClr val="E0C5FF"/>
            </a:solidFill>
          </a:ln>
        </p:spPr>
        <p:txBody>
          <a:bodyPr wrap="square" rtlCol="0" anchor="ctr"/>
          <a:lstStyle/>
          <a:p>
            <a:pPr indent="0" marL="0">
              <a:buNone/>
            </a:pPr>
            <a:endParaRPr lang="en-US" dirty="0"/>
          </a:p>
        </p:txBody>
      </p:sp>
      <p:sp>
        <p:nvSpPr>
          <p:cNvPr id="27" name="Text 21"/>
          <p:cNvSpPr/>
          <p:nvPr/>
        </p:nvSpPr>
        <p:spPr>
          <a:xfrm>
            <a:off x="2454473" y="4025652"/>
            <a:ext cx="215801" cy="215801"/>
          </a:xfrm>
          <a:prstGeom prst="roundRect">
            <a:avLst>
              <a:gd name="adj" fmla="val 423724"/>
            </a:avLst>
          </a:prstGeom>
          <a:solidFill>
            <a:srgbClr val="8250DF"/>
          </a:solidFill>
          <a:ln/>
        </p:spPr>
        <p:txBody>
          <a:bodyPr wrap="square" rtlCol="0" anchor="ctr"/>
          <a:lstStyle/>
          <a:p>
            <a:pPr indent="0" marL="0">
              <a:buNone/>
            </a:pPr>
            <a:endParaRPr lang="en-US" dirty="0"/>
          </a:p>
        </p:txBody>
      </p:sp>
      <p:sp>
        <p:nvSpPr>
          <p:cNvPr id="28" name="Text 22"/>
          <p:cNvSpPr/>
          <p:nvPr/>
        </p:nvSpPr>
        <p:spPr>
          <a:xfrm>
            <a:off x="2529888"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9" name="Text 23"/>
          <p:cNvSpPr/>
          <p:nvPr/>
        </p:nvSpPr>
        <p:spPr>
          <a:xfrm>
            <a:off x="2746474" y="4047827"/>
            <a:ext cx="1233261"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Deploy in parallel</a:t>
            </a:r>
            <a:endParaRPr lang="en-US" sz="1150" dirty="0"/>
          </a:p>
        </p:txBody>
      </p:sp>
      <p:sp>
        <p:nvSpPr>
          <p:cNvPr id="30" name="Text 24"/>
          <p:cNvSpPr/>
          <p:nvPr/>
        </p:nvSpPr>
        <p:spPr>
          <a:xfrm>
            <a:off x="4206180" y="3952726"/>
            <a:ext cx="1638598" cy="361652"/>
          </a:xfrm>
          <a:prstGeom prst="roundRect">
            <a:avLst>
              <a:gd name="adj" fmla="val 52675"/>
            </a:avLst>
          </a:prstGeom>
          <a:solidFill>
            <a:srgbClr val="DAFBE1"/>
          </a:solidFill>
          <a:ln w="9525">
            <a:solidFill>
              <a:srgbClr val="8CE7A5"/>
            </a:solidFill>
          </a:ln>
        </p:spPr>
        <p:txBody>
          <a:bodyPr wrap="square" rtlCol="0" anchor="ctr"/>
          <a:lstStyle/>
          <a:p>
            <a:pPr indent="0" marL="0">
              <a:buNone/>
            </a:pPr>
            <a:endParaRPr lang="en-US" dirty="0"/>
          </a:p>
        </p:txBody>
      </p:sp>
      <p:sp>
        <p:nvSpPr>
          <p:cNvPr id="31" name="Text 25"/>
          <p:cNvSpPr/>
          <p:nvPr/>
        </p:nvSpPr>
        <p:spPr>
          <a:xfrm>
            <a:off x="4291905" y="4025652"/>
            <a:ext cx="215801" cy="215801"/>
          </a:xfrm>
          <a:prstGeom prst="roundRect">
            <a:avLst>
              <a:gd name="adj" fmla="val 423724"/>
            </a:avLst>
          </a:prstGeom>
          <a:solidFill>
            <a:srgbClr val="1A7F37"/>
          </a:solidFill>
          <a:ln/>
        </p:spPr>
        <p:txBody>
          <a:bodyPr wrap="square" rtlCol="0" anchor="ctr"/>
          <a:lstStyle/>
          <a:p>
            <a:pPr indent="0" marL="0">
              <a:buNone/>
            </a:pPr>
            <a:endParaRPr lang="en-US" dirty="0"/>
          </a:p>
        </p:txBody>
      </p:sp>
      <p:sp>
        <p:nvSpPr>
          <p:cNvPr id="32" name="Text 26"/>
          <p:cNvSpPr/>
          <p:nvPr/>
        </p:nvSpPr>
        <p:spPr>
          <a:xfrm>
            <a:off x="4367320" y="4066877"/>
            <a:ext cx="64972" cy="133350"/>
          </a:xfrm>
          <a:prstGeom prst="rect">
            <a:avLst/>
          </a:prstGeom>
          <a:noFill/>
          <a:ln/>
        </p:spPr>
        <p:txBody>
          <a:bodyPr wrap="square" lIns="0" tIns="0" rIns="0" bIns="0" rtlCol="0" anchor="t"/>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3" name="Text 27"/>
          <p:cNvSpPr/>
          <p:nvPr/>
        </p:nvSpPr>
        <p:spPr>
          <a:xfrm>
            <a:off x="4583906" y="4047827"/>
            <a:ext cx="1133981"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Operate the app</a:t>
            </a:r>
            <a:endParaRPr lang="en-US" sz="1150" dirty="0"/>
          </a:p>
        </p:txBody>
      </p:sp>
      <p:sp>
        <p:nvSpPr>
          <p:cNvPr id="34" name="Text 28"/>
          <p:cNvSpPr/>
          <p:nvPr/>
        </p:nvSpPr>
        <p:spPr>
          <a:xfrm>
            <a:off x="482501" y="4673501"/>
            <a:ext cx="2635329"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github.com/microsoft/agentic-journeys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WHERE WE ARE HEADED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Workflow automation, running on Azure</a:t>
            </a:r>
            <a:endParaRPr lang="en-US" sz="2800" dirty="0"/>
          </a:p>
        </p:txBody>
      </p:sp>
      <p:pic>
        <p:nvPicPr>
          <p:cNvPr id="7" name="Image 1" descr="/Users/danwahlin/.copilot/session-state/a2da67da-2d7a-45f2-aa6a-2a42a7b82a72/files/build/img/n8n-n8n-workflow-automation.png">    </p:cNvPr>
          <p:cNvPicPr>
            <a:picLocks noChangeAspect="1"/>
          </p:cNvPicPr>
          <p:nvPr/>
        </p:nvPicPr>
        <p:blipFill>
          <a:blip r:embed="rId2"/>
          <a:stretch>
            <a:fillRect/>
          </a:stretch>
        </p:blipFill>
        <p:spPr>
          <a:xfrm>
            <a:off x="699641" y="1447800"/>
            <a:ext cx="7744420" cy="31749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HOW IT WORKS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Your prompt, the agent, and the skills</a:t>
            </a:r>
            <a:endParaRPr lang="en-US" sz="2800" dirty="0"/>
          </a:p>
        </p:txBody>
      </p:sp>
      <p:pic>
        <p:nvPicPr>
          <p:cNvPr id="7" name="Image 1" descr="/Users/danwahlin/.copilot/session-state/a2da67da-2d7a-45f2-aa6a-2a42a7b82a72/files/build/img/n8n-deploy-agent.png">    </p:cNvPr>
          <p:cNvPicPr>
            <a:picLocks noChangeAspect="1"/>
          </p:cNvPicPr>
          <p:nvPr/>
        </p:nvPicPr>
        <p:blipFill>
          <a:blip r:embed="rId2"/>
          <a:stretch>
            <a:fillRect/>
          </a:stretch>
        </p:blipFill>
        <p:spPr>
          <a:xfrm>
            <a:off x="690711" y="1308050"/>
            <a:ext cx="7762131" cy="34543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59636E"/>
                </a:solidFill>
                <a:latin typeface="Arial" pitchFamily="34" charset="0"/>
                <a:ea typeface="Arial" pitchFamily="34" charset="-122"/>
                <a:cs typeface="Arial" pitchFamily="34" charset="-120"/>
              </a:rPr>
              <a:t>ARCHITECTURE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An app, a database, and a hook</a:t>
            </a:r>
            <a:endParaRPr lang="en-US" sz="2800" dirty="0"/>
          </a:p>
        </p:txBody>
      </p:sp>
      <p:sp>
        <p:nvSpPr>
          <p:cNvPr id="7" name="Text 4"/>
          <p:cNvSpPr/>
          <p:nvPr/>
        </p:nvSpPr>
        <p:spPr>
          <a:xfrm>
            <a:off x="942975" y="2060525"/>
            <a:ext cx="1524000" cy="1288852"/>
          </a:xfrm>
          <a:prstGeom prst="roundRect">
            <a:avLst>
              <a:gd name="adj" fmla="val 7883"/>
            </a:avLst>
          </a:prstGeom>
          <a:solidFill>
            <a:srgbClr val="FFFFFF"/>
          </a:solidFill>
          <a:ln w="9525">
            <a:solidFill>
              <a:srgbClr val="E0C5FF"/>
            </a:solidFill>
          </a:ln>
        </p:spPr>
        <p:txBody>
          <a:bodyPr wrap="square" rtlCol="0" anchor="ctr"/>
          <a:lstStyle/>
          <a:p>
            <a:pPr indent="0" marL="0">
              <a:buNone/>
            </a:pPr>
            <a:endParaRPr lang="en-US" dirty="0"/>
          </a:p>
        </p:txBody>
      </p:sp>
      <p:sp>
        <p:nvSpPr>
          <p:cNvPr id="8" name="Text 5"/>
          <p:cNvSpPr/>
          <p:nvPr/>
        </p:nvSpPr>
        <p:spPr>
          <a:xfrm>
            <a:off x="1476375" y="2209651"/>
            <a:ext cx="457200" cy="457200"/>
          </a:xfrm>
          <a:prstGeom prst="roundRect">
            <a:avLst>
              <a:gd name="adj" fmla="val 16667"/>
            </a:avLst>
          </a:prstGeom>
          <a:solidFill>
            <a:srgbClr val="FBEFFF"/>
          </a:solidFill>
          <a:ln/>
        </p:spPr>
        <p:txBody>
          <a:bodyPr wrap="square" rtlCol="0" anchor="ctr"/>
          <a:lstStyle/>
          <a:p>
            <a:pPr indent="0" marL="0">
              <a:buNone/>
            </a:pPr>
            <a:endParaRPr lang="en-US" dirty="0"/>
          </a:p>
        </p:txBody>
      </p:sp>
      <p:pic>
        <p:nvPicPr>
          <p:cNvPr id="9" name="Image 1" descr="/Users/danwahlin/.copilot/session-state/a2da67da-2d7a-45f2-aa6a-2a42a7b82a72/files/build/icons/GoPerson-8250DF.png">    </p:cNvPr>
          <p:cNvPicPr>
            <a:picLocks noChangeAspect="1"/>
          </p:cNvPicPr>
          <p:nvPr/>
        </p:nvPicPr>
        <p:blipFill>
          <a:blip r:embed="rId2"/>
          <a:stretch>
            <a:fillRect/>
          </a:stretch>
        </p:blipFill>
        <p:spPr>
          <a:xfrm>
            <a:off x="1578025" y="2311301"/>
            <a:ext cx="253901" cy="253901"/>
          </a:xfrm>
          <a:prstGeom prst="rect">
            <a:avLst/>
          </a:prstGeom>
        </p:spPr>
      </p:pic>
      <p:sp>
        <p:nvSpPr>
          <p:cNvPr id="10" name="Text 6"/>
          <p:cNvSpPr/>
          <p:nvPr/>
        </p:nvSpPr>
        <p:spPr>
          <a:xfrm>
            <a:off x="1552109" y="2743051"/>
            <a:ext cx="305583"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You</a:t>
            </a:r>
            <a:endParaRPr lang="en-US" sz="1300" dirty="0"/>
          </a:p>
        </p:txBody>
      </p:sp>
      <p:sp>
        <p:nvSpPr>
          <p:cNvPr id="11" name="Text 7"/>
          <p:cNvSpPr/>
          <p:nvPr/>
        </p:nvSpPr>
        <p:spPr>
          <a:xfrm>
            <a:off x="1229978" y="3022402"/>
            <a:ext cx="949994"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Browser or API</a:t>
            </a:r>
            <a:endParaRPr lang="en-US" sz="1100" dirty="0"/>
          </a:p>
        </p:txBody>
      </p:sp>
      <p:sp>
        <p:nvSpPr>
          <p:cNvPr id="12" name="Text 8"/>
          <p:cNvSpPr/>
          <p:nvPr/>
        </p:nvSpPr>
        <p:spPr>
          <a:xfrm>
            <a:off x="2622951" y="2506563"/>
            <a:ext cx="424598" cy="142875"/>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HTTPS</a:t>
            </a:r>
            <a:endParaRPr lang="en-US" sz="1000" dirty="0"/>
          </a:p>
        </p:txBody>
      </p:sp>
      <p:sp>
        <p:nvSpPr>
          <p:cNvPr id="13" name="Text 9"/>
          <p:cNvSpPr/>
          <p:nvPr/>
        </p:nvSpPr>
        <p:spPr>
          <a:xfrm>
            <a:off x="2718590" y="2649438"/>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4" name="Text 10"/>
          <p:cNvSpPr/>
          <p:nvPr/>
        </p:nvSpPr>
        <p:spPr>
          <a:xfrm>
            <a:off x="3203525" y="1778050"/>
            <a:ext cx="4997202" cy="1853952"/>
          </a:xfrm>
          <a:prstGeom prst="roundRect">
            <a:avLst>
              <a:gd name="adj" fmla="val 6850"/>
            </a:avLst>
          </a:prstGeom>
          <a:solidFill>
            <a:srgbClr val="DDF4FF"/>
          </a:solidFill>
          <a:ln w="9525">
            <a:solidFill>
              <a:srgbClr val="9CD7FF"/>
            </a:solidFill>
          </a:ln>
        </p:spPr>
        <p:txBody>
          <a:bodyPr wrap="square" rtlCol="0" anchor="ctr"/>
          <a:lstStyle/>
          <a:p>
            <a:pPr indent="0" marL="0">
              <a:buNone/>
            </a:pPr>
            <a:endParaRPr lang="en-US" dirty="0"/>
          </a:p>
        </p:txBody>
      </p:sp>
      <p:pic>
        <p:nvPicPr>
          <p:cNvPr id="15" name="Image 2" descr="/Users/danwahlin/.copilot/session-state/a2da67da-2d7a-45f2-aa6a-2a42a7b82a72/files/build/icons/GoCloud-0969DA.png">    </p:cNvPr>
          <p:cNvPicPr>
            <a:picLocks noChangeAspect="1"/>
          </p:cNvPicPr>
          <p:nvPr/>
        </p:nvPicPr>
        <p:blipFill>
          <a:blip r:embed="rId3"/>
          <a:stretch>
            <a:fillRect/>
          </a:stretch>
        </p:blipFill>
        <p:spPr>
          <a:xfrm>
            <a:off x="3365450" y="1939975"/>
            <a:ext cx="165050" cy="165050"/>
          </a:xfrm>
          <a:prstGeom prst="rect">
            <a:avLst/>
          </a:prstGeom>
        </p:spPr>
      </p:pic>
      <p:sp>
        <p:nvSpPr>
          <p:cNvPr id="16" name="Text 11"/>
          <p:cNvSpPr/>
          <p:nvPr/>
        </p:nvSpPr>
        <p:spPr>
          <a:xfrm>
            <a:off x="3593902" y="1950988"/>
            <a:ext cx="1726930"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AZURE RESOURCE GROUP</a:t>
            </a:r>
            <a:endParaRPr lang="en-US" sz="1000" dirty="0"/>
          </a:p>
        </p:txBody>
      </p:sp>
      <p:sp>
        <p:nvSpPr>
          <p:cNvPr id="17" name="Text 12"/>
          <p:cNvSpPr/>
          <p:nvPr/>
        </p:nvSpPr>
        <p:spPr>
          <a:xfrm>
            <a:off x="3365450" y="2181225"/>
            <a:ext cx="2158901" cy="1288852"/>
          </a:xfrm>
          <a:prstGeom prst="roundRect">
            <a:avLst>
              <a:gd name="adj" fmla="val 7883"/>
            </a:avLst>
          </a:prstGeom>
          <a:solidFill>
            <a:srgbClr val="FFFFFF"/>
          </a:solidFill>
          <a:ln w="9525">
            <a:solidFill>
              <a:srgbClr val="FFC49B"/>
            </a:solidFill>
          </a:ln>
        </p:spPr>
        <p:txBody>
          <a:bodyPr wrap="square" rtlCol="0" anchor="ctr"/>
          <a:lstStyle/>
          <a:p>
            <a:pPr indent="0" marL="0">
              <a:buNone/>
            </a:pPr>
            <a:endParaRPr lang="en-US" dirty="0"/>
          </a:p>
        </p:txBody>
      </p:sp>
      <p:sp>
        <p:nvSpPr>
          <p:cNvPr id="18" name="Text 13"/>
          <p:cNvSpPr/>
          <p:nvPr/>
        </p:nvSpPr>
        <p:spPr>
          <a:xfrm>
            <a:off x="4216301" y="2330351"/>
            <a:ext cx="457200" cy="457200"/>
          </a:xfrm>
          <a:prstGeom prst="roundRect">
            <a:avLst>
              <a:gd name="adj" fmla="val 16667"/>
            </a:avLst>
          </a:prstGeom>
          <a:solidFill>
            <a:srgbClr val="FFF1E5"/>
          </a:solidFill>
          <a:ln/>
        </p:spPr>
        <p:txBody>
          <a:bodyPr wrap="square" rtlCol="0" anchor="ctr"/>
          <a:lstStyle/>
          <a:p>
            <a:pPr indent="0" marL="0">
              <a:buNone/>
            </a:pPr>
            <a:endParaRPr lang="en-US" dirty="0"/>
          </a:p>
        </p:txBody>
      </p:sp>
      <p:pic>
        <p:nvPicPr>
          <p:cNvPr id="19" name="Image 3" descr="/Users/danwahlin/.copilot/session-state/a2da67da-2d7a-45f2-aa6a-2a42a7b82a72/files/build/icons/GoWorkflow-BC4C00.png">    </p:cNvPr>
          <p:cNvPicPr>
            <a:picLocks noChangeAspect="1"/>
          </p:cNvPicPr>
          <p:nvPr/>
        </p:nvPicPr>
        <p:blipFill>
          <a:blip r:embed="rId4"/>
          <a:stretch>
            <a:fillRect/>
          </a:stretch>
        </p:blipFill>
        <p:spPr>
          <a:xfrm>
            <a:off x="4317950" y="2432000"/>
            <a:ext cx="253901" cy="253901"/>
          </a:xfrm>
          <a:prstGeom prst="rect">
            <a:avLst/>
          </a:prstGeom>
        </p:spPr>
      </p:pic>
      <p:sp>
        <p:nvSpPr>
          <p:cNvPr id="20" name="Text 14"/>
          <p:cNvSpPr/>
          <p:nvPr/>
        </p:nvSpPr>
        <p:spPr>
          <a:xfrm>
            <a:off x="4295221" y="2863751"/>
            <a:ext cx="299359"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n8n</a:t>
            </a:r>
            <a:endParaRPr lang="en-US" sz="1300" dirty="0"/>
          </a:p>
        </p:txBody>
      </p:sp>
      <p:sp>
        <p:nvSpPr>
          <p:cNvPr id="21" name="Text 15"/>
          <p:cNvSpPr/>
          <p:nvPr/>
        </p:nvSpPr>
        <p:spPr>
          <a:xfrm>
            <a:off x="3680717" y="3143101"/>
            <a:ext cx="1528218"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Container App · /healthz</a:t>
            </a:r>
            <a:endParaRPr lang="en-US" sz="1100" dirty="0"/>
          </a:p>
        </p:txBody>
      </p:sp>
      <p:sp>
        <p:nvSpPr>
          <p:cNvPr id="22" name="Text 16"/>
          <p:cNvSpPr/>
          <p:nvPr/>
        </p:nvSpPr>
        <p:spPr>
          <a:xfrm>
            <a:off x="5706646" y="2627114"/>
            <a:ext cx="244861" cy="142875"/>
          </a:xfrm>
          <a:prstGeom prst="rect">
            <a:avLst/>
          </a:prstGeom>
          <a:noFill/>
          <a:ln/>
        </p:spPr>
        <p:txBody>
          <a:bodyPr wrap="square" lIns="0" tIns="0" rIns="0" bIns="0" rtlCol="0" anchor="t"/>
          <a:lstStyle/>
          <a:p>
            <a:pPr algn="ctr" indent="0" marL="0">
              <a:buNone/>
            </a:pPr>
            <a:r>
              <a:rPr lang="en-US" sz="1000" dirty="0">
                <a:solidFill>
                  <a:srgbClr val="59636E"/>
                </a:solidFill>
                <a:latin typeface="Arial" pitchFamily="34" charset="0"/>
                <a:ea typeface="Arial" pitchFamily="34" charset="-122"/>
                <a:cs typeface="Arial" pitchFamily="34" charset="-120"/>
              </a:rPr>
              <a:t>SSL</a:t>
            </a:r>
            <a:endParaRPr lang="en-US" sz="1000" dirty="0"/>
          </a:p>
        </p:txBody>
      </p:sp>
      <p:sp>
        <p:nvSpPr>
          <p:cNvPr id="23" name="Text 17"/>
          <p:cNvSpPr/>
          <p:nvPr/>
        </p:nvSpPr>
        <p:spPr>
          <a:xfrm>
            <a:off x="5712416" y="2769989"/>
            <a:ext cx="233172" cy="254050"/>
          </a:xfrm>
          <a:prstGeom prst="rect">
            <a:avLst/>
          </a:prstGeom>
          <a:noFill/>
          <a:ln/>
        </p:spPr>
        <p:txBody>
          <a:bodyPr wrap="square" lIns="0" tIns="0" rIns="0" bIns="0" rtlCol="0" anchor="t"/>
          <a:lstStyle/>
          <a:p>
            <a:pPr algn="ctr" indent="0" marL="0">
              <a:lnSpc>
                <a:spcPts val="2000"/>
              </a:lnSpc>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4" name="Text 18"/>
          <p:cNvSpPr/>
          <p:nvPr/>
        </p:nvSpPr>
        <p:spPr>
          <a:xfrm>
            <a:off x="6133802" y="2181225"/>
            <a:ext cx="1905000" cy="1288852"/>
          </a:xfrm>
          <a:prstGeom prst="roundRect">
            <a:avLst>
              <a:gd name="adj" fmla="val 7883"/>
            </a:avLst>
          </a:prstGeom>
          <a:solidFill>
            <a:srgbClr val="FFFFFF"/>
          </a:solidFill>
          <a:ln w="9525">
            <a:solidFill>
              <a:srgbClr val="9CD7FF"/>
            </a:solidFill>
          </a:ln>
        </p:spPr>
        <p:txBody>
          <a:bodyPr wrap="square" rtlCol="0" anchor="ctr"/>
          <a:lstStyle/>
          <a:p>
            <a:pPr indent="0" marL="0">
              <a:buNone/>
            </a:pPr>
            <a:endParaRPr lang="en-US" dirty="0"/>
          </a:p>
        </p:txBody>
      </p:sp>
      <p:sp>
        <p:nvSpPr>
          <p:cNvPr id="25" name="Text 19"/>
          <p:cNvSpPr/>
          <p:nvPr/>
        </p:nvSpPr>
        <p:spPr>
          <a:xfrm>
            <a:off x="6857702" y="2330351"/>
            <a:ext cx="457200" cy="457200"/>
          </a:xfrm>
          <a:prstGeom prst="roundRect">
            <a:avLst>
              <a:gd name="adj" fmla="val 16667"/>
            </a:avLst>
          </a:prstGeom>
          <a:solidFill>
            <a:srgbClr val="DDF4FF"/>
          </a:solidFill>
          <a:ln/>
        </p:spPr>
        <p:txBody>
          <a:bodyPr wrap="square" rtlCol="0" anchor="ctr"/>
          <a:lstStyle/>
          <a:p>
            <a:pPr indent="0" marL="0">
              <a:buNone/>
            </a:pPr>
            <a:endParaRPr lang="en-US" dirty="0"/>
          </a:p>
        </p:txBody>
      </p:sp>
      <p:pic>
        <p:nvPicPr>
          <p:cNvPr id="26" name="Image 4" descr="/Users/danwahlin/.copilot/session-state/a2da67da-2d7a-45f2-aa6a-2a42a7b82a72/files/build/icons/GoDatabase-0969DA.png">    </p:cNvPr>
          <p:cNvPicPr>
            <a:picLocks noChangeAspect="1"/>
          </p:cNvPicPr>
          <p:nvPr/>
        </p:nvPicPr>
        <p:blipFill>
          <a:blip r:embed="rId5"/>
          <a:stretch>
            <a:fillRect/>
          </a:stretch>
        </p:blipFill>
        <p:spPr>
          <a:xfrm>
            <a:off x="6959352" y="2432000"/>
            <a:ext cx="253901" cy="253901"/>
          </a:xfrm>
          <a:prstGeom prst="rect">
            <a:avLst/>
          </a:prstGeom>
        </p:spPr>
      </p:pic>
      <p:sp>
        <p:nvSpPr>
          <p:cNvPr id="27" name="Text 20"/>
          <p:cNvSpPr/>
          <p:nvPr/>
        </p:nvSpPr>
        <p:spPr>
          <a:xfrm>
            <a:off x="6599768" y="2863751"/>
            <a:ext cx="973068" cy="203150"/>
          </a:xfrm>
          <a:prstGeom prst="rect">
            <a:avLst/>
          </a:prstGeom>
          <a:noFill/>
          <a:ln/>
        </p:spPr>
        <p:txBody>
          <a:bodyPr wrap="square" lIns="0" tIns="0" rIns="0" bIns="0" rtlCol="0" anchor="t"/>
          <a:lstStyle/>
          <a:p>
            <a:pPr algn="ctr" indent="0" marL="0">
              <a:lnSpc>
                <a:spcPts val="1600"/>
              </a:lnSpc>
              <a:buNone/>
            </a:pPr>
            <a:r>
              <a:rPr lang="en-US" sz="1300" b="1" dirty="0">
                <a:solidFill>
                  <a:srgbClr val="1F2328"/>
                </a:solidFill>
                <a:latin typeface="Arial" pitchFamily="34" charset="0"/>
                <a:ea typeface="Arial" pitchFamily="34" charset="-122"/>
                <a:cs typeface="Arial" pitchFamily="34" charset="-120"/>
              </a:rPr>
              <a:t>PostgreSQL</a:t>
            </a:r>
            <a:endParaRPr lang="en-US" sz="1300" dirty="0"/>
          </a:p>
        </p:txBody>
      </p:sp>
      <p:sp>
        <p:nvSpPr>
          <p:cNvPr id="28" name="Text 21"/>
          <p:cNvSpPr/>
          <p:nvPr/>
        </p:nvSpPr>
        <p:spPr>
          <a:xfrm>
            <a:off x="6611305" y="3143101"/>
            <a:ext cx="949994" cy="177850"/>
          </a:xfrm>
          <a:prstGeom prst="rect">
            <a:avLst/>
          </a:prstGeom>
          <a:noFill/>
          <a:ln/>
        </p:spPr>
        <p:txBody>
          <a:bodyPr wrap="square" lIns="0" tIns="0" rIns="0" bIns="0" rtlCol="0" anchor="t"/>
          <a:lstStyle/>
          <a:p>
            <a:pPr algn="ctr" indent="0" marL="0">
              <a:lnSpc>
                <a:spcPts val="1400"/>
              </a:lnSpc>
              <a:buNone/>
            </a:pPr>
            <a:r>
              <a:rPr lang="en-US" sz="1100" dirty="0">
                <a:solidFill>
                  <a:srgbClr val="59636E"/>
                </a:solidFill>
                <a:latin typeface="Arial" pitchFamily="34" charset="0"/>
                <a:ea typeface="Arial" pitchFamily="34" charset="-122"/>
                <a:cs typeface="Arial" pitchFamily="34" charset="-120"/>
              </a:rPr>
              <a:t>Flexible Server</a:t>
            </a:r>
            <a:endParaRPr lang="en-US" sz="1100" dirty="0"/>
          </a:p>
        </p:txBody>
      </p:sp>
      <p:sp>
        <p:nvSpPr>
          <p:cNvPr id="29" name="Text 22"/>
          <p:cNvSpPr/>
          <p:nvPr/>
        </p:nvSpPr>
        <p:spPr>
          <a:xfrm>
            <a:off x="1910804" y="3911352"/>
            <a:ext cx="381000" cy="381000"/>
          </a:xfrm>
          <a:prstGeom prst="roundRect">
            <a:avLst>
              <a:gd name="adj" fmla="val 20000"/>
            </a:avLst>
          </a:prstGeom>
          <a:solidFill>
            <a:srgbClr val="DAFBE1"/>
          </a:solidFill>
          <a:ln/>
        </p:spPr>
        <p:txBody>
          <a:bodyPr wrap="square" rtlCol="0" anchor="ctr"/>
          <a:lstStyle/>
          <a:p>
            <a:pPr indent="0" marL="0">
              <a:buNone/>
            </a:pPr>
            <a:endParaRPr lang="en-US" dirty="0"/>
          </a:p>
        </p:txBody>
      </p:sp>
      <p:pic>
        <p:nvPicPr>
          <p:cNvPr id="30" name="Image 5" descr="/Users/danwahlin/.copilot/session-state/a2da67da-2d7a-45f2-aa6a-2a42a7b82a72/files/build/icons/GoLog-1A7F37.png">    </p:cNvPr>
          <p:cNvPicPr>
            <a:picLocks noChangeAspect="1"/>
          </p:cNvPicPr>
          <p:nvPr/>
        </p:nvPicPr>
        <p:blipFill>
          <a:blip r:embed="rId6"/>
          <a:stretch>
            <a:fillRect/>
          </a:stretch>
        </p:blipFill>
        <p:spPr>
          <a:xfrm>
            <a:off x="1993404" y="3993952"/>
            <a:ext cx="215801" cy="215801"/>
          </a:xfrm>
          <a:prstGeom prst="rect">
            <a:avLst/>
          </a:prstGeom>
        </p:spPr>
      </p:pic>
      <p:sp>
        <p:nvSpPr>
          <p:cNvPr id="31" name="Text 23"/>
          <p:cNvSpPr/>
          <p:nvPr/>
        </p:nvSpPr>
        <p:spPr>
          <a:xfrm>
            <a:off x="2393305" y="4001839"/>
            <a:ext cx="992195" cy="200025"/>
          </a:xfrm>
          <a:prstGeom prst="rect">
            <a:avLst/>
          </a:prstGeom>
          <a:noFill/>
          <a:ln/>
        </p:spPr>
        <p:txBody>
          <a:bodyPr wrap="square" lIns="0" tIns="0" rIns="0" bIns="0" rtlCol="0" anchor="t"/>
          <a:lstStyle/>
          <a:p>
            <a:pPr algn="l" indent="0" marL="0">
              <a:buNone/>
            </a:pPr>
            <a:r>
              <a:rPr lang="en-US" sz="1300" dirty="0">
                <a:solidFill>
                  <a:srgbClr val="59636E"/>
                </a:solidFill>
                <a:latin typeface="Arial" pitchFamily="34" charset="0"/>
                <a:ea typeface="Arial" pitchFamily="34" charset="-122"/>
                <a:cs typeface="Arial" pitchFamily="34" charset="-120"/>
              </a:rPr>
              <a:t>Log Analytics</a:t>
            </a:r>
            <a:endParaRPr lang="en-US" sz="1300" dirty="0"/>
          </a:p>
        </p:txBody>
      </p:sp>
      <p:sp>
        <p:nvSpPr>
          <p:cNvPr id="32" name="Text 24"/>
          <p:cNvSpPr/>
          <p:nvPr/>
        </p:nvSpPr>
        <p:spPr>
          <a:xfrm>
            <a:off x="3594646" y="3911352"/>
            <a:ext cx="381000" cy="381000"/>
          </a:xfrm>
          <a:prstGeom prst="roundRect">
            <a:avLst>
              <a:gd name="adj" fmla="val 20000"/>
            </a:avLst>
          </a:prstGeom>
          <a:solidFill>
            <a:srgbClr val="FBEFFF"/>
          </a:solidFill>
          <a:ln/>
        </p:spPr>
        <p:txBody>
          <a:bodyPr wrap="square" rtlCol="0" anchor="ctr"/>
          <a:lstStyle/>
          <a:p>
            <a:pPr indent="0" marL="0">
              <a:buNone/>
            </a:pPr>
            <a:endParaRPr lang="en-US" dirty="0"/>
          </a:p>
        </p:txBody>
      </p:sp>
      <p:pic>
        <p:nvPicPr>
          <p:cNvPr id="33" name="Image 6" descr="/Users/danwahlin/.copilot/session-state/a2da67da-2d7a-45f2-aa6a-2a42a7b82a72/files/build/icons/GoGear-8250DF.png">    </p:cNvPr>
          <p:cNvPicPr>
            <a:picLocks noChangeAspect="1"/>
          </p:cNvPicPr>
          <p:nvPr/>
        </p:nvPicPr>
        <p:blipFill>
          <a:blip r:embed="rId7"/>
          <a:stretch>
            <a:fillRect/>
          </a:stretch>
        </p:blipFill>
        <p:spPr>
          <a:xfrm>
            <a:off x="3677245" y="3993952"/>
            <a:ext cx="215801" cy="215801"/>
          </a:xfrm>
          <a:prstGeom prst="rect">
            <a:avLst/>
          </a:prstGeom>
        </p:spPr>
      </p:pic>
      <p:sp>
        <p:nvSpPr>
          <p:cNvPr id="34" name="Text 25"/>
          <p:cNvSpPr/>
          <p:nvPr/>
        </p:nvSpPr>
        <p:spPr>
          <a:xfrm>
            <a:off x="4077146" y="4001839"/>
            <a:ext cx="3218715" cy="200025"/>
          </a:xfrm>
          <a:prstGeom prst="rect">
            <a:avLst/>
          </a:prstGeom>
          <a:noFill/>
          <a:ln/>
        </p:spPr>
        <p:txBody>
          <a:bodyPr wrap="square" lIns="0" tIns="0" rIns="0" bIns="0" rtlCol="0" anchor="t"/>
          <a:lstStyle/>
          <a:p>
            <a:pPr algn="l" indent="0" marL="0">
              <a:buNone/>
            </a:pPr>
            <a:r>
              <a:rPr lang="en-US" sz="1300" dirty="0">
                <a:solidFill>
                  <a:srgbClr val="59636E"/>
                </a:solidFill>
                <a:latin typeface="Arial" pitchFamily="34" charset="0"/>
                <a:ea typeface="Arial" pitchFamily="34" charset="-122"/>
                <a:cs typeface="Arial" pitchFamily="34" charset="-120"/>
              </a:rPr>
              <a:t>Post-provision hook sets </a:t>
            </a:r>
            <a:pPr algn="l" indent="0" marL="0">
              <a:buNone/>
            </a:pPr>
            <a:r>
              <a:rPr lang="en-US" sz="1300" b="1" dirty="0">
                <a:solidFill>
                  <a:srgbClr val="59636E"/>
                </a:solidFill>
                <a:latin typeface="Arial" pitchFamily="34" charset="0"/>
                <a:ea typeface="Arial" pitchFamily="34" charset="-122"/>
                <a:cs typeface="Arial" pitchFamily="34" charset="-120"/>
              </a:rPr>
              <a:t>WEBHOOK_URL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0969DA"/>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0969DA"/>
                </a:solidFill>
                <a:latin typeface="Arial" pitchFamily="34" charset="0"/>
                <a:ea typeface="Arial" pitchFamily="34" charset="-122"/>
                <a:cs typeface="Arial" pitchFamily="34" charset="-120"/>
              </a:rPr>
              <a:t>01</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1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Plan and generate</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Plan with a cost estimate, then generate and preview the infrastructure without deploying.</a:t>
            </a:r>
            <a:endParaRPr lang="en-US" sz="1600" dirty="0"/>
          </a:p>
        </p:txBody>
      </p:sp>
      <p:sp>
        <p:nvSpPr>
          <p:cNvPr id="10" name="Text 7"/>
          <p:cNvSpPr/>
          <p:nvPr/>
        </p:nvSpPr>
        <p:spPr>
          <a:xfrm>
            <a:off x="5486400" y="914400"/>
            <a:ext cx="2793950" cy="2793950"/>
          </a:xfrm>
          <a:prstGeom prst="roundRect">
            <a:avLst>
              <a:gd name="adj" fmla="val 32728"/>
            </a:avLst>
          </a:prstGeom>
          <a:solidFill>
            <a:srgbClr val="DDF4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Checklist-0969DA.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620589" cy="361652"/>
          </a:xfrm>
          <a:prstGeom prst="roundRect">
            <a:avLst>
              <a:gd name="adj" fmla="val 52675"/>
            </a:avLst>
          </a:prstGeom>
          <a:solidFill>
            <a:srgbClr val="0969DA"/>
          </a:solidFill>
          <a:ln w="9525">
            <a:solidFill>
              <a:srgbClr val="0969DA"/>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0969DA"/>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115613"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Plan and generate</a:t>
            </a:r>
            <a:endParaRPr lang="en-US" sz="1000" dirty="0"/>
          </a:p>
        </p:txBody>
      </p:sp>
      <p:sp>
        <p:nvSpPr>
          <p:cNvPr id="16" name="Text 12"/>
          <p:cNvSpPr/>
          <p:nvPr/>
        </p:nvSpPr>
        <p:spPr>
          <a:xfrm>
            <a:off x="2280791" y="4368701"/>
            <a:ext cx="1578322"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36651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44193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58517" y="4478089"/>
            <a:ext cx="1072500"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in parallel</a:t>
            </a:r>
            <a:endParaRPr lang="en-US" sz="1000" dirty="0"/>
          </a:p>
        </p:txBody>
      </p:sp>
      <p:sp>
        <p:nvSpPr>
          <p:cNvPr id="20" name="Text 16"/>
          <p:cNvSpPr/>
          <p:nvPr/>
        </p:nvSpPr>
        <p:spPr>
          <a:xfrm>
            <a:off x="3960614" y="4368701"/>
            <a:ext cx="1493490"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4046339"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4121753"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338340" y="4478089"/>
            <a:ext cx="985971"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Operate the app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GET STARTED</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Load the Azure skills and the deploy agent</a:t>
            </a:r>
            <a:endParaRPr lang="en-US" sz="2800" dirty="0"/>
          </a:p>
        </p:txBody>
      </p:sp>
      <p:sp>
        <p:nvSpPr>
          <p:cNvPr id="7" name="Text 4"/>
          <p:cNvSpPr/>
          <p:nvPr/>
        </p:nvSpPr>
        <p:spPr>
          <a:xfrm>
            <a:off x="1269802" y="1835200"/>
            <a:ext cx="6603950"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269802" y="1835200"/>
            <a:ext cx="660395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396752" y="191765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549003" y="191765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701254" y="191765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955006" y="1890713"/>
            <a:ext cx="544068"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copilot</a:t>
            </a:r>
            <a:endParaRPr lang="en-US" sz="1000" dirty="0"/>
          </a:p>
        </p:txBody>
      </p:sp>
      <p:sp>
        <p:nvSpPr>
          <p:cNvPr id="13" name="Text 10"/>
          <p:cNvSpPr/>
          <p:nvPr/>
        </p:nvSpPr>
        <p:spPr>
          <a:xfrm>
            <a:off x="1498402" y="226680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marketplace add microsoft/azure-skills</a:t>
            </a:r>
            <a:endParaRPr lang="en-US" sz="1400" dirty="0"/>
          </a:p>
        </p:txBody>
      </p:sp>
      <p:sp>
        <p:nvSpPr>
          <p:cNvPr id="14" name="Text 11"/>
          <p:cNvSpPr/>
          <p:nvPr/>
        </p:nvSpPr>
        <p:spPr>
          <a:xfrm>
            <a:off x="1498402" y="254243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/plugin install azure@azure-skills</a:t>
            </a:r>
            <a:endParaRPr lang="en-US" sz="1400" dirty="0"/>
          </a:p>
        </p:txBody>
      </p:sp>
      <p:sp>
        <p:nvSpPr>
          <p:cNvPr id="15" name="Text 12"/>
          <p:cNvSpPr/>
          <p:nvPr/>
        </p:nvSpPr>
        <p:spPr>
          <a:xfrm>
            <a:off x="1498402" y="2960191"/>
            <a:ext cx="6269685"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/agent</a:t>
            </a:r>
            <a:endParaRPr lang="en-US" sz="1400" dirty="0"/>
          </a:p>
        </p:txBody>
      </p:sp>
      <p:sp>
        <p:nvSpPr>
          <p:cNvPr id="16" name="Text 13"/>
          <p:cNvSpPr/>
          <p:nvPr/>
        </p:nvSpPr>
        <p:spPr>
          <a:xfrm>
            <a:off x="1498402" y="3235821"/>
            <a:ext cx="6269685"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choose oss-to-azure-deployer</a:t>
            </a:r>
            <a:endParaRPr lang="en-US" sz="1400" dirty="0"/>
          </a:p>
        </p:txBody>
      </p:sp>
      <p:pic>
        <p:nvPicPr>
          <p:cNvPr id="17" name="Image 1" descr="/Users/danwahlin/.copilot/session-state/a2da67da-2d7a-45f2-aa6a-2a42a7b82a72/files/build/icons/GoCopilot-8250DF.png">    </p:cNvPr>
          <p:cNvPicPr>
            <a:picLocks noChangeAspect="1"/>
          </p:cNvPicPr>
          <p:nvPr/>
        </p:nvPicPr>
        <p:blipFill>
          <a:blip r:embed="rId2"/>
          <a:stretch>
            <a:fillRect/>
          </a:stretch>
        </p:blipFill>
        <p:spPr>
          <a:xfrm>
            <a:off x="1269802" y="4006602"/>
            <a:ext cx="215801" cy="215801"/>
          </a:xfrm>
          <a:prstGeom prst="rect">
            <a:avLst/>
          </a:prstGeom>
        </p:spPr>
      </p:pic>
      <p:sp>
        <p:nvSpPr>
          <p:cNvPr id="18" name="Text 14"/>
          <p:cNvSpPr/>
          <p:nvPr/>
        </p:nvSpPr>
        <p:spPr>
          <a:xfrm>
            <a:off x="1587103" y="3993952"/>
            <a:ext cx="5612827" cy="241250"/>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The agent brings the workflow. Skills bring the app-specific know-how.</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PLAN AND COST FIRST</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Describe it. Ask what it costs.</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Plan an n8n deployment to Azure Container Apps with Bicep and azd: PostgreSQL Flexible Server for storage, /healthz for probes, and the westus region.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List each Azure resource, its SKU, and the estimated monthly cost</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if left running.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Don't create files or Azure resources yet.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GENERATE AND PREVIEW</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Generate, then preview</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dirty="0">
                <a:solidFill>
                  <a:srgbClr val="1F2328"/>
                </a:solidFill>
                <a:latin typeface="Arial" pitchFamily="34" charset="0"/>
                <a:ea typeface="Arial" pitchFamily="34" charset="-122"/>
                <a:cs typeface="Arial" pitchFamily="34" charset="-120"/>
              </a:rPr>
              <a:t>Generate the infrastructure for that plan: Bicep in infra-n8n/, azure.yaml, and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the post-provision hook that sets WEBHOOK_URL</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 Use n8n's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/healthz</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endpoint for startup, readiness, and liveness probes. … Run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azd provision --preview</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and summarize what it will create.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Don't run azd up.</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APP QUIRK</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n8n needs time to start</a:t>
            </a:r>
            <a:endParaRPr lang="en-US" sz="2800" dirty="0"/>
          </a:p>
        </p:txBody>
      </p:sp>
      <p:pic>
        <p:nvPicPr>
          <p:cNvPr id="7" name="Image 1" descr="/Users/danwahlin/.copilot/session-state/a2da67da-2d7a-45f2-aa6a-2a42a7b82a72/files/build/img/n8n-startup-window.png">    </p:cNvPr>
          <p:cNvPicPr>
            <a:picLocks noChangeAspect="1"/>
          </p:cNvPicPr>
          <p:nvPr/>
        </p:nvPicPr>
        <p:blipFill>
          <a:blip r:embed="rId2"/>
          <a:stretch>
            <a:fillRect/>
          </a:stretch>
        </p:blipFill>
        <p:spPr>
          <a:xfrm>
            <a:off x="1473696" y="1308050"/>
            <a:ext cx="6196310" cy="34543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0969DA"/>
                </a:solidFill>
                <a:latin typeface="Arial" pitchFamily="34" charset="0"/>
                <a:ea typeface="Arial" pitchFamily="34" charset="-122"/>
                <a:cs typeface="Arial" pitchFamily="34" charset="-120"/>
              </a:rPr>
              <a:t>APP QUIRK</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Some settings only exist after deploy</a:t>
            </a:r>
            <a:endParaRPr lang="en-US" sz="2800" dirty="0"/>
          </a:p>
        </p:txBody>
      </p:sp>
      <p:pic>
        <p:nvPicPr>
          <p:cNvPr id="7" name="Image 1" descr="/Users/danwahlin/.copilot/session-state/a2da67da-2d7a-45f2-aa6a-2a42a7b82a72/files/build/img/n8n-webhook-url.png">    </p:cNvPr>
          <p:cNvPicPr>
            <a:picLocks noChangeAspect="1"/>
          </p:cNvPicPr>
          <p:nvPr/>
        </p:nvPicPr>
        <p:blipFill>
          <a:blip r:embed="rId2"/>
          <a:stretch>
            <a:fillRect/>
          </a:stretch>
        </p:blipFill>
        <p:spPr>
          <a:xfrm>
            <a:off x="966936" y="1308050"/>
            <a:ext cx="7209681" cy="34543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8250DF"/>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8250DF"/>
                </a:solidFill>
                <a:latin typeface="Arial" pitchFamily="34" charset="0"/>
                <a:ea typeface="Arial" pitchFamily="34" charset="-122"/>
                <a:cs typeface="Arial" pitchFamily="34" charset="-120"/>
              </a:rPr>
              <a:t>02</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2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Deploy in parallel</a:t>
            </a:r>
            <a:endParaRPr lang="en-US" sz="3200" dirty="0"/>
          </a:p>
        </p:txBody>
      </p:sp>
      <p:sp>
        <p:nvSpPr>
          <p:cNvPr id="9" name="Text 6"/>
          <p:cNvSpPr/>
          <p:nvPr/>
        </p:nvSpPr>
        <p:spPr>
          <a:xfrm>
            <a:off x="558701" y="2666702"/>
            <a:ext cx="3886200" cy="5334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While azd up runs, the agent builds your first workflow. Two jobs, at the same time.</a:t>
            </a:r>
            <a:endParaRPr lang="en-US" sz="1600" dirty="0"/>
          </a:p>
        </p:txBody>
      </p:sp>
      <p:sp>
        <p:nvSpPr>
          <p:cNvPr id="10" name="Text 7"/>
          <p:cNvSpPr/>
          <p:nvPr/>
        </p:nvSpPr>
        <p:spPr>
          <a:xfrm>
            <a:off x="5486400" y="914400"/>
            <a:ext cx="2793950" cy="2793950"/>
          </a:xfrm>
          <a:prstGeom prst="roundRect">
            <a:avLst>
              <a:gd name="adj" fmla="val 32728"/>
            </a:avLst>
          </a:prstGeom>
          <a:solidFill>
            <a:srgbClr val="FBEFFF"/>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GitBranch-8250DF.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620589"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115613"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and generate</a:t>
            </a:r>
            <a:endParaRPr lang="en-US" sz="1000" dirty="0"/>
          </a:p>
        </p:txBody>
      </p:sp>
      <p:sp>
        <p:nvSpPr>
          <p:cNvPr id="16" name="Text 12"/>
          <p:cNvSpPr/>
          <p:nvPr/>
        </p:nvSpPr>
        <p:spPr>
          <a:xfrm>
            <a:off x="2280791" y="4368701"/>
            <a:ext cx="1578322" cy="361652"/>
          </a:xfrm>
          <a:prstGeom prst="roundRect">
            <a:avLst>
              <a:gd name="adj" fmla="val 52675"/>
            </a:avLst>
          </a:prstGeom>
          <a:solidFill>
            <a:srgbClr val="8250DF"/>
          </a:solidFill>
          <a:ln w="9525">
            <a:solidFill>
              <a:srgbClr val="8250DF"/>
            </a:solidFill>
          </a:ln>
        </p:spPr>
        <p:txBody>
          <a:bodyPr wrap="square" rtlCol="0" anchor="ctr"/>
          <a:lstStyle/>
          <a:p>
            <a:pPr indent="0" marL="0">
              <a:buNone/>
            </a:pPr>
            <a:endParaRPr lang="en-US" dirty="0"/>
          </a:p>
        </p:txBody>
      </p:sp>
      <p:sp>
        <p:nvSpPr>
          <p:cNvPr id="17" name="Text 13"/>
          <p:cNvSpPr/>
          <p:nvPr/>
        </p:nvSpPr>
        <p:spPr>
          <a:xfrm>
            <a:off x="2366516"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18" name="Text 14"/>
          <p:cNvSpPr/>
          <p:nvPr/>
        </p:nvSpPr>
        <p:spPr>
          <a:xfrm>
            <a:off x="2441930" y="4482852"/>
            <a:ext cx="64972" cy="133350"/>
          </a:xfrm>
          <a:prstGeom prst="rect">
            <a:avLst/>
          </a:prstGeom>
          <a:noFill/>
          <a:ln/>
        </p:spPr>
        <p:txBody>
          <a:bodyPr wrap="square" lIns="0" tIns="0" rIns="0" bIns="0" rtlCol="0" anchor="t"/>
          <a:lstStyle/>
          <a:p>
            <a:pPr algn="ctr" indent="0" marL="0">
              <a:buNone/>
            </a:pPr>
            <a:r>
              <a:rPr lang="en-US" sz="900" b="1" dirty="0">
                <a:solidFill>
                  <a:srgbClr val="8250DF"/>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58517" y="4478089"/>
            <a:ext cx="1072500"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Deploy in parallel</a:t>
            </a:r>
            <a:endParaRPr lang="en-US" sz="1000" dirty="0"/>
          </a:p>
        </p:txBody>
      </p:sp>
      <p:sp>
        <p:nvSpPr>
          <p:cNvPr id="20" name="Text 16"/>
          <p:cNvSpPr/>
          <p:nvPr/>
        </p:nvSpPr>
        <p:spPr>
          <a:xfrm>
            <a:off x="3960614" y="4368701"/>
            <a:ext cx="1493490"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21" name="Text 17"/>
          <p:cNvSpPr/>
          <p:nvPr/>
        </p:nvSpPr>
        <p:spPr>
          <a:xfrm>
            <a:off x="4046339"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22" name="Text 18"/>
          <p:cNvSpPr/>
          <p:nvPr/>
        </p:nvSpPr>
        <p:spPr>
          <a:xfrm>
            <a:off x="4121753"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338340" y="4478089"/>
            <a:ext cx="985971"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Operate the app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WORK IN PARALLEL</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Two terminals, two jobs</a:t>
            </a:r>
            <a:endParaRPr lang="en-US" sz="2800" dirty="0"/>
          </a:p>
        </p:txBody>
      </p:sp>
      <p:sp>
        <p:nvSpPr>
          <p:cNvPr id="7" name="Text 4"/>
          <p:cNvSpPr/>
          <p:nvPr/>
        </p:nvSpPr>
        <p:spPr>
          <a:xfrm>
            <a:off x="571351" y="1922562"/>
            <a:ext cx="3886200"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571351" y="1922562"/>
            <a:ext cx="388620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698302" y="2005013"/>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850553" y="2005013"/>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002804" y="2005013"/>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256556" y="1978075"/>
            <a:ext cx="1243584"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 1 · you</a:t>
            </a:r>
            <a:endParaRPr lang="en-US" sz="1000" dirty="0"/>
          </a:p>
        </p:txBody>
      </p:sp>
      <p:sp>
        <p:nvSpPr>
          <p:cNvPr id="13" name="Text 10"/>
          <p:cNvSpPr/>
          <p:nvPr/>
        </p:nvSpPr>
        <p:spPr>
          <a:xfrm>
            <a:off x="799951" y="2354163"/>
            <a:ext cx="3497580"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azd up</a:t>
            </a:r>
            <a:endParaRPr lang="en-US" sz="1400" dirty="0"/>
          </a:p>
        </p:txBody>
      </p:sp>
      <p:sp>
        <p:nvSpPr>
          <p:cNvPr id="14" name="Text 11"/>
          <p:cNvSpPr/>
          <p:nvPr/>
        </p:nvSpPr>
        <p:spPr>
          <a:xfrm>
            <a:off x="799951" y="2771924"/>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Provisioning PostgreSQL...</a:t>
            </a:r>
            <a:endParaRPr lang="en-US" sz="1400" dirty="0"/>
          </a:p>
        </p:txBody>
      </p:sp>
      <p:sp>
        <p:nvSpPr>
          <p:cNvPr id="15" name="Text 12"/>
          <p:cNvSpPr/>
          <p:nvPr/>
        </p:nvSpPr>
        <p:spPr>
          <a:xfrm>
            <a:off x="799951" y="3047554"/>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Deploying n8n...</a:t>
            </a:r>
            <a:endParaRPr lang="en-US" sz="1400" dirty="0"/>
          </a:p>
        </p:txBody>
      </p:sp>
      <p:sp>
        <p:nvSpPr>
          <p:cNvPr id="16" name="Text 13"/>
          <p:cNvSpPr/>
          <p:nvPr/>
        </p:nvSpPr>
        <p:spPr>
          <a:xfrm>
            <a:off x="799951" y="3323183"/>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7–15 minutes</a:t>
            </a:r>
            <a:endParaRPr lang="en-US" sz="1400" dirty="0"/>
          </a:p>
        </p:txBody>
      </p:sp>
      <p:sp>
        <p:nvSpPr>
          <p:cNvPr id="17" name="Text 14"/>
          <p:cNvSpPr/>
          <p:nvPr/>
        </p:nvSpPr>
        <p:spPr>
          <a:xfrm>
            <a:off x="2008138" y="3928914"/>
            <a:ext cx="1032879" cy="219075"/>
          </a:xfrm>
          <a:prstGeom prst="rect">
            <a:avLst/>
          </a:prstGeom>
          <a:noFill/>
          <a:ln/>
        </p:spPr>
        <p:txBody>
          <a:bodyPr wrap="square" lIns="0" tIns="0" rIns="0" bIns="0" rtlCol="0" anchor="t"/>
          <a:lstStyle/>
          <a:p>
            <a:pPr algn="l" indent="0" marL="0">
              <a:buNone/>
            </a:pPr>
            <a:r>
              <a:rPr lang="en-US" sz="1500" b="1" dirty="0">
                <a:solidFill>
                  <a:srgbClr val="1F2328"/>
                </a:solidFill>
                <a:latin typeface="Arial" pitchFamily="34" charset="0"/>
                <a:ea typeface="Arial" pitchFamily="34" charset="-122"/>
                <a:cs typeface="Arial" pitchFamily="34" charset="-120"/>
              </a:rPr>
              <a:t>You deploy</a:t>
            </a:r>
            <a:endParaRPr lang="en-US" sz="1500" dirty="0"/>
          </a:p>
        </p:txBody>
      </p:sp>
      <p:sp>
        <p:nvSpPr>
          <p:cNvPr id="18" name="Text 15"/>
          <p:cNvSpPr/>
          <p:nvPr/>
        </p:nvSpPr>
        <p:spPr>
          <a:xfrm>
            <a:off x="4686151" y="1922562"/>
            <a:ext cx="3886200" cy="1879402"/>
          </a:xfrm>
          <a:prstGeom prst="roundRect">
            <a:avLst>
              <a:gd name="adj" fmla="val 5406"/>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19" name="Text 16"/>
          <p:cNvSpPr/>
          <p:nvPr/>
        </p:nvSpPr>
        <p:spPr>
          <a:xfrm>
            <a:off x="4686151" y="1922562"/>
            <a:ext cx="3886200"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20" name="Text 17"/>
          <p:cNvSpPr/>
          <p:nvPr/>
        </p:nvSpPr>
        <p:spPr>
          <a:xfrm>
            <a:off x="4813102" y="2005013"/>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21" name="Text 18"/>
          <p:cNvSpPr/>
          <p:nvPr/>
        </p:nvSpPr>
        <p:spPr>
          <a:xfrm>
            <a:off x="4965353" y="2005013"/>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22" name="Text 19"/>
          <p:cNvSpPr/>
          <p:nvPr/>
        </p:nvSpPr>
        <p:spPr>
          <a:xfrm>
            <a:off x="5117604" y="2005013"/>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23" name="Text 20"/>
          <p:cNvSpPr/>
          <p:nvPr/>
        </p:nvSpPr>
        <p:spPr>
          <a:xfrm>
            <a:off x="5371356" y="1978075"/>
            <a:ext cx="1554480"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 2 · copilot</a:t>
            </a:r>
            <a:endParaRPr lang="en-US" sz="1000" dirty="0"/>
          </a:p>
        </p:txBody>
      </p:sp>
      <p:sp>
        <p:nvSpPr>
          <p:cNvPr id="24" name="Text 21"/>
          <p:cNvSpPr/>
          <p:nvPr/>
        </p:nvSpPr>
        <p:spPr>
          <a:xfrm>
            <a:off x="4914751" y="2354163"/>
            <a:ext cx="3497580" cy="275630"/>
          </a:xfrm>
          <a:prstGeom prst="rect">
            <a:avLst/>
          </a:prstGeom>
          <a:noFill/>
          <a:ln/>
        </p:spPr>
        <p:txBody>
          <a:bodyPr wrap="square" lIns="0" tIns="0" rIns="0" bIns="0" rtlCol="0" anchor="t"/>
          <a:lstStyle/>
          <a:p>
            <a:pPr algn="l" indent="0" marL="0">
              <a:lnSpc>
                <a:spcPts val="2170"/>
              </a:lnSpc>
              <a:buNone/>
            </a:pPr>
            <a:r>
              <a:rPr lang="en-US" sz="1400" b="1" dirty="0">
                <a:solidFill>
                  <a:srgbClr val="D2A8FF"/>
                </a:solidFill>
                <a:latin typeface="Courier New" pitchFamily="34" charset="0"/>
                <a:ea typeface="Courier New" pitchFamily="34" charset="-122"/>
                <a:cs typeface="Courier New" pitchFamily="34" charset="-120"/>
              </a:rPr>
              <a:t>&gt;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Create the GitHub Zen</a:t>
            </a:r>
            <a:endParaRPr lang="en-US" sz="1400" dirty="0"/>
          </a:p>
        </p:txBody>
      </p:sp>
      <p:sp>
        <p:nvSpPr>
          <p:cNvPr id="25" name="Text 22"/>
          <p:cNvSpPr/>
          <p:nvPr/>
        </p:nvSpPr>
        <p:spPr>
          <a:xfrm>
            <a:off x="4914751" y="2629793"/>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workflow and a runner</a:t>
            </a:r>
            <a:endParaRPr lang="en-US" sz="1400" dirty="0"/>
          </a:p>
        </p:txBody>
      </p:sp>
      <p:sp>
        <p:nvSpPr>
          <p:cNvPr id="26" name="Text 23"/>
          <p:cNvSpPr/>
          <p:nvPr/>
        </p:nvSpPr>
        <p:spPr>
          <a:xfrm>
            <a:off x="4914751" y="2905423"/>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script. Don't deploy.</a:t>
            </a:r>
            <a:endParaRPr lang="en-US" sz="1400" dirty="0"/>
          </a:p>
        </p:txBody>
      </p:sp>
      <p:sp>
        <p:nvSpPr>
          <p:cNvPr id="27" name="Text 24"/>
          <p:cNvSpPr/>
          <p:nvPr/>
        </p:nvSpPr>
        <p:spPr>
          <a:xfrm>
            <a:off x="4914751" y="3323183"/>
            <a:ext cx="3497580" cy="275630"/>
          </a:xfrm>
          <a:prstGeom prst="rect">
            <a:avLst/>
          </a:prstGeom>
          <a:noFill/>
          <a:ln/>
        </p:spPr>
        <p:txBody>
          <a:bodyPr wrap="square" lIns="0" tIns="0" rIns="0" bIns="0" rtlCol="0" anchor="t"/>
          <a:lstStyle/>
          <a:p>
            <a:pPr algn="l" indent="0" marL="0">
              <a:lnSpc>
                <a:spcPts val="2170"/>
              </a:lnSpc>
              <a:buNone/>
            </a:pPr>
            <a:r>
              <a:rPr lang="en-US" sz="1400" dirty="0">
                <a:solidFill>
                  <a:srgbClr val="8B949E"/>
                </a:solidFill>
                <a:latin typeface="Courier New" pitchFamily="34" charset="0"/>
                <a:ea typeface="Courier New" pitchFamily="34" charset="-122"/>
                <a:cs typeface="Courier New" pitchFamily="34" charset="-120"/>
              </a:rPr>
              <a:t># Writing github-zen.json...</a:t>
            </a:r>
            <a:endParaRPr lang="en-US" sz="1400" dirty="0"/>
          </a:p>
        </p:txBody>
      </p:sp>
      <p:sp>
        <p:nvSpPr>
          <p:cNvPr id="28" name="Text 25"/>
          <p:cNvSpPr/>
          <p:nvPr/>
        </p:nvSpPr>
        <p:spPr>
          <a:xfrm>
            <a:off x="5872460" y="3928914"/>
            <a:ext cx="1543854" cy="219075"/>
          </a:xfrm>
          <a:prstGeom prst="rect">
            <a:avLst/>
          </a:prstGeom>
          <a:noFill/>
          <a:ln/>
        </p:spPr>
        <p:txBody>
          <a:bodyPr wrap="square" lIns="0" tIns="0" rIns="0" bIns="0" rtlCol="0" anchor="t"/>
          <a:lstStyle/>
          <a:p>
            <a:pPr algn="l" indent="0" marL="0">
              <a:buNone/>
            </a:pPr>
            <a:r>
              <a:rPr lang="en-US" sz="1500" b="1" dirty="0">
                <a:solidFill>
                  <a:srgbClr val="1F2328"/>
                </a:solidFill>
                <a:latin typeface="Arial" pitchFamily="34" charset="0"/>
                <a:ea typeface="Arial" pitchFamily="34" charset="-122"/>
                <a:cs typeface="Arial" pitchFamily="34" charset="-120"/>
              </a:rPr>
              <a:t>The agent builds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BUILD WHILE YOU WAIT</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Create the first workflow</a:t>
            </a:r>
            <a:endParaRPr lang="en-US" sz="2800" dirty="0"/>
          </a:p>
        </p:txBody>
      </p:sp>
      <p:sp>
        <p:nvSpPr>
          <p:cNvPr id="7" name="Text 4"/>
          <p:cNvSpPr/>
          <p:nvPr/>
        </p:nvSpPr>
        <p:spPr>
          <a:xfrm>
            <a:off x="634901" y="1846064"/>
            <a:ext cx="7873901" cy="2429173"/>
          </a:xfrm>
          <a:prstGeom prst="roundRect">
            <a:avLst>
              <a:gd name="adj" fmla="val 4183"/>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850827"/>
            <a:ext cx="7873901" cy="0"/>
          </a:xfrm>
          <a:prstGeom prst="line">
            <a:avLst/>
          </a:prstGeom>
          <a:noFill/>
          <a:ln w="9525">
            <a:solidFill>
              <a:srgbClr val="E0C5FF"/>
            </a:solidFill>
            <a:prstDash val="solid"/>
          </a:ln>
        </p:spPr>
      </p:sp>
      <p:sp>
        <p:nvSpPr>
          <p:cNvPr id="9" name="Shape 6"/>
          <p:cNvSpPr/>
          <p:nvPr/>
        </p:nvSpPr>
        <p:spPr>
          <a:xfrm>
            <a:off x="8504039" y="1846064"/>
            <a:ext cx="0" cy="2429173"/>
          </a:xfrm>
          <a:prstGeom prst="line">
            <a:avLst/>
          </a:prstGeom>
          <a:noFill/>
          <a:ln w="9525">
            <a:solidFill>
              <a:srgbClr val="E0C5FF"/>
            </a:solidFill>
            <a:prstDash val="solid"/>
          </a:ln>
        </p:spPr>
      </p:sp>
      <p:sp>
        <p:nvSpPr>
          <p:cNvPr id="10" name="Shape 7"/>
          <p:cNvSpPr/>
          <p:nvPr/>
        </p:nvSpPr>
        <p:spPr>
          <a:xfrm>
            <a:off x="634901" y="4270474"/>
            <a:ext cx="7873901" cy="0"/>
          </a:xfrm>
          <a:prstGeom prst="line">
            <a:avLst/>
          </a:prstGeom>
          <a:noFill/>
          <a:ln w="9525">
            <a:solidFill>
              <a:srgbClr val="E0C5FF"/>
            </a:solidFill>
            <a:prstDash val="solid"/>
          </a:ln>
        </p:spPr>
      </p:sp>
      <p:sp>
        <p:nvSpPr>
          <p:cNvPr id="11" name="Shape 8"/>
          <p:cNvSpPr/>
          <p:nvPr/>
        </p:nvSpPr>
        <p:spPr>
          <a:xfrm>
            <a:off x="663476" y="1846064"/>
            <a:ext cx="0" cy="2429173"/>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084189"/>
            <a:ext cx="190500" cy="190500"/>
          </a:xfrm>
          <a:prstGeom prst="rect">
            <a:avLst/>
          </a:prstGeom>
        </p:spPr>
      </p:pic>
      <p:sp>
        <p:nvSpPr>
          <p:cNvPr id="13" name="Text 9"/>
          <p:cNvSpPr/>
          <p:nvPr/>
        </p:nvSpPr>
        <p:spPr>
          <a:xfrm>
            <a:off x="1238101" y="2103239"/>
            <a:ext cx="1423169" cy="152400"/>
          </a:xfrm>
          <a:prstGeom prst="rect">
            <a:avLst/>
          </a:prstGeom>
          <a:noFill/>
          <a:ln/>
        </p:spPr>
        <p:txBody>
          <a:bodyPr wrap="square" lIns="0" tIns="0" rIns="0" bIns="0" rtlCol="0" anchor="t"/>
          <a:lstStyle/>
          <a:p>
            <a:pPr algn="l" indent="0" marL="0">
              <a:buNone/>
            </a:pPr>
            <a:r>
              <a:rPr lang="en-US" sz="1050" dirty="0">
                <a:solidFill>
                  <a:srgbClr val="8250DF"/>
                </a:solidFill>
                <a:latin typeface="Arial" pitchFamily="34" charset="0"/>
                <a:ea typeface="Arial" pitchFamily="34" charset="-122"/>
                <a:cs typeface="Arial" pitchFamily="34" charset="-120"/>
              </a:rPr>
              <a:t>PROMPT</a:t>
            </a:r>
            <a:pPr algn="l" indent="0" marL="0">
              <a:buNone/>
            </a:pPr>
            <a:r>
              <a:rPr lang="en-US" sz="1050" b="1" dirty="0">
                <a:solidFill>
                  <a:srgbClr val="818B98"/>
                </a:solidFill>
                <a:latin typeface="Arial" pitchFamily="34" charset="0"/>
                <a:ea typeface="Arial" pitchFamily="34" charset="-122"/>
                <a:cs typeface="Arial" pitchFamily="34" charset="-120"/>
              </a:rPr>
              <a:t> · ABRIDGED</a:t>
            </a:r>
            <a:endParaRPr lang="en-US" sz="1050" dirty="0"/>
          </a:p>
        </p:txBody>
      </p:sp>
      <p:sp>
        <p:nvSpPr>
          <p:cNvPr id="14" name="Text 10"/>
          <p:cNvSpPr/>
          <p:nvPr/>
        </p:nvSpPr>
        <p:spPr>
          <a:xfrm>
            <a:off x="971401" y="2388840"/>
            <a:ext cx="7393496" cy="1622971"/>
          </a:xfrm>
          <a:prstGeom prst="rect">
            <a:avLst/>
          </a:prstGeom>
          <a:noFill/>
          <a:ln/>
        </p:spPr>
        <p:txBody>
          <a:bodyPr wrap="square" lIns="0" tIns="0" rIns="0" bIns="0" rtlCol="0" anchor="t"/>
          <a:lstStyle/>
          <a:p>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My azd up is running in another terminal, so don't run azd or any deployment command.</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Meanwhile, create n8n-workflows/github-zen.json: an n8n workflow named "GitHub Zen" … Then create scripts/run-n8n-workflow.mjs … It </a:t>
            </a:r>
            <a:pPr algn="l" indent="0" marL="0">
              <a:lnSpc>
                <a:spcPts val="2556"/>
              </a:lnSpc>
              <a:buNone/>
            </a:pPr>
            <a:r>
              <a:rPr lang="en-US" sz="1800" b="1" dirty="0">
                <a:solidFill>
                  <a:srgbClr val="1F2328"/>
                </a:solidFill>
                <a:latin typeface="Arial" pitchFamily="34" charset="0"/>
                <a:ea typeface="Arial" pitchFamily="34" charset="-122"/>
                <a:cs typeface="Arial" pitchFamily="34" charset="-120"/>
              </a:rPr>
              <a:t>never prints the key</a:t>
            </a:r>
            <a:pPr algn="l" indent="0" marL="0">
              <a:lnSpc>
                <a:spcPts val="2556"/>
              </a:lnSpc>
              <a:buNone/>
            </a:pPr>
            <a:r>
              <a:rPr lang="en-US" sz="1800" dirty="0">
                <a:solidFill>
                  <a:srgbClr val="1F2328"/>
                </a:solidFill>
                <a:latin typeface="Arial" pitchFamily="34" charset="0"/>
                <a:ea typeface="Arial" pitchFamily="34" charset="-122"/>
                <a:cs typeface="Arial" pitchFamily="34" charset="-120"/>
              </a:rPr>
              <a:t>. … Don't run it yet.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8250DF"/>
                </a:solidFill>
                <a:latin typeface="Arial" pitchFamily="34" charset="0"/>
                <a:ea typeface="Arial" pitchFamily="34" charset="-122"/>
                <a:cs typeface="Arial" pitchFamily="34" charset="-120"/>
              </a:rPr>
              <a:t>VERIFY</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Prove it is healthy</a:t>
            </a:r>
            <a:endParaRPr lang="en-US" sz="2800" dirty="0"/>
          </a:p>
        </p:txBody>
      </p:sp>
      <p:sp>
        <p:nvSpPr>
          <p:cNvPr id="7" name="Text 4"/>
          <p:cNvSpPr/>
          <p:nvPr/>
        </p:nvSpPr>
        <p:spPr>
          <a:xfrm>
            <a:off x="1015901" y="2181969"/>
            <a:ext cx="7111901" cy="1186011"/>
          </a:xfrm>
          <a:prstGeom prst="roundRect">
            <a:avLst>
              <a:gd name="adj" fmla="val 8567"/>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2181969"/>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226442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226442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226442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2237482"/>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244501" y="2613571"/>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a:t>
            </a:r>
            <a:pPr algn="l" indent="0" marL="0">
              <a:lnSpc>
                <a:spcPts val="2170"/>
              </a:lnSpc>
              <a:buNone/>
            </a:pPr>
            <a:r>
              <a:rPr lang="en-US" sz="1400" dirty="0">
                <a:solidFill>
                  <a:srgbClr val="E6EDF3"/>
                </a:solidFill>
                <a:latin typeface="Courier New" pitchFamily="34" charset="0"/>
                <a:ea typeface="Courier New" pitchFamily="34" charset="-122"/>
                <a:cs typeface="Courier New" pitchFamily="34" charset="-120"/>
              </a:rPr>
              <a:t> node .github/scripts/verify-n8n.mjs</a:t>
            </a:r>
            <a:endParaRPr lang="en-US" sz="1400" dirty="0"/>
          </a:p>
        </p:txBody>
      </p:sp>
      <p:sp>
        <p:nvSpPr>
          <p:cNvPr id="14" name="Text 11"/>
          <p:cNvSpPr/>
          <p:nvPr/>
        </p:nvSpPr>
        <p:spPr>
          <a:xfrm>
            <a:off x="1244501" y="2889200"/>
            <a:ext cx="6787795" cy="275630"/>
          </a:xfrm>
          <a:prstGeom prst="rect">
            <a:avLst/>
          </a:prstGeom>
          <a:noFill/>
          <a:ln/>
        </p:spPr>
        <p:txBody>
          <a:bodyPr wrap="square" lIns="0" tIns="0" rIns="0" bIns="0" rtlCol="0" anchor="t"/>
          <a:lstStyle/>
          <a:p>
            <a:pPr algn="l" indent="0" marL="0">
              <a:lnSpc>
                <a:spcPts val="2170"/>
              </a:lnSpc>
              <a:buNone/>
            </a:pPr>
            <a:r>
              <a:rPr lang="en-US" sz="1400" b="1" dirty="0">
                <a:solidFill>
                  <a:srgbClr val="3FB950"/>
                </a:solidFill>
                <a:latin typeface="Courier New" pitchFamily="34" charset="0"/>
                <a:ea typeface="Courier New" pitchFamily="34" charset="-122"/>
                <a:cs typeface="Courier New" pitchFamily="34" charset="-120"/>
              </a:rPr>
              <a:t>PASS: /healthz and UI returned HTTP 200</a:t>
            </a:r>
            <a:endParaRPr lang="en-US" sz="1400" dirty="0"/>
          </a:p>
        </p:txBody>
      </p:sp>
      <p:pic>
        <p:nvPicPr>
          <p:cNvPr id="15" name="Image 1" descr="/Users/danwahlin/.copilot/session-state/a2da67da-2d7a-45f2-aa6a-2a42a7b82a72/files/build/icons/GoBrowser-0969DA.png">    </p:cNvPr>
          <p:cNvPicPr>
            <a:picLocks noChangeAspect="1"/>
          </p:cNvPicPr>
          <p:nvPr/>
        </p:nvPicPr>
        <p:blipFill>
          <a:blip r:embed="rId2"/>
          <a:stretch>
            <a:fillRect/>
          </a:stretch>
        </p:blipFill>
        <p:spPr>
          <a:xfrm>
            <a:off x="1015901" y="3659981"/>
            <a:ext cx="215801" cy="215801"/>
          </a:xfrm>
          <a:prstGeom prst="rect">
            <a:avLst/>
          </a:prstGeom>
        </p:spPr>
      </p:pic>
      <p:sp>
        <p:nvSpPr>
          <p:cNvPr id="16" name="Text 12"/>
          <p:cNvSpPr/>
          <p:nvPr/>
        </p:nvSpPr>
        <p:spPr>
          <a:xfrm>
            <a:off x="1333202" y="3647331"/>
            <a:ext cx="4474140" cy="241250"/>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Open the URL. You should see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Set up owner account</a:t>
            </a:r>
            <a:pPr algn="l" indent="0" marL="0">
              <a:lnSpc>
                <a:spcPts val="1900"/>
              </a:lnSpc>
              <a:buNone/>
            </a:pPr>
            <a:r>
              <a:rPr lang="en-US" sz="1400" dirty="0">
                <a:solidFill>
                  <a:srgbClr val="1F2328"/>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0" y="0"/>
            <a:ext cx="101501" cy="5143500"/>
          </a:xfrm>
          <a:prstGeom prst="rect">
            <a:avLst/>
          </a:prstGeom>
          <a:solidFill>
            <a:srgbClr val="1A7F37"/>
          </a:solidFill>
          <a:ln/>
        </p:spPr>
        <p:txBody>
          <a:bodyPr wrap="square" rtlCol="0" anchor="ctr"/>
          <a:lstStyle/>
          <a:p>
            <a:pPr indent="0" marL="0">
              <a:buNone/>
            </a:pPr>
            <a:endParaRPr lang="en-US" dirty="0"/>
          </a:p>
        </p:txBody>
      </p:sp>
      <p:sp>
        <p:nvSpPr>
          <p:cNvPr id="6" name="Text 3"/>
          <p:cNvSpPr/>
          <p:nvPr/>
        </p:nvSpPr>
        <p:spPr>
          <a:xfrm>
            <a:off x="558701" y="888950"/>
            <a:ext cx="3886200" cy="838200"/>
          </a:xfrm>
          <a:prstGeom prst="rect">
            <a:avLst/>
          </a:prstGeom>
          <a:noFill/>
          <a:ln/>
        </p:spPr>
        <p:txBody>
          <a:bodyPr wrap="square" lIns="0" tIns="0" rIns="0" bIns="0" rtlCol="0" anchor="t"/>
          <a:lstStyle/>
          <a:p>
            <a:pPr algn="l" indent="0" marL="0">
              <a:lnSpc>
                <a:spcPts val="6600"/>
              </a:lnSpc>
              <a:buNone/>
            </a:pPr>
            <a:r>
              <a:rPr lang="en-US" sz="6400" b="1" dirty="0">
                <a:solidFill>
                  <a:srgbClr val="1A7F37"/>
                </a:solidFill>
                <a:latin typeface="Arial" pitchFamily="34" charset="0"/>
                <a:ea typeface="Arial" pitchFamily="34" charset="-122"/>
                <a:cs typeface="Arial" pitchFamily="34" charset="-120"/>
              </a:rPr>
              <a:t>03</a:t>
            </a:r>
            <a:endParaRPr lang="en-US" sz="6400" dirty="0"/>
          </a:p>
        </p:txBody>
      </p:sp>
      <p:sp>
        <p:nvSpPr>
          <p:cNvPr id="7" name="Text 4"/>
          <p:cNvSpPr/>
          <p:nvPr/>
        </p:nvSpPr>
        <p:spPr>
          <a:xfrm>
            <a:off x="558701" y="1828651"/>
            <a:ext cx="3886200" cy="152400"/>
          </a:xfrm>
          <a:prstGeom prst="rect">
            <a:avLst/>
          </a:prstGeom>
          <a:noFill/>
          <a:ln/>
        </p:spPr>
        <p:txBody>
          <a:bodyPr wrap="square" lIns="0" tIns="0" rIns="0" bIns="0" rtlCol="0" anchor="t"/>
          <a:lstStyle/>
          <a:p>
            <a:pPr algn="l" indent="0" marL="0">
              <a:spcBef>
                <a:spcPts val="800"/>
              </a:spcBef>
              <a:buNone/>
            </a:pPr>
            <a:r>
              <a:rPr lang="en-US" sz="1100" b="1" dirty="0">
                <a:solidFill>
                  <a:srgbClr val="59636E"/>
                </a:solidFill>
                <a:latin typeface="Arial" pitchFamily="34" charset="0"/>
                <a:ea typeface="Arial" pitchFamily="34" charset="-122"/>
                <a:cs typeface="Arial" pitchFamily="34" charset="-120"/>
              </a:rPr>
              <a:t>SECTION 3 OF 3</a:t>
            </a:r>
            <a:endParaRPr lang="en-US" sz="1100" dirty="0"/>
          </a:p>
        </p:txBody>
      </p:sp>
      <p:sp>
        <p:nvSpPr>
          <p:cNvPr id="8" name="Text 5"/>
          <p:cNvSpPr/>
          <p:nvPr/>
        </p:nvSpPr>
        <p:spPr>
          <a:xfrm>
            <a:off x="558701" y="2044452"/>
            <a:ext cx="3886200" cy="469850"/>
          </a:xfrm>
          <a:prstGeom prst="rect">
            <a:avLst/>
          </a:prstGeom>
          <a:noFill/>
          <a:ln/>
        </p:spPr>
        <p:txBody>
          <a:bodyPr wrap="square" lIns="0" tIns="0" rIns="0" bIns="0" rtlCol="0" anchor="t"/>
          <a:lstStyle/>
          <a:p>
            <a:pPr algn="l" indent="0" marL="0">
              <a:lnSpc>
                <a:spcPts val="3700"/>
              </a:lnSpc>
              <a:spcBef>
                <a:spcPts val="500"/>
              </a:spcBef>
              <a:buNone/>
            </a:pPr>
            <a:r>
              <a:rPr lang="en-US" sz="3200" b="1" dirty="0">
                <a:solidFill>
                  <a:srgbClr val="1F2328"/>
                </a:solidFill>
                <a:latin typeface="Arial" pitchFamily="34" charset="0"/>
                <a:ea typeface="Arial" pitchFamily="34" charset="-122"/>
                <a:cs typeface="Arial" pitchFamily="34" charset="-120"/>
              </a:rPr>
              <a:t>Operate the app</a:t>
            </a:r>
            <a:endParaRPr lang="en-US" sz="3200" dirty="0"/>
          </a:p>
        </p:txBody>
      </p:sp>
      <p:sp>
        <p:nvSpPr>
          <p:cNvPr id="9" name="Text 6"/>
          <p:cNvSpPr/>
          <p:nvPr/>
        </p:nvSpPr>
        <p:spPr>
          <a:xfrm>
            <a:off x="558701" y="2666702"/>
            <a:ext cx="3886200" cy="800100"/>
          </a:xfrm>
          <a:prstGeom prst="rect">
            <a:avLst/>
          </a:prstGeom>
          <a:noFill/>
          <a:ln/>
        </p:spPr>
        <p:txBody>
          <a:bodyPr wrap="square" lIns="0" tIns="0" rIns="0" bIns="0" rtlCol="0" anchor="t"/>
          <a:lstStyle/>
          <a:p>
            <a:pPr algn="l" indent="0" marL="0">
              <a:lnSpc>
                <a:spcPts val="2100"/>
              </a:lnSpc>
              <a:spcBef>
                <a:spcPts val="1200"/>
              </a:spcBef>
              <a:buNone/>
            </a:pPr>
            <a:r>
              <a:rPr lang="en-US" sz="1600" dirty="0">
                <a:solidFill>
                  <a:srgbClr val="59636E"/>
                </a:solidFill>
                <a:latin typeface="Arial" pitchFamily="34" charset="0"/>
                <a:ea typeface="Arial" pitchFamily="34" charset="-122"/>
                <a:cs typeface="Arial" pitchFamily="34" charset="-120"/>
              </a:rPr>
              <a:t>Create an owner account and an API key, then let the agent publish and run the workflow.</a:t>
            </a:r>
            <a:endParaRPr lang="en-US" sz="1600" dirty="0"/>
          </a:p>
        </p:txBody>
      </p:sp>
      <p:sp>
        <p:nvSpPr>
          <p:cNvPr id="10" name="Text 7"/>
          <p:cNvSpPr/>
          <p:nvPr/>
        </p:nvSpPr>
        <p:spPr>
          <a:xfrm>
            <a:off x="5486400" y="914400"/>
            <a:ext cx="2793950" cy="2793950"/>
          </a:xfrm>
          <a:prstGeom prst="roundRect">
            <a:avLst>
              <a:gd name="adj" fmla="val 32728"/>
            </a:avLst>
          </a:prstGeom>
          <a:solidFill>
            <a:srgbClr val="DAFBE1"/>
          </a:solidFill>
          <a:ln/>
        </p:spPr>
        <p:txBody>
          <a:bodyPr wrap="square" rtlCol="0" anchor="ctr"/>
          <a:lstStyle/>
          <a:p>
            <a:pPr indent="0" marL="0">
              <a:buNone/>
            </a:pPr>
            <a:endParaRPr lang="en-US" dirty="0"/>
          </a:p>
        </p:txBody>
      </p:sp>
      <p:pic>
        <p:nvPicPr>
          <p:cNvPr id="11" name="Image 1" descr="/Users/danwahlin/.copilot/session-state/a2da67da-2d7a-45f2-aa6a-2a42a7b82a72/files/build/icons/GoWorkflow-1A7F37.png">    </p:cNvPr>
          <p:cNvPicPr>
            <a:picLocks noChangeAspect="1"/>
          </p:cNvPicPr>
          <p:nvPr/>
        </p:nvPicPr>
        <p:blipFill>
          <a:blip r:embed="rId2"/>
          <a:stretch>
            <a:fillRect/>
          </a:stretch>
        </p:blipFill>
        <p:spPr>
          <a:xfrm>
            <a:off x="6184850" y="1612850"/>
            <a:ext cx="1396901" cy="1396901"/>
          </a:xfrm>
          <a:prstGeom prst="rect">
            <a:avLst/>
          </a:prstGeom>
        </p:spPr>
      </p:pic>
      <p:sp>
        <p:nvSpPr>
          <p:cNvPr id="12" name="Text 8"/>
          <p:cNvSpPr/>
          <p:nvPr/>
        </p:nvSpPr>
        <p:spPr>
          <a:xfrm>
            <a:off x="558701" y="4368701"/>
            <a:ext cx="1620589"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3" name="Text 9"/>
          <p:cNvSpPr/>
          <p:nvPr/>
        </p:nvSpPr>
        <p:spPr>
          <a:xfrm>
            <a:off x="64442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4" name="Text 10"/>
          <p:cNvSpPr/>
          <p:nvPr/>
        </p:nvSpPr>
        <p:spPr>
          <a:xfrm>
            <a:off x="71984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1</a:t>
            </a:r>
            <a:endParaRPr lang="en-US" sz="900" dirty="0"/>
          </a:p>
        </p:txBody>
      </p:sp>
      <p:sp>
        <p:nvSpPr>
          <p:cNvPr id="15" name="Text 11"/>
          <p:cNvSpPr/>
          <p:nvPr/>
        </p:nvSpPr>
        <p:spPr>
          <a:xfrm>
            <a:off x="936427" y="4478089"/>
            <a:ext cx="1115613"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Plan and generate</a:t>
            </a:r>
            <a:endParaRPr lang="en-US" sz="1000" dirty="0"/>
          </a:p>
        </p:txBody>
      </p:sp>
      <p:sp>
        <p:nvSpPr>
          <p:cNvPr id="16" name="Text 12"/>
          <p:cNvSpPr/>
          <p:nvPr/>
        </p:nvSpPr>
        <p:spPr>
          <a:xfrm>
            <a:off x="2280791" y="4368701"/>
            <a:ext cx="1578322" cy="361652"/>
          </a:xfrm>
          <a:prstGeom prst="roundRect">
            <a:avLst>
              <a:gd name="adj" fmla="val 52675"/>
            </a:avLst>
          </a:prstGeom>
          <a:solidFill>
            <a:srgbClr val="FFFFFF"/>
          </a:solidFill>
          <a:ln w="9525">
            <a:solidFill>
              <a:srgbClr val="D1D9E0"/>
            </a:solidFill>
          </a:ln>
        </p:spPr>
        <p:txBody>
          <a:bodyPr wrap="square" rtlCol="0" anchor="ctr"/>
          <a:lstStyle/>
          <a:p>
            <a:pPr indent="0" marL="0">
              <a:buNone/>
            </a:pPr>
            <a:endParaRPr lang="en-US" dirty="0"/>
          </a:p>
        </p:txBody>
      </p:sp>
      <p:sp>
        <p:nvSpPr>
          <p:cNvPr id="17" name="Text 13"/>
          <p:cNvSpPr/>
          <p:nvPr/>
        </p:nvSpPr>
        <p:spPr>
          <a:xfrm>
            <a:off x="2366516" y="4441627"/>
            <a:ext cx="215801" cy="215801"/>
          </a:xfrm>
          <a:prstGeom prst="roundRect">
            <a:avLst>
              <a:gd name="adj" fmla="val 423724"/>
            </a:avLst>
          </a:prstGeom>
          <a:solidFill>
            <a:srgbClr val="F6F8FA"/>
          </a:solidFill>
          <a:ln/>
        </p:spPr>
        <p:txBody>
          <a:bodyPr wrap="square" rtlCol="0" anchor="ctr"/>
          <a:lstStyle/>
          <a:p>
            <a:pPr indent="0" marL="0">
              <a:buNone/>
            </a:pPr>
            <a:endParaRPr lang="en-US" dirty="0"/>
          </a:p>
        </p:txBody>
      </p:sp>
      <p:sp>
        <p:nvSpPr>
          <p:cNvPr id="18" name="Text 14"/>
          <p:cNvSpPr/>
          <p:nvPr/>
        </p:nvSpPr>
        <p:spPr>
          <a:xfrm>
            <a:off x="2441930" y="4482852"/>
            <a:ext cx="64972" cy="133350"/>
          </a:xfrm>
          <a:prstGeom prst="rect">
            <a:avLst/>
          </a:prstGeom>
          <a:noFill/>
          <a:ln/>
        </p:spPr>
        <p:txBody>
          <a:bodyPr wrap="square" lIns="0" tIns="0" rIns="0" bIns="0" rtlCol="0" anchor="t"/>
          <a:lstStyle/>
          <a:p>
            <a:pPr algn="ctr" indent="0" marL="0">
              <a:buNone/>
            </a:pPr>
            <a:r>
              <a:rPr lang="en-US" sz="900" b="1" dirty="0">
                <a:solidFill>
                  <a:srgbClr val="818B98"/>
                </a:solidFill>
                <a:latin typeface="Arial" pitchFamily="34" charset="0"/>
                <a:ea typeface="Arial" pitchFamily="34" charset="-122"/>
                <a:cs typeface="Arial" pitchFamily="34" charset="-120"/>
              </a:rPr>
              <a:t>2</a:t>
            </a:r>
            <a:endParaRPr lang="en-US" sz="900" dirty="0"/>
          </a:p>
        </p:txBody>
      </p:sp>
      <p:sp>
        <p:nvSpPr>
          <p:cNvPr id="19" name="Text 15"/>
          <p:cNvSpPr/>
          <p:nvPr/>
        </p:nvSpPr>
        <p:spPr>
          <a:xfrm>
            <a:off x="2658517" y="4478089"/>
            <a:ext cx="1072500" cy="142875"/>
          </a:xfrm>
          <a:prstGeom prst="rect">
            <a:avLst/>
          </a:prstGeom>
          <a:noFill/>
          <a:ln/>
        </p:spPr>
        <p:txBody>
          <a:bodyPr wrap="square" lIns="0" tIns="0" rIns="0" bIns="0" rtlCol="0" anchor="t"/>
          <a:lstStyle/>
          <a:p>
            <a:pPr algn="l" indent="0" marL="0">
              <a:buNone/>
            </a:pPr>
            <a:r>
              <a:rPr lang="en-US" sz="1000" b="1" dirty="0">
                <a:solidFill>
                  <a:srgbClr val="818B98"/>
                </a:solidFill>
                <a:latin typeface="Arial" pitchFamily="34" charset="0"/>
                <a:ea typeface="Arial" pitchFamily="34" charset="-122"/>
                <a:cs typeface="Arial" pitchFamily="34" charset="-120"/>
              </a:rPr>
              <a:t>Deploy in parallel</a:t>
            </a:r>
            <a:endParaRPr lang="en-US" sz="1000" dirty="0"/>
          </a:p>
        </p:txBody>
      </p:sp>
      <p:sp>
        <p:nvSpPr>
          <p:cNvPr id="20" name="Text 16"/>
          <p:cNvSpPr/>
          <p:nvPr/>
        </p:nvSpPr>
        <p:spPr>
          <a:xfrm>
            <a:off x="3960614" y="4368701"/>
            <a:ext cx="1493490" cy="361652"/>
          </a:xfrm>
          <a:prstGeom prst="roundRect">
            <a:avLst>
              <a:gd name="adj" fmla="val 52675"/>
            </a:avLst>
          </a:prstGeom>
          <a:solidFill>
            <a:srgbClr val="1A7F37"/>
          </a:solidFill>
          <a:ln w="9525">
            <a:solidFill>
              <a:srgbClr val="1A7F37"/>
            </a:solidFill>
          </a:ln>
        </p:spPr>
        <p:txBody>
          <a:bodyPr wrap="square" rtlCol="0" anchor="ctr"/>
          <a:lstStyle/>
          <a:p>
            <a:pPr indent="0" marL="0">
              <a:buNone/>
            </a:pPr>
            <a:endParaRPr lang="en-US" dirty="0"/>
          </a:p>
        </p:txBody>
      </p:sp>
      <p:sp>
        <p:nvSpPr>
          <p:cNvPr id="21" name="Text 17"/>
          <p:cNvSpPr/>
          <p:nvPr/>
        </p:nvSpPr>
        <p:spPr>
          <a:xfrm>
            <a:off x="4046339" y="4441627"/>
            <a:ext cx="215801" cy="215801"/>
          </a:xfrm>
          <a:prstGeom prst="roundRect">
            <a:avLst>
              <a:gd name="adj" fmla="val 423724"/>
            </a:avLst>
          </a:prstGeom>
          <a:solidFill>
            <a:srgbClr val="FFFFFF"/>
          </a:solidFill>
          <a:ln/>
        </p:spPr>
        <p:txBody>
          <a:bodyPr wrap="square" rtlCol="0" anchor="ctr"/>
          <a:lstStyle/>
          <a:p>
            <a:pPr indent="0" marL="0">
              <a:buNone/>
            </a:pPr>
            <a:endParaRPr lang="en-US" dirty="0"/>
          </a:p>
        </p:txBody>
      </p:sp>
      <p:sp>
        <p:nvSpPr>
          <p:cNvPr id="22" name="Text 18"/>
          <p:cNvSpPr/>
          <p:nvPr/>
        </p:nvSpPr>
        <p:spPr>
          <a:xfrm>
            <a:off x="4121753" y="4482852"/>
            <a:ext cx="64972" cy="133350"/>
          </a:xfrm>
          <a:prstGeom prst="rect">
            <a:avLst/>
          </a:prstGeom>
          <a:noFill/>
          <a:ln/>
        </p:spPr>
        <p:txBody>
          <a:bodyPr wrap="square" lIns="0" tIns="0" rIns="0" bIns="0" rtlCol="0" anchor="t"/>
          <a:lstStyle/>
          <a:p>
            <a:pPr algn="ctr" indent="0" marL="0">
              <a:buNone/>
            </a:pPr>
            <a:r>
              <a:rPr lang="en-US" sz="900" b="1" dirty="0">
                <a:solidFill>
                  <a:srgbClr val="1A7F37"/>
                </a:solidFill>
                <a:latin typeface="Arial" pitchFamily="34" charset="0"/>
                <a:ea typeface="Arial" pitchFamily="34" charset="-122"/>
                <a:cs typeface="Arial" pitchFamily="34" charset="-120"/>
              </a:rPr>
              <a:t>3</a:t>
            </a:r>
            <a:endParaRPr lang="en-US" sz="900" dirty="0"/>
          </a:p>
        </p:txBody>
      </p:sp>
      <p:sp>
        <p:nvSpPr>
          <p:cNvPr id="23" name="Text 19"/>
          <p:cNvSpPr/>
          <p:nvPr/>
        </p:nvSpPr>
        <p:spPr>
          <a:xfrm>
            <a:off x="4338340" y="4478089"/>
            <a:ext cx="985971" cy="142875"/>
          </a:xfrm>
          <a:prstGeom prst="rect">
            <a:avLst/>
          </a:prstGeom>
          <a:noFill/>
          <a:ln/>
        </p:spPr>
        <p:txBody>
          <a:bodyPr wrap="square" lIns="0" tIns="0" rIns="0" bIns="0" rtlCol="0" anchor="t"/>
          <a:lstStyle/>
          <a:p>
            <a:pPr algn="l" indent="0" marL="0">
              <a:buNone/>
            </a:pPr>
            <a:r>
              <a:rPr lang="en-US" sz="1000" b="1" dirty="0">
                <a:solidFill>
                  <a:srgbClr val="FFFFFF"/>
                </a:solidFill>
                <a:latin typeface="Arial" pitchFamily="34" charset="0"/>
                <a:ea typeface="Arial" pitchFamily="34" charset="-122"/>
                <a:cs typeface="Arial" pitchFamily="34" charset="-120"/>
              </a:rPr>
              <a:t>Operate the app</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OPERATE</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From empty app to a running workflow</a:t>
            </a:r>
            <a:endParaRPr lang="en-US" sz="2800" dirty="0"/>
          </a:p>
        </p:txBody>
      </p:sp>
      <p:sp>
        <p:nvSpPr>
          <p:cNvPr id="7" name="Text 4"/>
          <p:cNvSpPr/>
          <p:nvPr/>
        </p:nvSpPr>
        <p:spPr>
          <a:xfrm>
            <a:off x="1054001" y="1785193"/>
            <a:ext cx="711101" cy="711101"/>
          </a:xfrm>
          <a:prstGeom prst="roundRect">
            <a:avLst>
              <a:gd name="adj" fmla="val 10716"/>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PersonAdd-0969DA.png">    </p:cNvPr>
          <p:cNvPicPr>
            <a:picLocks noChangeAspect="1"/>
          </p:cNvPicPr>
          <p:nvPr/>
        </p:nvPicPr>
        <p:blipFill>
          <a:blip r:embed="rId2"/>
          <a:stretch>
            <a:fillRect/>
          </a:stretch>
        </p:blipFill>
        <p:spPr>
          <a:xfrm>
            <a:off x="1212652" y="1943844"/>
            <a:ext cx="393650" cy="393650"/>
          </a:xfrm>
          <a:prstGeom prst="rect">
            <a:avLst/>
          </a:prstGeom>
        </p:spPr>
      </p:pic>
      <p:sp>
        <p:nvSpPr>
          <p:cNvPr id="9" name="Text 5"/>
          <p:cNvSpPr/>
          <p:nvPr/>
        </p:nvSpPr>
        <p:spPr>
          <a:xfrm>
            <a:off x="707608" y="2597795"/>
            <a:ext cx="1403738"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Owner account</a:t>
            </a:r>
            <a:endParaRPr lang="en-US" sz="1500" dirty="0"/>
          </a:p>
        </p:txBody>
      </p:sp>
      <p:sp>
        <p:nvSpPr>
          <p:cNvPr id="10" name="Text 6"/>
          <p:cNvSpPr/>
          <p:nvPr/>
        </p:nvSpPr>
        <p:spPr>
          <a:xfrm>
            <a:off x="737208" y="2937421"/>
            <a:ext cx="1344686" cy="214313"/>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n8n's built-in setup</a:t>
            </a:r>
            <a:endParaRPr lang="en-US" sz="1250" dirty="0"/>
          </a:p>
        </p:txBody>
      </p:sp>
      <p:sp>
        <p:nvSpPr>
          <p:cNvPr id="11" name="Text 7"/>
          <p:cNvSpPr/>
          <p:nvPr/>
        </p:nvSpPr>
        <p:spPr>
          <a:xfrm>
            <a:off x="2346966"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2" name="Text 8"/>
          <p:cNvSpPr/>
          <p:nvPr/>
        </p:nvSpPr>
        <p:spPr>
          <a:xfrm>
            <a:off x="3162151" y="1785193"/>
            <a:ext cx="711101" cy="711101"/>
          </a:xfrm>
          <a:prstGeom prst="roundRect">
            <a:avLst>
              <a:gd name="adj" fmla="val 10716"/>
            </a:avLst>
          </a:prstGeom>
          <a:solidFill>
            <a:srgbClr val="FBEFFF"/>
          </a:solidFill>
          <a:ln/>
        </p:spPr>
        <p:txBody>
          <a:bodyPr wrap="square" rtlCol="0" anchor="ctr"/>
          <a:lstStyle/>
          <a:p>
            <a:pPr indent="0" marL="0">
              <a:buNone/>
            </a:pPr>
            <a:endParaRPr lang="en-US" dirty="0"/>
          </a:p>
        </p:txBody>
      </p:sp>
      <p:pic>
        <p:nvPicPr>
          <p:cNvPr id="13" name="Image 2" descr="/Users/danwahlin/.copilot/session-state/a2da67da-2d7a-45f2-aa6a-2a42a7b82a72/files/build/icons/GoKey-8250DF.png">    </p:cNvPr>
          <p:cNvPicPr>
            <a:picLocks noChangeAspect="1"/>
          </p:cNvPicPr>
          <p:nvPr/>
        </p:nvPicPr>
        <p:blipFill>
          <a:blip r:embed="rId3"/>
          <a:stretch>
            <a:fillRect/>
          </a:stretch>
        </p:blipFill>
        <p:spPr>
          <a:xfrm>
            <a:off x="3320802" y="1943844"/>
            <a:ext cx="393650" cy="393650"/>
          </a:xfrm>
          <a:prstGeom prst="rect">
            <a:avLst/>
          </a:prstGeom>
        </p:spPr>
      </p:pic>
      <p:sp>
        <p:nvSpPr>
          <p:cNvPr id="14" name="Text 9"/>
          <p:cNvSpPr/>
          <p:nvPr/>
        </p:nvSpPr>
        <p:spPr>
          <a:xfrm>
            <a:off x="3166579" y="2597795"/>
            <a:ext cx="702097"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API key</a:t>
            </a:r>
            <a:endParaRPr lang="en-US" sz="1500" dirty="0"/>
          </a:p>
        </p:txBody>
      </p:sp>
      <p:sp>
        <p:nvSpPr>
          <p:cNvPr id="15" name="Text 10"/>
          <p:cNvSpPr/>
          <p:nvPr/>
        </p:nvSpPr>
        <p:spPr>
          <a:xfrm>
            <a:off x="2585014" y="2937421"/>
            <a:ext cx="1865376"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Set N8N_API_KEY locally</a:t>
            </a:r>
            <a:endParaRPr lang="en-US" sz="1250" dirty="0"/>
          </a:p>
        </p:txBody>
      </p:sp>
      <p:sp>
        <p:nvSpPr>
          <p:cNvPr id="16" name="Text 11"/>
          <p:cNvSpPr/>
          <p:nvPr/>
        </p:nvSpPr>
        <p:spPr>
          <a:xfrm>
            <a:off x="4455116"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17" name="Text 12"/>
          <p:cNvSpPr/>
          <p:nvPr/>
        </p:nvSpPr>
        <p:spPr>
          <a:xfrm>
            <a:off x="5270302" y="1785193"/>
            <a:ext cx="711101" cy="711101"/>
          </a:xfrm>
          <a:prstGeom prst="roundRect">
            <a:avLst>
              <a:gd name="adj" fmla="val 10716"/>
            </a:avLst>
          </a:prstGeom>
          <a:solidFill>
            <a:srgbClr val="DAFBE1"/>
          </a:solidFill>
          <a:ln/>
        </p:spPr>
        <p:txBody>
          <a:bodyPr wrap="square" rtlCol="0" anchor="ctr"/>
          <a:lstStyle/>
          <a:p>
            <a:pPr indent="0" marL="0">
              <a:buNone/>
            </a:pPr>
            <a:endParaRPr lang="en-US" dirty="0"/>
          </a:p>
        </p:txBody>
      </p:sp>
      <p:pic>
        <p:nvPicPr>
          <p:cNvPr id="18" name="Image 3" descr="/Users/danwahlin/.copilot/session-state/a2da67da-2d7a-45f2-aa6a-2a42a7b82a72/files/build/icons/GoPlay-1A7F37.png">    </p:cNvPr>
          <p:cNvPicPr>
            <a:picLocks noChangeAspect="1"/>
          </p:cNvPicPr>
          <p:nvPr/>
        </p:nvPicPr>
        <p:blipFill>
          <a:blip r:embed="rId4"/>
          <a:stretch>
            <a:fillRect/>
          </a:stretch>
        </p:blipFill>
        <p:spPr>
          <a:xfrm>
            <a:off x="5428952" y="1943844"/>
            <a:ext cx="393650" cy="393650"/>
          </a:xfrm>
          <a:prstGeom prst="rect">
            <a:avLst/>
          </a:prstGeom>
        </p:spPr>
      </p:pic>
      <p:sp>
        <p:nvSpPr>
          <p:cNvPr id="19" name="Text 13"/>
          <p:cNvSpPr/>
          <p:nvPr/>
        </p:nvSpPr>
        <p:spPr>
          <a:xfrm>
            <a:off x="4972638" y="2597795"/>
            <a:ext cx="1306279"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Run the script</a:t>
            </a:r>
            <a:endParaRPr lang="en-US" sz="1500" dirty="0"/>
          </a:p>
        </p:txBody>
      </p:sp>
      <p:sp>
        <p:nvSpPr>
          <p:cNvPr id="20" name="Text 14"/>
          <p:cNvSpPr/>
          <p:nvPr/>
        </p:nvSpPr>
        <p:spPr>
          <a:xfrm>
            <a:off x="4693164" y="2937421"/>
            <a:ext cx="1865376"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node scripts/run-n8n-workflow.mjs</a:t>
            </a:r>
            <a:endParaRPr lang="en-US" sz="1250" dirty="0"/>
          </a:p>
        </p:txBody>
      </p:sp>
      <p:sp>
        <p:nvSpPr>
          <p:cNvPr id="21" name="Text 15"/>
          <p:cNvSpPr/>
          <p:nvPr/>
        </p:nvSpPr>
        <p:spPr>
          <a:xfrm>
            <a:off x="6563267" y="2007394"/>
            <a:ext cx="233172" cy="266700"/>
          </a:xfrm>
          <a:prstGeom prst="rect">
            <a:avLst/>
          </a:prstGeom>
          <a:noFill/>
          <a:ln/>
        </p:spPr>
        <p:txBody>
          <a:bodyPr wrap="square" lIns="0" tIns="0" rIns="0" bIns="0" rtlCol="0" anchor="t"/>
          <a:lstStyle/>
          <a:p>
            <a:pPr algn="ctr" indent="0" marL="0">
              <a:buNone/>
            </a:pPr>
            <a:r>
              <a:rPr lang="en-US" sz="1800" dirty="0">
                <a:solidFill>
                  <a:srgbClr val="818B98"/>
                </a:solidFill>
                <a:latin typeface="Arial" pitchFamily="34" charset="0"/>
                <a:ea typeface="Arial" pitchFamily="34" charset="-122"/>
                <a:cs typeface="Arial" pitchFamily="34" charset="-120"/>
              </a:rPr>
              <a:t>→</a:t>
            </a:r>
            <a:endParaRPr lang="en-US" sz="1800" dirty="0"/>
          </a:p>
        </p:txBody>
      </p:sp>
      <p:sp>
        <p:nvSpPr>
          <p:cNvPr id="22" name="Text 16"/>
          <p:cNvSpPr/>
          <p:nvPr/>
        </p:nvSpPr>
        <p:spPr>
          <a:xfrm>
            <a:off x="7378452" y="1785193"/>
            <a:ext cx="711101" cy="711101"/>
          </a:xfrm>
          <a:prstGeom prst="roundRect">
            <a:avLst>
              <a:gd name="adj" fmla="val 10716"/>
            </a:avLst>
          </a:prstGeom>
          <a:solidFill>
            <a:srgbClr val="FFF1E5"/>
          </a:solidFill>
          <a:ln/>
        </p:spPr>
        <p:txBody>
          <a:bodyPr wrap="square" rtlCol="0" anchor="ctr"/>
          <a:lstStyle/>
          <a:p>
            <a:pPr indent="0" marL="0">
              <a:buNone/>
            </a:pPr>
            <a:endParaRPr lang="en-US" dirty="0"/>
          </a:p>
        </p:txBody>
      </p:sp>
      <p:pic>
        <p:nvPicPr>
          <p:cNvPr id="23" name="Image 4" descr="/Users/danwahlin/.copilot/session-state/a2da67da-2d7a-45f2-aa6a-2a42a7b82a72/files/build/icons/GoCommentDiscussion-BC4C00.png">    </p:cNvPr>
          <p:cNvPicPr>
            <a:picLocks noChangeAspect="1"/>
          </p:cNvPicPr>
          <p:nvPr/>
        </p:nvPicPr>
        <p:blipFill>
          <a:blip r:embed="rId5"/>
          <a:stretch>
            <a:fillRect/>
          </a:stretch>
        </p:blipFill>
        <p:spPr>
          <a:xfrm>
            <a:off x="7537103" y="1943844"/>
            <a:ext cx="393650" cy="393650"/>
          </a:xfrm>
          <a:prstGeom prst="rect">
            <a:avLst/>
          </a:prstGeom>
        </p:spPr>
      </p:pic>
      <p:sp>
        <p:nvSpPr>
          <p:cNvPr id="24" name="Text 17"/>
          <p:cNvSpPr/>
          <p:nvPr/>
        </p:nvSpPr>
        <p:spPr>
          <a:xfrm>
            <a:off x="7210429" y="2597795"/>
            <a:ext cx="1046997" cy="238125"/>
          </a:xfrm>
          <a:prstGeom prst="rect">
            <a:avLst/>
          </a:prstGeom>
          <a:noFill/>
          <a:ln/>
        </p:spPr>
        <p:txBody>
          <a:bodyPr wrap="square" lIns="0" tIns="0" rIns="0" bIns="0" rtlCol="0" anchor="t"/>
          <a:lstStyle/>
          <a:p>
            <a:pPr algn="ctr" indent="0" marL="0">
              <a:lnSpc>
                <a:spcPts val="1875"/>
              </a:lnSpc>
              <a:buNone/>
            </a:pPr>
            <a:r>
              <a:rPr lang="en-US" sz="1500" b="1" dirty="0">
                <a:solidFill>
                  <a:srgbClr val="1F2328"/>
                </a:solidFill>
                <a:latin typeface="Arial" pitchFamily="34" charset="0"/>
                <a:ea typeface="Arial" pitchFamily="34" charset="-122"/>
                <a:cs typeface="Arial" pitchFamily="34" charset="-120"/>
              </a:rPr>
              <a:t>GitHub Zen</a:t>
            </a:r>
            <a:endParaRPr lang="en-US" sz="1500" dirty="0"/>
          </a:p>
        </p:txBody>
      </p:sp>
      <p:sp>
        <p:nvSpPr>
          <p:cNvPr id="25" name="Text 18"/>
          <p:cNvSpPr/>
          <p:nvPr/>
        </p:nvSpPr>
        <p:spPr>
          <a:xfrm>
            <a:off x="6801314" y="2937421"/>
            <a:ext cx="1865376" cy="428625"/>
          </a:xfrm>
          <a:prstGeom prst="rect">
            <a:avLst/>
          </a:prstGeom>
          <a:noFill/>
          <a:ln/>
        </p:spPr>
        <p:txBody>
          <a:bodyPr wrap="square" lIns="0" tIns="0" rIns="0" bIns="0" rtlCol="0" anchor="t"/>
          <a:lstStyle/>
          <a:p>
            <a:pPr algn="ctr" indent="0" marL="0">
              <a:lnSpc>
                <a:spcPts val="1688"/>
              </a:lnSpc>
              <a:buNone/>
            </a:pPr>
            <a:r>
              <a:rPr lang="en-US" sz="1250" dirty="0">
                <a:solidFill>
                  <a:srgbClr val="59636E"/>
                </a:solidFill>
                <a:latin typeface="Arial" pitchFamily="34" charset="0"/>
                <a:ea typeface="Arial" pitchFamily="34" charset="-122"/>
                <a:cs typeface="Arial" pitchFamily="34" charset="-120"/>
              </a:rPr>
              <a:t>A line of wisdom comes back</a:t>
            </a:r>
            <a:endParaRPr lang="en-US" sz="1250" dirty="0"/>
          </a:p>
        </p:txBody>
      </p:sp>
      <p:sp>
        <p:nvSpPr>
          <p:cNvPr id="26" name="Text 19"/>
          <p:cNvSpPr/>
          <p:nvPr/>
        </p:nvSpPr>
        <p:spPr>
          <a:xfrm>
            <a:off x="1493788" y="3823246"/>
            <a:ext cx="6156127" cy="462111"/>
          </a:xfrm>
          <a:prstGeom prst="roundRect">
            <a:avLst>
              <a:gd name="adj" fmla="val 16490"/>
            </a:avLst>
          </a:prstGeom>
          <a:solidFill>
            <a:srgbClr val="DAFBE1"/>
          </a:solidFill>
          <a:ln w="9525">
            <a:solidFill>
              <a:srgbClr val="8CE7A5"/>
            </a:solidFill>
          </a:ln>
        </p:spPr>
        <p:txBody>
          <a:bodyPr wrap="square" rtlCol="0" anchor="ctr"/>
          <a:lstStyle/>
          <a:p>
            <a:pPr indent="0" marL="0">
              <a:buNone/>
            </a:pPr>
            <a:endParaRPr lang="en-US" dirty="0"/>
          </a:p>
        </p:txBody>
      </p:sp>
      <p:pic>
        <p:nvPicPr>
          <p:cNvPr id="27" name="Image 5" descr="/Users/danwahlin/.copilot/session-state/a2da67da-2d7a-45f2-aa6a-2a42a7b82a72/files/build/icons/GoCopilot-1A7F37.png">    </p:cNvPr>
          <p:cNvPicPr>
            <a:picLocks noChangeAspect="1"/>
          </p:cNvPicPr>
          <p:nvPr/>
        </p:nvPicPr>
        <p:blipFill>
          <a:blip r:embed="rId6"/>
          <a:stretch>
            <a:fillRect/>
          </a:stretch>
        </p:blipFill>
        <p:spPr>
          <a:xfrm>
            <a:off x="1655713" y="3965377"/>
            <a:ext cx="177701" cy="177701"/>
          </a:xfrm>
          <a:prstGeom prst="rect">
            <a:avLst/>
          </a:prstGeom>
        </p:spPr>
      </p:pic>
      <p:sp>
        <p:nvSpPr>
          <p:cNvPr id="28" name="Text 20"/>
          <p:cNvSpPr/>
          <p:nvPr/>
        </p:nvSpPr>
        <p:spPr>
          <a:xfrm>
            <a:off x="1934914" y="3934271"/>
            <a:ext cx="5664137" cy="240060"/>
          </a:xfrm>
          <a:prstGeom prst="rect">
            <a:avLst/>
          </a:prstGeom>
          <a:noFill/>
          <a:ln/>
        </p:spPr>
        <p:txBody>
          <a:bodyPr wrap="square" lIns="0" tIns="0" rIns="0" bIns="0" rtlCol="0" anchor="t"/>
          <a:lstStyle/>
          <a:p>
            <a:pPr algn="l" indent="0" marL="0">
              <a:lnSpc>
                <a:spcPts val="1890"/>
              </a:lnSpc>
              <a:buNone/>
            </a:pPr>
            <a:r>
              <a:rPr lang="en-US" sz="1400" dirty="0">
                <a:solidFill>
                  <a:srgbClr val="1F2328"/>
                </a:solidFill>
                <a:latin typeface="Arial" pitchFamily="34" charset="0"/>
                <a:ea typeface="Arial" pitchFamily="34" charset="-122"/>
                <a:cs typeface="Arial" pitchFamily="34" charset="-120"/>
              </a:rPr>
              <a:t>The same agent that deployed the app now operates it through its API.</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WHEN SOMETHING BREAKS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Ask the agent to investigate</a:t>
            </a:r>
            <a:endParaRPr lang="en-US" sz="2800" dirty="0"/>
          </a:p>
        </p:txBody>
      </p:sp>
      <p:sp>
        <p:nvSpPr>
          <p:cNvPr id="7" name="Text 4"/>
          <p:cNvSpPr/>
          <p:nvPr/>
        </p:nvSpPr>
        <p:spPr>
          <a:xfrm>
            <a:off x="634901" y="1970782"/>
            <a:ext cx="7873901" cy="1697236"/>
          </a:xfrm>
          <a:prstGeom prst="roundRect">
            <a:avLst>
              <a:gd name="adj" fmla="val 5986"/>
            </a:avLst>
          </a:prstGeom>
          <a:solidFill>
            <a:srgbClr val="FFFFFF"/>
          </a:solidFill>
          <a:ln/>
          <a:effectLst>
            <a:outerShdw sx="100000" sy="100000" kx="0" ky="0" algn="bl" rotWithShape="0" blurRad="76200" dist="19050" dir="5400000">
              <a:srgbClr val="1f2328">
                <a:alpha val="8000"/>
              </a:srgbClr>
            </a:outerShdw>
          </a:effectLst>
        </p:spPr>
        <p:txBody>
          <a:bodyPr wrap="square" rtlCol="0" anchor="ctr"/>
          <a:lstStyle/>
          <a:p>
            <a:pPr indent="0" marL="0">
              <a:buNone/>
            </a:pPr>
            <a:endParaRPr lang="en-US" dirty="0"/>
          </a:p>
        </p:txBody>
      </p:sp>
      <p:sp>
        <p:nvSpPr>
          <p:cNvPr id="8" name="Shape 5"/>
          <p:cNvSpPr/>
          <p:nvPr/>
        </p:nvSpPr>
        <p:spPr>
          <a:xfrm>
            <a:off x="634901" y="1975545"/>
            <a:ext cx="7873901" cy="0"/>
          </a:xfrm>
          <a:prstGeom prst="line">
            <a:avLst/>
          </a:prstGeom>
          <a:noFill/>
          <a:ln w="9525">
            <a:solidFill>
              <a:srgbClr val="E0C5FF"/>
            </a:solidFill>
            <a:prstDash val="solid"/>
          </a:ln>
        </p:spPr>
      </p:sp>
      <p:sp>
        <p:nvSpPr>
          <p:cNvPr id="9" name="Shape 6"/>
          <p:cNvSpPr/>
          <p:nvPr/>
        </p:nvSpPr>
        <p:spPr>
          <a:xfrm>
            <a:off x="8504039" y="1970782"/>
            <a:ext cx="0" cy="1697236"/>
          </a:xfrm>
          <a:prstGeom prst="line">
            <a:avLst/>
          </a:prstGeom>
          <a:noFill/>
          <a:ln w="9525">
            <a:solidFill>
              <a:srgbClr val="E0C5FF"/>
            </a:solidFill>
            <a:prstDash val="solid"/>
          </a:ln>
        </p:spPr>
      </p:sp>
      <p:sp>
        <p:nvSpPr>
          <p:cNvPr id="10" name="Shape 7"/>
          <p:cNvSpPr/>
          <p:nvPr/>
        </p:nvSpPr>
        <p:spPr>
          <a:xfrm>
            <a:off x="634901" y="3663255"/>
            <a:ext cx="7873901" cy="0"/>
          </a:xfrm>
          <a:prstGeom prst="line">
            <a:avLst/>
          </a:prstGeom>
          <a:noFill/>
          <a:ln w="9525">
            <a:solidFill>
              <a:srgbClr val="E0C5FF"/>
            </a:solidFill>
            <a:prstDash val="solid"/>
          </a:ln>
        </p:spPr>
      </p:sp>
      <p:sp>
        <p:nvSpPr>
          <p:cNvPr id="11" name="Shape 8"/>
          <p:cNvSpPr/>
          <p:nvPr/>
        </p:nvSpPr>
        <p:spPr>
          <a:xfrm>
            <a:off x="663476" y="1970782"/>
            <a:ext cx="0" cy="1697236"/>
          </a:xfrm>
          <a:prstGeom prst="line">
            <a:avLst/>
          </a:prstGeom>
          <a:noFill/>
          <a:ln w="57150">
            <a:solidFill>
              <a:srgbClr val="8250DF"/>
            </a:solidFill>
            <a:prstDash val="solid"/>
          </a:ln>
        </p:spPr>
      </p:sp>
      <p:pic>
        <p:nvPicPr>
          <p:cNvPr id="12" name="Image 1" descr="/Users/danwahlin/.copilot/session-state/a2da67da-2d7a-45f2-aa6a-2a42a7b82a72/files/build/icons/GoCopilot-8250DF.png">    </p:cNvPr>
          <p:cNvPicPr>
            <a:picLocks noChangeAspect="1"/>
          </p:cNvPicPr>
          <p:nvPr/>
        </p:nvPicPr>
        <p:blipFill>
          <a:blip r:embed="rId2"/>
          <a:stretch>
            <a:fillRect/>
          </a:stretch>
        </p:blipFill>
        <p:spPr>
          <a:xfrm>
            <a:off x="971401" y="2208907"/>
            <a:ext cx="190500" cy="190500"/>
          </a:xfrm>
          <a:prstGeom prst="rect">
            <a:avLst/>
          </a:prstGeom>
        </p:spPr>
      </p:pic>
      <p:sp>
        <p:nvSpPr>
          <p:cNvPr id="13" name="Text 9"/>
          <p:cNvSpPr/>
          <p:nvPr/>
        </p:nvSpPr>
        <p:spPr>
          <a:xfrm>
            <a:off x="1238101" y="2227957"/>
            <a:ext cx="581867" cy="152400"/>
          </a:xfrm>
          <a:prstGeom prst="rect">
            <a:avLst/>
          </a:prstGeom>
          <a:noFill/>
          <a:ln/>
        </p:spPr>
        <p:txBody>
          <a:bodyPr wrap="square" lIns="0" tIns="0" rIns="0" bIns="0" rtlCol="0" anchor="t"/>
          <a:lstStyle/>
          <a:p>
            <a:pPr algn="l" indent="0" marL="0">
              <a:buNone/>
            </a:pPr>
            <a:r>
              <a:rPr lang="en-US" sz="1050" b="1" dirty="0">
                <a:solidFill>
                  <a:srgbClr val="8250DF"/>
                </a:solidFill>
                <a:latin typeface="Arial" pitchFamily="34" charset="0"/>
                <a:ea typeface="Arial" pitchFamily="34" charset="-122"/>
                <a:cs typeface="Arial" pitchFamily="34" charset="-120"/>
              </a:rPr>
              <a:t>PROMPT</a:t>
            </a:r>
            <a:endParaRPr lang="en-US" sz="1050" dirty="0"/>
          </a:p>
        </p:txBody>
      </p:sp>
      <p:sp>
        <p:nvSpPr>
          <p:cNvPr id="14" name="Text 10"/>
          <p:cNvSpPr/>
          <p:nvPr/>
        </p:nvSpPr>
        <p:spPr>
          <a:xfrm>
            <a:off x="971401" y="2539008"/>
            <a:ext cx="7393496" cy="865584"/>
          </a:xfrm>
          <a:prstGeom prst="rect">
            <a:avLst/>
          </a:prstGeom>
          <a:noFill/>
          <a:ln/>
        </p:spPr>
        <p:txBody>
          <a:bodyPr wrap="square" lIns="0" tIns="0" rIns="0" bIns="0" rtlCol="0" anchor="t"/>
          <a:lstStyle/>
          <a:p>
            <a:pPr algn="l" indent="0" marL="0">
              <a:lnSpc>
                <a:spcPts val="3408"/>
              </a:lnSpc>
              <a:buNone/>
            </a:pPr>
            <a:r>
              <a:rPr lang="en-US" sz="2400" dirty="0">
                <a:solidFill>
                  <a:srgbClr val="1F2328"/>
                </a:solidFill>
                <a:latin typeface="Arial" pitchFamily="34" charset="0"/>
                <a:ea typeface="Arial" pitchFamily="34" charset="-122"/>
                <a:cs typeface="Arial" pitchFamily="34" charset="-120"/>
              </a:rPr>
              <a:t>My n8n container keeps restarting. Check the logs and tell me what's wrong.</a:t>
            </a:r>
            <a:endParaRPr lang="en-US" sz="2400" dirty="0"/>
          </a:p>
        </p:txBody>
      </p:sp>
      <p:pic>
        <p:nvPicPr>
          <p:cNvPr id="15" name="Image 2" descr="/Users/danwahlin/.copilot/session-state/a2da67da-2d7a-45f2-aa6a-2a42a7b82a72/files/build/icons/GoSearch-1A7F37.png">    </p:cNvPr>
          <p:cNvPicPr>
            <a:picLocks noChangeAspect="1"/>
          </p:cNvPicPr>
          <p:nvPr/>
        </p:nvPicPr>
        <p:blipFill>
          <a:blip r:embed="rId3"/>
          <a:stretch>
            <a:fillRect/>
          </a:stretch>
        </p:blipFill>
        <p:spPr>
          <a:xfrm>
            <a:off x="634901" y="3928318"/>
            <a:ext cx="215801" cy="215801"/>
          </a:xfrm>
          <a:prstGeom prst="rect">
            <a:avLst/>
          </a:prstGeom>
        </p:spPr>
      </p:pic>
      <p:sp>
        <p:nvSpPr>
          <p:cNvPr id="16" name="Text 11"/>
          <p:cNvSpPr/>
          <p:nvPr/>
        </p:nvSpPr>
        <p:spPr>
          <a:xfrm>
            <a:off x="952202" y="3921919"/>
            <a:ext cx="6812539" cy="228600"/>
          </a:xfrm>
          <a:prstGeom prst="rect">
            <a:avLst/>
          </a:prstGeom>
          <a:noFill/>
          <a:ln/>
        </p:spPr>
        <p:txBody>
          <a:bodyPr wrap="square" lIns="0" tIns="0" rIns="0" bIns="0" rtlCol="0" anchor="t"/>
          <a:lstStyle/>
          <a:p>
            <a:pPr algn="l" indent="0" marL="0">
              <a:lnSpc>
                <a:spcPts val="1800"/>
              </a:lnSpc>
              <a:buNone/>
            </a:pPr>
            <a:r>
              <a:rPr lang="en-US" sz="1400" dirty="0">
                <a:solidFill>
                  <a:srgbClr val="59636E"/>
                </a:solidFill>
                <a:latin typeface="Arial" pitchFamily="34" charset="0"/>
                <a:ea typeface="Arial" pitchFamily="34" charset="-122"/>
                <a:cs typeface="Arial" pitchFamily="34" charset="-120"/>
              </a:rPr>
              <a:t>The agent reads Container Apps logs, finds the cause, and proposes the smallest fix.</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CLEAN UP</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Tear it down the same day</a:t>
            </a:r>
            <a:endParaRPr lang="en-US" sz="2800" dirty="0"/>
          </a:p>
        </p:txBody>
      </p:sp>
      <p:sp>
        <p:nvSpPr>
          <p:cNvPr id="7" name="Text 4"/>
          <p:cNvSpPr/>
          <p:nvPr/>
        </p:nvSpPr>
        <p:spPr>
          <a:xfrm>
            <a:off x="1015901" y="1670149"/>
            <a:ext cx="7111901" cy="1968252"/>
          </a:xfrm>
          <a:prstGeom prst="roundRect">
            <a:avLst>
              <a:gd name="adj" fmla="val 5162"/>
            </a:avLst>
          </a:prstGeom>
          <a:solidFill>
            <a:srgbClr val="0D1117"/>
          </a:solidFill>
          <a:ln/>
          <a:effectLst>
            <a:outerShdw sx="100000" sy="100000" kx="0" ky="0" algn="bl" rotWithShape="0" blurRad="95250" dist="28575" dir="5400000">
              <a:srgbClr val="1f2328">
                <a:alpha val="22000"/>
              </a:srgbClr>
            </a:outerShdw>
          </a:effectLst>
        </p:spPr>
        <p:txBody>
          <a:bodyPr wrap="square" rtlCol="0" anchor="ctr"/>
          <a:lstStyle/>
          <a:p>
            <a:pPr indent="0" marL="0">
              <a:buNone/>
            </a:pPr>
            <a:endParaRPr lang="en-US" dirty="0"/>
          </a:p>
        </p:txBody>
      </p:sp>
      <p:sp>
        <p:nvSpPr>
          <p:cNvPr id="8" name="Text 5"/>
          <p:cNvSpPr/>
          <p:nvPr/>
        </p:nvSpPr>
        <p:spPr>
          <a:xfrm>
            <a:off x="1015901" y="1670149"/>
            <a:ext cx="7111901" cy="253901"/>
          </a:xfrm>
          <a:prstGeom prst="roundRect">
            <a:avLst>
              <a:gd name="adj" fmla="val 40016"/>
            </a:avLst>
          </a:prstGeom>
          <a:solidFill>
            <a:srgbClr val="161B22"/>
          </a:solidFill>
          <a:ln/>
        </p:spPr>
        <p:txBody>
          <a:bodyPr wrap="square" rtlCol="0" anchor="ctr"/>
          <a:lstStyle/>
          <a:p>
            <a:pPr indent="0" marL="0">
              <a:buNone/>
            </a:pPr>
            <a:endParaRPr lang="en-US" dirty="0"/>
          </a:p>
        </p:txBody>
      </p:sp>
      <p:sp>
        <p:nvSpPr>
          <p:cNvPr id="9" name="Text 6"/>
          <p:cNvSpPr/>
          <p:nvPr/>
        </p:nvSpPr>
        <p:spPr>
          <a:xfrm>
            <a:off x="1142851" y="1752600"/>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0" name="Text 7"/>
          <p:cNvSpPr/>
          <p:nvPr/>
        </p:nvSpPr>
        <p:spPr>
          <a:xfrm>
            <a:off x="1295102" y="1752600"/>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1" name="Text 8"/>
          <p:cNvSpPr/>
          <p:nvPr/>
        </p:nvSpPr>
        <p:spPr>
          <a:xfrm>
            <a:off x="1447354" y="1752600"/>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2" name="Text 9"/>
          <p:cNvSpPr/>
          <p:nvPr/>
        </p:nvSpPr>
        <p:spPr>
          <a:xfrm>
            <a:off x="1701105" y="1725662"/>
            <a:ext cx="621792" cy="142875"/>
          </a:xfrm>
          <a:prstGeom prst="rect">
            <a:avLst/>
          </a:prstGeom>
          <a:noFill/>
          <a:ln/>
        </p:spPr>
        <p:txBody>
          <a:bodyPr wrap="square" lIns="0" tIns="0" rIns="0" bIns="0" rtlCol="0" anchor="t"/>
          <a:lstStyle/>
          <a:p>
            <a:pPr algn="l" indent="0" marL="0">
              <a:buNone/>
            </a:pPr>
            <a:r>
              <a:rPr lang="en-US" sz="1000" dirty="0">
                <a:solidFill>
                  <a:srgbClr val="8B949E"/>
                </a:solidFill>
                <a:latin typeface="Courier New" pitchFamily="34" charset="0"/>
                <a:ea typeface="Courier New" pitchFamily="34" charset="-122"/>
                <a:cs typeface="Courier New" pitchFamily="34" charset="-120"/>
              </a:rPr>
              <a:t>Terminal</a:t>
            </a:r>
            <a:endParaRPr lang="en-US" sz="1000" dirty="0"/>
          </a:p>
        </p:txBody>
      </p:sp>
      <p:sp>
        <p:nvSpPr>
          <p:cNvPr id="13" name="Text 10"/>
          <p:cNvSpPr/>
          <p:nvPr/>
        </p:nvSpPr>
        <p:spPr>
          <a:xfrm>
            <a:off x="1244501" y="210175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azd down --force --purge</a:t>
            </a:r>
            <a:endParaRPr lang="en-US" sz="1500" dirty="0"/>
          </a:p>
        </p:txBody>
      </p:sp>
      <p:sp>
        <p:nvSpPr>
          <p:cNvPr id="14" name="Text 11"/>
          <p:cNvSpPr/>
          <p:nvPr/>
        </p:nvSpPr>
        <p:spPr>
          <a:xfrm>
            <a:off x="1244501" y="254942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8B949E"/>
                </a:solidFill>
                <a:latin typeface="Courier New" pitchFamily="34" charset="0"/>
                <a:ea typeface="Courier New" pitchFamily="34" charset="-122"/>
                <a:cs typeface="Courier New" pitchFamily="34" charset="-120"/>
              </a:rPr>
              <a:t># Confirm it is really gone</a:t>
            </a:r>
            <a:endParaRPr lang="en-US" sz="1500" dirty="0"/>
          </a:p>
        </p:txBody>
      </p:sp>
      <p:sp>
        <p:nvSpPr>
          <p:cNvPr id="15" name="Text 12"/>
          <p:cNvSpPr/>
          <p:nvPr/>
        </p:nvSpPr>
        <p:spPr>
          <a:xfrm>
            <a:off x="1244501" y="2844701"/>
            <a:ext cx="6787795" cy="295275"/>
          </a:xfrm>
          <a:prstGeom prst="rect">
            <a:avLst/>
          </a:prstGeom>
          <a:noFill/>
          <a:ln/>
        </p:spPr>
        <p:txBody>
          <a:bodyPr wrap="square" lIns="0" tIns="0" rIns="0" bIns="0" rtlCol="0" anchor="t"/>
          <a:lstStyle/>
          <a:p>
            <a:pPr algn="l" indent="0" marL="0">
              <a:lnSpc>
                <a:spcPts val="2325"/>
              </a:lnSpc>
              <a:buNone/>
            </a:pPr>
            <a:r>
              <a:rPr lang="en-US" sz="1500" b="1" dirty="0">
                <a:solidFill>
                  <a:srgbClr val="3FB950"/>
                </a:solidFill>
                <a:latin typeface="Courier New" pitchFamily="34" charset="0"/>
                <a:ea typeface="Courier New" pitchFamily="34" charset="-122"/>
                <a:cs typeface="Courier New" pitchFamily="34" charset="-120"/>
              </a:rPr>
              <a:t>$</a:t>
            </a:r>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 az group exists --name &lt;resource-group-name&gt;</a:t>
            </a:r>
            <a:endParaRPr lang="en-US" sz="1500" dirty="0"/>
          </a:p>
        </p:txBody>
      </p:sp>
      <p:sp>
        <p:nvSpPr>
          <p:cNvPr id="16" name="Text 13"/>
          <p:cNvSpPr/>
          <p:nvPr/>
        </p:nvSpPr>
        <p:spPr>
          <a:xfrm>
            <a:off x="1244501" y="3139976"/>
            <a:ext cx="6787795" cy="295275"/>
          </a:xfrm>
          <a:prstGeom prst="rect">
            <a:avLst/>
          </a:prstGeom>
          <a:noFill/>
          <a:ln/>
        </p:spPr>
        <p:txBody>
          <a:bodyPr wrap="square" lIns="0" tIns="0" rIns="0" bIns="0" rtlCol="0" anchor="t"/>
          <a:lstStyle/>
          <a:p>
            <a:pPr algn="l" indent="0" marL="0">
              <a:lnSpc>
                <a:spcPts val="2325"/>
              </a:lnSpc>
              <a:buNone/>
            </a:pPr>
            <a:r>
              <a:rPr lang="en-US" sz="1500" dirty="0">
                <a:solidFill>
                  <a:srgbClr val="E6EDF3"/>
                </a:solidFill>
                <a:latin typeface="Courier New" pitchFamily="34" charset="0"/>
                <a:ea typeface="Courier New" pitchFamily="34" charset="-122"/>
                <a:cs typeface="Courier New" pitchFamily="34" charset="-120"/>
              </a:rPr>
              <a:t>false</a:t>
            </a:r>
            <a:endParaRPr lang="en-US" sz="1500" dirty="0"/>
          </a:p>
        </p:txBody>
      </p:sp>
      <p:pic>
        <p:nvPicPr>
          <p:cNvPr id="17" name="Image 1" descr="/Users/danwahlin/.copilot/session-state/a2da67da-2d7a-45f2-aa6a-2a42a7b82a72/files/build/icons/GoAlert-9A6700.png">    </p:cNvPr>
          <p:cNvPicPr>
            <a:picLocks noChangeAspect="1"/>
          </p:cNvPicPr>
          <p:nvPr/>
        </p:nvPicPr>
        <p:blipFill>
          <a:blip r:embed="rId2"/>
          <a:stretch>
            <a:fillRect/>
          </a:stretch>
        </p:blipFill>
        <p:spPr>
          <a:xfrm>
            <a:off x="1015901" y="4051102"/>
            <a:ext cx="215801" cy="215801"/>
          </a:xfrm>
          <a:prstGeom prst="rect">
            <a:avLst/>
          </a:prstGeom>
        </p:spPr>
      </p:pic>
      <p:sp>
        <p:nvSpPr>
          <p:cNvPr id="18" name="Text 14"/>
          <p:cNvSpPr/>
          <p:nvPr/>
        </p:nvSpPr>
        <p:spPr>
          <a:xfrm>
            <a:off x="1333202" y="3917752"/>
            <a:ext cx="6930491" cy="482501"/>
          </a:xfrm>
          <a:prstGeom prst="rect">
            <a:avLst/>
          </a:prstGeom>
          <a:noFill/>
          <a:ln/>
        </p:spPr>
        <p:txBody>
          <a:bodyPr wrap="square" lIns="0" tIns="0" rIns="0" bIns="0" rtlCol="0" anchor="t"/>
          <a:lstStyle/>
          <a:p>
            <a:pPr algn="l" indent="0" marL="0">
              <a:lnSpc>
                <a:spcPts val="1900"/>
              </a:lnSpc>
              <a:buNone/>
            </a:pPr>
            <a:r>
              <a:rPr lang="en-US" sz="1400" dirty="0">
                <a:solidFill>
                  <a:srgbClr val="1F2328"/>
                </a:solidFill>
                <a:latin typeface="Arial" pitchFamily="34" charset="0"/>
                <a:ea typeface="Arial" pitchFamily="34" charset="-122"/>
                <a:cs typeface="Arial" pitchFamily="34" charset="-120"/>
              </a:rPr>
              <a:t>Cost estimates assume the resources stay up for a month. </a:t>
            </a:r>
            <a:pPr algn="l" indent="0" marL="0">
              <a:lnSpc>
                <a:spcPts val="1900"/>
              </a:lnSpc>
              <a:buNone/>
            </a:pPr>
            <a:r>
              <a:rPr lang="en-US" sz="1400" b="1" dirty="0">
                <a:solidFill>
                  <a:srgbClr val="1F2328"/>
                </a:solidFill>
                <a:latin typeface="Arial" pitchFamily="34" charset="0"/>
                <a:ea typeface="Arial" pitchFamily="34" charset="-122"/>
                <a:cs typeface="Arial" pitchFamily="34" charset="-120"/>
              </a:rPr>
              <a:t>Purge</a:t>
            </a:r>
            <a:pPr algn="l" indent="0" marL="0">
              <a:lnSpc>
                <a:spcPts val="1900"/>
              </a:lnSpc>
              <a:buNone/>
            </a:pPr>
            <a:r>
              <a:rPr lang="en-US" sz="1400" dirty="0">
                <a:solidFill>
                  <a:srgbClr val="1F2328"/>
                </a:solidFill>
                <a:latin typeface="Arial" pitchFamily="34" charset="0"/>
                <a:ea typeface="Arial" pitchFamily="34" charset="-122"/>
                <a:cs typeface="Arial" pitchFamily="34" charset="-120"/>
              </a:rPr>
              <a:t> also clears soft-deleted resources.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026598" y="152400"/>
            <a:ext cx="53325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3" name="Text 1"/>
          <p:cNvSpPr/>
          <p:nvPr/>
        </p:nvSpPr>
        <p:spPr>
          <a:xfrm>
            <a:off x="8163659" y="220563"/>
            <a:ext cx="259131" cy="142875"/>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N8N</a:t>
            </a:r>
            <a:endParaRPr lang="en-US" sz="1000" dirty="0"/>
          </a:p>
        </p:txBody>
      </p:sp>
      <p:pic>
        <p:nvPicPr>
          <p:cNvPr id="4" name="Image 0" descr="/Users/danwahlin/.copilot/session-state/a2da67da-2d7a-45f2-aa6a-2a42a7b82a72/files/build/icons/FaGithub-1F2328.png">    </p:cNvPr>
          <p:cNvPicPr>
            <a:picLocks noChangeAspect="1"/>
          </p:cNvPicPr>
          <p:nvPr/>
        </p:nvPicPr>
        <p:blipFill>
          <a:blip r:embed="rId1"/>
          <a:stretch>
            <a:fillRect/>
          </a:stretch>
        </p:blipFill>
        <p:spPr>
          <a:xfrm>
            <a:off x="8674001" y="133350"/>
            <a:ext cx="304800" cy="304800"/>
          </a:xfrm>
          <a:prstGeom prst="rect">
            <a:avLst/>
          </a:prstGeom>
        </p:spPr>
      </p:pic>
      <p:sp>
        <p:nvSpPr>
          <p:cNvPr id="5" name="Text 2"/>
          <p:cNvSpPr/>
          <p:nvPr/>
        </p:nvSpPr>
        <p:spPr>
          <a:xfrm>
            <a:off x="482501" y="330101"/>
            <a:ext cx="8342275" cy="152400"/>
          </a:xfrm>
          <a:prstGeom prst="rect">
            <a:avLst/>
          </a:prstGeom>
          <a:noFill/>
          <a:ln/>
        </p:spPr>
        <p:txBody>
          <a:bodyPr wrap="square" lIns="0" tIns="0" rIns="0" bIns="0" rtlCol="0" anchor="t"/>
          <a:lstStyle/>
          <a:p>
            <a:pPr algn="l" indent="0" marL="0">
              <a:buNone/>
            </a:pPr>
            <a:r>
              <a:rPr lang="en-US" sz="1100" b="1" dirty="0">
                <a:solidFill>
                  <a:srgbClr val="1A7F37"/>
                </a:solidFill>
                <a:latin typeface="Arial" pitchFamily="34" charset="0"/>
                <a:ea typeface="Arial" pitchFamily="34" charset="-122"/>
                <a:cs typeface="Arial" pitchFamily="34" charset="-120"/>
              </a:rPr>
              <a:t>KEY TAKEAWAYS</a:t>
            </a:r>
            <a:endParaRPr lang="en-US" sz="1100" dirty="0"/>
          </a:p>
        </p:txBody>
      </p:sp>
      <p:sp>
        <p:nvSpPr>
          <p:cNvPr id="6" name="Text 3"/>
          <p:cNvSpPr/>
          <p:nvPr/>
        </p:nvSpPr>
        <p:spPr>
          <a:xfrm>
            <a:off x="482501" y="533251"/>
            <a:ext cx="8342275"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7" name="Text 4"/>
          <p:cNvSpPr/>
          <p:nvPr/>
        </p:nvSpPr>
        <p:spPr>
          <a:xfrm>
            <a:off x="482501" y="1422350"/>
            <a:ext cx="507950" cy="507950"/>
          </a:xfrm>
          <a:prstGeom prst="roundRect">
            <a:avLst>
              <a:gd name="adj" fmla="val 15001"/>
            </a:avLst>
          </a:prstGeom>
          <a:solidFill>
            <a:srgbClr val="DDF4FF"/>
          </a:solidFill>
          <a:ln/>
        </p:spPr>
        <p:txBody>
          <a:bodyPr wrap="square" rtlCol="0" anchor="ctr"/>
          <a:lstStyle/>
          <a:p>
            <a:pPr indent="0" marL="0">
              <a:buNone/>
            </a:pPr>
            <a:endParaRPr lang="en-US" dirty="0"/>
          </a:p>
        </p:txBody>
      </p:sp>
      <p:pic>
        <p:nvPicPr>
          <p:cNvPr id="8" name="Image 1" descr="/Users/danwahlin/.copilot/session-state/a2da67da-2d7a-45f2-aa6a-2a42a7b82a72/files/build/icons/GoChecklist-0969DA.png">    </p:cNvPr>
          <p:cNvPicPr>
            <a:picLocks noChangeAspect="1"/>
          </p:cNvPicPr>
          <p:nvPr/>
        </p:nvPicPr>
        <p:blipFill>
          <a:blip r:embed="rId2"/>
          <a:stretch>
            <a:fillRect/>
          </a:stretch>
        </p:blipFill>
        <p:spPr>
          <a:xfrm>
            <a:off x="596801" y="1536650"/>
            <a:ext cx="279350" cy="279350"/>
          </a:xfrm>
          <a:prstGeom prst="rect">
            <a:avLst/>
          </a:prstGeom>
        </p:spPr>
      </p:pic>
      <p:sp>
        <p:nvSpPr>
          <p:cNvPr id="9" name="Text 5"/>
          <p:cNvSpPr/>
          <p:nvPr/>
        </p:nvSpPr>
        <p:spPr>
          <a:xfrm>
            <a:off x="115550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Plan, cost, and preview before anything is billable.</a:t>
            </a:r>
            <a:endParaRPr lang="en-US" sz="1500" dirty="0"/>
          </a:p>
        </p:txBody>
      </p:sp>
      <p:sp>
        <p:nvSpPr>
          <p:cNvPr id="10" name="Text 6"/>
          <p:cNvSpPr/>
          <p:nvPr/>
        </p:nvSpPr>
        <p:spPr>
          <a:xfrm>
            <a:off x="4762351" y="1422350"/>
            <a:ext cx="507950" cy="507950"/>
          </a:xfrm>
          <a:prstGeom prst="roundRect">
            <a:avLst>
              <a:gd name="adj" fmla="val 15001"/>
            </a:avLst>
          </a:prstGeom>
          <a:solidFill>
            <a:srgbClr val="FFF1E5"/>
          </a:solidFill>
          <a:ln/>
        </p:spPr>
        <p:txBody>
          <a:bodyPr wrap="square" rtlCol="0" anchor="ctr"/>
          <a:lstStyle/>
          <a:p>
            <a:pPr indent="0" marL="0">
              <a:buNone/>
            </a:pPr>
            <a:endParaRPr lang="en-US" dirty="0"/>
          </a:p>
        </p:txBody>
      </p:sp>
      <p:pic>
        <p:nvPicPr>
          <p:cNvPr id="11" name="Image 2" descr="/Users/danwahlin/.copilot/session-state/a2da67da-2d7a-45f2-aa6a-2a42a7b82a72/files/build/icons/GoHourglass-BC4C00.png">    </p:cNvPr>
          <p:cNvPicPr>
            <a:picLocks noChangeAspect="1"/>
          </p:cNvPicPr>
          <p:nvPr/>
        </p:nvPicPr>
        <p:blipFill>
          <a:blip r:embed="rId3"/>
          <a:stretch>
            <a:fillRect/>
          </a:stretch>
        </p:blipFill>
        <p:spPr>
          <a:xfrm>
            <a:off x="4876651" y="1536650"/>
            <a:ext cx="279350" cy="279350"/>
          </a:xfrm>
          <a:prstGeom prst="rect">
            <a:avLst/>
          </a:prstGeom>
        </p:spPr>
      </p:pic>
      <p:sp>
        <p:nvSpPr>
          <p:cNvPr id="12" name="Text 7"/>
          <p:cNvSpPr/>
          <p:nvPr/>
        </p:nvSpPr>
        <p:spPr>
          <a:xfrm>
            <a:off x="5435352" y="143500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Skills carry app quirks like probe timing and SSL.</a:t>
            </a:r>
            <a:endParaRPr lang="en-US" sz="1500" dirty="0"/>
          </a:p>
        </p:txBody>
      </p:sp>
      <p:sp>
        <p:nvSpPr>
          <p:cNvPr id="13" name="Text 8"/>
          <p:cNvSpPr/>
          <p:nvPr/>
        </p:nvSpPr>
        <p:spPr>
          <a:xfrm>
            <a:off x="482501" y="2311301"/>
            <a:ext cx="507950" cy="507950"/>
          </a:xfrm>
          <a:prstGeom prst="roundRect">
            <a:avLst>
              <a:gd name="adj" fmla="val 15001"/>
            </a:avLst>
          </a:prstGeom>
          <a:solidFill>
            <a:srgbClr val="FBEFFF"/>
          </a:solidFill>
          <a:ln/>
        </p:spPr>
        <p:txBody>
          <a:bodyPr wrap="square" rtlCol="0" anchor="ctr"/>
          <a:lstStyle/>
          <a:p>
            <a:pPr indent="0" marL="0">
              <a:buNone/>
            </a:pPr>
            <a:endParaRPr lang="en-US" dirty="0"/>
          </a:p>
        </p:txBody>
      </p:sp>
      <p:pic>
        <p:nvPicPr>
          <p:cNvPr id="14" name="Image 3" descr="/Users/danwahlin/.copilot/session-state/a2da67da-2d7a-45f2-aa6a-2a42a7b82a72/files/build/icons/GoGear-8250DF.png">    </p:cNvPr>
          <p:cNvPicPr>
            <a:picLocks noChangeAspect="1"/>
          </p:cNvPicPr>
          <p:nvPr/>
        </p:nvPicPr>
        <p:blipFill>
          <a:blip r:embed="rId4"/>
          <a:stretch>
            <a:fillRect/>
          </a:stretch>
        </p:blipFill>
        <p:spPr>
          <a:xfrm>
            <a:off x="596801" y="2425601"/>
            <a:ext cx="279350" cy="279350"/>
          </a:xfrm>
          <a:prstGeom prst="rect">
            <a:avLst/>
          </a:prstGeom>
        </p:spPr>
      </p:pic>
      <p:sp>
        <p:nvSpPr>
          <p:cNvPr id="15" name="Text 9"/>
          <p:cNvSpPr/>
          <p:nvPr/>
        </p:nvSpPr>
        <p:spPr>
          <a:xfrm>
            <a:off x="1155502" y="2323951"/>
            <a:ext cx="3290367" cy="482501"/>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Hooks solve settings that only exist after deploy.</a:t>
            </a:r>
            <a:endParaRPr lang="en-US" sz="1500" dirty="0"/>
          </a:p>
        </p:txBody>
      </p:sp>
      <p:sp>
        <p:nvSpPr>
          <p:cNvPr id="16" name="Text 10"/>
          <p:cNvSpPr/>
          <p:nvPr/>
        </p:nvSpPr>
        <p:spPr>
          <a:xfrm>
            <a:off x="4762351" y="2311301"/>
            <a:ext cx="507950" cy="507950"/>
          </a:xfrm>
          <a:prstGeom prst="roundRect">
            <a:avLst>
              <a:gd name="adj" fmla="val 15001"/>
            </a:avLst>
          </a:prstGeom>
          <a:solidFill>
            <a:srgbClr val="DAFBE1"/>
          </a:solidFill>
          <a:ln/>
        </p:spPr>
        <p:txBody>
          <a:bodyPr wrap="square" rtlCol="0" anchor="ctr"/>
          <a:lstStyle/>
          <a:p>
            <a:pPr indent="0" marL="0">
              <a:buNone/>
            </a:pPr>
            <a:endParaRPr lang="en-US" dirty="0"/>
          </a:p>
        </p:txBody>
      </p:sp>
      <p:pic>
        <p:nvPicPr>
          <p:cNvPr id="17" name="Image 4" descr="/Users/danwahlin/.copilot/session-state/a2da67da-2d7a-45f2-aa6a-2a42a7b82a72/files/build/icons/GoGitBranch-1A7F37.png">    </p:cNvPr>
          <p:cNvPicPr>
            <a:picLocks noChangeAspect="1"/>
          </p:cNvPicPr>
          <p:nvPr/>
        </p:nvPicPr>
        <p:blipFill>
          <a:blip r:embed="rId5"/>
          <a:stretch>
            <a:fillRect/>
          </a:stretch>
        </p:blipFill>
        <p:spPr>
          <a:xfrm>
            <a:off x="4876651" y="2425601"/>
            <a:ext cx="279350" cy="279350"/>
          </a:xfrm>
          <a:prstGeom prst="rect">
            <a:avLst/>
          </a:prstGeom>
        </p:spPr>
      </p:pic>
      <p:sp>
        <p:nvSpPr>
          <p:cNvPr id="18" name="Text 11"/>
          <p:cNvSpPr/>
          <p:nvPr/>
        </p:nvSpPr>
        <p:spPr>
          <a:xfrm>
            <a:off x="5435352" y="2444651"/>
            <a:ext cx="3013475" cy="241250"/>
          </a:xfrm>
          <a:prstGeom prst="rect">
            <a:avLst/>
          </a:prstGeom>
          <a:noFill/>
          <a:ln/>
        </p:spPr>
        <p:txBody>
          <a:bodyPr wrap="square" lIns="0" tIns="0" rIns="0" bIns="0" rtlCol="0" anchor="t"/>
          <a:lstStyle/>
          <a:p>
            <a:pPr algn="l" indent="0" marL="0">
              <a:lnSpc>
                <a:spcPts val="1900"/>
              </a:lnSpc>
              <a:buNone/>
            </a:pPr>
            <a:r>
              <a:rPr lang="en-US" sz="1500" dirty="0">
                <a:solidFill>
                  <a:srgbClr val="1F2328"/>
                </a:solidFill>
                <a:latin typeface="Arial" pitchFamily="34" charset="0"/>
                <a:ea typeface="Arial" pitchFamily="34" charset="-122"/>
                <a:cs typeface="Arial" pitchFamily="34" charset="-120"/>
              </a:rPr>
              <a:t>Use deploy time to build in parallel.</a:t>
            </a:r>
            <a:endParaRPr lang="en-US" sz="1500" dirty="0"/>
          </a:p>
        </p:txBody>
      </p:sp>
      <p:sp>
        <p:nvSpPr>
          <p:cNvPr id="19" name="Text 12"/>
          <p:cNvSpPr/>
          <p:nvPr/>
        </p:nvSpPr>
        <p:spPr>
          <a:xfrm>
            <a:off x="482501" y="3810000"/>
            <a:ext cx="8178701" cy="787301"/>
          </a:xfrm>
          <a:prstGeom prst="roundRect">
            <a:avLst>
              <a:gd name="adj" fmla="val 12905"/>
            </a:avLst>
          </a:prstGeom>
          <a:solidFill>
            <a:srgbClr val="DDF4FF"/>
          </a:solidFill>
          <a:ln w="9525">
            <a:solidFill>
              <a:srgbClr val="9CD7FF"/>
            </a:solidFill>
          </a:ln>
        </p:spPr>
        <p:txBody>
          <a:bodyPr wrap="square" rtlCol="0" anchor="ctr"/>
          <a:lstStyle/>
          <a:p>
            <a:pPr indent="0" marL="0">
              <a:buNone/>
            </a:pPr>
            <a:endParaRPr lang="en-US" dirty="0"/>
          </a:p>
        </p:txBody>
      </p:sp>
      <p:sp>
        <p:nvSpPr>
          <p:cNvPr id="20" name="Text 13"/>
          <p:cNvSpPr/>
          <p:nvPr/>
        </p:nvSpPr>
        <p:spPr>
          <a:xfrm>
            <a:off x="669727" y="3987701"/>
            <a:ext cx="431750" cy="431750"/>
          </a:xfrm>
          <a:prstGeom prst="roundRect">
            <a:avLst>
              <a:gd name="adj" fmla="val 17649"/>
            </a:avLst>
          </a:prstGeom>
          <a:solidFill>
            <a:srgbClr val="DDF4FF"/>
          </a:solidFill>
          <a:ln/>
        </p:spPr>
        <p:txBody>
          <a:bodyPr wrap="square" rtlCol="0" anchor="ctr"/>
          <a:lstStyle/>
          <a:p>
            <a:pPr indent="0" marL="0">
              <a:buNone/>
            </a:pPr>
            <a:endParaRPr lang="en-US" dirty="0"/>
          </a:p>
        </p:txBody>
      </p:sp>
      <p:pic>
        <p:nvPicPr>
          <p:cNvPr id="21" name="Image 5" descr="/Users/danwahlin/.copilot/session-state/a2da67da-2d7a-45f2-aa6a-2a42a7b82a72/files/build/icons/GoArrowRight-0969DA.png">    </p:cNvPr>
          <p:cNvPicPr>
            <a:picLocks noChangeAspect="1"/>
          </p:cNvPicPr>
          <p:nvPr/>
        </p:nvPicPr>
        <p:blipFill>
          <a:blip r:embed="rId6"/>
          <a:stretch>
            <a:fillRect/>
          </a:stretch>
        </p:blipFill>
        <p:spPr>
          <a:xfrm>
            <a:off x="764977" y="4082951"/>
            <a:ext cx="241250" cy="241250"/>
          </a:xfrm>
          <a:prstGeom prst="rect">
            <a:avLst/>
          </a:prstGeom>
        </p:spPr>
      </p:pic>
      <p:sp>
        <p:nvSpPr>
          <p:cNvPr id="22" name="Text 14"/>
          <p:cNvSpPr/>
          <p:nvPr/>
        </p:nvSpPr>
        <p:spPr>
          <a:xfrm>
            <a:off x="1253877" y="4008388"/>
            <a:ext cx="5079081" cy="142875"/>
          </a:xfrm>
          <a:prstGeom prst="rect">
            <a:avLst/>
          </a:prstGeom>
          <a:noFill/>
          <a:ln/>
        </p:spPr>
        <p:txBody>
          <a:bodyPr wrap="square" lIns="0" tIns="0" rIns="0" bIns="0" rtlCol="0" anchor="t"/>
          <a:lstStyle/>
          <a:p>
            <a:pPr algn="l" indent="0" marL="0">
              <a:buNone/>
            </a:pPr>
            <a:r>
              <a:rPr lang="en-US" sz="1000" b="1" dirty="0">
                <a:solidFill>
                  <a:srgbClr val="0969DA"/>
                </a:solidFill>
                <a:latin typeface="Arial" pitchFamily="34" charset="0"/>
                <a:ea typeface="Arial" pitchFamily="34" charset="-122"/>
                <a:cs typeface="Arial" pitchFamily="34" charset="-120"/>
              </a:rPr>
              <a:t>NEXT JOURNEY</a:t>
            </a:r>
            <a:endParaRPr lang="en-US" sz="1000" dirty="0"/>
          </a:p>
        </p:txBody>
      </p:sp>
      <p:sp>
        <p:nvSpPr>
          <p:cNvPr id="23" name="Text 15"/>
          <p:cNvSpPr/>
          <p:nvPr/>
        </p:nvSpPr>
        <p:spPr>
          <a:xfrm>
            <a:off x="1253877" y="4189363"/>
            <a:ext cx="5079081" cy="209550"/>
          </a:xfrm>
          <a:prstGeom prst="rect">
            <a:avLst/>
          </a:prstGeom>
          <a:noFill/>
          <a:ln/>
        </p:spPr>
        <p:txBody>
          <a:bodyPr wrap="square" lIns="0" tIns="0" rIns="0" bIns="0" rtlCol="0" anchor="t"/>
          <a:lstStyle/>
          <a:p>
            <a:pPr algn="l" indent="0" marL="0">
              <a:buNone/>
            </a:pPr>
            <a:r>
              <a:rPr lang="en-US" sz="1400" b="1" dirty="0">
                <a:solidFill>
                  <a:srgbClr val="1F2328"/>
                </a:solidFill>
                <a:latin typeface="Arial" pitchFamily="34" charset="0"/>
                <a:ea typeface="Arial" pitchFamily="34" charset="-122"/>
                <a:cs typeface="Arial" pitchFamily="34" charset="-120"/>
              </a:rPr>
              <a:t>Apache Superset</a:t>
            </a:r>
            <a:pPr algn="l" indent="0" marL="0">
              <a:buNone/>
            </a:pPr>
            <a:r>
              <a:rPr lang="en-US" sz="1400" dirty="0">
                <a:solidFill>
                  <a:srgbClr val="1F2328"/>
                </a:solidFill>
                <a:latin typeface="Arial" pitchFamily="34" charset="0"/>
                <a:ea typeface="Arial" pitchFamily="34" charset="-122"/>
                <a:cs typeface="Arial" pitchFamily="34" charset="-120"/>
              </a:rPr>
              <a:t> </a:t>
            </a:r>
            <a:pPr algn="l" indent="0" marL="0">
              <a:buNone/>
            </a:pPr>
            <a:r>
              <a:rPr lang="en-US" sz="1400" dirty="0">
                <a:solidFill>
                  <a:srgbClr val="59636E"/>
                </a:solidFill>
                <a:latin typeface="Arial" pitchFamily="34" charset="0"/>
                <a:ea typeface="Arial" pitchFamily="34" charset="-122"/>
                <a:cs typeface="Arial" pitchFamily="34" charset="-120"/>
              </a:rPr>
              <a:t>· AKS, init containers, and a pre-deploy gate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n8n on Azure: Agentic Journey</dc:title>
  <dc:subject>PptxGenJS Presentation</dc:subject>
  <dc:creator>GitHub and Azure Agentic Journeys</dc:creator>
  <cp:lastModifiedBy>GitHub and Azure Agentic Journeys</cp:lastModifiedBy>
  <cp:revision>1</cp:revision>
  <dcterms:created xsi:type="dcterms:W3CDTF">2026-09-30T09:00:11Z</dcterms:created>
  <dcterms:modified xsi:type="dcterms:W3CDTF">2026-09-30T09:00:11Z</dcterms:modified>
</cp:coreProperties>
</file>