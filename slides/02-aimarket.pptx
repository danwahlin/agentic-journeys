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AIMarket takes a written specification all the way to a deployed full-stack app: a REST API, a React storefront, Azure AI Search, and a shopping assistant powered by Microsoft Foundry. In an hour we will not type every prompt. We will show the signature prompt of each phase and the habits that make the result trustworthy. Timing guide: 5 minutes intro, 12 minutes API, 8 minutes storefront, 15 minutes AI, 15 minutes deploy, 5 minutes wrap-up. Cost note: AI Search Basic drives most of the monthly estimate, so clean up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destination. A product catalog, search that understands intent, a cart, orders, and a chat assistant that only recommends products that really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each driven by a PLAN file. Build the API. Build the storefront. Add AI. Deploy to Azure. PLAN.md is the overview, and PLAN-phase1 to PLAN-phase4 hold the details for each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for every step. The agent generates a layer. You inspect it. You test real behavior, not just that it compiles. Then you refine with a precise follow-up. We will see a concrete example of refine in the API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from spec to API. About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one giant prompt, build in layers you can actually review. Models first, then the repository layer, then routes, then run it. The spec includes a Choose Your Stack table, so you can pick Node.js, Python with FastAPI, .NET minimal APIs, or Java with Spring Boot. The frontend is always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workspace: node .github/scripts/create-workspace.mjs aimarket, then cd ../aimarket-workspace/journeys/aimarket and start copilot. The key phrase is "just the data models." Small scope means a small diff you can actually read. Full prompt adds: Use the recommended framework from the Choose Your Stack table in the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inspect and refine. The generated code looked fine and ran fine, but it trusted the client for the price. A precise follow-up prompt that names the problem and the expected behavior fixes it. Test business rules, not just compilation.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receive a DataStore and never import the database directly. A factory reads the DATA_PROVIDER environment variable and returns SQLite by default. Cosmos DB or PostgreSQL can be added later without touching routes. This also makes testing easy. The data-access-abstraction skill in this repo describes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the storefront. About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explicit "not yet." Scoping out future work keeps each diff focused. Full prompt:
Create a React frontend for AIMarket in a client/ directory using Vite, TypeScript, and Tailwind CSS. The frontend is always React regardless of your API language. Read PLAN.md and the "Frontend" section in PLAN-phase2-storefront.md. Build:
- Product grid page with the "SearchBar: Client-Side Filtering" behavior and category filter buttons
- Product detail page with Add to Cart
- Shopping cart page with Place Order
- A ChatWidget component that follows the "ChatWidget: Shared Layout" and "ChatWidget: Placeholder State" sections in PLAN-phase2-storefront.md
Do not implement "SearchBar: AI Search Integration" or "ChatWidget: AI Integration" yet.
Set up a Vite proxy so /api requests go to http://localhost:[YOUR API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Copilot to create a single npm run app command that starts both the API and the frontend. Then ask for Playwright end-to-end tests: all 10 cards and images load, search by name and tag, Electronics shows exactly 3 products, product detail, cart totals, and order confirmation. Finally, ask Copilot to prepare the repo, check .gitignore for secrets and generated files, commit, and push to a private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add AI.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three options. Build it yourself in your current session. Hand it off from the CLI with /delegate, which creates a pull request from the cloud agent. Or write a GitHub issue and assign it to Copilot cloud agent. All three end the same way: you review and merge. A nice live demo is to delegate the assistant and build search yourself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agent works on GitHub in parallel, and the result is a pull request you review like any other. Full prompt includes: Follow "Shopping Assistant Environment Variables" for local and deployed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endpoint fetches active products and puts them in the system prompt, then calls a gpt-5-mini deployment in Microsoft Foundry. That grounding is what stops it from inventing products. Acceptance check: asking "What laptops do you have?" mentions the UltraBook Pro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Meanwhile, build semantic search yourself. Azure AI Search returns ranked product IDs, then the API loads full details from the database. Without Azure settings, it falls back to SQLite search, so local development still works. The query "something lightweight for travel" should find the UltraBook Pro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spend money on Azure, review the whole app against every plan file. Also review the cloud agent pull request, request a Copilot code review with gh pr edit --add-reviewer @copilot, and merge when checks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deploy to Azure.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test-driven development for infrastructure. First create scripts/check-infra.mjs from the plan and prove it fails because nothing exists yet. Tag that commit phase4-red. Then have the agent generate infrastructure until the gate passes, without changing the gate. Then run a read-only pre-deployment review. Only then run azd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 carries hard-won Container Apps lessons: ACR pulls with managed identity, linux/amd64 images, and the build-time API URL for the SPA. The gate is the definition of done, and the agent is not allowed to edit it. Full prompt adds: Default stack: Node.js API + React client. Set the location to westus. Log issues to issues.md.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Container Apps, one for the React storefront and one for the API, in one Container Apps environment. Images come from Azure Container Registry. The API calls Azure AI Search and a gpt-5-mini deployment in Microsoft Foundry using managed identity. Application Insights and Log Analytics collect telemetry. SQLite lives inside the API container, so orders reset on restart. That is fine for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full gate, which includes an Azure preview, then azd up. The postdeploy hook rebuilds the frontend with the real API URL. Then run the checked-in verifier. Finally, try it yourself in the browser: semantic search and the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journey has the second-highest running cost, mostly AI Search. Tear it down as soon as you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Treat the spec as a contract and build in reviewable layers. Inspect and test real business rules. Ground AI in live data and delegate well-bounded work. Gate infrastructure before deploying. Assignment ideas from the README: a recommendations endpoint, or an AI-generated thank-you message after an order. Next: SmartTodo, which makes the test-first approach the center of the whole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5.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787301"/>
            <a:ext cx="711101"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6" name="Text 3"/>
          <p:cNvSpPr/>
          <p:nvPr/>
        </p:nvSpPr>
        <p:spPr>
          <a:xfrm>
            <a:off x="482501" y="1053852"/>
            <a:ext cx="7772400" cy="152400"/>
          </a:xfrm>
          <a:prstGeom prst="rect">
            <a:avLst/>
          </a:prstGeom>
          <a:noFill/>
          <a:ln/>
        </p:spPr>
        <p:txBody>
          <a:bodyPr wrap="square" lIns="0" tIns="0" rIns="0" bIns="0" rtlCol="0" anchor="t"/>
          <a:lstStyle/>
          <a:p>
            <a:pPr algn="l" indent="0" marL="0">
              <a:spcAft>
                <a:spcPts val="600"/>
              </a:spcAft>
              <a:buNone/>
            </a:pPr>
            <a:r>
              <a:rPr lang="en-US" sz="1100" b="1" dirty="0">
                <a:solidFill>
                  <a:srgbClr val="1A7F37"/>
                </a:solidFill>
                <a:latin typeface="Arial" pitchFamily="34" charset="0"/>
                <a:ea typeface="Arial" pitchFamily="34" charset="-122"/>
                <a:cs typeface="Arial" pitchFamily="34" charset="-120"/>
              </a:rPr>
              <a:t>AGENTIC JOURNEY · GITHUB AND AZURE</a:t>
            </a:r>
            <a:endParaRPr lang="en-US" sz="1100" dirty="0"/>
          </a:p>
        </p:txBody>
      </p:sp>
      <p:sp>
        <p:nvSpPr>
          <p:cNvPr id="7" name="Text 4"/>
          <p:cNvSpPr/>
          <p:nvPr/>
        </p:nvSpPr>
        <p:spPr>
          <a:xfrm>
            <a:off x="482501" y="1282452"/>
            <a:ext cx="7772400" cy="584150"/>
          </a:xfrm>
          <a:prstGeom prst="rect">
            <a:avLst/>
          </a:prstGeom>
          <a:noFill/>
          <a:ln/>
        </p:spPr>
        <p:txBody>
          <a:bodyPr wrap="square" lIns="0" tIns="0" rIns="0" bIns="0" rtlCol="0" anchor="t"/>
          <a:lstStyle/>
          <a:p>
            <a:pPr algn="l" indent="0" marL="0">
              <a:lnSpc>
                <a:spcPts val="4600"/>
              </a:lnSpc>
              <a:buNone/>
            </a:pPr>
            <a:r>
              <a:rPr lang="en-US" sz="4000" b="1" dirty="0">
                <a:solidFill>
                  <a:srgbClr val="1F2328"/>
                </a:solidFill>
                <a:latin typeface="Arial" pitchFamily="34" charset="0"/>
                <a:ea typeface="Arial" pitchFamily="34" charset="-122"/>
                <a:cs typeface="Arial" pitchFamily="34" charset="-120"/>
              </a:rPr>
              <a:t>AIMarket</a:t>
            </a:r>
            <a:endParaRPr lang="en-US" sz="4000" dirty="0"/>
          </a:p>
        </p:txBody>
      </p:sp>
      <p:sp>
        <p:nvSpPr>
          <p:cNvPr id="8" name="Text 5"/>
          <p:cNvSpPr/>
          <p:nvPr/>
        </p:nvSpPr>
        <p:spPr>
          <a:xfrm>
            <a:off x="482501" y="2019002"/>
            <a:ext cx="7772400" cy="558701"/>
          </a:xfrm>
          <a:prstGeom prst="rect">
            <a:avLst/>
          </a:prstGeom>
          <a:noFill/>
          <a:ln/>
        </p:spPr>
        <p:txBody>
          <a:bodyPr wrap="square" lIns="0" tIns="0" rIns="0" bIns="0" rtlCol="0" anchor="t"/>
          <a:lstStyle/>
          <a:p>
            <a:pPr algn="l" indent="0" marL="0">
              <a:lnSpc>
                <a:spcPts val="2200"/>
              </a:lnSpc>
              <a:spcBef>
                <a:spcPts val="1200"/>
              </a:spcBef>
              <a:buNone/>
            </a:pPr>
            <a:r>
              <a:rPr lang="en-US" sz="1600" dirty="0">
                <a:solidFill>
                  <a:srgbClr val="59636E"/>
                </a:solidFill>
                <a:latin typeface="Arial" pitchFamily="34" charset="0"/>
                <a:ea typeface="Arial" pitchFamily="34" charset="-122"/>
                <a:cs typeface="Arial" pitchFamily="34" charset="-120"/>
              </a:rPr>
              <a:t>What if a written spec could become a full-stack marketplace with semantic search and a shopping assistant, running on Azure?</a:t>
            </a:r>
            <a:endParaRPr lang="en-US" sz="1600" dirty="0"/>
          </a:p>
        </p:txBody>
      </p:sp>
      <p:sp>
        <p:nvSpPr>
          <p:cNvPr id="9" name="Text 6"/>
          <p:cNvSpPr/>
          <p:nvPr/>
        </p:nvSpPr>
        <p:spPr>
          <a:xfrm>
            <a:off x="482501" y="3022550"/>
            <a:ext cx="355550" cy="355550"/>
          </a:xfrm>
          <a:prstGeom prst="roundRect">
            <a:avLst>
              <a:gd name="adj" fmla="val 21432"/>
            </a:avLst>
          </a:prstGeom>
          <a:solidFill>
            <a:srgbClr val="DDF4FF"/>
          </a:solidFill>
          <a:ln/>
        </p:spPr>
        <p:txBody>
          <a:bodyPr wrap="square" rtlCol="0" anchor="ctr"/>
          <a:lstStyle/>
          <a:p>
            <a:pPr indent="0" marL="0">
              <a:buNone/>
            </a:pPr>
            <a:endParaRPr lang="en-US" dirty="0"/>
          </a:p>
        </p:txBody>
      </p:sp>
      <p:pic>
        <p:nvPicPr>
          <p:cNvPr id="10" name="Image 1" descr="/Users/danwahlin/.copilot/session-state/a2da67da-2d7a-45f2-aa6a-2a42a7b82a72/files/build/icons/GoClock-0969DA.png">    </p:cNvPr>
          <p:cNvPicPr>
            <a:picLocks noChangeAspect="1"/>
          </p:cNvPicPr>
          <p:nvPr/>
        </p:nvPicPr>
        <p:blipFill>
          <a:blip r:embed="rId2"/>
          <a:stretch>
            <a:fillRect/>
          </a:stretch>
        </p:blipFill>
        <p:spPr>
          <a:xfrm>
            <a:off x="558701" y="3098750"/>
            <a:ext cx="203150" cy="203150"/>
          </a:xfrm>
          <a:prstGeom prst="rect">
            <a:avLst/>
          </a:prstGeom>
        </p:spPr>
      </p:pic>
      <p:sp>
        <p:nvSpPr>
          <p:cNvPr id="11" name="Text 7"/>
          <p:cNvSpPr/>
          <p:nvPr/>
        </p:nvSpPr>
        <p:spPr>
          <a:xfrm>
            <a:off x="952351" y="3051125"/>
            <a:ext cx="812155"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SESSION</a:t>
            </a:r>
            <a:endParaRPr lang="en-US" sz="850" dirty="0"/>
          </a:p>
        </p:txBody>
      </p:sp>
      <p:sp>
        <p:nvSpPr>
          <p:cNvPr id="12" name="Text 8"/>
          <p:cNvSpPr/>
          <p:nvPr/>
        </p:nvSpPr>
        <p:spPr>
          <a:xfrm>
            <a:off x="952351" y="3178076"/>
            <a:ext cx="812155"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60 minutes</a:t>
            </a:r>
            <a:endParaRPr lang="en-US" sz="1200" dirty="0"/>
          </a:p>
        </p:txBody>
      </p:sp>
      <p:sp>
        <p:nvSpPr>
          <p:cNvPr id="13" name="Text 9"/>
          <p:cNvSpPr/>
          <p:nvPr/>
        </p:nvSpPr>
        <p:spPr>
          <a:xfrm>
            <a:off x="2129582" y="3022550"/>
            <a:ext cx="355550" cy="355550"/>
          </a:xfrm>
          <a:prstGeom prst="roundRect">
            <a:avLst>
              <a:gd name="adj" fmla="val 21432"/>
            </a:avLst>
          </a:prstGeom>
          <a:solidFill>
            <a:srgbClr val="FFF1E5"/>
          </a:solidFill>
          <a:ln/>
        </p:spPr>
        <p:txBody>
          <a:bodyPr wrap="square" rtlCol="0" anchor="ctr"/>
          <a:lstStyle/>
          <a:p>
            <a:pPr indent="0" marL="0">
              <a:buNone/>
            </a:pPr>
            <a:endParaRPr lang="en-US" dirty="0"/>
          </a:p>
        </p:txBody>
      </p:sp>
      <p:pic>
        <p:nvPicPr>
          <p:cNvPr id="14" name="Image 2" descr="/Users/danwahlin/.copilot/session-state/a2da67da-2d7a-45f2-aa6a-2a42a7b82a72/files/build/icons/GoCreditCard-BC4C00.png">    </p:cNvPr>
          <p:cNvPicPr>
            <a:picLocks noChangeAspect="1"/>
          </p:cNvPicPr>
          <p:nvPr/>
        </p:nvPicPr>
        <p:blipFill>
          <a:blip r:embed="rId3"/>
          <a:stretch>
            <a:fillRect/>
          </a:stretch>
        </p:blipFill>
        <p:spPr>
          <a:xfrm>
            <a:off x="2205782" y="3098750"/>
            <a:ext cx="203150" cy="203150"/>
          </a:xfrm>
          <a:prstGeom prst="rect">
            <a:avLst/>
          </a:prstGeom>
        </p:spPr>
      </p:pic>
      <p:sp>
        <p:nvSpPr>
          <p:cNvPr id="15" name="Text 10"/>
          <p:cNvSpPr/>
          <p:nvPr/>
        </p:nvSpPr>
        <p:spPr>
          <a:xfrm>
            <a:off x="2599432" y="3051125"/>
            <a:ext cx="1291858"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COST IF LEFT RUNNING</a:t>
            </a:r>
            <a:endParaRPr lang="en-US" sz="850" dirty="0"/>
          </a:p>
        </p:txBody>
      </p:sp>
      <p:sp>
        <p:nvSpPr>
          <p:cNvPr id="16" name="Text 11"/>
          <p:cNvSpPr/>
          <p:nvPr/>
        </p:nvSpPr>
        <p:spPr>
          <a:xfrm>
            <a:off x="2599432" y="3178076"/>
            <a:ext cx="1291858"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~$100–115/month</a:t>
            </a:r>
            <a:endParaRPr lang="en-US" sz="1200" dirty="0"/>
          </a:p>
        </p:txBody>
      </p:sp>
      <p:sp>
        <p:nvSpPr>
          <p:cNvPr id="17" name="Text 12"/>
          <p:cNvSpPr/>
          <p:nvPr/>
        </p:nvSpPr>
        <p:spPr>
          <a:xfrm>
            <a:off x="4246959" y="3022550"/>
            <a:ext cx="355550" cy="355550"/>
          </a:xfrm>
          <a:prstGeom prst="roundRect">
            <a:avLst>
              <a:gd name="adj" fmla="val 21432"/>
            </a:avLst>
          </a:prstGeom>
          <a:solidFill>
            <a:srgbClr val="FBEF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loud-8250DF.png">    </p:cNvPr>
          <p:cNvPicPr>
            <a:picLocks noChangeAspect="1"/>
          </p:cNvPicPr>
          <p:nvPr/>
        </p:nvPicPr>
        <p:blipFill>
          <a:blip r:embed="rId4"/>
          <a:stretch>
            <a:fillRect/>
          </a:stretch>
        </p:blipFill>
        <p:spPr>
          <a:xfrm>
            <a:off x="4323159" y="3098750"/>
            <a:ext cx="203150" cy="203150"/>
          </a:xfrm>
          <a:prstGeom prst="rect">
            <a:avLst/>
          </a:prstGeom>
        </p:spPr>
      </p:pic>
      <p:sp>
        <p:nvSpPr>
          <p:cNvPr id="19" name="Text 13"/>
          <p:cNvSpPr/>
          <p:nvPr/>
        </p:nvSpPr>
        <p:spPr>
          <a:xfrm>
            <a:off x="4716810" y="3051125"/>
            <a:ext cx="1478426"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RUNS ON</a:t>
            </a:r>
            <a:endParaRPr lang="en-US" sz="850" dirty="0"/>
          </a:p>
        </p:txBody>
      </p:sp>
      <p:sp>
        <p:nvSpPr>
          <p:cNvPr id="20" name="Text 14"/>
          <p:cNvSpPr/>
          <p:nvPr/>
        </p:nvSpPr>
        <p:spPr>
          <a:xfrm>
            <a:off x="4716810" y="3178076"/>
            <a:ext cx="1478426"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Container Apps + AI</a:t>
            </a:r>
            <a:endParaRPr lang="en-US" sz="1200" dirty="0"/>
          </a:p>
        </p:txBody>
      </p:sp>
      <p:sp>
        <p:nvSpPr>
          <p:cNvPr id="21" name="Text 15"/>
          <p:cNvSpPr/>
          <p:nvPr/>
        </p:nvSpPr>
        <p:spPr>
          <a:xfrm>
            <a:off x="482501" y="3759101"/>
            <a:ext cx="8342275" cy="133350"/>
          </a:xfrm>
          <a:prstGeom prst="rect">
            <a:avLst/>
          </a:prstGeom>
          <a:noFill/>
          <a:ln/>
        </p:spPr>
        <p:txBody>
          <a:bodyPr wrap="square" lIns="0" tIns="0" rIns="0" bIns="0" rtlCol="0" anchor="t"/>
          <a:lstStyle/>
          <a:p>
            <a:pPr algn="l" indent="0" marL="0">
              <a:buNone/>
            </a:pPr>
            <a:r>
              <a:rPr lang="en-US" sz="900" b="1" dirty="0">
                <a:solidFill>
                  <a:srgbClr val="59636E"/>
                </a:solidFill>
                <a:latin typeface="Arial" pitchFamily="34" charset="0"/>
                <a:ea typeface="Arial" pitchFamily="34" charset="-122"/>
                <a:cs typeface="Arial" pitchFamily="34" charset="-120"/>
              </a:rPr>
              <a:t>IN THIS SESSION</a:t>
            </a:r>
            <a:endParaRPr lang="en-US" sz="900" dirty="0"/>
          </a:p>
        </p:txBody>
      </p:sp>
      <p:sp>
        <p:nvSpPr>
          <p:cNvPr id="22" name="Text 16"/>
          <p:cNvSpPr/>
          <p:nvPr/>
        </p:nvSpPr>
        <p:spPr>
          <a:xfrm>
            <a:off x="482501" y="3981301"/>
            <a:ext cx="1189732" cy="336352"/>
          </a:xfrm>
          <a:prstGeom prst="roundRect">
            <a:avLst>
              <a:gd name="adj" fmla="val 52861"/>
            </a:avLst>
          </a:prstGeom>
          <a:solidFill>
            <a:srgbClr val="DDF4FF"/>
          </a:solidFill>
          <a:ln w="9525">
            <a:solidFill>
              <a:srgbClr val="9CD7FF"/>
            </a:solidFill>
          </a:ln>
        </p:spPr>
        <p:txBody>
          <a:bodyPr wrap="square" rtlCol="0" anchor="ctr"/>
          <a:lstStyle/>
          <a:p>
            <a:pPr indent="0" marL="0">
              <a:buNone/>
            </a:pPr>
            <a:endParaRPr lang="en-US" dirty="0"/>
          </a:p>
        </p:txBody>
      </p:sp>
      <p:sp>
        <p:nvSpPr>
          <p:cNvPr id="23" name="Text 17"/>
          <p:cNvSpPr/>
          <p:nvPr/>
        </p:nvSpPr>
        <p:spPr>
          <a:xfrm>
            <a:off x="568226" y="4054227"/>
            <a:ext cx="190500" cy="190500"/>
          </a:xfrm>
          <a:prstGeom prst="roundRect">
            <a:avLst>
              <a:gd name="adj" fmla="val 480000"/>
            </a:avLst>
          </a:prstGeom>
          <a:solidFill>
            <a:srgbClr val="0969DA"/>
          </a:solidFill>
          <a:ln/>
        </p:spPr>
        <p:txBody>
          <a:bodyPr wrap="square" rtlCol="0" anchor="ctr"/>
          <a:lstStyle/>
          <a:p>
            <a:pPr indent="0" marL="0">
              <a:buNone/>
            </a:pPr>
            <a:endParaRPr lang="en-US" dirty="0"/>
          </a:p>
        </p:txBody>
      </p:sp>
      <p:sp>
        <p:nvSpPr>
          <p:cNvPr id="24" name="Text 18"/>
          <p:cNvSpPr/>
          <p:nvPr/>
        </p:nvSpPr>
        <p:spPr>
          <a:xfrm>
            <a:off x="634633"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25" name="Text 19"/>
          <p:cNvSpPr/>
          <p:nvPr/>
        </p:nvSpPr>
        <p:spPr>
          <a:xfrm>
            <a:off x="834926" y="4078039"/>
            <a:ext cx="714848"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Spec to API</a:t>
            </a:r>
            <a:endParaRPr lang="en-US" sz="1000" dirty="0"/>
          </a:p>
        </p:txBody>
      </p:sp>
      <p:sp>
        <p:nvSpPr>
          <p:cNvPr id="26" name="Text 20"/>
          <p:cNvSpPr/>
          <p:nvPr/>
        </p:nvSpPr>
        <p:spPr>
          <a:xfrm>
            <a:off x="1773734" y="3981301"/>
            <a:ext cx="1469678" cy="336352"/>
          </a:xfrm>
          <a:prstGeom prst="roundRect">
            <a:avLst>
              <a:gd name="adj" fmla="val 52861"/>
            </a:avLst>
          </a:prstGeom>
          <a:solidFill>
            <a:srgbClr val="FBE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1859459" y="4054227"/>
            <a:ext cx="190500" cy="190500"/>
          </a:xfrm>
          <a:prstGeom prst="roundRect">
            <a:avLst>
              <a:gd name="adj" fmla="val 480000"/>
            </a:avLst>
          </a:prstGeom>
          <a:solidFill>
            <a:srgbClr val="8250DF"/>
          </a:solidFill>
          <a:ln/>
        </p:spPr>
        <p:txBody>
          <a:bodyPr wrap="square" rtlCol="0" anchor="ctr"/>
          <a:lstStyle/>
          <a:p>
            <a:pPr indent="0" marL="0">
              <a:buNone/>
            </a:pPr>
            <a:endParaRPr lang="en-US" dirty="0"/>
          </a:p>
        </p:txBody>
      </p:sp>
      <p:sp>
        <p:nvSpPr>
          <p:cNvPr id="28" name="Text 22"/>
          <p:cNvSpPr/>
          <p:nvPr/>
        </p:nvSpPr>
        <p:spPr>
          <a:xfrm>
            <a:off x="1925866"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29" name="Text 23"/>
          <p:cNvSpPr/>
          <p:nvPr/>
        </p:nvSpPr>
        <p:spPr>
          <a:xfrm>
            <a:off x="2126159" y="4078039"/>
            <a:ext cx="1000393"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React storefront</a:t>
            </a:r>
            <a:endParaRPr lang="en-US" sz="1000" dirty="0"/>
          </a:p>
        </p:txBody>
      </p:sp>
      <p:sp>
        <p:nvSpPr>
          <p:cNvPr id="30" name="Text 24"/>
          <p:cNvSpPr/>
          <p:nvPr/>
        </p:nvSpPr>
        <p:spPr>
          <a:xfrm>
            <a:off x="3344912" y="3981301"/>
            <a:ext cx="893266" cy="336352"/>
          </a:xfrm>
          <a:prstGeom prst="roundRect">
            <a:avLst>
              <a:gd name="adj" fmla="val 52861"/>
            </a:avLst>
          </a:prstGeom>
          <a:solidFill>
            <a:srgbClr val="DAFBE1"/>
          </a:solidFill>
          <a:ln w="9525">
            <a:solidFill>
              <a:srgbClr val="8CE7A5"/>
            </a:solidFill>
          </a:ln>
        </p:spPr>
        <p:txBody>
          <a:bodyPr wrap="square" rtlCol="0" anchor="ctr"/>
          <a:lstStyle/>
          <a:p>
            <a:pPr indent="0" marL="0">
              <a:buNone/>
            </a:pPr>
            <a:endParaRPr lang="en-US" dirty="0"/>
          </a:p>
        </p:txBody>
      </p:sp>
      <p:sp>
        <p:nvSpPr>
          <p:cNvPr id="31" name="Text 25"/>
          <p:cNvSpPr/>
          <p:nvPr/>
        </p:nvSpPr>
        <p:spPr>
          <a:xfrm>
            <a:off x="3430637" y="4054227"/>
            <a:ext cx="190500" cy="190500"/>
          </a:xfrm>
          <a:prstGeom prst="roundRect">
            <a:avLst>
              <a:gd name="adj" fmla="val 480000"/>
            </a:avLst>
          </a:prstGeom>
          <a:solidFill>
            <a:srgbClr val="1A7F37"/>
          </a:solidFill>
          <a:ln/>
        </p:spPr>
        <p:txBody>
          <a:bodyPr wrap="square" rtlCol="0" anchor="ctr"/>
          <a:lstStyle/>
          <a:p>
            <a:pPr indent="0" marL="0">
              <a:buNone/>
            </a:pPr>
            <a:endParaRPr lang="en-US" dirty="0"/>
          </a:p>
        </p:txBody>
      </p:sp>
      <p:sp>
        <p:nvSpPr>
          <p:cNvPr id="32" name="Text 26"/>
          <p:cNvSpPr/>
          <p:nvPr/>
        </p:nvSpPr>
        <p:spPr>
          <a:xfrm>
            <a:off x="3497044"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33" name="Text 27"/>
          <p:cNvSpPr/>
          <p:nvPr/>
        </p:nvSpPr>
        <p:spPr>
          <a:xfrm>
            <a:off x="3697337" y="4078039"/>
            <a:ext cx="412453"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Add AI</a:t>
            </a:r>
            <a:endParaRPr lang="en-US" sz="1000" dirty="0"/>
          </a:p>
        </p:txBody>
      </p:sp>
      <p:sp>
        <p:nvSpPr>
          <p:cNvPr id="34" name="Text 28"/>
          <p:cNvSpPr/>
          <p:nvPr/>
        </p:nvSpPr>
        <p:spPr>
          <a:xfrm>
            <a:off x="4339679" y="3981301"/>
            <a:ext cx="1450777" cy="336352"/>
          </a:xfrm>
          <a:prstGeom prst="roundRect">
            <a:avLst>
              <a:gd name="adj" fmla="val 52861"/>
            </a:avLst>
          </a:prstGeom>
          <a:solidFill>
            <a:srgbClr val="FFF1E5"/>
          </a:solidFill>
          <a:ln w="9525">
            <a:solidFill>
              <a:srgbClr val="FFC49B"/>
            </a:solidFill>
          </a:ln>
        </p:spPr>
        <p:txBody>
          <a:bodyPr wrap="square" rtlCol="0" anchor="ctr"/>
          <a:lstStyle/>
          <a:p>
            <a:pPr indent="0" marL="0">
              <a:buNone/>
            </a:pPr>
            <a:endParaRPr lang="en-US" dirty="0"/>
          </a:p>
        </p:txBody>
      </p:sp>
      <p:sp>
        <p:nvSpPr>
          <p:cNvPr id="35" name="Text 29"/>
          <p:cNvSpPr/>
          <p:nvPr/>
        </p:nvSpPr>
        <p:spPr>
          <a:xfrm>
            <a:off x="4425404" y="4054227"/>
            <a:ext cx="190500" cy="190500"/>
          </a:xfrm>
          <a:prstGeom prst="roundRect">
            <a:avLst>
              <a:gd name="adj" fmla="val 480000"/>
            </a:avLst>
          </a:prstGeom>
          <a:solidFill>
            <a:srgbClr val="BC4C00"/>
          </a:solidFill>
          <a:ln/>
        </p:spPr>
        <p:txBody>
          <a:bodyPr wrap="square" rtlCol="0" anchor="ctr"/>
          <a:lstStyle/>
          <a:p>
            <a:pPr indent="0" marL="0">
              <a:buNone/>
            </a:pPr>
            <a:endParaRPr lang="en-US" dirty="0"/>
          </a:p>
        </p:txBody>
      </p:sp>
      <p:sp>
        <p:nvSpPr>
          <p:cNvPr id="36" name="Text 30"/>
          <p:cNvSpPr/>
          <p:nvPr/>
        </p:nvSpPr>
        <p:spPr>
          <a:xfrm>
            <a:off x="4491811"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37" name="Text 31"/>
          <p:cNvSpPr/>
          <p:nvPr/>
        </p:nvSpPr>
        <p:spPr>
          <a:xfrm>
            <a:off x="4692104" y="4078039"/>
            <a:ext cx="981114" cy="142875"/>
          </a:xfrm>
          <a:prstGeom prst="rect">
            <a:avLst/>
          </a:prstGeom>
          <a:noFill/>
          <a:ln/>
        </p:spPr>
        <p:txBody>
          <a:bodyPr wrap="square" lIns="0" tIns="0" rIns="0" bIns="0" rtlCol="0" anchor="t"/>
          <a:lstStyle/>
          <a:p>
            <a:pPr algn="l" indent="0" marL="0">
              <a:buNone/>
            </a:pPr>
            <a:r>
              <a:rPr lang="en-US" sz="1000" b="1" dirty="0">
                <a:solidFill>
                  <a:srgbClr val="BC4C00"/>
                </a:solidFill>
                <a:latin typeface="Arial" pitchFamily="34" charset="0"/>
                <a:ea typeface="Arial" pitchFamily="34" charset="-122"/>
                <a:cs typeface="Arial" pitchFamily="34" charset="-120"/>
              </a:rPr>
              <a:t>Deploy to Azure</a:t>
            </a:r>
            <a:endParaRPr lang="en-US" sz="1000" dirty="0"/>
          </a:p>
        </p:txBody>
      </p:sp>
      <p:sp>
        <p:nvSpPr>
          <p:cNvPr id="38" name="Text 32"/>
          <p:cNvSpPr/>
          <p:nvPr/>
        </p:nvSpPr>
        <p:spPr>
          <a:xfrm>
            <a:off x="482501" y="4724400"/>
            <a:ext cx="2396237"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github.com/microsoft/agentic-journeys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WHERE WE ARE HEADED</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An AI-powered marketplace</a:t>
            </a:r>
            <a:endParaRPr lang="en-US" sz="2600" dirty="0"/>
          </a:p>
        </p:txBody>
      </p:sp>
      <p:sp>
        <p:nvSpPr>
          <p:cNvPr id="7" name="Text 4"/>
          <p:cNvSpPr/>
          <p:nvPr/>
        </p:nvSpPr>
        <p:spPr>
          <a:xfrm>
            <a:off x="1732806" y="1222177"/>
            <a:ext cx="5678091" cy="3575000"/>
          </a:xfrm>
          <a:prstGeom prst="roundRect">
            <a:avLst>
              <a:gd name="adj" fmla="val 2842"/>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8" name="Image 1" descr="/Users/danwahlin/.copilot/session-state/a2da67da-2d7a-45f2-aa6a-2a42a7b82a72/files/build/img/aimarket-aimarket-marketplace.png">    </p:cNvPr>
          <p:cNvPicPr>
            <a:picLocks noChangeAspect="1"/>
          </p:cNvPicPr>
          <p:nvPr/>
        </p:nvPicPr>
        <p:blipFill>
          <a:blip r:embed="rId2"/>
          <a:stretch>
            <a:fillRect/>
          </a:stretch>
        </p:blipFill>
        <p:spPr>
          <a:xfrm>
            <a:off x="1780431" y="1269802"/>
            <a:ext cx="5582841" cy="3479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THE JOURNEY</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Four phases, one spec</a:t>
            </a:r>
            <a:endParaRPr lang="en-US" sz="2600" dirty="0"/>
          </a:p>
        </p:txBody>
      </p:sp>
      <p:pic>
        <p:nvPicPr>
          <p:cNvPr id="7" name="Image 1" descr="/Users/danwahlin/.copilot/session-state/a2da67da-2d7a-45f2-aa6a-2a42a7b82a72/files/build/img/aimarket-aimarket-at-a-glance.png">    </p:cNvPr>
          <p:cNvPicPr>
            <a:picLocks noChangeAspect="1"/>
          </p:cNvPicPr>
          <p:nvPr/>
        </p:nvPicPr>
        <p:blipFill>
          <a:blip r:embed="rId2"/>
          <a:stretch>
            <a:fillRect/>
          </a:stretch>
        </p:blipFill>
        <p:spPr>
          <a:xfrm>
            <a:off x="482501" y="1220391"/>
            <a:ext cx="8178701" cy="35787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THE AGENTIC LOOP</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Generate. Inspect. Test. Refine.</a:t>
            </a:r>
            <a:endParaRPr lang="en-US" sz="2600" dirty="0"/>
          </a:p>
        </p:txBody>
      </p:sp>
      <p:pic>
        <p:nvPicPr>
          <p:cNvPr id="7" name="Image 1" descr="/Users/danwahlin/.copilot/session-state/a2da67da-2d7a-45f2-aa6a-2a42a7b82a72/files/build/img/aimarket-generate-inspect-test-refine.png">    </p:cNvPr>
          <p:cNvPicPr>
            <a:picLocks noChangeAspect="1"/>
          </p:cNvPicPr>
          <p:nvPr/>
        </p:nvPicPr>
        <p:blipFill>
          <a:blip r:embed="rId2"/>
          <a:stretch>
            <a:fillRect/>
          </a:stretch>
        </p:blipFill>
        <p:spPr>
          <a:xfrm>
            <a:off x="2278856" y="1282601"/>
            <a:ext cx="4585841" cy="34543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0969DA"/>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0969DA"/>
                </a:solidFill>
                <a:latin typeface="Arial" pitchFamily="34" charset="0"/>
                <a:ea typeface="Arial" pitchFamily="34" charset="-122"/>
                <a:cs typeface="Arial" pitchFamily="34" charset="-120"/>
              </a:rPr>
              <a:t>01</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1 OF 4</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Spec to API</a:t>
            </a:r>
            <a:endParaRPr lang="en-US" sz="3000" dirty="0"/>
          </a:p>
        </p:txBody>
      </p:sp>
      <p:sp>
        <p:nvSpPr>
          <p:cNvPr id="9" name="Text 6"/>
          <p:cNvSpPr/>
          <p:nvPr/>
        </p:nvSpPr>
        <p:spPr>
          <a:xfrm>
            <a:off x="558701" y="2606427"/>
            <a:ext cx="3886200" cy="48250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Treat the spec as a contract. Build the API in layers you can review one at a time.</a:t>
            </a:r>
            <a:endParaRPr lang="en-US" sz="1400" dirty="0"/>
          </a:p>
        </p:txBody>
      </p:sp>
      <p:sp>
        <p:nvSpPr>
          <p:cNvPr id="10" name="Text 7"/>
          <p:cNvSpPr/>
          <p:nvPr/>
        </p:nvSpPr>
        <p:spPr>
          <a:xfrm>
            <a:off x="4854476" y="1497211"/>
            <a:ext cx="3803600" cy="1755130"/>
          </a:xfrm>
          <a:prstGeom prst="roundRect">
            <a:avLst>
              <a:gd name="adj" fmla="val 5789"/>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11" name="Image 1" descr="/Users/danwahlin/.copilot/session-state/a2da67da-2d7a-45f2-aa6a-2a42a7b82a72/files/build/img/aimarket-spec-to-code.png">    </p:cNvPr>
          <p:cNvPicPr>
            <a:picLocks noChangeAspect="1"/>
          </p:cNvPicPr>
          <p:nvPr/>
        </p:nvPicPr>
        <p:blipFill>
          <a:blip r:embed="rId2"/>
          <a:stretch>
            <a:fillRect/>
          </a:stretch>
        </p:blipFill>
        <p:spPr>
          <a:xfrm>
            <a:off x="4902101" y="1544836"/>
            <a:ext cx="3708350" cy="1659880"/>
          </a:xfrm>
          <a:prstGeom prst="rect">
            <a:avLst/>
          </a:prstGeom>
        </p:spPr>
      </p:pic>
      <p:sp>
        <p:nvSpPr>
          <p:cNvPr id="12" name="Text 8"/>
          <p:cNvSpPr/>
          <p:nvPr/>
        </p:nvSpPr>
        <p:spPr>
          <a:xfrm>
            <a:off x="558701" y="4368701"/>
            <a:ext cx="1119783" cy="336352"/>
          </a:xfrm>
          <a:prstGeom prst="roundRect">
            <a:avLst>
              <a:gd name="adj" fmla="val 52861"/>
            </a:avLst>
          </a:prstGeom>
          <a:solidFill>
            <a:srgbClr val="0969DA"/>
          </a:solidFill>
          <a:ln w="9525">
            <a:solidFill>
              <a:srgbClr val="0969DA"/>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0969DA"/>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64350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Spec to API</a:t>
            </a:r>
            <a:endParaRPr lang="en-US" sz="900" dirty="0"/>
          </a:p>
        </p:txBody>
      </p:sp>
      <p:sp>
        <p:nvSpPr>
          <p:cNvPr id="16" name="Text 12"/>
          <p:cNvSpPr/>
          <p:nvPr/>
        </p:nvSpPr>
        <p:spPr>
          <a:xfrm>
            <a:off x="1779984" y="4368701"/>
            <a:ext cx="1371749"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186570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8" name="Text 14"/>
          <p:cNvSpPr/>
          <p:nvPr/>
        </p:nvSpPr>
        <p:spPr>
          <a:xfrm>
            <a:off x="193211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132409" y="4470202"/>
            <a:ext cx="900505"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React storefront</a:t>
            </a:r>
            <a:endParaRPr lang="en-US" sz="900" dirty="0"/>
          </a:p>
        </p:txBody>
      </p:sp>
      <p:sp>
        <p:nvSpPr>
          <p:cNvPr id="20" name="Text 16"/>
          <p:cNvSpPr/>
          <p:nvPr/>
        </p:nvSpPr>
        <p:spPr>
          <a:xfrm>
            <a:off x="3253234" y="4368701"/>
            <a:ext cx="852934"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33895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40536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05659" y="4470202"/>
            <a:ext cx="371314"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Add AI</a:t>
            </a:r>
            <a:endParaRPr lang="en-US" sz="900" dirty="0"/>
          </a:p>
        </p:txBody>
      </p:sp>
      <p:sp>
        <p:nvSpPr>
          <p:cNvPr id="24" name="Text 20"/>
          <p:cNvSpPr/>
          <p:nvPr/>
        </p:nvSpPr>
        <p:spPr>
          <a:xfrm>
            <a:off x="4207669" y="4368701"/>
            <a:ext cx="1354782"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4293394"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6" name="Text 22"/>
          <p:cNvSpPr/>
          <p:nvPr/>
        </p:nvSpPr>
        <p:spPr>
          <a:xfrm>
            <a:off x="4359801"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4</a:t>
            </a:r>
            <a:endParaRPr lang="en-US" sz="800" dirty="0"/>
          </a:p>
        </p:txBody>
      </p:sp>
      <p:sp>
        <p:nvSpPr>
          <p:cNvPr id="27" name="Text 23"/>
          <p:cNvSpPr/>
          <p:nvPr/>
        </p:nvSpPr>
        <p:spPr>
          <a:xfrm>
            <a:off x="4560094" y="4470202"/>
            <a:ext cx="8832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Deploy to Azure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REVIEWABLE LAYERS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One layer per prompt</a:t>
            </a:r>
            <a:endParaRPr lang="en-US" sz="2600" dirty="0"/>
          </a:p>
        </p:txBody>
      </p:sp>
      <p:sp>
        <p:nvSpPr>
          <p:cNvPr id="7" name="Text 4"/>
          <p:cNvSpPr/>
          <p:nvPr/>
        </p:nvSpPr>
        <p:spPr>
          <a:xfrm>
            <a:off x="1092101" y="1877764"/>
            <a:ext cx="634901" cy="634901"/>
          </a:xfrm>
          <a:prstGeom prst="roundRect">
            <a:avLst>
              <a:gd name="adj" fmla="val 12002"/>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FileCode-0969DA.png">    </p:cNvPr>
          <p:cNvPicPr>
            <a:picLocks noChangeAspect="1"/>
          </p:cNvPicPr>
          <p:nvPr/>
        </p:nvPicPr>
        <p:blipFill>
          <a:blip r:embed="rId2"/>
          <a:stretch>
            <a:fillRect/>
          </a:stretch>
        </p:blipFill>
        <p:spPr>
          <a:xfrm>
            <a:off x="1231702" y="2017365"/>
            <a:ext cx="355550" cy="355550"/>
          </a:xfrm>
          <a:prstGeom prst="rect">
            <a:avLst/>
          </a:prstGeom>
        </p:spPr>
      </p:pic>
      <p:sp>
        <p:nvSpPr>
          <p:cNvPr id="9" name="Text 5"/>
          <p:cNvSpPr/>
          <p:nvPr/>
        </p:nvSpPr>
        <p:spPr>
          <a:xfrm>
            <a:off x="1119454" y="2614166"/>
            <a:ext cx="580046"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Models</a:t>
            </a:r>
            <a:endParaRPr lang="en-US" sz="1300" dirty="0"/>
          </a:p>
        </p:txBody>
      </p:sp>
      <p:sp>
        <p:nvSpPr>
          <p:cNvPr id="10" name="Text 6"/>
          <p:cNvSpPr/>
          <p:nvPr/>
        </p:nvSpPr>
        <p:spPr>
          <a:xfrm>
            <a:off x="789431" y="2922091"/>
            <a:ext cx="1240092"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Types and validation</a:t>
            </a:r>
            <a:endParaRPr lang="en-US" sz="1050" dirty="0"/>
          </a:p>
        </p:txBody>
      </p:sp>
      <p:sp>
        <p:nvSpPr>
          <p:cNvPr id="11" name="Text 7"/>
          <p:cNvSpPr/>
          <p:nvPr/>
        </p:nvSpPr>
        <p:spPr>
          <a:xfrm>
            <a:off x="2359869" y="2076152"/>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2" name="Text 8"/>
          <p:cNvSpPr/>
          <p:nvPr/>
        </p:nvSpPr>
        <p:spPr>
          <a:xfrm>
            <a:off x="3200251" y="1877764"/>
            <a:ext cx="634901" cy="634901"/>
          </a:xfrm>
          <a:prstGeom prst="roundRect">
            <a:avLst>
              <a:gd name="adj" fmla="val 12002"/>
            </a:avLst>
          </a:prstGeom>
          <a:solidFill>
            <a:srgbClr val="FBEFFF"/>
          </a:solidFill>
          <a:ln/>
        </p:spPr>
        <p:txBody>
          <a:bodyPr wrap="square" rtlCol="0" anchor="ctr"/>
          <a:lstStyle/>
          <a:p>
            <a:pPr indent="0" marL="0">
              <a:buNone/>
            </a:pPr>
            <a:endParaRPr lang="en-US" dirty="0"/>
          </a:p>
        </p:txBody>
      </p:sp>
      <p:pic>
        <p:nvPicPr>
          <p:cNvPr id="13" name="Image 2" descr="/Users/danwahlin/.copilot/session-state/a2da67da-2d7a-45f2-aa6a-2a42a7b82a72/files/build/icons/GoDatabase-8250DF.png">    </p:cNvPr>
          <p:cNvPicPr>
            <a:picLocks noChangeAspect="1"/>
          </p:cNvPicPr>
          <p:nvPr/>
        </p:nvPicPr>
        <p:blipFill>
          <a:blip r:embed="rId3"/>
          <a:stretch>
            <a:fillRect/>
          </a:stretch>
        </p:blipFill>
        <p:spPr>
          <a:xfrm>
            <a:off x="3339852" y="2017365"/>
            <a:ext cx="355550" cy="355550"/>
          </a:xfrm>
          <a:prstGeom prst="rect">
            <a:avLst/>
          </a:prstGeom>
        </p:spPr>
      </p:pic>
      <p:sp>
        <p:nvSpPr>
          <p:cNvPr id="14" name="Text 9"/>
          <p:cNvSpPr/>
          <p:nvPr/>
        </p:nvSpPr>
        <p:spPr>
          <a:xfrm>
            <a:off x="3077923" y="2614166"/>
            <a:ext cx="879556"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Repository</a:t>
            </a:r>
            <a:endParaRPr lang="en-US" sz="1300" dirty="0"/>
          </a:p>
        </p:txBody>
      </p:sp>
      <p:sp>
        <p:nvSpPr>
          <p:cNvPr id="15" name="Text 10"/>
          <p:cNvSpPr/>
          <p:nvPr/>
        </p:nvSpPr>
        <p:spPr>
          <a:xfrm>
            <a:off x="2585014" y="2922091"/>
            <a:ext cx="1865376"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Interfaces + SQLite + seed data</a:t>
            </a:r>
            <a:endParaRPr lang="en-US" sz="1050" dirty="0"/>
          </a:p>
        </p:txBody>
      </p:sp>
      <p:sp>
        <p:nvSpPr>
          <p:cNvPr id="16" name="Text 11"/>
          <p:cNvSpPr/>
          <p:nvPr/>
        </p:nvSpPr>
        <p:spPr>
          <a:xfrm>
            <a:off x="4468020" y="2076152"/>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7" name="Text 12"/>
          <p:cNvSpPr/>
          <p:nvPr/>
        </p:nvSpPr>
        <p:spPr>
          <a:xfrm>
            <a:off x="5308402" y="1877764"/>
            <a:ext cx="634901" cy="634901"/>
          </a:xfrm>
          <a:prstGeom prst="roundRect">
            <a:avLst>
              <a:gd name="adj" fmla="val 12002"/>
            </a:avLst>
          </a:prstGeom>
          <a:solidFill>
            <a:srgbClr val="DAFBE1"/>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Plug-1A7F37.png">    </p:cNvPr>
          <p:cNvPicPr>
            <a:picLocks noChangeAspect="1"/>
          </p:cNvPicPr>
          <p:nvPr/>
        </p:nvPicPr>
        <p:blipFill>
          <a:blip r:embed="rId4"/>
          <a:stretch>
            <a:fillRect/>
          </a:stretch>
        </p:blipFill>
        <p:spPr>
          <a:xfrm>
            <a:off x="5448002" y="2017365"/>
            <a:ext cx="355550" cy="355550"/>
          </a:xfrm>
          <a:prstGeom prst="rect">
            <a:avLst/>
          </a:prstGeom>
        </p:spPr>
      </p:pic>
      <p:sp>
        <p:nvSpPr>
          <p:cNvPr id="19" name="Text 13"/>
          <p:cNvSpPr/>
          <p:nvPr/>
        </p:nvSpPr>
        <p:spPr>
          <a:xfrm>
            <a:off x="5340461" y="2614166"/>
            <a:ext cx="570634"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Routes</a:t>
            </a:r>
            <a:endParaRPr lang="en-US" sz="1300" dirty="0"/>
          </a:p>
        </p:txBody>
      </p:sp>
      <p:sp>
        <p:nvSpPr>
          <p:cNvPr id="20" name="Text 14"/>
          <p:cNvSpPr/>
          <p:nvPr/>
        </p:nvSpPr>
        <p:spPr>
          <a:xfrm>
            <a:off x="4876696" y="2922091"/>
            <a:ext cx="1498312"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REST endpoints + errors</a:t>
            </a:r>
            <a:endParaRPr lang="en-US" sz="1050" dirty="0"/>
          </a:p>
        </p:txBody>
      </p:sp>
      <p:sp>
        <p:nvSpPr>
          <p:cNvPr id="21" name="Text 15"/>
          <p:cNvSpPr/>
          <p:nvPr/>
        </p:nvSpPr>
        <p:spPr>
          <a:xfrm>
            <a:off x="6576170" y="2076152"/>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2" name="Text 16"/>
          <p:cNvSpPr/>
          <p:nvPr/>
        </p:nvSpPr>
        <p:spPr>
          <a:xfrm>
            <a:off x="7416552" y="1877764"/>
            <a:ext cx="634901" cy="634901"/>
          </a:xfrm>
          <a:prstGeom prst="roundRect">
            <a:avLst>
              <a:gd name="adj" fmla="val 12002"/>
            </a:avLst>
          </a:prstGeom>
          <a:solidFill>
            <a:srgbClr val="FFF1E5"/>
          </a:solidFill>
          <a:ln/>
        </p:spPr>
        <p:txBody>
          <a:bodyPr wrap="square" rtlCol="0" anchor="ctr"/>
          <a:lstStyle/>
          <a:p>
            <a:pPr indent="0" marL="0">
              <a:buNone/>
            </a:pPr>
            <a:endParaRPr lang="en-US" dirty="0"/>
          </a:p>
        </p:txBody>
      </p:sp>
      <p:pic>
        <p:nvPicPr>
          <p:cNvPr id="23" name="Image 4" descr="/Users/danwahlin/.copilot/session-state/a2da67da-2d7a-45f2-aa6a-2a42a7b82a72/files/build/icons/GoBeaker-BC4C00.png">    </p:cNvPr>
          <p:cNvPicPr>
            <a:picLocks noChangeAspect="1"/>
          </p:cNvPicPr>
          <p:nvPr/>
        </p:nvPicPr>
        <p:blipFill>
          <a:blip r:embed="rId5"/>
          <a:stretch>
            <a:fillRect/>
          </a:stretch>
        </p:blipFill>
        <p:spPr>
          <a:xfrm>
            <a:off x="7556153" y="2017365"/>
            <a:ext cx="355550" cy="355550"/>
          </a:xfrm>
          <a:prstGeom prst="rect">
            <a:avLst/>
          </a:prstGeom>
        </p:spPr>
      </p:pic>
      <p:sp>
        <p:nvSpPr>
          <p:cNvPr id="24" name="Text 17"/>
          <p:cNvSpPr/>
          <p:nvPr/>
        </p:nvSpPr>
        <p:spPr>
          <a:xfrm>
            <a:off x="7532711" y="2614166"/>
            <a:ext cx="402434"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Try it</a:t>
            </a:r>
            <a:endParaRPr lang="en-US" sz="1300" dirty="0"/>
          </a:p>
        </p:txBody>
      </p:sp>
      <p:sp>
        <p:nvSpPr>
          <p:cNvPr id="25" name="Text 18"/>
          <p:cNvSpPr/>
          <p:nvPr/>
        </p:nvSpPr>
        <p:spPr>
          <a:xfrm>
            <a:off x="6913498" y="2922091"/>
            <a:ext cx="1641009"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/api/health and 10 products</a:t>
            </a:r>
            <a:endParaRPr lang="en-US" sz="1050" dirty="0"/>
          </a:p>
        </p:txBody>
      </p:sp>
      <p:sp>
        <p:nvSpPr>
          <p:cNvPr id="26" name="Text 19"/>
          <p:cNvSpPr/>
          <p:nvPr/>
        </p:nvSpPr>
        <p:spPr>
          <a:xfrm>
            <a:off x="1311325" y="3714006"/>
            <a:ext cx="6521053" cy="427732"/>
          </a:xfrm>
          <a:prstGeom prst="roundRect">
            <a:avLst>
              <a:gd name="adj" fmla="val 17815"/>
            </a:avLst>
          </a:prstGeom>
          <a:solidFill>
            <a:srgbClr val="DDF4FF"/>
          </a:solidFill>
          <a:ln w="9525">
            <a:solidFill>
              <a:srgbClr val="9CD7FF"/>
            </a:solidFill>
          </a:ln>
        </p:spPr>
        <p:txBody>
          <a:bodyPr wrap="square" rtlCol="0" anchor="ctr"/>
          <a:lstStyle/>
          <a:p>
            <a:pPr indent="0" marL="0">
              <a:buNone/>
            </a:pPr>
            <a:endParaRPr lang="en-US" dirty="0"/>
          </a:p>
        </p:txBody>
      </p:sp>
      <p:pic>
        <p:nvPicPr>
          <p:cNvPr id="27" name="Image 5" descr="/Users/danwahlin/.copilot/session-state/a2da67da-2d7a-45f2-aa6a-2a42a7b82a72/files/build/icons/GoGitBranch-0969DA.png">    </p:cNvPr>
          <p:cNvPicPr>
            <a:picLocks noChangeAspect="1"/>
          </p:cNvPicPr>
          <p:nvPr/>
        </p:nvPicPr>
        <p:blipFill>
          <a:blip r:embed="rId6"/>
          <a:stretch>
            <a:fillRect/>
          </a:stretch>
        </p:blipFill>
        <p:spPr>
          <a:xfrm>
            <a:off x="1473250" y="3839021"/>
            <a:ext cx="177701" cy="177701"/>
          </a:xfrm>
          <a:prstGeom prst="rect">
            <a:avLst/>
          </a:prstGeom>
        </p:spPr>
      </p:pic>
      <p:sp>
        <p:nvSpPr>
          <p:cNvPr id="28" name="Text 20"/>
          <p:cNvSpPr/>
          <p:nvPr/>
        </p:nvSpPr>
        <p:spPr>
          <a:xfrm>
            <a:off x="1752451" y="3825032"/>
            <a:ext cx="6036362" cy="205680"/>
          </a:xfrm>
          <a:prstGeom prst="rect">
            <a:avLst/>
          </a:prstGeom>
          <a:noFill/>
          <a:ln/>
        </p:spPr>
        <p:txBody>
          <a:bodyPr wrap="square" lIns="0" tIns="0" rIns="0" bIns="0" rtlCol="0" anchor="t"/>
          <a:lstStyle/>
          <a:p>
            <a:pPr algn="l" indent="0" marL="0">
              <a:lnSpc>
                <a:spcPts val="1620"/>
              </a:lnSpc>
              <a:buNone/>
            </a:pPr>
            <a:r>
              <a:rPr lang="en-US" sz="1200" dirty="0">
                <a:solidFill>
                  <a:srgbClr val="1F2328"/>
                </a:solidFill>
                <a:latin typeface="Arial" pitchFamily="34" charset="0"/>
                <a:ea typeface="Arial" pitchFamily="34" charset="-122"/>
                <a:cs typeface="Arial" pitchFamily="34" charset="-120"/>
              </a:rPr>
              <a:t>Pick your stack: </a:t>
            </a:r>
            <a:pPr algn="l" indent="0" marL="0">
              <a:lnSpc>
                <a:spcPts val="1620"/>
              </a:lnSpc>
              <a:buNone/>
            </a:pPr>
            <a:r>
              <a:rPr lang="en-US" sz="1200" b="1" dirty="0">
                <a:solidFill>
                  <a:srgbClr val="1F2328"/>
                </a:solidFill>
                <a:latin typeface="Arial" pitchFamily="34" charset="0"/>
                <a:ea typeface="Arial" pitchFamily="34" charset="-122"/>
                <a:cs typeface="Arial" pitchFamily="34" charset="-120"/>
              </a:rPr>
              <a:t>Node.js</a:t>
            </a:r>
            <a:pPr algn="l" indent="0" marL="0">
              <a:lnSpc>
                <a:spcPts val="1620"/>
              </a:lnSpc>
              <a:buNone/>
            </a:pPr>
            <a:r>
              <a:rPr lang="en-US" sz="1200" dirty="0">
                <a:solidFill>
                  <a:srgbClr val="1F2328"/>
                </a:solidFill>
                <a:latin typeface="Arial" pitchFamily="34" charset="0"/>
                <a:ea typeface="Arial" pitchFamily="34" charset="-122"/>
                <a:cs typeface="Arial" pitchFamily="34" charset="-120"/>
              </a:rPr>
              <a:t> by default, or Python, .NET, or Java. The spec stays the same.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START FROM THE SPEC</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Read the plan, build the models</a:t>
            </a:r>
            <a:endParaRPr lang="en-US" sz="2600" dirty="0"/>
          </a:p>
        </p:txBody>
      </p:sp>
      <p:sp>
        <p:nvSpPr>
          <p:cNvPr id="7" name="Text 4"/>
          <p:cNvSpPr/>
          <p:nvPr/>
        </p:nvSpPr>
        <p:spPr>
          <a:xfrm>
            <a:off x="634901" y="1920776"/>
            <a:ext cx="7873901" cy="2228999"/>
          </a:xfrm>
          <a:prstGeom prst="roundRect">
            <a:avLst>
              <a:gd name="adj" fmla="val 4558"/>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925538"/>
            <a:ext cx="7873901" cy="0"/>
          </a:xfrm>
          <a:prstGeom prst="line">
            <a:avLst/>
          </a:prstGeom>
          <a:noFill/>
          <a:ln w="9525">
            <a:solidFill>
              <a:srgbClr val="E0C5FF"/>
            </a:solidFill>
            <a:prstDash val="solid"/>
          </a:ln>
        </p:spPr>
      </p:sp>
      <p:sp>
        <p:nvSpPr>
          <p:cNvPr id="9" name="Shape 6"/>
          <p:cNvSpPr/>
          <p:nvPr/>
        </p:nvSpPr>
        <p:spPr>
          <a:xfrm>
            <a:off x="8504039" y="1920776"/>
            <a:ext cx="0" cy="2228999"/>
          </a:xfrm>
          <a:prstGeom prst="line">
            <a:avLst/>
          </a:prstGeom>
          <a:noFill/>
          <a:ln w="9525">
            <a:solidFill>
              <a:srgbClr val="E0C5FF"/>
            </a:solidFill>
            <a:prstDash val="solid"/>
          </a:ln>
        </p:spPr>
      </p:sp>
      <p:sp>
        <p:nvSpPr>
          <p:cNvPr id="10" name="Shape 7"/>
          <p:cNvSpPr/>
          <p:nvPr/>
        </p:nvSpPr>
        <p:spPr>
          <a:xfrm>
            <a:off x="634901" y="4145012"/>
            <a:ext cx="7873901" cy="0"/>
          </a:xfrm>
          <a:prstGeom prst="line">
            <a:avLst/>
          </a:prstGeom>
          <a:noFill/>
          <a:ln w="9525">
            <a:solidFill>
              <a:srgbClr val="E0C5FF"/>
            </a:solidFill>
            <a:prstDash val="solid"/>
          </a:ln>
        </p:spPr>
      </p:sp>
      <p:sp>
        <p:nvSpPr>
          <p:cNvPr id="11" name="Shape 8"/>
          <p:cNvSpPr/>
          <p:nvPr/>
        </p:nvSpPr>
        <p:spPr>
          <a:xfrm>
            <a:off x="663476" y="1920776"/>
            <a:ext cx="0" cy="2228999"/>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133451"/>
            <a:ext cx="165050" cy="165050"/>
          </a:xfrm>
          <a:prstGeom prst="rect">
            <a:avLst/>
          </a:prstGeom>
        </p:spPr>
      </p:pic>
      <p:sp>
        <p:nvSpPr>
          <p:cNvPr id="13" name="Text 9"/>
          <p:cNvSpPr/>
          <p:nvPr/>
        </p:nvSpPr>
        <p:spPr>
          <a:xfrm>
            <a:off x="1187202" y="2149227"/>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400002"/>
            <a:ext cx="7445413" cy="730448"/>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Read PLAN.md and PLAN-phase1-api.md in this directory. Create a Node.js/Express with TypeScript project in an api/ subdirectory (or my chosen stack if I say otherwise). Initialize the project with the standard build files.</a:t>
            </a:r>
            <a:endParaRPr lang="en-US" sz="1350" dirty="0"/>
          </a:p>
        </p:txBody>
      </p:sp>
      <p:sp>
        <p:nvSpPr>
          <p:cNvPr id="15" name="Text 11"/>
          <p:cNvSpPr/>
          <p:nvPr/>
        </p:nvSpPr>
        <p:spPr>
          <a:xfrm>
            <a:off x="945952" y="3181201"/>
            <a:ext cx="7445413" cy="730448"/>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Then create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just the data models</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from the "Data Models" section: Product, Order (with OrderItem and ShippingAddress), and User. Include validation functions for each model. … If you encounter any issues, log them to issues.md.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INSPECT, THEN REFINE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Catch what the agent missed</a:t>
            </a:r>
            <a:endParaRPr lang="en-US" sz="2600" dirty="0"/>
          </a:p>
        </p:txBody>
      </p:sp>
      <p:sp>
        <p:nvSpPr>
          <p:cNvPr id="7" name="Text 4"/>
          <p:cNvSpPr/>
          <p:nvPr/>
        </p:nvSpPr>
        <p:spPr>
          <a:xfrm>
            <a:off x="634901" y="1853952"/>
            <a:ext cx="7873901" cy="1956346"/>
          </a:xfrm>
          <a:prstGeom prst="roundRect">
            <a:avLst>
              <a:gd name="adj" fmla="val 519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8714"/>
            <a:ext cx="7873901" cy="0"/>
          </a:xfrm>
          <a:prstGeom prst="line">
            <a:avLst/>
          </a:prstGeom>
          <a:noFill/>
          <a:ln w="9525">
            <a:solidFill>
              <a:srgbClr val="E0C5FF"/>
            </a:solidFill>
            <a:prstDash val="solid"/>
          </a:ln>
        </p:spPr>
      </p:sp>
      <p:sp>
        <p:nvSpPr>
          <p:cNvPr id="9" name="Shape 6"/>
          <p:cNvSpPr/>
          <p:nvPr/>
        </p:nvSpPr>
        <p:spPr>
          <a:xfrm>
            <a:off x="8504039" y="1853952"/>
            <a:ext cx="0" cy="1956346"/>
          </a:xfrm>
          <a:prstGeom prst="line">
            <a:avLst/>
          </a:prstGeom>
          <a:noFill/>
          <a:ln w="9525">
            <a:solidFill>
              <a:srgbClr val="E0C5FF"/>
            </a:solidFill>
            <a:prstDash val="solid"/>
          </a:ln>
        </p:spPr>
      </p:sp>
      <p:sp>
        <p:nvSpPr>
          <p:cNvPr id="10" name="Shape 7"/>
          <p:cNvSpPr/>
          <p:nvPr/>
        </p:nvSpPr>
        <p:spPr>
          <a:xfrm>
            <a:off x="634901" y="3805535"/>
            <a:ext cx="7873901" cy="0"/>
          </a:xfrm>
          <a:prstGeom prst="line">
            <a:avLst/>
          </a:prstGeom>
          <a:noFill/>
          <a:ln w="9525">
            <a:solidFill>
              <a:srgbClr val="E0C5FF"/>
            </a:solidFill>
            <a:prstDash val="solid"/>
          </a:ln>
        </p:spPr>
      </p:sp>
      <p:sp>
        <p:nvSpPr>
          <p:cNvPr id="11" name="Shape 8"/>
          <p:cNvSpPr/>
          <p:nvPr/>
        </p:nvSpPr>
        <p:spPr>
          <a:xfrm>
            <a:off x="663476" y="1853952"/>
            <a:ext cx="0" cy="195634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066627"/>
            <a:ext cx="165050" cy="165050"/>
          </a:xfrm>
          <a:prstGeom prst="rect">
            <a:avLst/>
          </a:prstGeom>
        </p:spPr>
      </p:pic>
      <p:sp>
        <p:nvSpPr>
          <p:cNvPr id="13" name="Text 9"/>
          <p:cNvSpPr/>
          <p:nvPr/>
        </p:nvSpPr>
        <p:spPr>
          <a:xfrm>
            <a:off x="1187202" y="2082403"/>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945952" y="2345829"/>
            <a:ext cx="7445413" cy="1226344"/>
          </a:xfrm>
          <a:prstGeom prst="rect">
            <a:avLst/>
          </a:prstGeom>
          <a:noFill/>
          <a:ln/>
        </p:spPr>
        <p:txBody>
          <a:bodyPr wrap="square" lIns="0" tIns="0" rIns="0" bIns="0" rtlCol="0" anchor="t"/>
          <a:lstStyle/>
          <a:p>
            <a:pPr algn="l" indent="0" marL="0">
              <a:lnSpc>
                <a:spcPts val="2414"/>
              </a:lnSpc>
              <a:buNone/>
            </a:pPr>
            <a:r>
              <a:rPr lang="en-US" sz="1700" dirty="0">
                <a:solidFill>
                  <a:srgbClr val="1F2328"/>
                </a:solidFill>
                <a:latin typeface="Arial" pitchFamily="34" charset="0"/>
                <a:ea typeface="Arial" pitchFamily="34" charset="-122"/>
                <a:cs typeface="Arial" pitchFamily="34" charset="-120"/>
              </a:rPr>
              <a:t>The POST /api/orders endpoint doesn't capture priceAtPurchase from the product's current price. It's using the price from the request body, which means </a:t>
            </a:r>
            <a:pPr algn="l" indent="0" marL="0">
              <a:lnSpc>
                <a:spcPts val="2414"/>
              </a:lnSpc>
              <a:buNone/>
            </a:pPr>
            <a:r>
              <a:rPr lang="en-US" sz="1700" b="1" dirty="0">
                <a:solidFill>
                  <a:srgbClr val="1F2328"/>
                </a:solidFill>
                <a:latin typeface="Arial" pitchFamily="34" charset="0"/>
                <a:ea typeface="Arial" pitchFamily="34" charset="-122"/>
                <a:cs typeface="Arial" pitchFamily="34" charset="-120"/>
              </a:rPr>
              <a:t>a buyer could send any price</a:t>
            </a:r>
            <a:pPr algn="l" indent="0" marL="0">
              <a:lnSpc>
                <a:spcPts val="2414"/>
              </a:lnSpc>
              <a:buNone/>
            </a:pPr>
            <a:r>
              <a:rPr lang="en-US" sz="1700" dirty="0">
                <a:solidFill>
                  <a:srgbClr val="1F2328"/>
                </a:solidFill>
                <a:latin typeface="Arial" pitchFamily="34" charset="0"/>
                <a:ea typeface="Arial" pitchFamily="34" charset="-122"/>
                <a:cs typeface="Arial" pitchFamily="34" charset="-120"/>
              </a:rPr>
              <a:t>. Fix it to look up each product's price from the database.</a:t>
            </a:r>
            <a:endParaRPr lang="en-US" sz="1700" dirty="0"/>
          </a:p>
        </p:txBody>
      </p:sp>
      <p:pic>
        <p:nvPicPr>
          <p:cNvPr id="15" name="Image 2" descr="/Users/danwahlin/.copilot/session-state/a2da67da-2d7a-45f2-aa6a-2a42a7b82a72/files/build/icons/GoEye-0969DA.png">    </p:cNvPr>
          <p:cNvPicPr>
            <a:picLocks noChangeAspect="1"/>
          </p:cNvPicPr>
          <p:nvPr/>
        </p:nvPicPr>
        <p:blipFill>
          <a:blip r:embed="rId3"/>
          <a:stretch>
            <a:fillRect/>
          </a:stretch>
        </p:blipFill>
        <p:spPr>
          <a:xfrm>
            <a:off x="634901" y="4026098"/>
            <a:ext cx="177701" cy="177701"/>
          </a:xfrm>
          <a:prstGeom prst="rect">
            <a:avLst/>
          </a:prstGeom>
        </p:spPr>
      </p:pic>
      <p:sp>
        <p:nvSpPr>
          <p:cNvPr id="16" name="Text 11"/>
          <p:cNvSpPr/>
          <p:nvPr/>
        </p:nvSpPr>
        <p:spPr>
          <a:xfrm>
            <a:off x="914102" y="4013448"/>
            <a:ext cx="4147759" cy="203150"/>
          </a:xfrm>
          <a:prstGeom prst="rect">
            <a:avLst/>
          </a:prstGeom>
          <a:noFill/>
          <a:ln/>
        </p:spPr>
        <p:txBody>
          <a:bodyPr wrap="square" lIns="0" tIns="0" rIns="0" bIns="0" rtlCol="0" anchor="t"/>
          <a:lstStyle/>
          <a:p>
            <a:pPr algn="l" indent="0" marL="0">
              <a:lnSpc>
                <a:spcPts val="1600"/>
              </a:lnSpc>
              <a:buNone/>
            </a:pPr>
            <a:r>
              <a:rPr lang="en-US" sz="1200" dirty="0">
                <a:solidFill>
                  <a:srgbClr val="59636E"/>
                </a:solidFill>
                <a:latin typeface="Arial" pitchFamily="34" charset="0"/>
                <a:ea typeface="Arial" pitchFamily="34" charset="-122"/>
                <a:cs typeface="Arial" pitchFamily="34" charset="-120"/>
              </a:rPr>
              <a:t>The code compiled and ran. Only </a:t>
            </a:r>
            <a:pPr algn="l" indent="0" marL="0">
              <a:lnSpc>
                <a:spcPts val="1600"/>
              </a:lnSpc>
              <a:buNone/>
            </a:pPr>
            <a:r>
              <a:rPr lang="en-US" sz="1200" b="1" dirty="0">
                <a:solidFill>
                  <a:srgbClr val="59636E"/>
                </a:solidFill>
                <a:latin typeface="Arial" pitchFamily="34" charset="0"/>
                <a:ea typeface="Arial" pitchFamily="34" charset="-122"/>
                <a:cs typeface="Arial" pitchFamily="34" charset="-120"/>
              </a:rPr>
              <a:t>inspection</a:t>
            </a:r>
            <a:pPr algn="l" indent="0" marL="0">
              <a:lnSpc>
                <a:spcPts val="1600"/>
              </a:lnSpc>
              <a:buNone/>
            </a:pPr>
            <a:r>
              <a:rPr lang="en-US" sz="1200" dirty="0">
                <a:solidFill>
                  <a:srgbClr val="59636E"/>
                </a:solidFill>
                <a:latin typeface="Arial" pitchFamily="34" charset="0"/>
                <a:ea typeface="Arial" pitchFamily="34" charset="-122"/>
                <a:cs typeface="Arial" pitchFamily="34" charset="-120"/>
              </a:rPr>
              <a:t> found the bug.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KEY IDEA</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Swap the database, not the code</a:t>
            </a:r>
            <a:endParaRPr lang="en-US" sz="2600" dirty="0"/>
          </a:p>
        </p:txBody>
      </p:sp>
      <p:sp>
        <p:nvSpPr>
          <p:cNvPr id="7" name="Text 4"/>
          <p:cNvSpPr/>
          <p:nvPr/>
        </p:nvSpPr>
        <p:spPr>
          <a:xfrm>
            <a:off x="1206550" y="2479625"/>
            <a:ext cx="1524000" cy="1060252"/>
          </a:xfrm>
          <a:prstGeom prst="roundRect">
            <a:avLst>
              <a:gd name="adj" fmla="val 9583"/>
            </a:avLst>
          </a:prstGeom>
          <a:solidFill>
            <a:srgbClr val="FFFFFF"/>
          </a:solidFill>
          <a:ln w="9525">
            <a:solidFill>
              <a:srgbClr val="9CD7FF"/>
            </a:solidFill>
          </a:ln>
        </p:spPr>
        <p:txBody>
          <a:bodyPr wrap="square" rtlCol="0" anchor="ctr"/>
          <a:lstStyle/>
          <a:p>
            <a:pPr indent="0" marL="0">
              <a:buNone/>
            </a:pPr>
            <a:endParaRPr lang="en-US" dirty="0"/>
          </a:p>
        </p:txBody>
      </p:sp>
      <p:sp>
        <p:nvSpPr>
          <p:cNvPr id="8" name="Text 5"/>
          <p:cNvSpPr/>
          <p:nvPr/>
        </p:nvSpPr>
        <p:spPr>
          <a:xfrm>
            <a:off x="1778050" y="2603450"/>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9" name="Image 1" descr="/Users/danwahlin/.copilot/session-state/a2da67da-2d7a-45f2-aa6a-2a42a7b82a72/files/build/icons/GoPlug-0969DA.png">    </p:cNvPr>
          <p:cNvPicPr>
            <a:picLocks noChangeAspect="1"/>
          </p:cNvPicPr>
          <p:nvPr/>
        </p:nvPicPr>
        <p:blipFill>
          <a:blip r:embed="rId2"/>
          <a:stretch>
            <a:fillRect/>
          </a:stretch>
        </p:blipFill>
        <p:spPr>
          <a:xfrm>
            <a:off x="1860649" y="2686050"/>
            <a:ext cx="215801" cy="215801"/>
          </a:xfrm>
          <a:prstGeom prst="rect">
            <a:avLst/>
          </a:prstGeom>
        </p:spPr>
      </p:pic>
      <p:sp>
        <p:nvSpPr>
          <p:cNvPr id="10" name="Text 6"/>
          <p:cNvSpPr/>
          <p:nvPr/>
        </p:nvSpPr>
        <p:spPr>
          <a:xfrm>
            <a:off x="1737960" y="3047851"/>
            <a:ext cx="461031"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Routes</a:t>
            </a:r>
            <a:endParaRPr lang="en-US" sz="1050" dirty="0"/>
          </a:p>
        </p:txBody>
      </p:sp>
      <p:sp>
        <p:nvSpPr>
          <p:cNvPr id="11" name="Text 7"/>
          <p:cNvSpPr/>
          <p:nvPr/>
        </p:nvSpPr>
        <p:spPr>
          <a:xfrm>
            <a:off x="1469873" y="3276302"/>
            <a:ext cx="997205"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Never import the DB</a:t>
            </a:r>
            <a:endParaRPr lang="en-US" sz="850" dirty="0"/>
          </a:p>
        </p:txBody>
      </p:sp>
      <p:sp>
        <p:nvSpPr>
          <p:cNvPr id="12" name="Text 8"/>
          <p:cNvSpPr/>
          <p:nvPr/>
        </p:nvSpPr>
        <p:spPr>
          <a:xfrm>
            <a:off x="2893418" y="2895451"/>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3" name="Text 9"/>
          <p:cNvSpPr/>
          <p:nvPr/>
        </p:nvSpPr>
        <p:spPr>
          <a:xfrm>
            <a:off x="3263801" y="2479625"/>
            <a:ext cx="1650950" cy="1060252"/>
          </a:xfrm>
          <a:prstGeom prst="roundRect">
            <a:avLst>
              <a:gd name="adj" fmla="val 9583"/>
            </a:avLst>
          </a:prstGeom>
          <a:solidFill>
            <a:srgbClr val="FFFFFF"/>
          </a:solidFill>
          <a:ln w="9525">
            <a:solidFill>
              <a:srgbClr val="E0C5FF"/>
            </a:solidFill>
          </a:ln>
        </p:spPr>
        <p:txBody>
          <a:bodyPr wrap="square" rtlCol="0" anchor="ctr"/>
          <a:lstStyle/>
          <a:p>
            <a:pPr indent="0" marL="0">
              <a:buNone/>
            </a:pPr>
            <a:endParaRPr lang="en-US" dirty="0"/>
          </a:p>
        </p:txBody>
      </p:sp>
      <p:sp>
        <p:nvSpPr>
          <p:cNvPr id="14" name="Text 10"/>
          <p:cNvSpPr/>
          <p:nvPr/>
        </p:nvSpPr>
        <p:spPr>
          <a:xfrm>
            <a:off x="3898702" y="2603450"/>
            <a:ext cx="381000" cy="381000"/>
          </a:xfrm>
          <a:prstGeom prst="roundRect">
            <a:avLst>
              <a:gd name="adj" fmla="val 20000"/>
            </a:avLst>
          </a:prstGeom>
          <a:solidFill>
            <a:srgbClr val="FBEFFF"/>
          </a:solidFill>
          <a:ln/>
        </p:spPr>
        <p:txBody>
          <a:bodyPr wrap="square" rtlCol="0" anchor="ctr"/>
          <a:lstStyle/>
          <a:p>
            <a:pPr indent="0" marL="0">
              <a:buNone/>
            </a:pPr>
            <a:endParaRPr lang="en-US" dirty="0"/>
          </a:p>
        </p:txBody>
      </p:sp>
      <p:pic>
        <p:nvPicPr>
          <p:cNvPr id="15" name="Image 2" descr="/Users/danwahlin/.copilot/session-state/a2da67da-2d7a-45f2-aa6a-2a42a7b82a72/files/build/icons/GoStack-8250DF.png">    </p:cNvPr>
          <p:cNvPicPr>
            <a:picLocks noChangeAspect="1"/>
          </p:cNvPicPr>
          <p:nvPr/>
        </p:nvPicPr>
        <p:blipFill>
          <a:blip r:embed="rId3"/>
          <a:stretch>
            <a:fillRect/>
          </a:stretch>
        </p:blipFill>
        <p:spPr>
          <a:xfrm>
            <a:off x="3981301" y="2686050"/>
            <a:ext cx="215801" cy="215801"/>
          </a:xfrm>
          <a:prstGeom prst="rect">
            <a:avLst/>
          </a:prstGeom>
        </p:spPr>
      </p:pic>
      <p:sp>
        <p:nvSpPr>
          <p:cNvPr id="16" name="Text 11"/>
          <p:cNvSpPr/>
          <p:nvPr/>
        </p:nvSpPr>
        <p:spPr>
          <a:xfrm>
            <a:off x="3767981" y="3047851"/>
            <a:ext cx="642589"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DataStore</a:t>
            </a:r>
            <a:endParaRPr lang="en-US" sz="1050" dirty="0"/>
          </a:p>
        </p:txBody>
      </p:sp>
      <p:sp>
        <p:nvSpPr>
          <p:cNvPr id="17" name="Text 12"/>
          <p:cNvSpPr/>
          <p:nvPr/>
        </p:nvSpPr>
        <p:spPr>
          <a:xfrm>
            <a:off x="3572155" y="3276302"/>
            <a:ext cx="1034094"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Repository interfaces</a:t>
            </a:r>
            <a:endParaRPr lang="en-US" sz="850" dirty="0"/>
          </a:p>
        </p:txBody>
      </p:sp>
      <p:sp>
        <p:nvSpPr>
          <p:cNvPr id="18" name="Text 13"/>
          <p:cNvSpPr/>
          <p:nvPr/>
        </p:nvSpPr>
        <p:spPr>
          <a:xfrm>
            <a:off x="5070260" y="2843064"/>
            <a:ext cx="806235" cy="104775"/>
          </a:xfrm>
          <a:prstGeom prst="rect">
            <a:avLst/>
          </a:prstGeom>
          <a:noFill/>
          <a:ln/>
        </p:spPr>
        <p:txBody>
          <a:bodyPr wrap="square" lIns="0" tIns="0" rIns="0" bIns="0" rtlCol="0" anchor="t"/>
          <a:lstStyle/>
          <a:p>
            <a:pPr algn="ctr" indent="0" marL="0">
              <a:buNone/>
            </a:pPr>
            <a:r>
              <a:rPr lang="en-US" sz="750" dirty="0">
                <a:solidFill>
                  <a:srgbClr val="59636E"/>
                </a:solidFill>
                <a:latin typeface="Arial" pitchFamily="34" charset="0"/>
                <a:ea typeface="Arial" pitchFamily="34" charset="-122"/>
                <a:cs typeface="Arial" pitchFamily="34" charset="-120"/>
              </a:rPr>
              <a:t>DATA_PROVIDER</a:t>
            </a:r>
            <a:endParaRPr lang="en-US" sz="750" dirty="0"/>
          </a:p>
        </p:txBody>
      </p:sp>
      <p:sp>
        <p:nvSpPr>
          <p:cNvPr id="19" name="Text 14"/>
          <p:cNvSpPr/>
          <p:nvPr/>
        </p:nvSpPr>
        <p:spPr>
          <a:xfrm>
            <a:off x="5369769" y="2947839"/>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0" name="Text 15"/>
          <p:cNvSpPr/>
          <p:nvPr/>
        </p:nvSpPr>
        <p:spPr>
          <a:xfrm>
            <a:off x="6032153" y="1292423"/>
            <a:ext cx="1905000" cy="1060252"/>
          </a:xfrm>
          <a:prstGeom prst="roundRect">
            <a:avLst>
              <a:gd name="adj" fmla="val 9583"/>
            </a:avLst>
          </a:prstGeom>
          <a:solidFill>
            <a:srgbClr val="FFFFFF"/>
          </a:solidFill>
          <a:ln w="9525">
            <a:solidFill>
              <a:srgbClr val="8CE7A5"/>
            </a:solidFill>
          </a:ln>
        </p:spPr>
        <p:txBody>
          <a:bodyPr wrap="square" rtlCol="0" anchor="ctr"/>
          <a:lstStyle/>
          <a:p>
            <a:pPr indent="0" marL="0">
              <a:buNone/>
            </a:pPr>
            <a:endParaRPr lang="en-US" dirty="0"/>
          </a:p>
        </p:txBody>
      </p:sp>
      <p:sp>
        <p:nvSpPr>
          <p:cNvPr id="21" name="Text 16"/>
          <p:cNvSpPr/>
          <p:nvPr/>
        </p:nvSpPr>
        <p:spPr>
          <a:xfrm>
            <a:off x="6794153" y="1416248"/>
            <a:ext cx="381000" cy="381000"/>
          </a:xfrm>
          <a:prstGeom prst="roundRect">
            <a:avLst>
              <a:gd name="adj" fmla="val 20000"/>
            </a:avLst>
          </a:prstGeom>
          <a:solidFill>
            <a:srgbClr val="DAFBE1"/>
          </a:solidFill>
          <a:ln/>
        </p:spPr>
        <p:txBody>
          <a:bodyPr wrap="square" rtlCol="0" anchor="ctr"/>
          <a:lstStyle/>
          <a:p>
            <a:pPr indent="0" marL="0">
              <a:buNone/>
            </a:pPr>
            <a:endParaRPr lang="en-US" dirty="0"/>
          </a:p>
        </p:txBody>
      </p:sp>
      <p:pic>
        <p:nvPicPr>
          <p:cNvPr id="22" name="Image 3" descr="/Users/danwahlin/.copilot/session-state/a2da67da-2d7a-45f2-aa6a-2a42a7b82a72/files/build/icons/GoDatabase-1A7F37.png">    </p:cNvPr>
          <p:cNvPicPr>
            <a:picLocks noChangeAspect="1"/>
          </p:cNvPicPr>
          <p:nvPr/>
        </p:nvPicPr>
        <p:blipFill>
          <a:blip r:embed="rId4"/>
          <a:stretch>
            <a:fillRect/>
          </a:stretch>
        </p:blipFill>
        <p:spPr>
          <a:xfrm>
            <a:off x="6876752" y="1498848"/>
            <a:ext cx="215801" cy="215801"/>
          </a:xfrm>
          <a:prstGeom prst="rect">
            <a:avLst/>
          </a:prstGeom>
        </p:spPr>
      </p:pic>
      <p:sp>
        <p:nvSpPr>
          <p:cNvPr id="23" name="Text 17"/>
          <p:cNvSpPr/>
          <p:nvPr/>
        </p:nvSpPr>
        <p:spPr>
          <a:xfrm>
            <a:off x="6765447" y="1860649"/>
            <a:ext cx="438412"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SQLite</a:t>
            </a:r>
            <a:endParaRPr lang="en-US" sz="1050" dirty="0"/>
          </a:p>
        </p:txBody>
      </p:sp>
      <p:sp>
        <p:nvSpPr>
          <p:cNvPr id="24" name="Text 18"/>
          <p:cNvSpPr/>
          <p:nvPr/>
        </p:nvSpPr>
        <p:spPr>
          <a:xfrm>
            <a:off x="6666470" y="2089100"/>
            <a:ext cx="636365"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Default, local</a:t>
            </a:r>
            <a:endParaRPr lang="en-US" sz="850" dirty="0"/>
          </a:p>
        </p:txBody>
      </p:sp>
      <p:sp>
        <p:nvSpPr>
          <p:cNvPr id="25" name="Text 19"/>
          <p:cNvSpPr/>
          <p:nvPr/>
        </p:nvSpPr>
        <p:spPr>
          <a:xfrm>
            <a:off x="6032153" y="2479625"/>
            <a:ext cx="1905000" cy="1060252"/>
          </a:xfrm>
          <a:prstGeom prst="roundRect">
            <a:avLst>
              <a:gd name="adj" fmla="val 9583"/>
            </a:avLst>
          </a:prstGeom>
          <a:solidFill>
            <a:srgbClr val="FFFFFF"/>
          </a:solidFill>
          <a:ln w="9525">
            <a:solidFill>
              <a:srgbClr val="D1D9E0"/>
            </a:solidFill>
          </a:ln>
        </p:spPr>
        <p:txBody>
          <a:bodyPr wrap="square" rtlCol="0" anchor="ctr"/>
          <a:lstStyle/>
          <a:p>
            <a:pPr indent="0" marL="0">
              <a:buNone/>
            </a:pPr>
            <a:endParaRPr lang="en-US" dirty="0"/>
          </a:p>
        </p:txBody>
      </p:sp>
      <p:sp>
        <p:nvSpPr>
          <p:cNvPr id="26" name="Text 20"/>
          <p:cNvSpPr/>
          <p:nvPr/>
        </p:nvSpPr>
        <p:spPr>
          <a:xfrm>
            <a:off x="6794153" y="2603450"/>
            <a:ext cx="381000" cy="381000"/>
          </a:xfrm>
          <a:prstGeom prst="roundRect">
            <a:avLst>
              <a:gd name="adj" fmla="val 20000"/>
            </a:avLst>
          </a:prstGeom>
          <a:solidFill>
            <a:srgbClr val="F6F8FA"/>
          </a:solidFill>
          <a:ln/>
        </p:spPr>
        <p:txBody>
          <a:bodyPr wrap="square" rtlCol="0" anchor="ctr"/>
          <a:lstStyle/>
          <a:p>
            <a:pPr indent="0" marL="0">
              <a:buNone/>
            </a:pPr>
            <a:endParaRPr lang="en-US" dirty="0"/>
          </a:p>
        </p:txBody>
      </p:sp>
      <p:pic>
        <p:nvPicPr>
          <p:cNvPr id="27" name="Image 4" descr="/Users/danwahlin/.copilot/session-state/a2da67da-2d7a-45f2-aa6a-2a42a7b82a72/files/build/icons/GoDatabase-59636E.png">    </p:cNvPr>
          <p:cNvPicPr>
            <a:picLocks noChangeAspect="1"/>
          </p:cNvPicPr>
          <p:nvPr/>
        </p:nvPicPr>
        <p:blipFill>
          <a:blip r:embed="rId5"/>
          <a:stretch>
            <a:fillRect/>
          </a:stretch>
        </p:blipFill>
        <p:spPr>
          <a:xfrm>
            <a:off x="6876752" y="2686050"/>
            <a:ext cx="215801" cy="215801"/>
          </a:xfrm>
          <a:prstGeom prst="rect">
            <a:avLst/>
          </a:prstGeom>
        </p:spPr>
      </p:pic>
      <p:sp>
        <p:nvSpPr>
          <p:cNvPr id="28" name="Text 21"/>
          <p:cNvSpPr/>
          <p:nvPr/>
        </p:nvSpPr>
        <p:spPr>
          <a:xfrm>
            <a:off x="6599070" y="3047851"/>
            <a:ext cx="771016"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Cosmos DB</a:t>
            </a:r>
            <a:endParaRPr lang="en-US" sz="1050" dirty="0"/>
          </a:p>
        </p:txBody>
      </p:sp>
      <p:sp>
        <p:nvSpPr>
          <p:cNvPr id="29" name="Text 22"/>
          <p:cNvSpPr/>
          <p:nvPr/>
        </p:nvSpPr>
        <p:spPr>
          <a:xfrm>
            <a:off x="6779566" y="3276302"/>
            <a:ext cx="410024"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Optional</a:t>
            </a:r>
            <a:endParaRPr lang="en-US" sz="850" dirty="0"/>
          </a:p>
        </p:txBody>
      </p:sp>
      <p:sp>
        <p:nvSpPr>
          <p:cNvPr id="30" name="Text 23"/>
          <p:cNvSpPr/>
          <p:nvPr/>
        </p:nvSpPr>
        <p:spPr>
          <a:xfrm>
            <a:off x="6032153" y="3666827"/>
            <a:ext cx="1905000" cy="1060252"/>
          </a:xfrm>
          <a:prstGeom prst="roundRect">
            <a:avLst>
              <a:gd name="adj" fmla="val 9583"/>
            </a:avLst>
          </a:prstGeom>
          <a:solidFill>
            <a:srgbClr val="FFFFFF"/>
          </a:solidFill>
          <a:ln w="9525">
            <a:solidFill>
              <a:srgbClr val="D1D9E0"/>
            </a:solidFill>
          </a:ln>
        </p:spPr>
        <p:txBody>
          <a:bodyPr wrap="square" rtlCol="0" anchor="ctr"/>
          <a:lstStyle/>
          <a:p>
            <a:pPr indent="0" marL="0">
              <a:buNone/>
            </a:pPr>
            <a:endParaRPr lang="en-US" dirty="0"/>
          </a:p>
        </p:txBody>
      </p:sp>
      <p:sp>
        <p:nvSpPr>
          <p:cNvPr id="31" name="Text 24"/>
          <p:cNvSpPr/>
          <p:nvPr/>
        </p:nvSpPr>
        <p:spPr>
          <a:xfrm>
            <a:off x="6794153" y="3790652"/>
            <a:ext cx="381000" cy="381000"/>
          </a:xfrm>
          <a:prstGeom prst="roundRect">
            <a:avLst>
              <a:gd name="adj" fmla="val 20000"/>
            </a:avLst>
          </a:prstGeom>
          <a:solidFill>
            <a:srgbClr val="F6F8FA"/>
          </a:solidFill>
          <a:ln/>
        </p:spPr>
        <p:txBody>
          <a:bodyPr wrap="square" rtlCol="0" anchor="ctr"/>
          <a:lstStyle/>
          <a:p>
            <a:pPr indent="0" marL="0">
              <a:buNone/>
            </a:pPr>
            <a:endParaRPr lang="en-US" dirty="0"/>
          </a:p>
        </p:txBody>
      </p:sp>
      <p:pic>
        <p:nvPicPr>
          <p:cNvPr id="32" name="Image 5" descr="/Users/danwahlin/.copilot/session-state/a2da67da-2d7a-45f2-aa6a-2a42a7b82a72/files/build/icons/GoDatabase-59636E.png">    </p:cNvPr>
          <p:cNvPicPr>
            <a:picLocks noChangeAspect="1"/>
          </p:cNvPicPr>
          <p:nvPr/>
        </p:nvPicPr>
        <p:blipFill>
          <a:blip r:embed="rId6"/>
          <a:stretch>
            <a:fillRect/>
          </a:stretch>
        </p:blipFill>
        <p:spPr>
          <a:xfrm>
            <a:off x="6876752" y="3873252"/>
            <a:ext cx="215801" cy="215801"/>
          </a:xfrm>
          <a:prstGeom prst="rect">
            <a:avLst/>
          </a:prstGeom>
        </p:spPr>
      </p:pic>
      <p:sp>
        <p:nvSpPr>
          <p:cNvPr id="33" name="Text 25"/>
          <p:cNvSpPr/>
          <p:nvPr/>
        </p:nvSpPr>
        <p:spPr>
          <a:xfrm>
            <a:off x="6591630" y="4235053"/>
            <a:ext cx="786045"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PostgreSQL</a:t>
            </a:r>
            <a:endParaRPr lang="en-US" sz="1050" dirty="0"/>
          </a:p>
        </p:txBody>
      </p:sp>
      <p:sp>
        <p:nvSpPr>
          <p:cNvPr id="34" name="Text 26"/>
          <p:cNvSpPr/>
          <p:nvPr/>
        </p:nvSpPr>
        <p:spPr>
          <a:xfrm>
            <a:off x="6779566" y="4463504"/>
            <a:ext cx="410024"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Optional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8250DF"/>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8250DF"/>
                </a:solidFill>
                <a:latin typeface="Arial" pitchFamily="34" charset="0"/>
                <a:ea typeface="Arial" pitchFamily="34" charset="-122"/>
                <a:cs typeface="Arial" pitchFamily="34" charset="-120"/>
              </a:rPr>
              <a:t>02</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2 OF 4</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React storefront</a:t>
            </a:r>
            <a:endParaRPr lang="en-US" sz="3000" dirty="0"/>
          </a:p>
        </p:txBody>
      </p:sp>
      <p:sp>
        <p:nvSpPr>
          <p:cNvPr id="9" name="Text 6"/>
          <p:cNvSpPr/>
          <p:nvPr/>
        </p:nvSpPr>
        <p:spPr>
          <a:xfrm>
            <a:off x="558701" y="2606427"/>
            <a:ext cx="3886200" cy="48250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A React storefront on top of the API, proven with end-to-end browser tests.</a:t>
            </a:r>
            <a:endParaRPr lang="en-US" sz="1400" dirty="0"/>
          </a:p>
        </p:txBody>
      </p:sp>
      <p:sp>
        <p:nvSpPr>
          <p:cNvPr id="10" name="Text 7"/>
          <p:cNvSpPr/>
          <p:nvPr/>
        </p:nvSpPr>
        <p:spPr>
          <a:xfrm>
            <a:off x="4854476" y="1004441"/>
            <a:ext cx="3803600" cy="2740521"/>
          </a:xfrm>
          <a:prstGeom prst="roundRect">
            <a:avLst>
              <a:gd name="adj" fmla="val 3707"/>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11" name="Image 1" descr="/Users/danwahlin/.copilot/session-state/a2da67da-2d7a-45f2-aa6a-2a42a7b82a72/files/build/img/aimarket-react-storefront.png">    </p:cNvPr>
          <p:cNvPicPr>
            <a:picLocks noChangeAspect="1"/>
          </p:cNvPicPr>
          <p:nvPr/>
        </p:nvPicPr>
        <p:blipFill>
          <a:blip r:embed="rId2"/>
          <a:stretch>
            <a:fillRect/>
          </a:stretch>
        </p:blipFill>
        <p:spPr>
          <a:xfrm>
            <a:off x="4902101" y="1052066"/>
            <a:ext cx="3708350" cy="2645271"/>
          </a:xfrm>
          <a:prstGeom prst="rect">
            <a:avLst/>
          </a:prstGeom>
        </p:spPr>
      </p:pic>
      <p:sp>
        <p:nvSpPr>
          <p:cNvPr id="12" name="Text 8"/>
          <p:cNvSpPr/>
          <p:nvPr/>
        </p:nvSpPr>
        <p:spPr>
          <a:xfrm>
            <a:off x="558701" y="4368701"/>
            <a:ext cx="1119783"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6435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Spec to API</a:t>
            </a:r>
            <a:endParaRPr lang="en-US" sz="900" dirty="0"/>
          </a:p>
        </p:txBody>
      </p:sp>
      <p:sp>
        <p:nvSpPr>
          <p:cNvPr id="16" name="Text 12"/>
          <p:cNvSpPr/>
          <p:nvPr/>
        </p:nvSpPr>
        <p:spPr>
          <a:xfrm>
            <a:off x="1779984" y="4368701"/>
            <a:ext cx="1371749" cy="336352"/>
          </a:xfrm>
          <a:prstGeom prst="roundRect">
            <a:avLst>
              <a:gd name="adj" fmla="val 52861"/>
            </a:avLst>
          </a:prstGeom>
          <a:solidFill>
            <a:srgbClr val="8250DF"/>
          </a:solidFill>
          <a:ln w="9525">
            <a:solidFill>
              <a:srgbClr val="8250DF"/>
            </a:solidFill>
          </a:ln>
        </p:spPr>
        <p:txBody>
          <a:bodyPr wrap="square" rtlCol="0" anchor="ctr"/>
          <a:lstStyle/>
          <a:p>
            <a:pPr indent="0" marL="0">
              <a:buNone/>
            </a:pPr>
            <a:endParaRPr lang="en-US" dirty="0"/>
          </a:p>
        </p:txBody>
      </p:sp>
      <p:sp>
        <p:nvSpPr>
          <p:cNvPr id="17" name="Text 13"/>
          <p:cNvSpPr/>
          <p:nvPr/>
        </p:nvSpPr>
        <p:spPr>
          <a:xfrm>
            <a:off x="1865709"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18" name="Text 14"/>
          <p:cNvSpPr/>
          <p:nvPr/>
        </p:nvSpPr>
        <p:spPr>
          <a:xfrm>
            <a:off x="1932116" y="4479727"/>
            <a:ext cx="57686" cy="114300"/>
          </a:xfrm>
          <a:prstGeom prst="rect">
            <a:avLst/>
          </a:prstGeom>
          <a:noFill/>
          <a:ln/>
        </p:spPr>
        <p:txBody>
          <a:bodyPr wrap="square" lIns="0" tIns="0" rIns="0" bIns="0" rtlCol="0" anchor="t"/>
          <a:lstStyle/>
          <a:p>
            <a:pPr algn="ctr" indent="0" marL="0">
              <a:buNone/>
            </a:pPr>
            <a:r>
              <a:rPr lang="en-US" sz="800" b="1" dirty="0">
                <a:solidFill>
                  <a:srgbClr val="8250DF"/>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132409" y="4470202"/>
            <a:ext cx="900505"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React storefront</a:t>
            </a:r>
            <a:endParaRPr lang="en-US" sz="900" dirty="0"/>
          </a:p>
        </p:txBody>
      </p:sp>
      <p:sp>
        <p:nvSpPr>
          <p:cNvPr id="20" name="Text 16"/>
          <p:cNvSpPr/>
          <p:nvPr/>
        </p:nvSpPr>
        <p:spPr>
          <a:xfrm>
            <a:off x="3253234" y="4368701"/>
            <a:ext cx="852934"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33895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40536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05659" y="4470202"/>
            <a:ext cx="371314"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Add AI</a:t>
            </a:r>
            <a:endParaRPr lang="en-US" sz="900" dirty="0"/>
          </a:p>
        </p:txBody>
      </p:sp>
      <p:sp>
        <p:nvSpPr>
          <p:cNvPr id="24" name="Text 20"/>
          <p:cNvSpPr/>
          <p:nvPr/>
        </p:nvSpPr>
        <p:spPr>
          <a:xfrm>
            <a:off x="4207669" y="4368701"/>
            <a:ext cx="1354782"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4293394"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6" name="Text 22"/>
          <p:cNvSpPr/>
          <p:nvPr/>
        </p:nvSpPr>
        <p:spPr>
          <a:xfrm>
            <a:off x="4359801"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4</a:t>
            </a:r>
            <a:endParaRPr lang="en-US" sz="800" dirty="0"/>
          </a:p>
        </p:txBody>
      </p:sp>
      <p:sp>
        <p:nvSpPr>
          <p:cNvPr id="27" name="Text 23"/>
          <p:cNvSpPr/>
          <p:nvPr/>
        </p:nvSpPr>
        <p:spPr>
          <a:xfrm>
            <a:off x="4560094" y="4470202"/>
            <a:ext cx="8832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Deploy to Azure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BUILD THE STOREFRONT</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React, whatever the API language</a:t>
            </a:r>
            <a:endParaRPr lang="en-US" sz="2600" dirty="0"/>
          </a:p>
        </p:txBody>
      </p:sp>
      <p:sp>
        <p:nvSpPr>
          <p:cNvPr id="7" name="Text 4"/>
          <p:cNvSpPr/>
          <p:nvPr/>
        </p:nvSpPr>
        <p:spPr>
          <a:xfrm>
            <a:off x="634901" y="1550343"/>
            <a:ext cx="7873901" cy="2969716"/>
          </a:xfrm>
          <a:prstGeom prst="roundRect">
            <a:avLst>
              <a:gd name="adj" fmla="val 3421"/>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555105"/>
            <a:ext cx="7873901" cy="0"/>
          </a:xfrm>
          <a:prstGeom prst="line">
            <a:avLst/>
          </a:prstGeom>
          <a:noFill/>
          <a:ln w="9525">
            <a:solidFill>
              <a:srgbClr val="E0C5FF"/>
            </a:solidFill>
            <a:prstDash val="solid"/>
          </a:ln>
        </p:spPr>
      </p:sp>
      <p:sp>
        <p:nvSpPr>
          <p:cNvPr id="9" name="Shape 6"/>
          <p:cNvSpPr/>
          <p:nvPr/>
        </p:nvSpPr>
        <p:spPr>
          <a:xfrm>
            <a:off x="8504039" y="1550343"/>
            <a:ext cx="0" cy="2969716"/>
          </a:xfrm>
          <a:prstGeom prst="line">
            <a:avLst/>
          </a:prstGeom>
          <a:noFill/>
          <a:ln w="9525">
            <a:solidFill>
              <a:srgbClr val="E0C5FF"/>
            </a:solidFill>
            <a:prstDash val="solid"/>
          </a:ln>
        </p:spPr>
      </p:sp>
      <p:sp>
        <p:nvSpPr>
          <p:cNvPr id="10" name="Shape 7"/>
          <p:cNvSpPr/>
          <p:nvPr/>
        </p:nvSpPr>
        <p:spPr>
          <a:xfrm>
            <a:off x="634901" y="4515296"/>
            <a:ext cx="7873901" cy="0"/>
          </a:xfrm>
          <a:prstGeom prst="line">
            <a:avLst/>
          </a:prstGeom>
          <a:noFill/>
          <a:ln w="9525">
            <a:solidFill>
              <a:srgbClr val="E0C5FF"/>
            </a:solidFill>
            <a:prstDash val="solid"/>
          </a:ln>
        </p:spPr>
      </p:sp>
      <p:sp>
        <p:nvSpPr>
          <p:cNvPr id="11" name="Shape 8"/>
          <p:cNvSpPr/>
          <p:nvPr/>
        </p:nvSpPr>
        <p:spPr>
          <a:xfrm>
            <a:off x="663476" y="1550343"/>
            <a:ext cx="0" cy="296971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1763018"/>
            <a:ext cx="165050" cy="165050"/>
          </a:xfrm>
          <a:prstGeom prst="rect">
            <a:avLst/>
          </a:prstGeom>
        </p:spPr>
      </p:pic>
      <p:sp>
        <p:nvSpPr>
          <p:cNvPr id="13" name="Text 9"/>
          <p:cNvSpPr/>
          <p:nvPr/>
        </p:nvSpPr>
        <p:spPr>
          <a:xfrm>
            <a:off x="1187202" y="1778794"/>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029569"/>
            <a:ext cx="7445413" cy="486966"/>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Create a React frontend for AIMarket in a client/ directory using Vite, TypeScript, and Tailwind CSS. … Read PLAN.md and the "Frontend" section in PLAN-phase2-storefront.md. Build:</a:t>
            </a:r>
            <a:endParaRPr lang="en-US" sz="1350" dirty="0"/>
          </a:p>
        </p:txBody>
      </p:sp>
      <p:sp>
        <p:nvSpPr>
          <p:cNvPr id="15" name="Text 11"/>
          <p:cNvSpPr/>
          <p:nvPr/>
        </p:nvSpPr>
        <p:spPr>
          <a:xfrm>
            <a:off x="996702" y="2661493"/>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16" name="Text 12"/>
          <p:cNvSpPr/>
          <p:nvPr/>
        </p:nvSpPr>
        <p:spPr>
          <a:xfrm>
            <a:off x="1148953" y="2567285"/>
            <a:ext cx="4034361"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Product grid page with filtering and category buttons</a:t>
            </a:r>
            <a:endParaRPr lang="en-US" sz="1350" dirty="0"/>
          </a:p>
        </p:txBody>
      </p:sp>
      <p:sp>
        <p:nvSpPr>
          <p:cNvPr id="17" name="Text 13"/>
          <p:cNvSpPr/>
          <p:nvPr/>
        </p:nvSpPr>
        <p:spPr>
          <a:xfrm>
            <a:off x="996702" y="2955727"/>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18" name="Text 14"/>
          <p:cNvSpPr/>
          <p:nvPr/>
        </p:nvSpPr>
        <p:spPr>
          <a:xfrm>
            <a:off x="1148953" y="2861518"/>
            <a:ext cx="2790170"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Product detail page with Add to Cart</a:t>
            </a:r>
            <a:endParaRPr lang="en-US" sz="1350" dirty="0"/>
          </a:p>
        </p:txBody>
      </p:sp>
      <p:sp>
        <p:nvSpPr>
          <p:cNvPr id="19" name="Text 15"/>
          <p:cNvSpPr/>
          <p:nvPr/>
        </p:nvSpPr>
        <p:spPr>
          <a:xfrm>
            <a:off x="996702" y="3249960"/>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20" name="Text 16"/>
          <p:cNvSpPr/>
          <p:nvPr/>
        </p:nvSpPr>
        <p:spPr>
          <a:xfrm>
            <a:off x="1148953" y="3155752"/>
            <a:ext cx="2858027"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Shopping cart page with Place Order</a:t>
            </a:r>
            <a:endParaRPr lang="en-US" sz="1350" dirty="0"/>
          </a:p>
        </p:txBody>
      </p:sp>
      <p:sp>
        <p:nvSpPr>
          <p:cNvPr id="21" name="Text 17"/>
          <p:cNvSpPr/>
          <p:nvPr/>
        </p:nvSpPr>
        <p:spPr>
          <a:xfrm>
            <a:off x="996702" y="3544193"/>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22" name="Text 18"/>
          <p:cNvSpPr/>
          <p:nvPr/>
        </p:nvSpPr>
        <p:spPr>
          <a:xfrm>
            <a:off x="1148953" y="3449985"/>
            <a:ext cx="2022038"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A ChatWidget placeholder</a:t>
            </a:r>
            <a:endParaRPr lang="en-US" sz="1350" dirty="0"/>
          </a:p>
        </p:txBody>
      </p:sp>
      <p:sp>
        <p:nvSpPr>
          <p:cNvPr id="23" name="Text 19"/>
          <p:cNvSpPr/>
          <p:nvPr/>
        </p:nvSpPr>
        <p:spPr>
          <a:xfrm>
            <a:off x="945952" y="3744218"/>
            <a:ext cx="7445413" cy="243483"/>
          </a:xfrm>
          <a:prstGeom prst="rect">
            <a:avLst/>
          </a:prstGeom>
          <a:noFill/>
          <a:ln/>
        </p:spPr>
        <p:txBody>
          <a:bodyPr wrap="square" lIns="0" tIns="0" rIns="0" bIns="0" rtlCol="0" anchor="t"/>
          <a:lstStyle/>
          <a:p>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Do not implement AI Search or AI chat yet.</a:t>
            </a:r>
            <a:endParaRPr lang="en-US" sz="1350" dirty="0"/>
          </a:p>
        </p:txBody>
      </p:sp>
      <p:sp>
        <p:nvSpPr>
          <p:cNvPr id="24" name="Text 20"/>
          <p:cNvSpPr/>
          <p:nvPr/>
        </p:nvSpPr>
        <p:spPr>
          <a:xfrm>
            <a:off x="945952" y="4038451"/>
            <a:ext cx="7445413"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Set up a Vite proxy so /api requests go to the API.</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PROVE IT IN THE BROWSER</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One command to run. One to test.</a:t>
            </a:r>
            <a:endParaRPr lang="en-US" sz="2600" dirty="0"/>
          </a:p>
        </p:txBody>
      </p:sp>
      <p:sp>
        <p:nvSpPr>
          <p:cNvPr id="7" name="Text 4"/>
          <p:cNvSpPr/>
          <p:nvPr/>
        </p:nvSpPr>
        <p:spPr>
          <a:xfrm>
            <a:off x="1015901" y="1655713"/>
            <a:ext cx="7111901" cy="2263527"/>
          </a:xfrm>
          <a:prstGeom prst="roundRect">
            <a:avLst>
              <a:gd name="adj" fmla="val 4489"/>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655713"/>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738164"/>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738164"/>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738164"/>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725513"/>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244501" y="2087314"/>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npm run app</a:t>
            </a:r>
            <a:endParaRPr lang="en-US" sz="1500" dirty="0"/>
          </a:p>
        </p:txBody>
      </p:sp>
      <p:sp>
        <p:nvSpPr>
          <p:cNvPr id="14" name="Text 11"/>
          <p:cNvSpPr/>
          <p:nvPr/>
        </p:nvSpPr>
        <p:spPr>
          <a:xfrm>
            <a:off x="1244501" y="2382589"/>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API and React start together</a:t>
            </a:r>
            <a:endParaRPr lang="en-US" sz="1500" dirty="0"/>
          </a:p>
        </p:txBody>
      </p:sp>
      <p:sp>
        <p:nvSpPr>
          <p:cNvPr id="15" name="Text 12"/>
          <p:cNvSpPr/>
          <p:nvPr/>
        </p:nvSpPr>
        <p:spPr>
          <a:xfrm>
            <a:off x="1244501" y="2830264"/>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npm run test:e2e</a:t>
            </a:r>
            <a:endParaRPr lang="en-US" sz="1500" dirty="0"/>
          </a:p>
        </p:txBody>
      </p:sp>
      <p:sp>
        <p:nvSpPr>
          <p:cNvPr id="16" name="Text 13"/>
          <p:cNvSpPr/>
          <p:nvPr/>
        </p:nvSpPr>
        <p:spPr>
          <a:xfrm>
            <a:off x="1244501" y="3125539"/>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Playwright: 10 cards, search, filters,</a:t>
            </a:r>
            <a:endParaRPr lang="en-US" sz="1500" dirty="0"/>
          </a:p>
        </p:txBody>
      </p:sp>
      <p:sp>
        <p:nvSpPr>
          <p:cNvPr id="17" name="Text 14"/>
          <p:cNvSpPr/>
          <p:nvPr/>
        </p:nvSpPr>
        <p:spPr>
          <a:xfrm>
            <a:off x="1244501" y="3420814"/>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cart totals, and order confirmation</a:t>
            </a:r>
            <a:endParaRPr lang="en-US" sz="1500" dirty="0"/>
          </a:p>
        </p:txBody>
      </p:sp>
      <p:pic>
        <p:nvPicPr>
          <p:cNvPr id="18" name="Image 1" descr="/Users/danwahlin/.copilot/session-state/a2da67da-2d7a-45f2-aa6a-2a42a7b82a72/files/build/icons/FaGithub-1F2328.png">    </p:cNvPr>
          <p:cNvPicPr>
            <a:picLocks noChangeAspect="1"/>
          </p:cNvPicPr>
          <p:nvPr/>
        </p:nvPicPr>
        <p:blipFill>
          <a:blip r:embed="rId2"/>
          <a:stretch>
            <a:fillRect/>
          </a:stretch>
        </p:blipFill>
        <p:spPr>
          <a:xfrm>
            <a:off x="1015901" y="4160490"/>
            <a:ext cx="190500" cy="190500"/>
          </a:xfrm>
          <a:prstGeom prst="rect">
            <a:avLst/>
          </a:prstGeom>
        </p:spPr>
      </p:pic>
      <p:sp>
        <p:nvSpPr>
          <p:cNvPr id="19" name="Text 15"/>
          <p:cNvSpPr/>
          <p:nvPr/>
        </p:nvSpPr>
        <p:spPr>
          <a:xfrm>
            <a:off x="1307902" y="4147840"/>
            <a:ext cx="5740950" cy="215950"/>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Then push to a private GitHub repo so a cloud agent can help in the next phase.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1A7F37"/>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1A7F37"/>
                </a:solidFill>
                <a:latin typeface="Arial" pitchFamily="34" charset="0"/>
                <a:ea typeface="Arial" pitchFamily="34" charset="-122"/>
                <a:cs typeface="Arial" pitchFamily="34" charset="-120"/>
              </a:rPr>
              <a:t>03</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3 OF 4</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Add AI</a:t>
            </a:r>
            <a:endParaRPr lang="en-US" sz="3000" dirty="0"/>
          </a:p>
        </p:txBody>
      </p:sp>
      <p:sp>
        <p:nvSpPr>
          <p:cNvPr id="9" name="Text 6"/>
          <p:cNvSpPr/>
          <p:nvPr/>
        </p:nvSpPr>
        <p:spPr>
          <a:xfrm>
            <a:off x="558701" y="2606427"/>
            <a:ext cx="3886200" cy="48250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Semantic search and a shopping assistant grounded in the real catalog.</a:t>
            </a:r>
            <a:endParaRPr lang="en-US" sz="1400" dirty="0"/>
          </a:p>
        </p:txBody>
      </p:sp>
      <p:sp>
        <p:nvSpPr>
          <p:cNvPr id="10" name="Text 7"/>
          <p:cNvSpPr/>
          <p:nvPr/>
        </p:nvSpPr>
        <p:spPr>
          <a:xfrm>
            <a:off x="4854476" y="1261021"/>
            <a:ext cx="3803600" cy="2227511"/>
          </a:xfrm>
          <a:prstGeom prst="roundRect">
            <a:avLst>
              <a:gd name="adj" fmla="val 4561"/>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11" name="Image 1" descr="/Users/danwahlin/.copilot/session-state/a2da67da-2d7a-45f2-aa6a-2a42a7b82a72/files/build/img/aimarket-ai-search-and-chat.png">    </p:cNvPr>
          <p:cNvPicPr>
            <a:picLocks noChangeAspect="1"/>
          </p:cNvPicPr>
          <p:nvPr/>
        </p:nvPicPr>
        <p:blipFill>
          <a:blip r:embed="rId2"/>
          <a:stretch>
            <a:fillRect/>
          </a:stretch>
        </p:blipFill>
        <p:spPr>
          <a:xfrm>
            <a:off x="4902101" y="1308646"/>
            <a:ext cx="3708350" cy="2132261"/>
          </a:xfrm>
          <a:prstGeom prst="rect">
            <a:avLst/>
          </a:prstGeom>
        </p:spPr>
      </p:pic>
      <p:sp>
        <p:nvSpPr>
          <p:cNvPr id="12" name="Text 8"/>
          <p:cNvSpPr/>
          <p:nvPr/>
        </p:nvSpPr>
        <p:spPr>
          <a:xfrm>
            <a:off x="558701" y="4368701"/>
            <a:ext cx="1119783"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6435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Spec to API</a:t>
            </a:r>
            <a:endParaRPr lang="en-US" sz="900" dirty="0"/>
          </a:p>
        </p:txBody>
      </p:sp>
      <p:sp>
        <p:nvSpPr>
          <p:cNvPr id="16" name="Text 12"/>
          <p:cNvSpPr/>
          <p:nvPr/>
        </p:nvSpPr>
        <p:spPr>
          <a:xfrm>
            <a:off x="1779984" y="4368701"/>
            <a:ext cx="1371749"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186570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8" name="Text 14"/>
          <p:cNvSpPr/>
          <p:nvPr/>
        </p:nvSpPr>
        <p:spPr>
          <a:xfrm>
            <a:off x="193211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132409" y="4470202"/>
            <a:ext cx="900505"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React storefront</a:t>
            </a:r>
            <a:endParaRPr lang="en-US" sz="900" dirty="0"/>
          </a:p>
        </p:txBody>
      </p:sp>
      <p:sp>
        <p:nvSpPr>
          <p:cNvPr id="20" name="Text 16"/>
          <p:cNvSpPr/>
          <p:nvPr/>
        </p:nvSpPr>
        <p:spPr>
          <a:xfrm>
            <a:off x="3253234" y="4368701"/>
            <a:ext cx="852934" cy="336352"/>
          </a:xfrm>
          <a:prstGeom prst="roundRect">
            <a:avLst>
              <a:gd name="adj" fmla="val 52861"/>
            </a:avLst>
          </a:prstGeom>
          <a:solidFill>
            <a:srgbClr val="1A7F37"/>
          </a:solidFill>
          <a:ln w="9525">
            <a:solidFill>
              <a:srgbClr val="1A7F37"/>
            </a:solidFill>
          </a:ln>
        </p:spPr>
        <p:txBody>
          <a:bodyPr wrap="square" rtlCol="0" anchor="ctr"/>
          <a:lstStyle/>
          <a:p>
            <a:pPr indent="0" marL="0">
              <a:buNone/>
            </a:pPr>
            <a:endParaRPr lang="en-US" dirty="0"/>
          </a:p>
        </p:txBody>
      </p:sp>
      <p:sp>
        <p:nvSpPr>
          <p:cNvPr id="21" name="Text 17"/>
          <p:cNvSpPr/>
          <p:nvPr/>
        </p:nvSpPr>
        <p:spPr>
          <a:xfrm>
            <a:off x="3338959"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22" name="Text 18"/>
          <p:cNvSpPr/>
          <p:nvPr/>
        </p:nvSpPr>
        <p:spPr>
          <a:xfrm>
            <a:off x="3405366" y="4479727"/>
            <a:ext cx="57686" cy="114300"/>
          </a:xfrm>
          <a:prstGeom prst="rect">
            <a:avLst/>
          </a:prstGeom>
          <a:noFill/>
          <a:ln/>
        </p:spPr>
        <p:txBody>
          <a:bodyPr wrap="square" lIns="0" tIns="0" rIns="0" bIns="0" rtlCol="0" anchor="t"/>
          <a:lstStyle/>
          <a:p>
            <a:pPr algn="ctr" indent="0" marL="0">
              <a:buNone/>
            </a:pPr>
            <a:r>
              <a:rPr lang="en-US" sz="800" b="1" dirty="0">
                <a:solidFill>
                  <a:srgbClr val="1A7F37"/>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05659" y="4470202"/>
            <a:ext cx="371314"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Add AI</a:t>
            </a:r>
            <a:endParaRPr lang="en-US" sz="900" dirty="0"/>
          </a:p>
        </p:txBody>
      </p:sp>
      <p:sp>
        <p:nvSpPr>
          <p:cNvPr id="24" name="Text 20"/>
          <p:cNvSpPr/>
          <p:nvPr/>
        </p:nvSpPr>
        <p:spPr>
          <a:xfrm>
            <a:off x="4207669" y="4368701"/>
            <a:ext cx="1354782"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4293394"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6" name="Text 22"/>
          <p:cNvSpPr/>
          <p:nvPr/>
        </p:nvSpPr>
        <p:spPr>
          <a:xfrm>
            <a:off x="4359801"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4</a:t>
            </a:r>
            <a:endParaRPr lang="en-US" sz="800" dirty="0"/>
          </a:p>
        </p:txBody>
      </p:sp>
      <p:sp>
        <p:nvSpPr>
          <p:cNvPr id="27" name="Text 23"/>
          <p:cNvSpPr/>
          <p:nvPr/>
        </p:nvSpPr>
        <p:spPr>
          <a:xfrm>
            <a:off x="4560094" y="4470202"/>
            <a:ext cx="8832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Deploy to Azure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CHOOSE HOW TO BUILD IT</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Three ways to build the assistant</a:t>
            </a:r>
            <a:endParaRPr lang="en-US" sz="2600" dirty="0"/>
          </a:p>
        </p:txBody>
      </p:sp>
      <p:pic>
        <p:nvPicPr>
          <p:cNvPr id="7" name="Image 1" descr="/Users/danwahlin/.copilot/session-state/a2da67da-2d7a-45f2-aa6a-2a42a7b82a72/files/build/img/aimarket-build-options.png">    </p:cNvPr>
          <p:cNvPicPr>
            <a:picLocks noChangeAspect="1"/>
          </p:cNvPicPr>
          <p:nvPr/>
        </p:nvPicPr>
        <p:blipFill>
          <a:blip r:embed="rId2"/>
          <a:stretch>
            <a:fillRect/>
          </a:stretch>
        </p:blipFill>
        <p:spPr>
          <a:xfrm>
            <a:off x="1895921" y="1219051"/>
            <a:ext cx="5351711" cy="3581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HAND IT OFF</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Delegate while you keep building</a:t>
            </a:r>
            <a:endParaRPr lang="en-US" sz="2600" dirty="0"/>
          </a:p>
        </p:txBody>
      </p:sp>
      <p:sp>
        <p:nvSpPr>
          <p:cNvPr id="7" name="Text 4"/>
          <p:cNvSpPr/>
          <p:nvPr/>
        </p:nvSpPr>
        <p:spPr>
          <a:xfrm>
            <a:off x="634901" y="1655415"/>
            <a:ext cx="7873901" cy="2353419"/>
          </a:xfrm>
          <a:prstGeom prst="roundRect">
            <a:avLst>
              <a:gd name="adj" fmla="val 4317"/>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660178"/>
            <a:ext cx="7873901" cy="0"/>
          </a:xfrm>
          <a:prstGeom prst="line">
            <a:avLst/>
          </a:prstGeom>
          <a:noFill/>
          <a:ln w="9525">
            <a:solidFill>
              <a:srgbClr val="E0C5FF"/>
            </a:solidFill>
            <a:prstDash val="solid"/>
          </a:ln>
        </p:spPr>
      </p:sp>
      <p:sp>
        <p:nvSpPr>
          <p:cNvPr id="9" name="Shape 6"/>
          <p:cNvSpPr/>
          <p:nvPr/>
        </p:nvSpPr>
        <p:spPr>
          <a:xfrm>
            <a:off x="8504039" y="1655415"/>
            <a:ext cx="0" cy="2353419"/>
          </a:xfrm>
          <a:prstGeom prst="line">
            <a:avLst/>
          </a:prstGeom>
          <a:noFill/>
          <a:ln w="9525">
            <a:solidFill>
              <a:srgbClr val="E0C5FF"/>
            </a:solidFill>
            <a:prstDash val="solid"/>
          </a:ln>
        </p:spPr>
      </p:sp>
      <p:sp>
        <p:nvSpPr>
          <p:cNvPr id="10" name="Shape 7"/>
          <p:cNvSpPr/>
          <p:nvPr/>
        </p:nvSpPr>
        <p:spPr>
          <a:xfrm>
            <a:off x="634901" y="4004072"/>
            <a:ext cx="7873901" cy="0"/>
          </a:xfrm>
          <a:prstGeom prst="line">
            <a:avLst/>
          </a:prstGeom>
          <a:noFill/>
          <a:ln w="9525">
            <a:solidFill>
              <a:srgbClr val="E0C5FF"/>
            </a:solidFill>
            <a:prstDash val="solid"/>
          </a:ln>
        </p:spPr>
      </p:sp>
      <p:sp>
        <p:nvSpPr>
          <p:cNvPr id="11" name="Shape 8"/>
          <p:cNvSpPr/>
          <p:nvPr/>
        </p:nvSpPr>
        <p:spPr>
          <a:xfrm>
            <a:off x="663476" y="1655415"/>
            <a:ext cx="0" cy="2353419"/>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1868091"/>
            <a:ext cx="165050" cy="165050"/>
          </a:xfrm>
          <a:prstGeom prst="rect">
            <a:avLst/>
          </a:prstGeom>
        </p:spPr>
      </p:pic>
      <p:sp>
        <p:nvSpPr>
          <p:cNvPr id="13" name="Text 9"/>
          <p:cNvSpPr/>
          <p:nvPr/>
        </p:nvSpPr>
        <p:spPr>
          <a:xfrm>
            <a:off x="1187202" y="1883866"/>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147292"/>
            <a:ext cx="7445413" cy="1623417"/>
          </a:xfrm>
          <a:prstGeom prst="rect">
            <a:avLst/>
          </a:prstGeom>
          <a:noFill/>
          <a:ln/>
        </p:spPr>
        <p:txBody>
          <a:bodyPr wrap="square" lIns="0" tIns="0" rIns="0" bIns="0" rtlCol="0" anchor="t"/>
          <a:lstStyle/>
          <a:p>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/delegate</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Create the AI shopping assistant for AIMarket. Read journeys/aimarket/PLAN.md, PLAN-phase2-storefront.md, and PLAN-phase3-ai.md in the pushed repository. Implement the requirements in "Shopping Assistant," including POST /api/chat. Implement the frontend requirements in "ChatWidget: Shared Layout" and "ChatWidget: AI Integration." … Verify the implementation against all referenced plan requirements.</a:t>
            </a:r>
            <a:endParaRPr lang="en-US" sz="1500" dirty="0"/>
          </a:p>
        </p:txBody>
      </p:sp>
      <p:pic>
        <p:nvPicPr>
          <p:cNvPr id="15" name="Image 2" descr="/Users/danwahlin/.copilot/session-state/a2da67da-2d7a-45f2-aa6a-2a42a7b82a72/files/build/icons/GoGitPullRequest-1A7F37.png">    </p:cNvPr>
          <p:cNvPicPr>
            <a:picLocks noChangeAspect="1"/>
          </p:cNvPicPr>
          <p:nvPr/>
        </p:nvPicPr>
        <p:blipFill>
          <a:blip r:embed="rId3"/>
          <a:stretch>
            <a:fillRect/>
          </a:stretch>
        </p:blipFill>
        <p:spPr>
          <a:xfrm>
            <a:off x="634901" y="4224635"/>
            <a:ext cx="177701" cy="177701"/>
          </a:xfrm>
          <a:prstGeom prst="rect">
            <a:avLst/>
          </a:prstGeom>
        </p:spPr>
      </p:pic>
      <p:sp>
        <p:nvSpPr>
          <p:cNvPr id="16" name="Text 11"/>
          <p:cNvSpPr/>
          <p:nvPr/>
        </p:nvSpPr>
        <p:spPr>
          <a:xfrm>
            <a:off x="914102" y="4211985"/>
            <a:ext cx="4369850" cy="203150"/>
          </a:xfrm>
          <a:prstGeom prst="rect">
            <a:avLst/>
          </a:prstGeom>
          <a:noFill/>
          <a:ln/>
        </p:spPr>
        <p:txBody>
          <a:bodyPr wrap="square" lIns="0" tIns="0" rIns="0" bIns="0" rtlCol="0" anchor="t"/>
          <a:lstStyle/>
          <a:p>
            <a:pPr algn="l" indent="0" marL="0">
              <a:lnSpc>
                <a:spcPts val="1600"/>
              </a:lnSpc>
              <a:buNone/>
            </a:pPr>
            <a:r>
              <a:rPr lang="en-US" sz="1200" dirty="0">
                <a:solidFill>
                  <a:srgbClr val="59636E"/>
                </a:solidFill>
                <a:latin typeface="Arial" pitchFamily="34" charset="0"/>
                <a:ea typeface="Arial" pitchFamily="34" charset="-122"/>
                <a:cs typeface="Arial" pitchFamily="34" charset="-120"/>
              </a:rPr>
              <a:t>The cloud agent opens a pull request. You keep working locally.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GROUNDED ANSWERS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The assistant only knows your catalog</a:t>
            </a:r>
            <a:endParaRPr lang="en-US" sz="2600" dirty="0"/>
          </a:p>
        </p:txBody>
      </p:sp>
      <p:pic>
        <p:nvPicPr>
          <p:cNvPr id="7" name="Image 1" descr="/Users/danwahlin/.copilot/session-state/a2da67da-2d7a-45f2-aa6a-2a42a7b82a72/files/build/img/aimarket-grounded-assistant.png">    </p:cNvPr>
          <p:cNvPicPr>
            <a:picLocks noChangeAspect="1"/>
          </p:cNvPicPr>
          <p:nvPr/>
        </p:nvPicPr>
        <p:blipFill>
          <a:blip r:embed="rId2"/>
          <a:stretch>
            <a:fillRect/>
          </a:stretch>
        </p:blipFill>
        <p:spPr>
          <a:xfrm>
            <a:off x="1505396" y="1346002"/>
            <a:ext cx="6132761" cy="33273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SEMANTIC SEARCH</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Search by meaning, not keywords</a:t>
            </a:r>
            <a:endParaRPr lang="en-US" sz="2600" dirty="0"/>
          </a:p>
        </p:txBody>
      </p:sp>
      <p:pic>
        <p:nvPicPr>
          <p:cNvPr id="7" name="Image 1" descr="/Users/danwahlin/.copilot/session-state/a2da67da-2d7a-45f2-aa6a-2a42a7b82a72/files/build/img/aimarket-semantic-search.png">    </p:cNvPr>
          <p:cNvPicPr>
            <a:picLocks noChangeAspect="1"/>
          </p:cNvPicPr>
          <p:nvPr/>
        </p:nvPicPr>
        <p:blipFill>
          <a:blip r:embed="rId2"/>
          <a:stretch>
            <a:fillRect/>
          </a:stretch>
        </p:blipFill>
        <p:spPr>
          <a:xfrm>
            <a:off x="1422946" y="1346002"/>
            <a:ext cx="6297811" cy="33273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BEFORE INFRASTRUCTURE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Review the whole app against the spec</a:t>
            </a:r>
            <a:endParaRPr lang="en-US" sz="2600" dirty="0"/>
          </a:p>
        </p:txBody>
      </p:sp>
      <p:sp>
        <p:nvSpPr>
          <p:cNvPr id="7" name="Text 4"/>
          <p:cNvSpPr/>
          <p:nvPr/>
        </p:nvSpPr>
        <p:spPr>
          <a:xfrm>
            <a:off x="634901" y="1925985"/>
            <a:ext cx="7873901" cy="1812280"/>
          </a:xfrm>
          <a:prstGeom prst="roundRect">
            <a:avLst>
              <a:gd name="adj" fmla="val 5606"/>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930747"/>
            <a:ext cx="7873901" cy="0"/>
          </a:xfrm>
          <a:prstGeom prst="line">
            <a:avLst/>
          </a:prstGeom>
          <a:noFill/>
          <a:ln w="9525">
            <a:solidFill>
              <a:srgbClr val="E0C5FF"/>
            </a:solidFill>
            <a:prstDash val="solid"/>
          </a:ln>
        </p:spPr>
      </p:sp>
      <p:sp>
        <p:nvSpPr>
          <p:cNvPr id="9" name="Shape 6"/>
          <p:cNvSpPr/>
          <p:nvPr/>
        </p:nvSpPr>
        <p:spPr>
          <a:xfrm>
            <a:off x="8504039" y="1925985"/>
            <a:ext cx="0" cy="1812280"/>
          </a:xfrm>
          <a:prstGeom prst="line">
            <a:avLst/>
          </a:prstGeom>
          <a:noFill/>
          <a:ln w="9525">
            <a:solidFill>
              <a:srgbClr val="E0C5FF"/>
            </a:solidFill>
            <a:prstDash val="solid"/>
          </a:ln>
        </p:spPr>
      </p:sp>
      <p:sp>
        <p:nvSpPr>
          <p:cNvPr id="10" name="Shape 7"/>
          <p:cNvSpPr/>
          <p:nvPr/>
        </p:nvSpPr>
        <p:spPr>
          <a:xfrm>
            <a:off x="634901" y="3733502"/>
            <a:ext cx="7873901" cy="0"/>
          </a:xfrm>
          <a:prstGeom prst="line">
            <a:avLst/>
          </a:prstGeom>
          <a:noFill/>
          <a:ln w="9525">
            <a:solidFill>
              <a:srgbClr val="E0C5FF"/>
            </a:solidFill>
            <a:prstDash val="solid"/>
          </a:ln>
        </p:spPr>
      </p:sp>
      <p:sp>
        <p:nvSpPr>
          <p:cNvPr id="11" name="Shape 8"/>
          <p:cNvSpPr/>
          <p:nvPr/>
        </p:nvSpPr>
        <p:spPr>
          <a:xfrm>
            <a:off x="663476" y="1925985"/>
            <a:ext cx="0" cy="1812280"/>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138660"/>
            <a:ext cx="165050" cy="165050"/>
          </a:xfrm>
          <a:prstGeom prst="rect">
            <a:avLst/>
          </a:prstGeom>
        </p:spPr>
      </p:pic>
      <p:sp>
        <p:nvSpPr>
          <p:cNvPr id="13" name="Text 9"/>
          <p:cNvSpPr/>
          <p:nvPr/>
        </p:nvSpPr>
        <p:spPr>
          <a:xfrm>
            <a:off x="1187202" y="2154436"/>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945952" y="2417862"/>
            <a:ext cx="7445413" cy="1082278"/>
          </a:xfrm>
          <a:prstGeom prst="rect">
            <a:avLst/>
          </a:prstGeom>
          <a:noFill/>
          <a:ln/>
        </p:spPr>
        <p:txBody>
          <a:bodyPr wrap="square" lIns="0" tIns="0" rIns="0" bIns="0" rtlCol="0" anchor="t"/>
          <a:lstStyle/>
          <a:p>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/review</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Review the completed AIMarket implementation against PLAN.md and all four PLAN-phase*.md files. The Phase 4 infrastructure comes next, so for Phase 4 check only that the app is ready for it. Identify missing or incorrectly implemented requirements and correctness, security, or reliability issues.</a:t>
            </a:r>
            <a:endParaRPr lang="en-US" sz="1500" dirty="0"/>
          </a:p>
        </p:txBody>
      </p:sp>
      <p:pic>
        <p:nvPicPr>
          <p:cNvPr id="15" name="Image 2" descr="/Users/danwahlin/.copilot/session-state/a2da67da-2d7a-45f2-aa6a-2a42a7b82a72/files/build/icons/GoEye-1A7F37.png">    </p:cNvPr>
          <p:cNvPicPr>
            <a:picLocks noChangeAspect="1"/>
          </p:cNvPicPr>
          <p:nvPr/>
        </p:nvPicPr>
        <p:blipFill>
          <a:blip r:embed="rId3"/>
          <a:stretch>
            <a:fillRect/>
          </a:stretch>
        </p:blipFill>
        <p:spPr>
          <a:xfrm>
            <a:off x="634901" y="3954066"/>
            <a:ext cx="177701" cy="177701"/>
          </a:xfrm>
          <a:prstGeom prst="rect">
            <a:avLst/>
          </a:prstGeom>
        </p:spPr>
      </p:pic>
      <p:sp>
        <p:nvSpPr>
          <p:cNvPr id="16" name="Text 11"/>
          <p:cNvSpPr/>
          <p:nvPr/>
        </p:nvSpPr>
        <p:spPr>
          <a:xfrm>
            <a:off x="914102" y="3941415"/>
            <a:ext cx="5348838" cy="203150"/>
          </a:xfrm>
          <a:prstGeom prst="rect">
            <a:avLst/>
          </a:prstGeom>
          <a:noFill/>
          <a:ln/>
        </p:spPr>
        <p:txBody>
          <a:bodyPr wrap="square" lIns="0" tIns="0" rIns="0" bIns="0" rtlCol="0" anchor="t"/>
          <a:lstStyle/>
          <a:p>
            <a:pPr algn="l" indent="0" marL="0">
              <a:lnSpc>
                <a:spcPts val="1600"/>
              </a:lnSpc>
              <a:buNone/>
            </a:pPr>
            <a:r>
              <a:rPr lang="en-US" sz="1200" dirty="0">
                <a:solidFill>
                  <a:srgbClr val="59636E"/>
                </a:solidFill>
                <a:latin typeface="Arial" pitchFamily="34" charset="0"/>
                <a:ea typeface="Arial" pitchFamily="34" charset="-122"/>
                <a:cs typeface="Arial" pitchFamily="34" charset="-120"/>
              </a:rPr>
              <a:t>Fix the high-confidence findings, then rerun the build and the Playwright tests.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BC4C00"/>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BC4C00"/>
                </a:solidFill>
                <a:latin typeface="Arial" pitchFamily="34" charset="0"/>
                <a:ea typeface="Arial" pitchFamily="34" charset="-122"/>
                <a:cs typeface="Arial" pitchFamily="34" charset="-120"/>
              </a:rPr>
              <a:t>04</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4 OF 4</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Deploy to Azure</a:t>
            </a:r>
            <a:endParaRPr lang="en-US" sz="3000" dirty="0"/>
          </a:p>
        </p:txBody>
      </p:sp>
      <p:sp>
        <p:nvSpPr>
          <p:cNvPr id="9" name="Text 6"/>
          <p:cNvSpPr/>
          <p:nvPr/>
        </p:nvSpPr>
        <p:spPr>
          <a:xfrm>
            <a:off x="558701" y="2606427"/>
            <a:ext cx="3886200" cy="48250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Write the infrastructure test first. Deploy only after the gate and the review agree.</a:t>
            </a:r>
            <a:endParaRPr lang="en-US" sz="1400" dirty="0"/>
          </a:p>
        </p:txBody>
      </p:sp>
      <p:sp>
        <p:nvSpPr>
          <p:cNvPr id="10" name="Text 7"/>
          <p:cNvSpPr/>
          <p:nvPr/>
        </p:nvSpPr>
        <p:spPr>
          <a:xfrm>
            <a:off x="5486400" y="914400"/>
            <a:ext cx="2793950" cy="2793950"/>
          </a:xfrm>
          <a:prstGeom prst="roundRect">
            <a:avLst>
              <a:gd name="adj" fmla="val 32728"/>
            </a:avLst>
          </a:prstGeom>
          <a:solidFill>
            <a:srgbClr val="FFF1E5"/>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Cloud-BC4C00.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119783"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6435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Spec to API</a:t>
            </a:r>
            <a:endParaRPr lang="en-US" sz="900" dirty="0"/>
          </a:p>
        </p:txBody>
      </p:sp>
      <p:sp>
        <p:nvSpPr>
          <p:cNvPr id="16" name="Text 12"/>
          <p:cNvSpPr/>
          <p:nvPr/>
        </p:nvSpPr>
        <p:spPr>
          <a:xfrm>
            <a:off x="1779984" y="4368701"/>
            <a:ext cx="1371749"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186570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8" name="Text 14"/>
          <p:cNvSpPr/>
          <p:nvPr/>
        </p:nvSpPr>
        <p:spPr>
          <a:xfrm>
            <a:off x="193211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132409" y="4470202"/>
            <a:ext cx="900505"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React storefront</a:t>
            </a:r>
            <a:endParaRPr lang="en-US" sz="900" dirty="0"/>
          </a:p>
        </p:txBody>
      </p:sp>
      <p:sp>
        <p:nvSpPr>
          <p:cNvPr id="20" name="Text 16"/>
          <p:cNvSpPr/>
          <p:nvPr/>
        </p:nvSpPr>
        <p:spPr>
          <a:xfrm>
            <a:off x="3253234" y="4368701"/>
            <a:ext cx="852934"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338959"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405366"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05659" y="4470202"/>
            <a:ext cx="371314"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Add AI</a:t>
            </a:r>
            <a:endParaRPr lang="en-US" sz="900" dirty="0"/>
          </a:p>
        </p:txBody>
      </p:sp>
      <p:sp>
        <p:nvSpPr>
          <p:cNvPr id="24" name="Text 20"/>
          <p:cNvSpPr/>
          <p:nvPr/>
        </p:nvSpPr>
        <p:spPr>
          <a:xfrm>
            <a:off x="4207669" y="4368701"/>
            <a:ext cx="1354782" cy="336352"/>
          </a:xfrm>
          <a:prstGeom prst="roundRect">
            <a:avLst>
              <a:gd name="adj" fmla="val 52861"/>
            </a:avLst>
          </a:prstGeom>
          <a:solidFill>
            <a:srgbClr val="BC4C00"/>
          </a:solidFill>
          <a:ln w="9525">
            <a:solidFill>
              <a:srgbClr val="BC4C00"/>
            </a:solidFill>
          </a:ln>
        </p:spPr>
        <p:txBody>
          <a:bodyPr wrap="square" rtlCol="0" anchor="ctr"/>
          <a:lstStyle/>
          <a:p>
            <a:pPr indent="0" marL="0">
              <a:buNone/>
            </a:pPr>
            <a:endParaRPr lang="en-US" dirty="0"/>
          </a:p>
        </p:txBody>
      </p:sp>
      <p:sp>
        <p:nvSpPr>
          <p:cNvPr id="25" name="Text 21"/>
          <p:cNvSpPr/>
          <p:nvPr/>
        </p:nvSpPr>
        <p:spPr>
          <a:xfrm>
            <a:off x="4293394"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26" name="Text 22"/>
          <p:cNvSpPr/>
          <p:nvPr/>
        </p:nvSpPr>
        <p:spPr>
          <a:xfrm>
            <a:off x="4359801" y="4479727"/>
            <a:ext cx="57686" cy="114300"/>
          </a:xfrm>
          <a:prstGeom prst="rect">
            <a:avLst/>
          </a:prstGeom>
          <a:noFill/>
          <a:ln/>
        </p:spPr>
        <p:txBody>
          <a:bodyPr wrap="square" lIns="0" tIns="0" rIns="0" bIns="0" rtlCol="0" anchor="t"/>
          <a:lstStyle/>
          <a:p>
            <a:pPr algn="ctr" indent="0" marL="0">
              <a:buNone/>
            </a:pPr>
            <a:r>
              <a:rPr lang="en-US" sz="800" b="1" dirty="0">
                <a:solidFill>
                  <a:srgbClr val="BC4C00"/>
                </a:solidFill>
                <a:latin typeface="Arial" pitchFamily="34" charset="0"/>
                <a:ea typeface="Arial" pitchFamily="34" charset="-122"/>
                <a:cs typeface="Arial" pitchFamily="34" charset="-120"/>
              </a:rPr>
              <a:t>4</a:t>
            </a:r>
            <a:endParaRPr lang="en-US" sz="800" dirty="0"/>
          </a:p>
        </p:txBody>
      </p:sp>
      <p:sp>
        <p:nvSpPr>
          <p:cNvPr id="27" name="Text 23"/>
          <p:cNvSpPr/>
          <p:nvPr/>
        </p:nvSpPr>
        <p:spPr>
          <a:xfrm>
            <a:off x="4560094" y="4470202"/>
            <a:ext cx="88320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Deploy to Azure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BC4C00"/>
                </a:solidFill>
                <a:latin typeface="Arial" pitchFamily="34" charset="0"/>
                <a:ea typeface="Arial" pitchFamily="34" charset="-122"/>
                <a:cs typeface="Arial" pitchFamily="34" charset="-120"/>
              </a:rPr>
              <a:t>TEST-FIRST INFRASTRUCTURE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Write the gate before the Bicep</a:t>
            </a:r>
            <a:endParaRPr lang="en-US" sz="2600" dirty="0"/>
          </a:p>
        </p:txBody>
      </p:sp>
      <p:sp>
        <p:nvSpPr>
          <p:cNvPr id="7" name="Text 4"/>
          <p:cNvSpPr/>
          <p:nvPr/>
        </p:nvSpPr>
        <p:spPr>
          <a:xfrm>
            <a:off x="901601" y="1903065"/>
            <a:ext cx="584150" cy="584150"/>
          </a:xfrm>
          <a:prstGeom prst="roundRect">
            <a:avLst>
              <a:gd name="adj" fmla="val 13045"/>
            </a:avLst>
          </a:prstGeom>
          <a:solidFill>
            <a:srgbClr val="FFEBE9"/>
          </a:solidFill>
          <a:ln/>
        </p:spPr>
        <p:txBody>
          <a:bodyPr wrap="square" rtlCol="0" anchor="ctr"/>
          <a:lstStyle/>
          <a:p>
            <a:pPr indent="0" marL="0">
              <a:buNone/>
            </a:pPr>
            <a:endParaRPr lang="en-US" dirty="0"/>
          </a:p>
        </p:txBody>
      </p:sp>
      <p:pic>
        <p:nvPicPr>
          <p:cNvPr id="8" name="Image 1" descr="/Users/danwahlin/.copilot/session-state/a2da67da-2d7a-45f2-aa6a-2a42a7b82a72/files/build/icons/GoXCircle-CF222E.png">    </p:cNvPr>
          <p:cNvPicPr>
            <a:picLocks noChangeAspect="1"/>
          </p:cNvPicPr>
          <p:nvPr/>
        </p:nvPicPr>
        <p:blipFill>
          <a:blip r:embed="rId2"/>
          <a:stretch>
            <a:fillRect/>
          </a:stretch>
        </p:blipFill>
        <p:spPr>
          <a:xfrm>
            <a:off x="1028551" y="2030016"/>
            <a:ext cx="330101" cy="330101"/>
          </a:xfrm>
          <a:prstGeom prst="rect">
            <a:avLst/>
          </a:prstGeom>
        </p:spPr>
      </p:pic>
      <p:sp>
        <p:nvSpPr>
          <p:cNvPr id="9" name="Text 5"/>
          <p:cNvSpPr/>
          <p:nvPr/>
        </p:nvSpPr>
        <p:spPr>
          <a:xfrm>
            <a:off x="814694" y="2588716"/>
            <a:ext cx="758113"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Gate fails</a:t>
            </a:r>
            <a:endParaRPr lang="en-US" sz="1300" dirty="0"/>
          </a:p>
        </p:txBody>
      </p:sp>
      <p:sp>
        <p:nvSpPr>
          <p:cNvPr id="10" name="Text 6"/>
          <p:cNvSpPr/>
          <p:nvPr/>
        </p:nvSpPr>
        <p:spPr>
          <a:xfrm>
            <a:off x="474803" y="2896642"/>
            <a:ext cx="1437894"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check-infra.mjs, before any Bicep</a:t>
            </a:r>
            <a:endParaRPr lang="en-US" sz="1050" dirty="0"/>
          </a:p>
        </p:txBody>
      </p:sp>
      <p:sp>
        <p:nvSpPr>
          <p:cNvPr id="11" name="Text 7"/>
          <p:cNvSpPr/>
          <p:nvPr/>
        </p:nvSpPr>
        <p:spPr>
          <a:xfrm>
            <a:off x="1934519"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2" name="Text 8"/>
          <p:cNvSpPr/>
          <p:nvPr/>
        </p:nvSpPr>
        <p:spPr>
          <a:xfrm>
            <a:off x="2590651" y="1903065"/>
            <a:ext cx="584150" cy="584150"/>
          </a:xfrm>
          <a:prstGeom prst="roundRect">
            <a:avLst>
              <a:gd name="adj" fmla="val 13045"/>
            </a:avLst>
          </a:prstGeom>
          <a:solidFill>
            <a:srgbClr val="FBEFFF"/>
          </a:solidFill>
          <a:ln/>
        </p:spPr>
        <p:txBody>
          <a:bodyPr wrap="square" rtlCol="0" anchor="ctr"/>
          <a:lstStyle/>
          <a:p>
            <a:pPr indent="0" marL="0">
              <a:buNone/>
            </a:pPr>
            <a:endParaRPr lang="en-US" dirty="0"/>
          </a:p>
        </p:txBody>
      </p:sp>
      <p:pic>
        <p:nvPicPr>
          <p:cNvPr id="13" name="Image 2" descr="/Users/danwahlin/.copilot/session-state/a2da67da-2d7a-45f2-aa6a-2a42a7b82a72/files/build/icons/GoFileCode-8250DF.png">    </p:cNvPr>
          <p:cNvPicPr>
            <a:picLocks noChangeAspect="1"/>
          </p:cNvPicPr>
          <p:nvPr/>
        </p:nvPicPr>
        <p:blipFill>
          <a:blip r:embed="rId3"/>
          <a:stretch>
            <a:fillRect/>
          </a:stretch>
        </p:blipFill>
        <p:spPr>
          <a:xfrm>
            <a:off x="2717602" y="2030016"/>
            <a:ext cx="330101" cy="330101"/>
          </a:xfrm>
          <a:prstGeom prst="rect">
            <a:avLst/>
          </a:prstGeom>
        </p:spPr>
      </p:pic>
      <p:sp>
        <p:nvSpPr>
          <p:cNvPr id="14" name="Text 9"/>
          <p:cNvSpPr/>
          <p:nvPr/>
        </p:nvSpPr>
        <p:spPr>
          <a:xfrm>
            <a:off x="2517712" y="2588716"/>
            <a:ext cx="730029"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Generate</a:t>
            </a:r>
            <a:endParaRPr lang="en-US" sz="1300" dirty="0"/>
          </a:p>
        </p:txBody>
      </p:sp>
      <p:sp>
        <p:nvSpPr>
          <p:cNvPr id="15" name="Text 10"/>
          <p:cNvSpPr/>
          <p:nvPr/>
        </p:nvSpPr>
        <p:spPr>
          <a:xfrm>
            <a:off x="2163854" y="2896642"/>
            <a:ext cx="1437894"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Bicep, Dockerfiles, azure.yaml, hooks</a:t>
            </a:r>
            <a:endParaRPr lang="en-US" sz="1050" dirty="0"/>
          </a:p>
        </p:txBody>
      </p:sp>
      <p:sp>
        <p:nvSpPr>
          <p:cNvPr id="16" name="Text 11"/>
          <p:cNvSpPr/>
          <p:nvPr/>
        </p:nvSpPr>
        <p:spPr>
          <a:xfrm>
            <a:off x="3623569"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7" name="Text 12"/>
          <p:cNvSpPr/>
          <p:nvPr/>
        </p:nvSpPr>
        <p:spPr>
          <a:xfrm>
            <a:off x="4279702" y="1903065"/>
            <a:ext cx="584150" cy="584150"/>
          </a:xfrm>
          <a:prstGeom prst="roundRect">
            <a:avLst>
              <a:gd name="adj" fmla="val 13045"/>
            </a:avLst>
          </a:prstGeom>
          <a:solidFill>
            <a:srgbClr val="DAFBE1"/>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heckCircle-1A7F37.png">    </p:cNvPr>
          <p:cNvPicPr>
            <a:picLocks noChangeAspect="1"/>
          </p:cNvPicPr>
          <p:nvPr/>
        </p:nvPicPr>
        <p:blipFill>
          <a:blip r:embed="rId4"/>
          <a:stretch>
            <a:fillRect/>
          </a:stretch>
        </p:blipFill>
        <p:spPr>
          <a:xfrm>
            <a:off x="4406652" y="2030016"/>
            <a:ext cx="330101" cy="330101"/>
          </a:xfrm>
          <a:prstGeom prst="rect">
            <a:avLst/>
          </a:prstGeom>
        </p:spPr>
      </p:pic>
      <p:sp>
        <p:nvSpPr>
          <p:cNvPr id="19" name="Text 13"/>
          <p:cNvSpPr/>
          <p:nvPr/>
        </p:nvSpPr>
        <p:spPr>
          <a:xfrm>
            <a:off x="4075753" y="2588716"/>
            <a:ext cx="992195"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Gate passes</a:t>
            </a:r>
            <a:endParaRPr lang="en-US" sz="1300" dirty="0"/>
          </a:p>
        </p:txBody>
      </p:sp>
      <p:sp>
        <p:nvSpPr>
          <p:cNvPr id="20" name="Text 14"/>
          <p:cNvSpPr/>
          <p:nvPr/>
        </p:nvSpPr>
        <p:spPr>
          <a:xfrm>
            <a:off x="3852904" y="2896642"/>
            <a:ext cx="1437894"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Without changing the gate</a:t>
            </a:r>
            <a:endParaRPr lang="en-US" sz="1050" dirty="0"/>
          </a:p>
        </p:txBody>
      </p:sp>
      <p:sp>
        <p:nvSpPr>
          <p:cNvPr id="21" name="Text 15"/>
          <p:cNvSpPr/>
          <p:nvPr/>
        </p:nvSpPr>
        <p:spPr>
          <a:xfrm>
            <a:off x="5312619"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2" name="Text 16"/>
          <p:cNvSpPr/>
          <p:nvPr/>
        </p:nvSpPr>
        <p:spPr>
          <a:xfrm>
            <a:off x="5968752" y="1903065"/>
            <a:ext cx="584150" cy="584150"/>
          </a:xfrm>
          <a:prstGeom prst="roundRect">
            <a:avLst>
              <a:gd name="adj" fmla="val 13045"/>
            </a:avLst>
          </a:prstGeom>
          <a:solidFill>
            <a:srgbClr val="DDF4FF"/>
          </a:solidFill>
          <a:ln/>
        </p:spPr>
        <p:txBody>
          <a:bodyPr wrap="square" rtlCol="0" anchor="ctr"/>
          <a:lstStyle/>
          <a:p>
            <a:pPr indent="0" marL="0">
              <a:buNone/>
            </a:pPr>
            <a:endParaRPr lang="en-US" dirty="0"/>
          </a:p>
        </p:txBody>
      </p:sp>
      <p:pic>
        <p:nvPicPr>
          <p:cNvPr id="23" name="Image 4" descr="/Users/danwahlin/.copilot/session-state/a2da67da-2d7a-45f2-aa6a-2a42a7b82a72/files/build/icons/GoShieldCheck-0969DA.png">    </p:cNvPr>
          <p:cNvPicPr>
            <a:picLocks noChangeAspect="1"/>
          </p:cNvPicPr>
          <p:nvPr/>
        </p:nvPicPr>
        <p:blipFill>
          <a:blip r:embed="rId5"/>
          <a:stretch>
            <a:fillRect/>
          </a:stretch>
        </p:blipFill>
        <p:spPr>
          <a:xfrm>
            <a:off x="6095702" y="2030016"/>
            <a:ext cx="330101" cy="330101"/>
          </a:xfrm>
          <a:prstGeom prst="rect">
            <a:avLst/>
          </a:prstGeom>
        </p:spPr>
      </p:pic>
      <p:sp>
        <p:nvSpPr>
          <p:cNvPr id="24" name="Text 17"/>
          <p:cNvSpPr/>
          <p:nvPr/>
        </p:nvSpPr>
        <p:spPr>
          <a:xfrm>
            <a:off x="5970652" y="2588716"/>
            <a:ext cx="580349"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Review</a:t>
            </a:r>
            <a:endParaRPr lang="en-US" sz="1300" dirty="0"/>
          </a:p>
        </p:txBody>
      </p:sp>
      <p:sp>
        <p:nvSpPr>
          <p:cNvPr id="25" name="Text 18"/>
          <p:cNvSpPr/>
          <p:nvPr/>
        </p:nvSpPr>
        <p:spPr>
          <a:xfrm>
            <a:off x="5541955" y="2896642"/>
            <a:ext cx="1437894"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READY or NOT READY</a:t>
            </a:r>
            <a:endParaRPr lang="en-US" sz="1050" dirty="0"/>
          </a:p>
        </p:txBody>
      </p:sp>
      <p:sp>
        <p:nvSpPr>
          <p:cNvPr id="26" name="Text 19"/>
          <p:cNvSpPr/>
          <p:nvPr/>
        </p:nvSpPr>
        <p:spPr>
          <a:xfrm>
            <a:off x="7001670" y="2076004"/>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7" name="Text 20"/>
          <p:cNvSpPr/>
          <p:nvPr/>
        </p:nvSpPr>
        <p:spPr>
          <a:xfrm>
            <a:off x="7657802" y="1903065"/>
            <a:ext cx="584150" cy="584150"/>
          </a:xfrm>
          <a:prstGeom prst="roundRect">
            <a:avLst>
              <a:gd name="adj" fmla="val 13045"/>
            </a:avLst>
          </a:prstGeom>
          <a:solidFill>
            <a:srgbClr val="FFF1E5"/>
          </a:solidFill>
          <a:ln/>
        </p:spPr>
        <p:txBody>
          <a:bodyPr wrap="square" rtlCol="0" anchor="ctr"/>
          <a:lstStyle/>
          <a:p>
            <a:pPr indent="0" marL="0">
              <a:buNone/>
            </a:pPr>
            <a:endParaRPr lang="en-US" dirty="0"/>
          </a:p>
        </p:txBody>
      </p:sp>
      <p:pic>
        <p:nvPicPr>
          <p:cNvPr id="28" name="Image 5" descr="/Users/danwahlin/.copilot/session-state/a2da67da-2d7a-45f2-aa6a-2a42a7b82a72/files/build/icons/GoRocket-BC4C00.png">    </p:cNvPr>
          <p:cNvPicPr>
            <a:picLocks noChangeAspect="1"/>
          </p:cNvPicPr>
          <p:nvPr/>
        </p:nvPicPr>
        <p:blipFill>
          <a:blip r:embed="rId6"/>
          <a:stretch>
            <a:fillRect/>
          </a:stretch>
        </p:blipFill>
        <p:spPr>
          <a:xfrm>
            <a:off x="7784753" y="2030016"/>
            <a:ext cx="330101" cy="330101"/>
          </a:xfrm>
          <a:prstGeom prst="rect">
            <a:avLst/>
          </a:prstGeom>
        </p:spPr>
      </p:pic>
      <p:sp>
        <p:nvSpPr>
          <p:cNvPr id="29" name="Text 21"/>
          <p:cNvSpPr/>
          <p:nvPr/>
        </p:nvSpPr>
        <p:spPr>
          <a:xfrm>
            <a:off x="7683233" y="2588716"/>
            <a:ext cx="533290"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azd up</a:t>
            </a:r>
            <a:endParaRPr lang="en-US" sz="1300" dirty="0"/>
          </a:p>
        </p:txBody>
      </p:sp>
      <p:sp>
        <p:nvSpPr>
          <p:cNvPr id="30" name="Text 22"/>
          <p:cNvSpPr/>
          <p:nvPr/>
        </p:nvSpPr>
        <p:spPr>
          <a:xfrm>
            <a:off x="7314801" y="2896642"/>
            <a:ext cx="1270302"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Only now do you pay</a:t>
            </a:r>
            <a:endParaRPr lang="en-US" sz="1050" dirty="0"/>
          </a:p>
        </p:txBody>
      </p:sp>
      <p:sp>
        <p:nvSpPr>
          <p:cNvPr id="31" name="Text 23"/>
          <p:cNvSpPr/>
          <p:nvPr/>
        </p:nvSpPr>
        <p:spPr>
          <a:xfrm>
            <a:off x="1678484" y="3688556"/>
            <a:ext cx="5786735" cy="427732"/>
          </a:xfrm>
          <a:prstGeom prst="roundRect">
            <a:avLst>
              <a:gd name="adj" fmla="val 17815"/>
            </a:avLst>
          </a:prstGeom>
          <a:solidFill>
            <a:srgbClr val="FFF1E5"/>
          </a:solidFill>
          <a:ln w="9525">
            <a:solidFill>
              <a:srgbClr val="FFC49B"/>
            </a:solidFill>
          </a:ln>
        </p:spPr>
        <p:txBody>
          <a:bodyPr wrap="square" rtlCol="0" anchor="ctr"/>
          <a:lstStyle/>
          <a:p>
            <a:pPr indent="0" marL="0">
              <a:buNone/>
            </a:pPr>
            <a:endParaRPr lang="en-US" dirty="0"/>
          </a:p>
        </p:txBody>
      </p:sp>
      <p:pic>
        <p:nvPicPr>
          <p:cNvPr id="32" name="Image 6" descr="/Users/danwahlin/.copilot/session-state/a2da67da-2d7a-45f2-aa6a-2a42a7b82a72/files/build/icons/GoShieldCheck-BC4C00.png">    </p:cNvPr>
          <p:cNvPicPr>
            <a:picLocks noChangeAspect="1"/>
          </p:cNvPicPr>
          <p:nvPr/>
        </p:nvPicPr>
        <p:blipFill>
          <a:blip r:embed="rId7"/>
          <a:stretch>
            <a:fillRect/>
          </a:stretch>
        </p:blipFill>
        <p:spPr>
          <a:xfrm>
            <a:off x="1840409" y="3813572"/>
            <a:ext cx="177701" cy="177701"/>
          </a:xfrm>
          <a:prstGeom prst="rect">
            <a:avLst/>
          </a:prstGeom>
        </p:spPr>
      </p:pic>
      <p:sp>
        <p:nvSpPr>
          <p:cNvPr id="33" name="Text 24"/>
          <p:cNvSpPr/>
          <p:nvPr/>
        </p:nvSpPr>
        <p:spPr>
          <a:xfrm>
            <a:off x="2119610" y="3799582"/>
            <a:ext cx="5287357" cy="205680"/>
          </a:xfrm>
          <a:prstGeom prst="rect">
            <a:avLst/>
          </a:prstGeom>
          <a:noFill/>
          <a:ln/>
        </p:spPr>
        <p:txBody>
          <a:bodyPr wrap="square" lIns="0" tIns="0" rIns="0" bIns="0" rtlCol="0" anchor="t"/>
          <a:lstStyle/>
          <a:p>
            <a:pPr algn="l" indent="0" marL="0">
              <a:lnSpc>
                <a:spcPts val="1620"/>
              </a:lnSpc>
              <a:buNone/>
            </a:pPr>
            <a:r>
              <a:rPr lang="en-US" sz="1200" dirty="0">
                <a:solidFill>
                  <a:srgbClr val="1F2328"/>
                </a:solidFill>
                <a:latin typeface="Arial" pitchFamily="34" charset="0"/>
                <a:ea typeface="Arial" pitchFamily="34" charset="-122"/>
                <a:cs typeface="Arial" pitchFamily="34" charset="-120"/>
              </a:rPr>
              <a:t>Red, then green, applied to infrastructure. </a:t>
            </a:r>
            <a:pPr algn="l" indent="0" marL="0">
              <a:lnSpc>
                <a:spcPts val="1620"/>
              </a:lnSpc>
              <a:buNone/>
            </a:pPr>
            <a:r>
              <a:rPr lang="en-US" sz="1200" b="1" dirty="0">
                <a:solidFill>
                  <a:srgbClr val="1F2328"/>
                </a:solidFill>
                <a:latin typeface="Arial" pitchFamily="34" charset="0"/>
                <a:ea typeface="Arial" pitchFamily="34" charset="-122"/>
                <a:cs typeface="Arial" pitchFamily="34" charset="-120"/>
              </a:rPr>
              <a:t>The agent may not edit the gate.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BC4C00"/>
                </a:solidFill>
                <a:latin typeface="Arial" pitchFamily="34" charset="0"/>
                <a:ea typeface="Arial" pitchFamily="34" charset="-122"/>
                <a:cs typeface="Arial" pitchFamily="34" charset="-120"/>
              </a:rPr>
              <a:t>GENERATE INFRASTRUCTURE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Keep going until the gate passes</a:t>
            </a:r>
            <a:endParaRPr lang="en-US" sz="2600" dirty="0"/>
          </a:p>
        </p:txBody>
      </p:sp>
      <p:sp>
        <p:nvSpPr>
          <p:cNvPr id="7" name="Text 4"/>
          <p:cNvSpPr/>
          <p:nvPr/>
        </p:nvSpPr>
        <p:spPr>
          <a:xfrm>
            <a:off x="634901" y="1946077"/>
            <a:ext cx="7873901" cy="2178248"/>
          </a:xfrm>
          <a:prstGeom prst="roundRect">
            <a:avLst>
              <a:gd name="adj" fmla="val 4664"/>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950839"/>
            <a:ext cx="7873901" cy="0"/>
          </a:xfrm>
          <a:prstGeom prst="line">
            <a:avLst/>
          </a:prstGeom>
          <a:noFill/>
          <a:ln w="9525">
            <a:solidFill>
              <a:srgbClr val="E0C5FF"/>
            </a:solidFill>
            <a:prstDash val="solid"/>
          </a:ln>
        </p:spPr>
      </p:sp>
      <p:sp>
        <p:nvSpPr>
          <p:cNvPr id="9" name="Shape 6"/>
          <p:cNvSpPr/>
          <p:nvPr/>
        </p:nvSpPr>
        <p:spPr>
          <a:xfrm>
            <a:off x="8504039" y="1946077"/>
            <a:ext cx="0" cy="2178248"/>
          </a:xfrm>
          <a:prstGeom prst="line">
            <a:avLst/>
          </a:prstGeom>
          <a:noFill/>
          <a:ln w="9525">
            <a:solidFill>
              <a:srgbClr val="E0C5FF"/>
            </a:solidFill>
            <a:prstDash val="solid"/>
          </a:ln>
        </p:spPr>
      </p:sp>
      <p:sp>
        <p:nvSpPr>
          <p:cNvPr id="10" name="Shape 7"/>
          <p:cNvSpPr/>
          <p:nvPr/>
        </p:nvSpPr>
        <p:spPr>
          <a:xfrm>
            <a:off x="634901" y="4119563"/>
            <a:ext cx="7873901" cy="0"/>
          </a:xfrm>
          <a:prstGeom prst="line">
            <a:avLst/>
          </a:prstGeom>
          <a:noFill/>
          <a:ln w="9525">
            <a:solidFill>
              <a:srgbClr val="E0C5FF"/>
            </a:solidFill>
            <a:prstDash val="solid"/>
          </a:ln>
        </p:spPr>
      </p:sp>
      <p:sp>
        <p:nvSpPr>
          <p:cNvPr id="11" name="Shape 8"/>
          <p:cNvSpPr/>
          <p:nvPr/>
        </p:nvSpPr>
        <p:spPr>
          <a:xfrm>
            <a:off x="663476" y="1946077"/>
            <a:ext cx="0" cy="2178248"/>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158752"/>
            <a:ext cx="165050" cy="165050"/>
          </a:xfrm>
          <a:prstGeom prst="rect">
            <a:avLst/>
          </a:prstGeom>
        </p:spPr>
      </p:pic>
      <p:sp>
        <p:nvSpPr>
          <p:cNvPr id="13" name="Text 9"/>
          <p:cNvSpPr/>
          <p:nvPr/>
        </p:nvSpPr>
        <p:spPr>
          <a:xfrm>
            <a:off x="1187202" y="2174528"/>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425303"/>
            <a:ext cx="7445413" cy="1460897"/>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Read PLAN.md, the "Azure Deployment" section in PLAN-phase4-azure.md, and the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container-apps-deployment</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skill. Create everything those two sources specify to deploy AIMarket to Azure Container Apps: Bicep in infra/, Dockerfiles and .dockerignore files for api/ and client/, azure.yaml, and the required postprovision and postdeploy hooks. … Keep going until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"node scripts/check-infra.mjs --offline" passes</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and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don't change scripts/check-infra.mjs.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BC4C00"/>
                </a:solidFill>
                <a:latin typeface="Arial" pitchFamily="34" charset="0"/>
                <a:ea typeface="Arial" pitchFamily="34" charset="-122"/>
                <a:cs typeface="Arial" pitchFamily="34" charset="-120"/>
              </a:rPr>
              <a:t>ARCHITECTURE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What azd creates</a:t>
            </a:r>
            <a:endParaRPr lang="en-US" sz="2600" dirty="0"/>
          </a:p>
        </p:txBody>
      </p:sp>
      <p:sp>
        <p:nvSpPr>
          <p:cNvPr id="7" name="Text 4"/>
          <p:cNvSpPr/>
          <p:nvPr/>
        </p:nvSpPr>
        <p:spPr>
          <a:xfrm>
            <a:off x="600224" y="2187476"/>
            <a:ext cx="1269950" cy="1060252"/>
          </a:xfrm>
          <a:prstGeom prst="roundRect">
            <a:avLst>
              <a:gd name="adj" fmla="val 9583"/>
            </a:avLst>
          </a:prstGeom>
          <a:solidFill>
            <a:srgbClr val="FFFFFF"/>
          </a:solidFill>
          <a:ln w="9525">
            <a:solidFill>
              <a:srgbClr val="E0C5FF"/>
            </a:solidFill>
          </a:ln>
        </p:spPr>
        <p:txBody>
          <a:bodyPr wrap="square" rtlCol="0" anchor="ctr"/>
          <a:lstStyle/>
          <a:p>
            <a:pPr indent="0" marL="0">
              <a:buNone/>
            </a:pPr>
            <a:endParaRPr lang="en-US" dirty="0"/>
          </a:p>
        </p:txBody>
      </p:sp>
      <p:sp>
        <p:nvSpPr>
          <p:cNvPr id="8" name="Text 5"/>
          <p:cNvSpPr/>
          <p:nvPr/>
        </p:nvSpPr>
        <p:spPr>
          <a:xfrm>
            <a:off x="1044625" y="2311301"/>
            <a:ext cx="381000" cy="381000"/>
          </a:xfrm>
          <a:prstGeom prst="roundRect">
            <a:avLst>
              <a:gd name="adj" fmla="val 20000"/>
            </a:avLst>
          </a:prstGeom>
          <a:solidFill>
            <a:srgbClr val="FBEFFF"/>
          </a:solidFill>
          <a:ln/>
        </p:spPr>
        <p:txBody>
          <a:bodyPr wrap="square" rtlCol="0" anchor="ctr"/>
          <a:lstStyle/>
          <a:p>
            <a:pPr indent="0" marL="0">
              <a:buNone/>
            </a:pPr>
            <a:endParaRPr lang="en-US" dirty="0"/>
          </a:p>
        </p:txBody>
      </p:sp>
      <p:pic>
        <p:nvPicPr>
          <p:cNvPr id="9" name="Image 1" descr="/Users/danwahlin/.copilot/session-state/a2da67da-2d7a-45f2-aa6a-2a42a7b82a72/files/build/icons/GoPerson-8250DF.png">    </p:cNvPr>
          <p:cNvPicPr>
            <a:picLocks noChangeAspect="1"/>
          </p:cNvPicPr>
          <p:nvPr/>
        </p:nvPicPr>
        <p:blipFill>
          <a:blip r:embed="rId2"/>
          <a:stretch>
            <a:fillRect/>
          </a:stretch>
        </p:blipFill>
        <p:spPr>
          <a:xfrm>
            <a:off x="1127224" y="2393900"/>
            <a:ext cx="215801" cy="215801"/>
          </a:xfrm>
          <a:prstGeom prst="rect">
            <a:avLst/>
          </a:prstGeom>
        </p:spPr>
      </p:pic>
      <p:sp>
        <p:nvSpPr>
          <p:cNvPr id="10" name="Text 6"/>
          <p:cNvSpPr/>
          <p:nvPr/>
        </p:nvSpPr>
        <p:spPr>
          <a:xfrm>
            <a:off x="959295" y="2755702"/>
            <a:ext cx="551658"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Shopper</a:t>
            </a:r>
            <a:endParaRPr lang="en-US" sz="1050" dirty="0"/>
          </a:p>
        </p:txBody>
      </p:sp>
      <p:sp>
        <p:nvSpPr>
          <p:cNvPr id="11" name="Text 7"/>
          <p:cNvSpPr/>
          <p:nvPr/>
        </p:nvSpPr>
        <p:spPr>
          <a:xfrm>
            <a:off x="1033224" y="2984153"/>
            <a:ext cx="403800"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Browser</a:t>
            </a:r>
            <a:endParaRPr lang="en-US" sz="850" dirty="0"/>
          </a:p>
        </p:txBody>
      </p:sp>
      <p:sp>
        <p:nvSpPr>
          <p:cNvPr id="12" name="Text 8"/>
          <p:cNvSpPr/>
          <p:nvPr/>
        </p:nvSpPr>
        <p:spPr>
          <a:xfrm>
            <a:off x="2002932" y="2550914"/>
            <a:ext cx="318486" cy="104775"/>
          </a:xfrm>
          <a:prstGeom prst="rect">
            <a:avLst/>
          </a:prstGeom>
          <a:noFill/>
          <a:ln/>
        </p:spPr>
        <p:txBody>
          <a:bodyPr wrap="square" lIns="0" tIns="0" rIns="0" bIns="0" rtlCol="0" anchor="t"/>
          <a:lstStyle/>
          <a:p>
            <a:pPr algn="ctr" indent="0" marL="0">
              <a:buNone/>
            </a:pPr>
            <a:r>
              <a:rPr lang="en-US" sz="750" dirty="0">
                <a:solidFill>
                  <a:srgbClr val="59636E"/>
                </a:solidFill>
                <a:latin typeface="Arial" pitchFamily="34" charset="0"/>
                <a:ea typeface="Arial" pitchFamily="34" charset="-122"/>
                <a:cs typeface="Arial" pitchFamily="34" charset="-120"/>
              </a:rPr>
              <a:t>HTTPS</a:t>
            </a:r>
            <a:endParaRPr lang="en-US" sz="750" dirty="0"/>
          </a:p>
        </p:txBody>
      </p:sp>
      <p:sp>
        <p:nvSpPr>
          <p:cNvPr id="13" name="Text 9"/>
          <p:cNvSpPr/>
          <p:nvPr/>
        </p:nvSpPr>
        <p:spPr>
          <a:xfrm>
            <a:off x="2058492" y="2655689"/>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4" name="Text 10"/>
          <p:cNvSpPr/>
          <p:nvPr/>
        </p:nvSpPr>
        <p:spPr>
          <a:xfrm>
            <a:off x="2454176" y="1917650"/>
            <a:ext cx="3701653" cy="1599902"/>
          </a:xfrm>
          <a:prstGeom prst="roundRect">
            <a:avLst>
              <a:gd name="adj" fmla="val 7938"/>
            </a:avLst>
          </a:prstGeom>
          <a:solidFill>
            <a:srgbClr val="DDF4FF"/>
          </a:solidFill>
          <a:ln w="9525">
            <a:solidFill>
              <a:srgbClr val="9CD7FF"/>
            </a:solidFill>
          </a:ln>
        </p:spPr>
        <p:txBody>
          <a:bodyPr wrap="square" rtlCol="0" anchor="ctr"/>
          <a:lstStyle/>
          <a:p>
            <a:pPr indent="0" marL="0">
              <a:buNone/>
            </a:pPr>
            <a:endParaRPr lang="en-US" dirty="0"/>
          </a:p>
        </p:txBody>
      </p:sp>
      <p:pic>
        <p:nvPicPr>
          <p:cNvPr id="15" name="Image 2" descr="/Users/danwahlin/.copilot/session-state/a2da67da-2d7a-45f2-aa6a-2a42a7b82a72/files/build/icons/GoCloud-0969DA.png">    </p:cNvPr>
          <p:cNvPicPr>
            <a:picLocks noChangeAspect="1"/>
          </p:cNvPicPr>
          <p:nvPr/>
        </p:nvPicPr>
        <p:blipFill>
          <a:blip r:embed="rId3"/>
          <a:stretch>
            <a:fillRect/>
          </a:stretch>
        </p:blipFill>
        <p:spPr>
          <a:xfrm>
            <a:off x="2616101" y="2079575"/>
            <a:ext cx="139601" cy="139601"/>
          </a:xfrm>
          <a:prstGeom prst="rect">
            <a:avLst/>
          </a:prstGeom>
        </p:spPr>
      </p:pic>
      <p:sp>
        <p:nvSpPr>
          <p:cNvPr id="16" name="Text 11"/>
          <p:cNvSpPr/>
          <p:nvPr/>
        </p:nvSpPr>
        <p:spPr>
          <a:xfrm>
            <a:off x="2819102" y="2092226"/>
            <a:ext cx="1816495" cy="114300"/>
          </a:xfrm>
          <a:prstGeom prst="rect">
            <a:avLst/>
          </a:prstGeom>
          <a:noFill/>
          <a:ln/>
        </p:spPr>
        <p:txBody>
          <a:bodyPr wrap="square" lIns="0" tIns="0" rIns="0" bIns="0" rtlCol="0" anchor="t"/>
          <a:lstStyle/>
          <a:p>
            <a:pPr algn="l" indent="0" marL="0">
              <a:buNone/>
            </a:pPr>
            <a:r>
              <a:rPr lang="en-US" sz="850" b="1" dirty="0">
                <a:solidFill>
                  <a:srgbClr val="0969DA"/>
                </a:solidFill>
                <a:latin typeface="Arial" pitchFamily="34" charset="0"/>
                <a:ea typeface="Arial" pitchFamily="34" charset="-122"/>
                <a:cs typeface="Arial" pitchFamily="34" charset="-120"/>
              </a:rPr>
              <a:t>CONTAINER APPS ENVIRONMENT</a:t>
            </a:r>
            <a:endParaRPr lang="en-US" sz="850" dirty="0"/>
          </a:p>
        </p:txBody>
      </p:sp>
      <p:sp>
        <p:nvSpPr>
          <p:cNvPr id="17" name="Text 12"/>
          <p:cNvSpPr/>
          <p:nvPr/>
        </p:nvSpPr>
        <p:spPr>
          <a:xfrm>
            <a:off x="2616101" y="2295376"/>
            <a:ext cx="1473101" cy="1060252"/>
          </a:xfrm>
          <a:prstGeom prst="roundRect">
            <a:avLst>
              <a:gd name="adj" fmla="val 9583"/>
            </a:avLst>
          </a:prstGeom>
          <a:solidFill>
            <a:srgbClr val="FFFFFF"/>
          </a:solidFill>
          <a:ln w="9525">
            <a:solidFill>
              <a:srgbClr val="9CD7FF"/>
            </a:solidFill>
          </a:ln>
        </p:spPr>
        <p:txBody>
          <a:bodyPr wrap="square" rtlCol="0" anchor="ctr"/>
          <a:lstStyle/>
          <a:p>
            <a:pPr indent="0" marL="0">
              <a:buNone/>
            </a:pPr>
            <a:endParaRPr lang="en-US" dirty="0"/>
          </a:p>
        </p:txBody>
      </p:sp>
      <p:sp>
        <p:nvSpPr>
          <p:cNvPr id="18" name="Text 13"/>
          <p:cNvSpPr/>
          <p:nvPr/>
        </p:nvSpPr>
        <p:spPr>
          <a:xfrm>
            <a:off x="3162151" y="2419201"/>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19" name="Image 3" descr="/Users/danwahlin/.copilot/session-state/a2da67da-2d7a-45f2-aa6a-2a42a7b82a72/files/build/icons/GoBrowser-0969DA.png">    </p:cNvPr>
          <p:cNvPicPr>
            <a:picLocks noChangeAspect="1"/>
          </p:cNvPicPr>
          <p:nvPr/>
        </p:nvPicPr>
        <p:blipFill>
          <a:blip r:embed="rId4"/>
          <a:stretch>
            <a:fillRect/>
          </a:stretch>
        </p:blipFill>
        <p:spPr>
          <a:xfrm>
            <a:off x="3244751" y="2501801"/>
            <a:ext cx="215801" cy="215801"/>
          </a:xfrm>
          <a:prstGeom prst="rect">
            <a:avLst/>
          </a:prstGeom>
        </p:spPr>
      </p:pic>
      <p:sp>
        <p:nvSpPr>
          <p:cNvPr id="20" name="Text 14"/>
          <p:cNvSpPr/>
          <p:nvPr/>
        </p:nvSpPr>
        <p:spPr>
          <a:xfrm>
            <a:off x="3023844" y="2863602"/>
            <a:ext cx="657466"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Storefront</a:t>
            </a:r>
            <a:endParaRPr lang="en-US" sz="1050" dirty="0"/>
          </a:p>
        </p:txBody>
      </p:sp>
      <p:sp>
        <p:nvSpPr>
          <p:cNvPr id="21" name="Text 15"/>
          <p:cNvSpPr/>
          <p:nvPr/>
        </p:nvSpPr>
        <p:spPr>
          <a:xfrm>
            <a:off x="3208742" y="3092053"/>
            <a:ext cx="287670"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React</a:t>
            </a:r>
            <a:endParaRPr lang="en-US" sz="850" dirty="0"/>
          </a:p>
        </p:txBody>
      </p:sp>
      <p:sp>
        <p:nvSpPr>
          <p:cNvPr id="22" name="Text 16"/>
          <p:cNvSpPr/>
          <p:nvPr/>
        </p:nvSpPr>
        <p:spPr>
          <a:xfrm>
            <a:off x="4226671" y="2658814"/>
            <a:ext cx="156662" cy="104775"/>
          </a:xfrm>
          <a:prstGeom prst="rect">
            <a:avLst/>
          </a:prstGeom>
          <a:noFill/>
          <a:ln/>
        </p:spPr>
        <p:txBody>
          <a:bodyPr wrap="square" lIns="0" tIns="0" rIns="0" bIns="0" rtlCol="0" anchor="t"/>
          <a:lstStyle/>
          <a:p>
            <a:pPr algn="ctr" indent="0" marL="0">
              <a:buNone/>
            </a:pPr>
            <a:r>
              <a:rPr lang="en-US" sz="750" dirty="0">
                <a:solidFill>
                  <a:srgbClr val="59636E"/>
                </a:solidFill>
                <a:latin typeface="Arial" pitchFamily="34" charset="0"/>
                <a:ea typeface="Arial" pitchFamily="34" charset="-122"/>
                <a:cs typeface="Arial" pitchFamily="34" charset="-120"/>
              </a:rPr>
              <a:t>/api</a:t>
            </a:r>
            <a:endParaRPr lang="en-US" sz="750" dirty="0"/>
          </a:p>
        </p:txBody>
      </p:sp>
      <p:sp>
        <p:nvSpPr>
          <p:cNvPr id="23" name="Text 17"/>
          <p:cNvSpPr/>
          <p:nvPr/>
        </p:nvSpPr>
        <p:spPr>
          <a:xfrm>
            <a:off x="4201320" y="2763589"/>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4" name="Text 18"/>
          <p:cNvSpPr/>
          <p:nvPr/>
        </p:nvSpPr>
        <p:spPr>
          <a:xfrm>
            <a:off x="4520803" y="2295376"/>
            <a:ext cx="1473101" cy="1060252"/>
          </a:xfrm>
          <a:prstGeom prst="roundRect">
            <a:avLst>
              <a:gd name="adj" fmla="val 9583"/>
            </a:avLst>
          </a:prstGeom>
          <a:solidFill>
            <a:srgbClr val="FFFFFF"/>
          </a:solidFill>
          <a:ln w="9525">
            <a:solidFill>
              <a:srgbClr val="9CD7FF"/>
            </a:solidFill>
          </a:ln>
        </p:spPr>
        <p:txBody>
          <a:bodyPr wrap="square" rtlCol="0" anchor="ctr"/>
          <a:lstStyle/>
          <a:p>
            <a:pPr indent="0" marL="0">
              <a:buNone/>
            </a:pPr>
            <a:endParaRPr lang="en-US" dirty="0"/>
          </a:p>
        </p:txBody>
      </p:sp>
      <p:sp>
        <p:nvSpPr>
          <p:cNvPr id="25" name="Text 19"/>
          <p:cNvSpPr/>
          <p:nvPr/>
        </p:nvSpPr>
        <p:spPr>
          <a:xfrm>
            <a:off x="5066854" y="2419201"/>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26" name="Image 4" descr="/Users/danwahlin/.copilot/session-state/a2da67da-2d7a-45f2-aa6a-2a42a7b82a72/files/build/icons/GoServer-0969DA.png">    </p:cNvPr>
          <p:cNvPicPr>
            <a:picLocks noChangeAspect="1"/>
          </p:cNvPicPr>
          <p:nvPr/>
        </p:nvPicPr>
        <p:blipFill>
          <a:blip r:embed="rId5"/>
          <a:stretch>
            <a:fillRect/>
          </a:stretch>
        </p:blipFill>
        <p:spPr>
          <a:xfrm>
            <a:off x="5149453" y="2501801"/>
            <a:ext cx="215801" cy="215801"/>
          </a:xfrm>
          <a:prstGeom prst="rect">
            <a:avLst/>
          </a:prstGeom>
        </p:spPr>
      </p:pic>
      <p:sp>
        <p:nvSpPr>
          <p:cNvPr id="27" name="Text 20"/>
          <p:cNvSpPr/>
          <p:nvPr/>
        </p:nvSpPr>
        <p:spPr>
          <a:xfrm>
            <a:off x="5143955" y="2863602"/>
            <a:ext cx="226796"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API</a:t>
            </a:r>
            <a:endParaRPr lang="en-US" sz="1050" dirty="0"/>
          </a:p>
        </p:txBody>
      </p:sp>
      <p:sp>
        <p:nvSpPr>
          <p:cNvPr id="28" name="Text 21"/>
          <p:cNvSpPr/>
          <p:nvPr/>
        </p:nvSpPr>
        <p:spPr>
          <a:xfrm>
            <a:off x="4929912" y="3092053"/>
            <a:ext cx="654734"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SQLite inside</a:t>
            </a:r>
            <a:endParaRPr lang="en-US" sz="850" dirty="0"/>
          </a:p>
        </p:txBody>
      </p:sp>
      <p:sp>
        <p:nvSpPr>
          <p:cNvPr id="29" name="Text 22"/>
          <p:cNvSpPr/>
          <p:nvPr/>
        </p:nvSpPr>
        <p:spPr>
          <a:xfrm>
            <a:off x="6293397" y="2603302"/>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30" name="Text 23"/>
          <p:cNvSpPr/>
          <p:nvPr/>
        </p:nvSpPr>
        <p:spPr>
          <a:xfrm>
            <a:off x="6638330" y="1606600"/>
            <a:ext cx="1905000" cy="1060252"/>
          </a:xfrm>
          <a:prstGeom prst="roundRect">
            <a:avLst>
              <a:gd name="adj" fmla="val 9583"/>
            </a:avLst>
          </a:prstGeom>
          <a:solidFill>
            <a:srgbClr val="FFFFFF"/>
          </a:solidFill>
          <a:ln w="9525">
            <a:solidFill>
              <a:srgbClr val="8CE7A5"/>
            </a:solidFill>
          </a:ln>
        </p:spPr>
        <p:txBody>
          <a:bodyPr wrap="square" rtlCol="0" anchor="ctr"/>
          <a:lstStyle/>
          <a:p>
            <a:pPr indent="0" marL="0">
              <a:buNone/>
            </a:pPr>
            <a:endParaRPr lang="en-US" dirty="0"/>
          </a:p>
        </p:txBody>
      </p:sp>
      <p:sp>
        <p:nvSpPr>
          <p:cNvPr id="31" name="Text 24"/>
          <p:cNvSpPr/>
          <p:nvPr/>
        </p:nvSpPr>
        <p:spPr>
          <a:xfrm>
            <a:off x="7400330" y="1730425"/>
            <a:ext cx="381000" cy="381000"/>
          </a:xfrm>
          <a:prstGeom prst="roundRect">
            <a:avLst>
              <a:gd name="adj" fmla="val 20000"/>
            </a:avLst>
          </a:prstGeom>
          <a:solidFill>
            <a:srgbClr val="DAFBE1"/>
          </a:solidFill>
          <a:ln/>
        </p:spPr>
        <p:txBody>
          <a:bodyPr wrap="square" rtlCol="0" anchor="ctr"/>
          <a:lstStyle/>
          <a:p>
            <a:pPr indent="0" marL="0">
              <a:buNone/>
            </a:pPr>
            <a:endParaRPr lang="en-US" dirty="0"/>
          </a:p>
        </p:txBody>
      </p:sp>
      <p:pic>
        <p:nvPicPr>
          <p:cNvPr id="32" name="Image 5" descr="/Users/danwahlin/.copilot/session-state/a2da67da-2d7a-45f2-aa6a-2a42a7b82a72/files/build/icons/GoSearch-1A7F37.png">    </p:cNvPr>
          <p:cNvPicPr>
            <a:picLocks noChangeAspect="1"/>
          </p:cNvPicPr>
          <p:nvPr/>
        </p:nvPicPr>
        <p:blipFill>
          <a:blip r:embed="rId6"/>
          <a:stretch>
            <a:fillRect/>
          </a:stretch>
        </p:blipFill>
        <p:spPr>
          <a:xfrm>
            <a:off x="7482929" y="1813024"/>
            <a:ext cx="215801" cy="215801"/>
          </a:xfrm>
          <a:prstGeom prst="rect">
            <a:avLst/>
          </a:prstGeom>
        </p:spPr>
      </p:pic>
      <p:sp>
        <p:nvSpPr>
          <p:cNvPr id="33" name="Text 25"/>
          <p:cNvSpPr/>
          <p:nvPr/>
        </p:nvSpPr>
        <p:spPr>
          <a:xfrm>
            <a:off x="7277049" y="2174825"/>
            <a:ext cx="627561"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AI Search</a:t>
            </a:r>
            <a:endParaRPr lang="en-US" sz="1050" dirty="0"/>
          </a:p>
        </p:txBody>
      </p:sp>
      <p:sp>
        <p:nvSpPr>
          <p:cNvPr id="34" name="Text 26"/>
          <p:cNvSpPr/>
          <p:nvPr/>
        </p:nvSpPr>
        <p:spPr>
          <a:xfrm>
            <a:off x="7165474" y="2403277"/>
            <a:ext cx="850562"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Semantic ranking</a:t>
            </a:r>
            <a:endParaRPr lang="en-US" sz="850" dirty="0"/>
          </a:p>
        </p:txBody>
      </p:sp>
      <p:sp>
        <p:nvSpPr>
          <p:cNvPr id="35" name="Text 27"/>
          <p:cNvSpPr/>
          <p:nvPr/>
        </p:nvSpPr>
        <p:spPr>
          <a:xfrm>
            <a:off x="6638330" y="2768352"/>
            <a:ext cx="1905000" cy="1060252"/>
          </a:xfrm>
          <a:prstGeom prst="roundRect">
            <a:avLst>
              <a:gd name="adj" fmla="val 9583"/>
            </a:avLst>
          </a:prstGeom>
          <a:solidFill>
            <a:srgbClr val="FFFFFF"/>
          </a:solidFill>
          <a:ln w="9525">
            <a:solidFill>
              <a:srgbClr val="FFC49B"/>
            </a:solidFill>
          </a:ln>
        </p:spPr>
        <p:txBody>
          <a:bodyPr wrap="square" rtlCol="0" anchor="ctr"/>
          <a:lstStyle/>
          <a:p>
            <a:pPr indent="0" marL="0">
              <a:buNone/>
            </a:pPr>
            <a:endParaRPr lang="en-US" dirty="0"/>
          </a:p>
        </p:txBody>
      </p:sp>
      <p:sp>
        <p:nvSpPr>
          <p:cNvPr id="36" name="Text 28"/>
          <p:cNvSpPr/>
          <p:nvPr/>
        </p:nvSpPr>
        <p:spPr>
          <a:xfrm>
            <a:off x="7400330" y="2892177"/>
            <a:ext cx="381000" cy="381000"/>
          </a:xfrm>
          <a:prstGeom prst="roundRect">
            <a:avLst>
              <a:gd name="adj" fmla="val 20000"/>
            </a:avLst>
          </a:prstGeom>
          <a:solidFill>
            <a:srgbClr val="FFF1E5"/>
          </a:solidFill>
          <a:ln/>
        </p:spPr>
        <p:txBody>
          <a:bodyPr wrap="square" rtlCol="0" anchor="ctr"/>
          <a:lstStyle/>
          <a:p>
            <a:pPr indent="0" marL="0">
              <a:buNone/>
            </a:pPr>
            <a:endParaRPr lang="en-US" dirty="0"/>
          </a:p>
        </p:txBody>
      </p:sp>
      <p:pic>
        <p:nvPicPr>
          <p:cNvPr id="37" name="Image 6" descr="/Users/danwahlin/.copilot/session-state/a2da67da-2d7a-45f2-aa6a-2a42a7b82a72/files/build/icons/GoCopilot-BC4C00.png">    </p:cNvPr>
          <p:cNvPicPr>
            <a:picLocks noChangeAspect="1"/>
          </p:cNvPicPr>
          <p:nvPr/>
        </p:nvPicPr>
        <p:blipFill>
          <a:blip r:embed="rId7"/>
          <a:stretch>
            <a:fillRect/>
          </a:stretch>
        </p:blipFill>
        <p:spPr>
          <a:xfrm>
            <a:off x="7482929" y="2974777"/>
            <a:ext cx="215801" cy="215801"/>
          </a:xfrm>
          <a:prstGeom prst="rect">
            <a:avLst/>
          </a:prstGeom>
        </p:spPr>
      </p:pic>
      <p:sp>
        <p:nvSpPr>
          <p:cNvPr id="38" name="Text 29"/>
          <p:cNvSpPr/>
          <p:nvPr/>
        </p:nvSpPr>
        <p:spPr>
          <a:xfrm>
            <a:off x="6993783" y="3336578"/>
            <a:ext cx="1193944"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Microsoft Foundry</a:t>
            </a:r>
            <a:endParaRPr lang="en-US" sz="1050" dirty="0"/>
          </a:p>
        </p:txBody>
      </p:sp>
      <p:sp>
        <p:nvSpPr>
          <p:cNvPr id="39" name="Text 30"/>
          <p:cNvSpPr/>
          <p:nvPr/>
        </p:nvSpPr>
        <p:spPr>
          <a:xfrm>
            <a:off x="7346121" y="3565029"/>
            <a:ext cx="489418"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gpt-5-mini</a:t>
            </a:r>
            <a:endParaRPr lang="en-US" sz="850" dirty="0"/>
          </a:p>
        </p:txBody>
      </p:sp>
      <p:sp>
        <p:nvSpPr>
          <p:cNvPr id="40" name="Text 31"/>
          <p:cNvSpPr/>
          <p:nvPr/>
        </p:nvSpPr>
        <p:spPr>
          <a:xfrm>
            <a:off x="2767757" y="4107954"/>
            <a:ext cx="304800" cy="304800"/>
          </a:xfrm>
          <a:prstGeom prst="roundRect">
            <a:avLst>
              <a:gd name="adj" fmla="val 25000"/>
            </a:avLst>
          </a:prstGeom>
          <a:solidFill>
            <a:srgbClr val="F6F8FA"/>
          </a:solidFill>
          <a:ln/>
        </p:spPr>
        <p:txBody>
          <a:bodyPr wrap="square" rtlCol="0" anchor="ctr"/>
          <a:lstStyle/>
          <a:p>
            <a:pPr indent="0" marL="0">
              <a:buNone/>
            </a:pPr>
            <a:endParaRPr lang="en-US" dirty="0"/>
          </a:p>
        </p:txBody>
      </p:sp>
      <p:pic>
        <p:nvPicPr>
          <p:cNvPr id="41" name="Image 7" descr="/Users/danwahlin/.copilot/session-state/a2da67da-2d7a-45f2-aa6a-2a42a7b82a72/files/build/icons/GoPackage-59636E.png">    </p:cNvPr>
          <p:cNvPicPr>
            <a:picLocks noChangeAspect="1"/>
          </p:cNvPicPr>
          <p:nvPr/>
        </p:nvPicPr>
        <p:blipFill>
          <a:blip r:embed="rId8"/>
          <a:stretch>
            <a:fillRect/>
          </a:stretch>
        </p:blipFill>
        <p:spPr>
          <a:xfrm>
            <a:off x="2837557" y="4177754"/>
            <a:ext cx="165050" cy="165050"/>
          </a:xfrm>
          <a:prstGeom prst="rect">
            <a:avLst/>
          </a:prstGeom>
        </p:spPr>
      </p:pic>
      <p:sp>
        <p:nvSpPr>
          <p:cNvPr id="42" name="Text 32"/>
          <p:cNvSpPr/>
          <p:nvPr/>
        </p:nvSpPr>
        <p:spPr>
          <a:xfrm>
            <a:off x="3161407" y="4188916"/>
            <a:ext cx="1072500" cy="142875"/>
          </a:xfrm>
          <a:prstGeom prst="rect">
            <a:avLst/>
          </a:prstGeom>
          <a:noFill/>
          <a:ln/>
        </p:spPr>
        <p:txBody>
          <a:bodyPr wrap="square" lIns="0" tIns="0" rIns="0" bIns="0" rtlCol="0" anchor="t"/>
          <a:lstStyle/>
          <a:p>
            <a:pPr algn="l" indent="0" marL="0">
              <a:buNone/>
            </a:pPr>
            <a:r>
              <a:rPr lang="en-US" sz="1000" dirty="0">
                <a:solidFill>
                  <a:srgbClr val="59636E"/>
                </a:solidFill>
                <a:latin typeface="Arial" pitchFamily="34" charset="0"/>
                <a:ea typeface="Arial" pitchFamily="34" charset="-122"/>
                <a:cs typeface="Arial" pitchFamily="34" charset="-120"/>
              </a:rPr>
              <a:t>Container Registry</a:t>
            </a:r>
            <a:endParaRPr lang="en-US" sz="1000" dirty="0"/>
          </a:p>
        </p:txBody>
      </p:sp>
      <p:sp>
        <p:nvSpPr>
          <p:cNvPr id="43" name="Text 33"/>
          <p:cNvSpPr/>
          <p:nvPr/>
        </p:nvSpPr>
        <p:spPr>
          <a:xfrm>
            <a:off x="4390579" y="4107954"/>
            <a:ext cx="304800" cy="304800"/>
          </a:xfrm>
          <a:prstGeom prst="roundRect">
            <a:avLst>
              <a:gd name="adj" fmla="val 25000"/>
            </a:avLst>
          </a:prstGeom>
          <a:solidFill>
            <a:srgbClr val="F6F8FA"/>
          </a:solidFill>
          <a:ln/>
        </p:spPr>
        <p:txBody>
          <a:bodyPr wrap="square" rtlCol="0" anchor="ctr"/>
          <a:lstStyle/>
          <a:p>
            <a:pPr indent="0" marL="0">
              <a:buNone/>
            </a:pPr>
            <a:endParaRPr lang="en-US" dirty="0"/>
          </a:p>
        </p:txBody>
      </p:sp>
      <p:pic>
        <p:nvPicPr>
          <p:cNvPr id="44" name="Image 8" descr="/Users/danwahlin/.copilot/session-state/a2da67da-2d7a-45f2-aa6a-2a42a7b82a72/files/build/icons/GoGraph-59636E.png">    </p:cNvPr>
          <p:cNvPicPr>
            <a:picLocks noChangeAspect="1"/>
          </p:cNvPicPr>
          <p:nvPr/>
        </p:nvPicPr>
        <p:blipFill>
          <a:blip r:embed="rId9"/>
          <a:stretch>
            <a:fillRect/>
          </a:stretch>
        </p:blipFill>
        <p:spPr>
          <a:xfrm>
            <a:off x="4460379" y="4177754"/>
            <a:ext cx="165050" cy="165050"/>
          </a:xfrm>
          <a:prstGeom prst="rect">
            <a:avLst/>
          </a:prstGeom>
        </p:spPr>
      </p:pic>
      <p:sp>
        <p:nvSpPr>
          <p:cNvPr id="45" name="Text 34"/>
          <p:cNvSpPr/>
          <p:nvPr/>
        </p:nvSpPr>
        <p:spPr>
          <a:xfrm>
            <a:off x="4784229" y="4188916"/>
            <a:ext cx="1623551" cy="142875"/>
          </a:xfrm>
          <a:prstGeom prst="rect">
            <a:avLst/>
          </a:prstGeom>
          <a:noFill/>
          <a:ln/>
        </p:spPr>
        <p:txBody>
          <a:bodyPr wrap="square" lIns="0" tIns="0" rIns="0" bIns="0" rtlCol="0" anchor="t"/>
          <a:lstStyle/>
          <a:p>
            <a:pPr algn="l" indent="0" marL="0">
              <a:buNone/>
            </a:pPr>
            <a:r>
              <a:rPr lang="en-US" sz="1000" dirty="0">
                <a:solidFill>
                  <a:srgbClr val="59636E"/>
                </a:solidFill>
                <a:latin typeface="Arial" pitchFamily="34" charset="0"/>
                <a:ea typeface="Arial" pitchFamily="34" charset="-122"/>
                <a:cs typeface="Arial" pitchFamily="34" charset="-120"/>
              </a:rPr>
              <a:t>App Insights + Log Analytics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BC4C00"/>
                </a:solidFill>
                <a:latin typeface="Arial" pitchFamily="34" charset="0"/>
                <a:ea typeface="Arial" pitchFamily="34" charset="-122"/>
                <a:cs typeface="Arial" pitchFamily="34" charset="-120"/>
              </a:rPr>
              <a:t>SHIP AND VERIFY</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Deploy, then prove it</a:t>
            </a:r>
            <a:endParaRPr lang="en-US" sz="2600" dirty="0"/>
          </a:p>
        </p:txBody>
      </p:sp>
      <p:sp>
        <p:nvSpPr>
          <p:cNvPr id="7" name="Text 4"/>
          <p:cNvSpPr/>
          <p:nvPr/>
        </p:nvSpPr>
        <p:spPr>
          <a:xfrm>
            <a:off x="888802" y="1629073"/>
            <a:ext cx="7365950" cy="2100858"/>
          </a:xfrm>
          <a:prstGeom prst="roundRect">
            <a:avLst>
              <a:gd name="adj" fmla="val 4836"/>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888802" y="1629073"/>
            <a:ext cx="736595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015752" y="1711523"/>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168003" y="1711523"/>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320254" y="1711523"/>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574006" y="1698873"/>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117402" y="2060674"/>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node scripts/check-infra.mjs</a:t>
            </a:r>
            <a:endParaRPr lang="en-US" sz="1350" dirty="0"/>
          </a:p>
        </p:txBody>
      </p:sp>
      <p:sp>
        <p:nvSpPr>
          <p:cNvPr id="14" name="Text 11"/>
          <p:cNvSpPr/>
          <p:nvPr/>
        </p:nvSpPr>
        <p:spPr>
          <a:xfrm>
            <a:off x="1117402" y="2326481"/>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azd up</a:t>
            </a:r>
            <a:endParaRPr lang="en-US" sz="1350" dirty="0"/>
          </a:p>
        </p:txBody>
      </p:sp>
      <p:sp>
        <p:nvSpPr>
          <p:cNvPr id="15" name="Text 12"/>
          <p:cNvSpPr/>
          <p:nvPr/>
        </p:nvSpPr>
        <p:spPr>
          <a:xfrm>
            <a:off x="1117402" y="2729359"/>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node ../../.github/scripts/verify-aimarket.mjs</a:t>
            </a:r>
            <a:endParaRPr lang="en-US" sz="1350" dirty="0"/>
          </a:p>
        </p:txBody>
      </p:sp>
      <p:sp>
        <p:nvSpPr>
          <p:cNvPr id="16" name="Text 13"/>
          <p:cNvSpPr/>
          <p:nvPr/>
        </p:nvSpPr>
        <p:spPr>
          <a:xfrm>
            <a:off x="1117402" y="2995166"/>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PASS: health, 10 products, images, search,</a:t>
            </a:r>
            <a:endParaRPr lang="en-US" sz="1350" dirty="0"/>
          </a:p>
        </p:txBody>
      </p:sp>
      <p:sp>
        <p:nvSpPr>
          <p:cNvPr id="17" name="Text 14"/>
          <p:cNvSpPr/>
          <p:nvPr/>
        </p:nvSpPr>
        <p:spPr>
          <a:xfrm>
            <a:off x="1117402" y="3260973"/>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chat, storefront, and API integration</a:t>
            </a:r>
            <a:endParaRPr lang="en-US" sz="1350" dirty="0"/>
          </a:p>
        </p:txBody>
      </p:sp>
      <p:pic>
        <p:nvPicPr>
          <p:cNvPr id="18" name="Image 1" descr="/Users/danwahlin/.copilot/session-state/a2da67da-2d7a-45f2-aa6a-2a42a7b82a72/files/build/icons/GoBrowser-0969DA.png">    </p:cNvPr>
          <p:cNvPicPr>
            <a:picLocks noChangeAspect="1"/>
          </p:cNvPicPr>
          <p:nvPr/>
        </p:nvPicPr>
        <p:blipFill>
          <a:blip r:embed="rId2"/>
          <a:stretch>
            <a:fillRect/>
          </a:stretch>
        </p:blipFill>
        <p:spPr>
          <a:xfrm>
            <a:off x="888802" y="4079230"/>
            <a:ext cx="190500" cy="190500"/>
          </a:xfrm>
          <a:prstGeom prst="rect">
            <a:avLst/>
          </a:prstGeom>
        </p:spPr>
      </p:pic>
      <p:sp>
        <p:nvSpPr>
          <p:cNvPr id="19" name="Text 15"/>
          <p:cNvSpPr/>
          <p:nvPr/>
        </p:nvSpPr>
        <p:spPr>
          <a:xfrm>
            <a:off x="1180802" y="3958530"/>
            <a:ext cx="7215429" cy="431899"/>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Then open </a:t>
            </a:r>
            <a:pPr algn="l" indent="0" marL="0">
              <a:lnSpc>
                <a:spcPts val="1700"/>
              </a:lnSpc>
              <a:buNone/>
            </a:pPr>
            <a:r>
              <a:rPr lang="en-US" sz="1250" b="1" dirty="0">
                <a:solidFill>
                  <a:srgbClr val="1F2328"/>
                </a:solidFill>
                <a:latin typeface="Arial" pitchFamily="34" charset="0"/>
                <a:ea typeface="Arial" pitchFamily="34" charset="-122"/>
                <a:cs typeface="Arial" pitchFamily="34" charset="-120"/>
              </a:rPr>
              <a:t>WEB_URL</a:t>
            </a:r>
            <a:pPr algn="l" indent="0" marL="0">
              <a:lnSpc>
                <a:spcPts val="1700"/>
              </a:lnSpc>
              <a:buNone/>
            </a:pPr>
            <a:r>
              <a:rPr lang="en-US" sz="1250" dirty="0">
                <a:solidFill>
                  <a:srgbClr val="1F2328"/>
                </a:solidFill>
                <a:latin typeface="Arial" pitchFamily="34" charset="0"/>
                <a:ea typeface="Arial" pitchFamily="34" charset="-122"/>
                <a:cs typeface="Arial" pitchFamily="34" charset="-120"/>
              </a:rPr>
              <a:t>, search for "something lightweight for travel," and ask the assistant a question.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BC4C00"/>
                </a:solidFill>
                <a:latin typeface="Arial" pitchFamily="34" charset="0"/>
                <a:ea typeface="Arial" pitchFamily="34" charset="-122"/>
                <a:cs typeface="Arial" pitchFamily="34" charset="-120"/>
              </a:rPr>
              <a:t>CLEAN UP</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Tear it down the same day</a:t>
            </a:r>
            <a:endParaRPr lang="en-US" sz="2600" dirty="0"/>
          </a:p>
        </p:txBody>
      </p:sp>
      <p:sp>
        <p:nvSpPr>
          <p:cNvPr id="7" name="Text 4"/>
          <p:cNvSpPr/>
          <p:nvPr/>
        </p:nvSpPr>
        <p:spPr>
          <a:xfrm>
            <a:off x="1015901" y="1803350"/>
            <a:ext cx="7111901" cy="1968252"/>
          </a:xfrm>
          <a:prstGeom prst="roundRect">
            <a:avLst>
              <a:gd name="adj" fmla="val 5162"/>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803350"/>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885801"/>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885801"/>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885801"/>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873151"/>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244501" y="2234952"/>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azd down --force --purge</a:t>
            </a:r>
            <a:endParaRPr lang="en-US" sz="1500" dirty="0"/>
          </a:p>
        </p:txBody>
      </p:sp>
      <p:sp>
        <p:nvSpPr>
          <p:cNvPr id="14" name="Text 11"/>
          <p:cNvSpPr/>
          <p:nvPr/>
        </p:nvSpPr>
        <p:spPr>
          <a:xfrm>
            <a:off x="1244501" y="2682627"/>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Confirm it is really gone</a:t>
            </a:r>
            <a:endParaRPr lang="en-US" sz="1500" dirty="0"/>
          </a:p>
        </p:txBody>
      </p:sp>
      <p:sp>
        <p:nvSpPr>
          <p:cNvPr id="15" name="Text 12"/>
          <p:cNvSpPr/>
          <p:nvPr/>
        </p:nvSpPr>
        <p:spPr>
          <a:xfrm>
            <a:off x="1244501" y="2977902"/>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 group exists --name &lt;resource-group-name&gt;</a:t>
            </a:r>
            <a:endParaRPr lang="en-US" sz="1500" dirty="0"/>
          </a:p>
        </p:txBody>
      </p:sp>
      <p:sp>
        <p:nvSpPr>
          <p:cNvPr id="16" name="Text 13"/>
          <p:cNvSpPr/>
          <p:nvPr/>
        </p:nvSpPr>
        <p:spPr>
          <a:xfrm>
            <a:off x="1244501" y="3273177"/>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false</a:t>
            </a:r>
            <a:endParaRPr lang="en-US" sz="1500" dirty="0"/>
          </a:p>
        </p:txBody>
      </p:sp>
      <p:pic>
        <p:nvPicPr>
          <p:cNvPr id="17" name="Image 1" descr="/Users/danwahlin/.copilot/session-state/a2da67da-2d7a-45f2-aa6a-2a42a7b82a72/files/build/icons/GoAlert-9A6700.png">    </p:cNvPr>
          <p:cNvPicPr>
            <a:picLocks noChangeAspect="1"/>
          </p:cNvPicPr>
          <p:nvPr/>
        </p:nvPicPr>
        <p:blipFill>
          <a:blip r:embed="rId2"/>
          <a:stretch>
            <a:fillRect/>
          </a:stretch>
        </p:blipFill>
        <p:spPr>
          <a:xfrm>
            <a:off x="1015901" y="4012853"/>
            <a:ext cx="190500" cy="190500"/>
          </a:xfrm>
          <a:prstGeom prst="rect">
            <a:avLst/>
          </a:prstGeom>
        </p:spPr>
      </p:pic>
      <p:sp>
        <p:nvSpPr>
          <p:cNvPr id="18" name="Text 14"/>
          <p:cNvSpPr/>
          <p:nvPr/>
        </p:nvSpPr>
        <p:spPr>
          <a:xfrm>
            <a:off x="1307902" y="4000202"/>
            <a:ext cx="4891299" cy="215950"/>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AI Search Basic alone is about $75/month. </a:t>
            </a:r>
            <a:pPr algn="l" indent="0" marL="0">
              <a:lnSpc>
                <a:spcPts val="1700"/>
              </a:lnSpc>
              <a:buNone/>
            </a:pPr>
            <a:r>
              <a:rPr lang="en-US" sz="1250" b="1" dirty="0">
                <a:solidFill>
                  <a:srgbClr val="1F2328"/>
                </a:solidFill>
                <a:latin typeface="Arial" pitchFamily="34" charset="0"/>
                <a:ea typeface="Arial" pitchFamily="34" charset="-122"/>
                <a:cs typeface="Arial" pitchFamily="34" charset="-120"/>
              </a:rPr>
              <a:t>Clean up the same day.</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02748" y="152400"/>
            <a:ext cx="857101"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823667" y="219075"/>
            <a:ext cx="615264"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AIMARKET</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What to remember</a:t>
            </a:r>
            <a:endParaRPr lang="en-US" sz="2600" dirty="0"/>
          </a:p>
        </p:txBody>
      </p:sp>
      <p:sp>
        <p:nvSpPr>
          <p:cNvPr id="7" name="Text 4"/>
          <p:cNvSpPr/>
          <p:nvPr/>
        </p:nvSpPr>
        <p:spPr>
          <a:xfrm>
            <a:off x="482501" y="1320701"/>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FileCode-0969DA.png">    </p:cNvPr>
          <p:cNvPicPr>
            <a:picLocks noChangeAspect="1"/>
          </p:cNvPicPr>
          <p:nvPr/>
        </p:nvPicPr>
        <p:blipFill>
          <a:blip r:embed="rId2"/>
          <a:stretch>
            <a:fillRect/>
          </a:stretch>
        </p:blipFill>
        <p:spPr>
          <a:xfrm>
            <a:off x="577751" y="1415951"/>
            <a:ext cx="241250" cy="241250"/>
          </a:xfrm>
          <a:prstGeom prst="rect">
            <a:avLst/>
          </a:prstGeom>
        </p:spPr>
      </p:pic>
      <p:sp>
        <p:nvSpPr>
          <p:cNvPr id="9" name="Text 5"/>
          <p:cNvSpPr/>
          <p:nvPr/>
        </p:nvSpPr>
        <p:spPr>
          <a:xfrm>
            <a:off x="1066651" y="1320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A spec is a contract. Build it in layers you can review.</a:t>
            </a:r>
            <a:endParaRPr lang="en-US" sz="1300" dirty="0"/>
          </a:p>
        </p:txBody>
      </p:sp>
      <p:sp>
        <p:nvSpPr>
          <p:cNvPr id="10" name="Text 6"/>
          <p:cNvSpPr/>
          <p:nvPr/>
        </p:nvSpPr>
        <p:spPr>
          <a:xfrm>
            <a:off x="4736902" y="1320701"/>
            <a:ext cx="431750" cy="431750"/>
          </a:xfrm>
          <a:prstGeom prst="roundRect">
            <a:avLst>
              <a:gd name="adj" fmla="val 17649"/>
            </a:avLst>
          </a:prstGeom>
          <a:solidFill>
            <a:srgbClr val="FBEFFF"/>
          </a:solidFill>
          <a:ln/>
        </p:spPr>
        <p:txBody>
          <a:bodyPr wrap="square" rtlCol="0" anchor="ctr"/>
          <a:lstStyle/>
          <a:p>
            <a:pPr indent="0" marL="0">
              <a:buNone/>
            </a:pPr>
            <a:endParaRPr lang="en-US" dirty="0"/>
          </a:p>
        </p:txBody>
      </p:sp>
      <p:pic>
        <p:nvPicPr>
          <p:cNvPr id="11" name="Image 2" descr="/Users/danwahlin/.copilot/session-state/a2da67da-2d7a-45f2-aa6a-2a42a7b82a72/files/build/icons/GoEye-8250DF.png">    </p:cNvPr>
          <p:cNvPicPr>
            <a:picLocks noChangeAspect="1"/>
          </p:cNvPicPr>
          <p:nvPr/>
        </p:nvPicPr>
        <p:blipFill>
          <a:blip r:embed="rId3"/>
          <a:stretch>
            <a:fillRect/>
          </a:stretch>
        </p:blipFill>
        <p:spPr>
          <a:xfrm>
            <a:off x="4832152" y="1415951"/>
            <a:ext cx="241250" cy="241250"/>
          </a:xfrm>
          <a:prstGeom prst="rect">
            <a:avLst/>
          </a:prstGeom>
        </p:spPr>
      </p:pic>
      <p:sp>
        <p:nvSpPr>
          <p:cNvPr id="12" name="Text 7"/>
          <p:cNvSpPr/>
          <p:nvPr/>
        </p:nvSpPr>
        <p:spPr>
          <a:xfrm>
            <a:off x="5321052" y="1320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Inspect and test business rules, not just that it compiles.</a:t>
            </a:r>
            <a:endParaRPr lang="en-US" sz="1300" dirty="0"/>
          </a:p>
        </p:txBody>
      </p:sp>
      <p:sp>
        <p:nvSpPr>
          <p:cNvPr id="13" name="Text 8"/>
          <p:cNvSpPr/>
          <p:nvPr/>
        </p:nvSpPr>
        <p:spPr>
          <a:xfrm>
            <a:off x="482501" y="2082701"/>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14" name="Image 3" descr="/Users/danwahlin/.copilot/session-state/a2da67da-2d7a-45f2-aa6a-2a42a7b82a72/files/build/icons/GoCopilot-1A7F37.png">    </p:cNvPr>
          <p:cNvPicPr>
            <a:picLocks noChangeAspect="1"/>
          </p:cNvPicPr>
          <p:nvPr/>
        </p:nvPicPr>
        <p:blipFill>
          <a:blip r:embed="rId4"/>
          <a:stretch>
            <a:fillRect/>
          </a:stretch>
        </p:blipFill>
        <p:spPr>
          <a:xfrm>
            <a:off x="577751" y="2177951"/>
            <a:ext cx="241250" cy="241250"/>
          </a:xfrm>
          <a:prstGeom prst="rect">
            <a:avLst/>
          </a:prstGeom>
        </p:spPr>
      </p:pic>
      <p:sp>
        <p:nvSpPr>
          <p:cNvPr id="15" name="Text 9"/>
          <p:cNvSpPr/>
          <p:nvPr/>
        </p:nvSpPr>
        <p:spPr>
          <a:xfrm>
            <a:off x="1066651" y="2082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Ground AI in real data. Delegate bounded work to a cloud agent.</a:t>
            </a:r>
            <a:endParaRPr lang="en-US" sz="1300" dirty="0"/>
          </a:p>
        </p:txBody>
      </p:sp>
      <p:sp>
        <p:nvSpPr>
          <p:cNvPr id="16" name="Text 10"/>
          <p:cNvSpPr/>
          <p:nvPr/>
        </p:nvSpPr>
        <p:spPr>
          <a:xfrm>
            <a:off x="4736902" y="2082701"/>
            <a:ext cx="431750" cy="431750"/>
          </a:xfrm>
          <a:prstGeom prst="roundRect">
            <a:avLst>
              <a:gd name="adj" fmla="val 17649"/>
            </a:avLst>
          </a:prstGeom>
          <a:solidFill>
            <a:srgbClr val="FFF1E5"/>
          </a:solidFill>
          <a:ln/>
        </p:spPr>
        <p:txBody>
          <a:bodyPr wrap="square" rtlCol="0" anchor="ctr"/>
          <a:lstStyle/>
          <a:p>
            <a:pPr indent="0" marL="0">
              <a:buNone/>
            </a:pPr>
            <a:endParaRPr lang="en-US" dirty="0"/>
          </a:p>
        </p:txBody>
      </p:sp>
      <p:pic>
        <p:nvPicPr>
          <p:cNvPr id="17" name="Image 4" descr="/Users/danwahlin/.copilot/session-state/a2da67da-2d7a-45f2-aa6a-2a42a7b82a72/files/build/icons/GoShieldCheck-BC4C00.png">    </p:cNvPr>
          <p:cNvPicPr>
            <a:picLocks noChangeAspect="1"/>
          </p:cNvPicPr>
          <p:nvPr/>
        </p:nvPicPr>
        <p:blipFill>
          <a:blip r:embed="rId5"/>
          <a:stretch>
            <a:fillRect/>
          </a:stretch>
        </p:blipFill>
        <p:spPr>
          <a:xfrm>
            <a:off x="4832152" y="2177951"/>
            <a:ext cx="241250" cy="241250"/>
          </a:xfrm>
          <a:prstGeom prst="rect">
            <a:avLst/>
          </a:prstGeom>
        </p:spPr>
      </p:pic>
      <p:sp>
        <p:nvSpPr>
          <p:cNvPr id="18" name="Text 11"/>
          <p:cNvSpPr/>
          <p:nvPr/>
        </p:nvSpPr>
        <p:spPr>
          <a:xfrm>
            <a:off x="5321052" y="2190601"/>
            <a:ext cx="3256818" cy="215950"/>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Gate the infrastructure before you pay for it.</a:t>
            </a:r>
            <a:endParaRPr lang="en-US" sz="1300" dirty="0"/>
          </a:p>
        </p:txBody>
      </p:sp>
      <p:sp>
        <p:nvSpPr>
          <p:cNvPr id="19" name="Text 12"/>
          <p:cNvSpPr/>
          <p:nvPr/>
        </p:nvSpPr>
        <p:spPr>
          <a:xfrm>
            <a:off x="482501" y="3886200"/>
            <a:ext cx="8178701" cy="711101"/>
          </a:xfrm>
          <a:prstGeom prst="roundRect">
            <a:avLst>
              <a:gd name="adj" fmla="val 14288"/>
            </a:avLst>
          </a:prstGeom>
          <a:solidFill>
            <a:srgbClr val="DDF4FF"/>
          </a:solidFill>
          <a:ln w="9525">
            <a:solidFill>
              <a:srgbClr val="9CD7FF"/>
            </a:solidFill>
          </a:ln>
        </p:spPr>
        <p:txBody>
          <a:bodyPr wrap="square" rtlCol="0" anchor="ctr"/>
          <a:lstStyle/>
          <a:p>
            <a:pPr indent="0" marL="0">
              <a:buNone/>
            </a:pPr>
            <a:endParaRPr lang="en-US" dirty="0"/>
          </a:p>
        </p:txBody>
      </p:sp>
      <p:sp>
        <p:nvSpPr>
          <p:cNvPr id="20" name="Text 13"/>
          <p:cNvSpPr/>
          <p:nvPr/>
        </p:nvSpPr>
        <p:spPr>
          <a:xfrm>
            <a:off x="669727" y="4051250"/>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21" name="Image 5" descr="/Users/danwahlin/.copilot/session-state/a2da67da-2d7a-45f2-aa6a-2a42a7b82a72/files/build/icons/GoArrowRight-0969DA.png">    </p:cNvPr>
          <p:cNvPicPr>
            <a:picLocks noChangeAspect="1"/>
          </p:cNvPicPr>
          <p:nvPr/>
        </p:nvPicPr>
        <p:blipFill>
          <a:blip r:embed="rId6"/>
          <a:stretch>
            <a:fillRect/>
          </a:stretch>
        </p:blipFill>
        <p:spPr>
          <a:xfrm>
            <a:off x="752326" y="4133850"/>
            <a:ext cx="215801" cy="215801"/>
          </a:xfrm>
          <a:prstGeom prst="rect">
            <a:avLst/>
          </a:prstGeom>
        </p:spPr>
      </p:pic>
      <p:sp>
        <p:nvSpPr>
          <p:cNvPr id="22" name="Text 14"/>
          <p:cNvSpPr/>
          <p:nvPr/>
        </p:nvSpPr>
        <p:spPr>
          <a:xfrm>
            <a:off x="1203127" y="4067175"/>
            <a:ext cx="6297162" cy="133350"/>
          </a:xfrm>
          <a:prstGeom prst="rect">
            <a:avLst/>
          </a:prstGeom>
          <a:noFill/>
          <a:ln/>
        </p:spPr>
        <p:txBody>
          <a:bodyPr wrap="square" lIns="0" tIns="0" rIns="0" bIns="0" rtlCol="0" anchor="t"/>
          <a:lstStyle/>
          <a:p>
            <a:pPr algn="l" indent="0" marL="0">
              <a:buNone/>
            </a:pPr>
            <a:r>
              <a:rPr lang="en-US" sz="900" b="1" dirty="0">
                <a:solidFill>
                  <a:srgbClr val="0969DA"/>
                </a:solidFill>
                <a:latin typeface="Arial" pitchFamily="34" charset="0"/>
                <a:ea typeface="Arial" pitchFamily="34" charset="-122"/>
                <a:cs typeface="Arial" pitchFamily="34" charset="-120"/>
              </a:rPr>
              <a:t>NEXT JOURNEY</a:t>
            </a:r>
            <a:endParaRPr lang="en-US" sz="900" dirty="0"/>
          </a:p>
        </p:txBody>
      </p:sp>
      <p:sp>
        <p:nvSpPr>
          <p:cNvPr id="23" name="Text 15"/>
          <p:cNvSpPr/>
          <p:nvPr/>
        </p:nvSpPr>
        <p:spPr>
          <a:xfrm>
            <a:off x="1203127" y="4225826"/>
            <a:ext cx="6297162" cy="190500"/>
          </a:xfrm>
          <a:prstGeom prst="rect">
            <a:avLst/>
          </a:prstGeom>
          <a:noFill/>
          <a:ln/>
        </p:spPr>
        <p:txBody>
          <a:bodyPr wrap="square" lIns="0" tIns="0" rIns="0" bIns="0" rtlCol="0" anchor="t"/>
          <a:lstStyle/>
          <a:p>
            <a:pPr algn="l" indent="0" marL="0">
              <a:buNone/>
            </a:pPr>
            <a:r>
              <a:rPr lang="en-US" sz="1250" b="1" dirty="0">
                <a:solidFill>
                  <a:srgbClr val="1F2328"/>
                </a:solidFill>
                <a:latin typeface="Arial" pitchFamily="34" charset="0"/>
                <a:ea typeface="Arial" pitchFamily="34" charset="-122"/>
                <a:cs typeface="Arial" pitchFamily="34" charset="-120"/>
              </a:rPr>
              <a:t>SmartTodo</a:t>
            </a:r>
            <a:pPr algn="l" indent="0" marL="0">
              <a:buNone/>
            </a:pPr>
            <a:r>
              <a:rPr lang="en-US" sz="1250" dirty="0">
                <a:solidFill>
                  <a:srgbClr val="1F2328"/>
                </a:solidFill>
                <a:latin typeface="Arial" pitchFamily="34" charset="0"/>
                <a:ea typeface="Arial" pitchFamily="34" charset="-122"/>
                <a:cs typeface="Arial" pitchFamily="34" charset="-120"/>
              </a:rPr>
              <a:t> </a:t>
            </a:r>
            <a:pPr algn="l" indent="0" marL="0">
              <a:buNone/>
            </a:pPr>
            <a:r>
              <a:rPr lang="en-US" sz="1250" dirty="0">
                <a:solidFill>
                  <a:srgbClr val="59636E"/>
                </a:solidFill>
                <a:latin typeface="Arial" pitchFamily="34" charset="0"/>
                <a:ea typeface="Arial" pitchFamily="34" charset="-122"/>
                <a:cs typeface="Arial" pitchFamily="34" charset="-120"/>
              </a:rPr>
              <a:t>· Test-first with issues, TDD agents, stacked PRs, and a cloud-agent factory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AIMarket: Agentic Journey</dc:title>
  <dc:subject>PptxGenJS Presentation</dc:subject>
  <dc:creator>GitHub and Azure Agentic Journeys</dc:creator>
  <cp:lastModifiedBy>GitHub and Azure Agentic Journeys</cp:lastModifiedBy>
  <cp:revision>1</cp:revision>
  <dcterms:created xsi:type="dcterms:W3CDTF">2026-09-30T08:32:06Z</dcterms:created>
  <dcterms:modified xsi:type="dcterms:W3CDTF">2026-09-30T08:32:06Z</dcterms:modified>
</cp:coreProperties>
</file>