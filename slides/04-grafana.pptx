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is the simplest open-source deployment journey: one container, no external database. You describe what you want, review the plan and cost, preview, deploy, and verify. Then we operate Grafana through its API and deliberately restart it to learn about storage tradeoffs. Deployment takes about 2 to 5 minutes, so there is time to explore. Timing guide: 5 minutes intro, 17 minutes plan and preview, 13 minutes deploy and verify, 18 minutes operate,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is a popular open-source dashboard and observability tool. We will not write application code today. The agent generates the infrastructure, deploys the public Grafana image, and helps us operate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write a prompt. The oss-to-azure-deployer agent loads two kinds of skills: the grafana-azure app skill in this repo, and the Azure Skills plugin, which provides current Bicep schemas and guidance through Azure MCP. The agent generates Bicep and azure.yaml, azd deploys, and a verifier proves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resource group. A Container Apps environment runs a single Grafana container app with public HTTPS ingress on port 3000. Grafana stores its data in SQLite on the container's local disk. That is fast and cheap, and also temporary, which we will prove later. Logs and metrics flow to Log Analytics. minReplicas is 0 so it scales to zero, and maxReplicas is 1 because SQLite cannot be shared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preview. About 17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Copilot CLI from the repository root. Add the Azure Skills marketplace and install the plugin once; it persists across sessions. Then choose the oss-to-azure-deployer agent with /agent. In other tools, select the same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first, with an explicit "don't create anything yet." You should get a list of resources, SKUs, and a monthly estimate around 10 to 20 dollars. This is where you catch surprises before they are billable.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question, and a great habit. The agent should explain that SQLite is fine for demos and testing, but data lives inside the container. PostgreSQL survives restarts and supports multiple replicas, at extra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no extra resource and fast to deploy, but data is lost on restart. PostgreSQL: survives restarts and supports multiple replicas, but costs more. Today we choose SQLite on purpose so we can see the tradeoff for ourselves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prompt shows several safe habits. Secrets stay in the azd environment and never print. The preview shows exactly what will be created. The agent is told how to handle failures: smallest safe fix, rerun, and log it in issues.md. And the deploy itself stays in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deploy and verify.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run azd up yourself. It takes about 2 to 5 minutes. Then run the checked-in verifier. You can also ask the agent: "Verify the Grafana deployment. Report each acceptance criterion as pass or fail." Then open the URL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to zero saves money, and the cost is a cold start. If the first request is slow or returns a 502, wait and refresh. Knowing what normal looks like saves a lot of unnecessary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operate and learn.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agent that deployed Grafana can now operate it. It writes a small script that uses the Grafana HTTP API. Argument arrays avoid shell interpolation and work on Windows, Mac, and Linux. Open the printed URL to see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memorable moment of the session. Ask the agent to restart the container app. It creates a restart script that finds the tagged app and restarts only the active revision. After the restart, the dashboard is gone, because SQLite lived on the container's temporary disk. Ask why, then ask "How do I make Grafana dashboards persist across restarts?" The answer is PostgreSQL, or Azure Files mounted at /var/lib/grafana.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Tear everything down. Record the resource group name first with azd env get-value RESOURCE_GROUP_NAME, run azd down with force and purge, then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 and preview first. The agent and skills can both deploy and operate the app. Storage choices matter even when they are invisible. And cold starts are expected with scale to zero. Next up: n8n, which adds a real database, careful health probes, and a hook that runs after provisioning.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Grafana on Azure</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you could deploy a working dashboard app to Azure by describing it, then break it on purpose to learn why?</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~$10–20/month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1626587"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1626587"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Azure Container Apps</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526232"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1058079"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preview</a:t>
            </a:r>
            <a:endParaRPr lang="en-US" sz="1000" dirty="0"/>
          </a:p>
        </p:txBody>
      </p:sp>
      <p:sp>
        <p:nvSpPr>
          <p:cNvPr id="26" name="Text 20"/>
          <p:cNvSpPr/>
          <p:nvPr/>
        </p:nvSpPr>
        <p:spPr>
          <a:xfrm>
            <a:off x="2110234" y="3981301"/>
            <a:ext cx="1547366"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195959"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262366"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462659" y="4078039"/>
            <a:ext cx="1079635"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Deploy and verify</a:t>
            </a:r>
            <a:endParaRPr lang="en-US" sz="1000" dirty="0"/>
          </a:p>
        </p:txBody>
      </p:sp>
      <p:sp>
        <p:nvSpPr>
          <p:cNvPr id="30" name="Text 24"/>
          <p:cNvSpPr/>
          <p:nvPr/>
        </p:nvSpPr>
        <p:spPr>
          <a:xfrm>
            <a:off x="3759101" y="3981301"/>
            <a:ext cx="1568648"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44826"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112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4111526" y="4078039"/>
            <a:ext cx="1101343"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and learn</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Grafana dashboards, running on Azure</a:t>
            </a:r>
            <a:endParaRPr lang="en-US" sz="2600" dirty="0"/>
          </a:p>
        </p:txBody>
      </p:sp>
      <p:pic>
        <p:nvPicPr>
          <p:cNvPr id="7" name="Image 1" descr="/Users/danwahlin/.copilot/session-state/a2da67da-2d7a-45f2-aa6a-2a42a7b82a72/files/build/img/grafana-grafana-observability.png">    </p:cNvPr>
          <p:cNvPicPr>
            <a:picLocks noChangeAspect="1"/>
          </p:cNvPicPr>
          <p:nvPr/>
        </p:nvPicPr>
        <p:blipFill>
          <a:blip r:embed="rId2"/>
          <a:stretch>
            <a:fillRect/>
          </a:stretch>
        </p:blipFill>
        <p:spPr>
          <a:xfrm>
            <a:off x="1233041" y="1231702"/>
            <a:ext cx="6677620" cy="3555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HOW IT WORKS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Your prompt, the agent, and the skills</a:t>
            </a:r>
            <a:endParaRPr lang="en-US" sz="2600" dirty="0"/>
          </a:p>
        </p:txBody>
      </p:sp>
      <p:pic>
        <p:nvPicPr>
          <p:cNvPr id="7" name="Image 1" descr="/Users/danwahlin/.copilot/session-state/a2da67da-2d7a-45f2-aa6a-2a42a7b82a72/files/build/img/grafana-deploy-agent.png">    </p:cNvPr>
          <p:cNvPicPr>
            <a:picLocks noChangeAspect="1"/>
          </p:cNvPicPr>
          <p:nvPr/>
        </p:nvPicPr>
        <p:blipFill>
          <a:blip r:embed="rId2"/>
          <a:stretch>
            <a:fillRect/>
          </a:stretch>
        </p:blipFill>
        <p:spPr>
          <a:xfrm>
            <a:off x="690711" y="1282601"/>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container. No database server.</a:t>
            </a:r>
            <a:endParaRPr lang="en-US" sz="2600" dirty="0"/>
          </a:p>
        </p:txBody>
      </p:sp>
      <p:sp>
        <p:nvSpPr>
          <p:cNvPr id="7" name="Text 4"/>
          <p:cNvSpPr/>
          <p:nvPr/>
        </p:nvSpPr>
        <p:spPr>
          <a:xfrm>
            <a:off x="1111300" y="2479625"/>
            <a:ext cx="1396901"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619250" y="26034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701850" y="2686050"/>
            <a:ext cx="215801" cy="215801"/>
          </a:xfrm>
          <a:prstGeom prst="rect">
            <a:avLst/>
          </a:prstGeom>
        </p:spPr>
      </p:pic>
      <p:sp>
        <p:nvSpPr>
          <p:cNvPr id="10" name="Text 6"/>
          <p:cNvSpPr/>
          <p:nvPr/>
        </p:nvSpPr>
        <p:spPr>
          <a:xfrm>
            <a:off x="1686333" y="3047851"/>
            <a:ext cx="2468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You</a:t>
            </a:r>
            <a:endParaRPr lang="en-US" sz="1050" dirty="0"/>
          </a:p>
        </p:txBody>
      </p:sp>
      <p:sp>
        <p:nvSpPr>
          <p:cNvPr id="11" name="Text 7"/>
          <p:cNvSpPr/>
          <p:nvPr/>
        </p:nvSpPr>
        <p:spPr>
          <a:xfrm>
            <a:off x="1442686" y="3276302"/>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 or API</a:t>
            </a:r>
            <a:endParaRPr lang="en-US" sz="850" dirty="0"/>
          </a:p>
        </p:txBody>
      </p:sp>
      <p:sp>
        <p:nvSpPr>
          <p:cNvPr id="12" name="Text 8"/>
          <p:cNvSpPr/>
          <p:nvPr/>
        </p:nvSpPr>
        <p:spPr>
          <a:xfrm>
            <a:off x="2742608" y="2843064"/>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2798168" y="29478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295501" y="1965424"/>
            <a:ext cx="4736753" cy="2088654"/>
          </a:xfrm>
          <a:prstGeom prst="roundRect">
            <a:avLst>
              <a:gd name="adj" fmla="val 6080"/>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457426" y="2127349"/>
            <a:ext cx="139601" cy="139601"/>
          </a:xfrm>
          <a:prstGeom prst="rect">
            <a:avLst/>
          </a:prstGeom>
        </p:spPr>
      </p:pic>
      <p:sp>
        <p:nvSpPr>
          <p:cNvPr id="16" name="Text 11"/>
          <p:cNvSpPr/>
          <p:nvPr/>
        </p:nvSpPr>
        <p:spPr>
          <a:xfrm>
            <a:off x="3660428" y="2140000"/>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457426" y="2343150"/>
            <a:ext cx="2304901" cy="1549003"/>
          </a:xfrm>
          <a:prstGeom prst="roundRect">
            <a:avLst>
              <a:gd name="adj" fmla="val 8199"/>
            </a:avLst>
          </a:prstGeom>
          <a:solidFill>
            <a:srgbClr val="DDF4FF"/>
          </a:solidFill>
          <a:ln w="9525">
            <a:solidFill>
              <a:srgbClr val="9CD7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0969DA.png">    </p:cNvPr>
          <p:cNvPicPr>
            <a:picLocks noChangeAspect="1"/>
          </p:cNvPicPr>
          <p:nvPr/>
        </p:nvPicPr>
        <p:blipFill>
          <a:blip r:embed="rId4"/>
          <a:stretch>
            <a:fillRect/>
          </a:stretch>
        </p:blipFill>
        <p:spPr>
          <a:xfrm>
            <a:off x="3593902" y="2479625"/>
            <a:ext cx="139601" cy="139601"/>
          </a:xfrm>
          <a:prstGeom prst="rect">
            <a:avLst/>
          </a:prstGeom>
        </p:spPr>
      </p:pic>
      <p:sp>
        <p:nvSpPr>
          <p:cNvPr id="19" name="Text 13"/>
          <p:cNvSpPr/>
          <p:nvPr/>
        </p:nvSpPr>
        <p:spPr>
          <a:xfrm>
            <a:off x="3796903" y="2492276"/>
            <a:ext cx="1816495"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CONTAINER APPS ENVIRONMENT</a:t>
            </a:r>
            <a:endParaRPr lang="en-US" sz="850" dirty="0"/>
          </a:p>
        </p:txBody>
      </p:sp>
      <p:sp>
        <p:nvSpPr>
          <p:cNvPr id="20" name="Text 14"/>
          <p:cNvSpPr/>
          <p:nvPr/>
        </p:nvSpPr>
        <p:spPr>
          <a:xfrm>
            <a:off x="3593902" y="2695426"/>
            <a:ext cx="2031950"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21" name="Text 15"/>
          <p:cNvSpPr/>
          <p:nvPr/>
        </p:nvSpPr>
        <p:spPr>
          <a:xfrm>
            <a:off x="4419302" y="2819251"/>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22" name="Image 4" descr="/Users/danwahlin/.copilot/session-state/a2da67da-2d7a-45f2-aa6a-2a42a7b82a72/files/build/icons/GoGraph-BC4C00.png">    </p:cNvPr>
          <p:cNvPicPr>
            <a:picLocks noChangeAspect="1"/>
          </p:cNvPicPr>
          <p:nvPr/>
        </p:nvPicPr>
        <p:blipFill>
          <a:blip r:embed="rId5"/>
          <a:stretch>
            <a:fillRect/>
          </a:stretch>
        </p:blipFill>
        <p:spPr>
          <a:xfrm>
            <a:off x="4501902" y="2901851"/>
            <a:ext cx="215801" cy="215801"/>
          </a:xfrm>
          <a:prstGeom prst="rect">
            <a:avLst/>
          </a:prstGeom>
        </p:spPr>
      </p:pic>
      <p:sp>
        <p:nvSpPr>
          <p:cNvPr id="23" name="Text 16"/>
          <p:cNvSpPr/>
          <p:nvPr/>
        </p:nvSpPr>
        <p:spPr>
          <a:xfrm>
            <a:off x="4352796" y="3263652"/>
            <a:ext cx="514162"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Grafana</a:t>
            </a:r>
            <a:endParaRPr lang="en-US" sz="1050" dirty="0"/>
          </a:p>
        </p:txBody>
      </p:sp>
      <p:sp>
        <p:nvSpPr>
          <p:cNvPr id="24" name="Text 17"/>
          <p:cNvSpPr/>
          <p:nvPr/>
        </p:nvSpPr>
        <p:spPr>
          <a:xfrm>
            <a:off x="3936700" y="3492103"/>
            <a:ext cx="134620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SQLite inside · 0–1 replicas</a:t>
            </a:r>
            <a:endParaRPr lang="en-US" sz="850" dirty="0"/>
          </a:p>
        </p:txBody>
      </p:sp>
      <p:sp>
        <p:nvSpPr>
          <p:cNvPr id="25" name="Text 18"/>
          <p:cNvSpPr/>
          <p:nvPr/>
        </p:nvSpPr>
        <p:spPr>
          <a:xfrm>
            <a:off x="5977868" y="2950964"/>
            <a:ext cx="178371"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logs</a:t>
            </a:r>
            <a:endParaRPr lang="en-US" sz="750" dirty="0"/>
          </a:p>
        </p:txBody>
      </p:sp>
      <p:sp>
        <p:nvSpPr>
          <p:cNvPr id="26" name="Text 19"/>
          <p:cNvSpPr/>
          <p:nvPr/>
        </p:nvSpPr>
        <p:spPr>
          <a:xfrm>
            <a:off x="5963296" y="30557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6371779" y="2587526"/>
            <a:ext cx="149855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30479" y="2711351"/>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29" name="Image 5" descr="/Users/danwahlin/.copilot/session-state/a2da67da-2d7a-45f2-aa6a-2a42a7b82a72/files/build/icons/GoLog-1A7F37.png">    </p:cNvPr>
          <p:cNvPicPr>
            <a:picLocks noChangeAspect="1"/>
          </p:cNvPicPr>
          <p:nvPr/>
        </p:nvPicPr>
        <p:blipFill>
          <a:blip r:embed="rId6"/>
          <a:stretch>
            <a:fillRect/>
          </a:stretch>
        </p:blipFill>
        <p:spPr>
          <a:xfrm>
            <a:off x="7013079" y="2793950"/>
            <a:ext cx="215801" cy="215801"/>
          </a:xfrm>
          <a:prstGeom prst="rect">
            <a:avLst/>
          </a:prstGeom>
        </p:spPr>
      </p:pic>
      <p:sp>
        <p:nvSpPr>
          <p:cNvPr id="30" name="Text 22"/>
          <p:cNvSpPr/>
          <p:nvPr/>
        </p:nvSpPr>
        <p:spPr>
          <a:xfrm>
            <a:off x="6677558" y="3155752"/>
            <a:ext cx="886843"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Log Analytics</a:t>
            </a:r>
            <a:endParaRPr lang="en-US" sz="1050" dirty="0"/>
          </a:p>
        </p:txBody>
      </p:sp>
      <p:sp>
        <p:nvSpPr>
          <p:cNvPr id="31" name="Text 23"/>
          <p:cNvSpPr/>
          <p:nvPr/>
        </p:nvSpPr>
        <p:spPr>
          <a:xfrm>
            <a:off x="6701847" y="3384203"/>
            <a:ext cx="838265"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Logs and metrics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and preview</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Describe what you want, see the cost, and preview the deployment before anything is created.</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hecklist-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Load the Azure skills and the deploy agent</a:t>
            </a:r>
            <a:endParaRPr lang="en-US" sz="2600" dirty="0"/>
          </a:p>
        </p:txBody>
      </p:sp>
      <p:sp>
        <p:nvSpPr>
          <p:cNvPr id="7" name="Text 4"/>
          <p:cNvSpPr/>
          <p:nvPr/>
        </p:nvSpPr>
        <p:spPr>
          <a:xfrm>
            <a:off x="1269802" y="1847701"/>
            <a:ext cx="6603950"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847701"/>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9301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9301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9301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917502"/>
            <a:ext cx="462397"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copilot</a:t>
            </a:r>
            <a:endParaRPr lang="en-US" sz="850" dirty="0"/>
          </a:p>
        </p:txBody>
      </p:sp>
      <p:sp>
        <p:nvSpPr>
          <p:cNvPr id="13" name="Text 10"/>
          <p:cNvSpPr/>
          <p:nvPr/>
        </p:nvSpPr>
        <p:spPr>
          <a:xfrm>
            <a:off x="1498402" y="227930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554932"/>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97269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248323"/>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pic>
        <p:nvPicPr>
          <p:cNvPr id="17" name="Image 1" descr="/Users/danwahlin/.copilot/session-state/a2da67da-2d7a-45f2-aa6a-2a42a7b82a72/files/build/icons/GoCopilot-8250DF.png">    </p:cNvPr>
          <p:cNvPicPr>
            <a:picLocks noChangeAspect="1"/>
          </p:cNvPicPr>
          <p:nvPr/>
        </p:nvPicPr>
        <p:blipFill>
          <a:blip r:embed="rId2"/>
          <a:stretch>
            <a:fillRect/>
          </a:stretch>
        </p:blipFill>
        <p:spPr>
          <a:xfrm>
            <a:off x="1269802" y="3968353"/>
            <a:ext cx="190500" cy="190500"/>
          </a:xfrm>
          <a:prstGeom prst="rect">
            <a:avLst/>
          </a:prstGeom>
        </p:spPr>
      </p:pic>
      <p:sp>
        <p:nvSpPr>
          <p:cNvPr id="18" name="Text 14"/>
          <p:cNvSpPr/>
          <p:nvPr/>
        </p:nvSpPr>
        <p:spPr>
          <a:xfrm>
            <a:off x="1561802" y="3955703"/>
            <a:ext cx="5011225"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COST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Describe it. Ask what it costs.</a:t>
            </a:r>
            <a:endParaRPr lang="en-US" sz="2600" dirty="0"/>
          </a:p>
        </p:txBody>
      </p:sp>
      <p:sp>
        <p:nvSpPr>
          <p:cNvPr id="7" name="Text 4"/>
          <p:cNvSpPr/>
          <p:nvPr/>
        </p:nvSpPr>
        <p:spPr>
          <a:xfrm>
            <a:off x="634901" y="1993850"/>
            <a:ext cx="7873901" cy="2082850"/>
          </a:xfrm>
          <a:prstGeom prst="roundRect">
            <a:avLst>
              <a:gd name="adj" fmla="val 487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98613"/>
            <a:ext cx="7873901" cy="0"/>
          </a:xfrm>
          <a:prstGeom prst="line">
            <a:avLst/>
          </a:prstGeom>
          <a:noFill/>
          <a:ln w="9525">
            <a:solidFill>
              <a:srgbClr val="E0C5FF"/>
            </a:solidFill>
            <a:prstDash val="solid"/>
          </a:ln>
        </p:spPr>
      </p:sp>
      <p:sp>
        <p:nvSpPr>
          <p:cNvPr id="9" name="Shape 6"/>
          <p:cNvSpPr/>
          <p:nvPr/>
        </p:nvSpPr>
        <p:spPr>
          <a:xfrm>
            <a:off x="8504039" y="1993850"/>
            <a:ext cx="0" cy="2082850"/>
          </a:xfrm>
          <a:prstGeom prst="line">
            <a:avLst/>
          </a:prstGeom>
          <a:noFill/>
          <a:ln w="9525">
            <a:solidFill>
              <a:srgbClr val="E0C5FF"/>
            </a:solidFill>
            <a:prstDash val="solid"/>
          </a:ln>
        </p:spPr>
      </p:sp>
      <p:sp>
        <p:nvSpPr>
          <p:cNvPr id="10" name="Shape 7"/>
          <p:cNvSpPr/>
          <p:nvPr/>
        </p:nvSpPr>
        <p:spPr>
          <a:xfrm>
            <a:off x="634901" y="4071938"/>
            <a:ext cx="7873901" cy="0"/>
          </a:xfrm>
          <a:prstGeom prst="line">
            <a:avLst/>
          </a:prstGeom>
          <a:noFill/>
          <a:ln w="9525">
            <a:solidFill>
              <a:srgbClr val="E0C5FF"/>
            </a:solidFill>
            <a:prstDash val="solid"/>
          </a:ln>
        </p:spPr>
      </p:sp>
      <p:sp>
        <p:nvSpPr>
          <p:cNvPr id="11" name="Shape 8"/>
          <p:cNvSpPr/>
          <p:nvPr/>
        </p:nvSpPr>
        <p:spPr>
          <a:xfrm>
            <a:off x="663476" y="1993850"/>
            <a:ext cx="0" cy="208285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06526"/>
            <a:ext cx="165050" cy="165050"/>
          </a:xfrm>
          <a:prstGeom prst="rect">
            <a:avLst/>
          </a:prstGeom>
        </p:spPr>
      </p:pic>
      <p:sp>
        <p:nvSpPr>
          <p:cNvPr id="13" name="Text 9"/>
          <p:cNvSpPr/>
          <p:nvPr/>
        </p:nvSpPr>
        <p:spPr>
          <a:xfrm>
            <a:off x="1187202" y="2222302"/>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85727"/>
            <a:ext cx="7445413" cy="135284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Plan a Grafana deployment to Azure Container Apps with Bicep and azd: SQLite in the container's local storage (no Azure Files mount), minReplicas: 0 and maxReplicas: 1, /api/health for probes, and the westus region.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if left running.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Don't create files or Azure resources yet.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QUESTION THE PLAN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the design question out loud</a:t>
            </a:r>
            <a:endParaRPr lang="en-US" sz="2600" dirty="0"/>
          </a:p>
        </p:txBody>
      </p:sp>
      <p:sp>
        <p:nvSpPr>
          <p:cNvPr id="7" name="Text 4"/>
          <p:cNvSpPr/>
          <p:nvPr/>
        </p:nvSpPr>
        <p:spPr>
          <a:xfrm>
            <a:off x="634901" y="2280345"/>
            <a:ext cx="7873901" cy="1103412"/>
          </a:xfrm>
          <a:prstGeom prst="roundRect">
            <a:avLst>
              <a:gd name="adj" fmla="val 920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285107"/>
            <a:ext cx="7873901" cy="0"/>
          </a:xfrm>
          <a:prstGeom prst="line">
            <a:avLst/>
          </a:prstGeom>
          <a:noFill/>
          <a:ln w="9525">
            <a:solidFill>
              <a:srgbClr val="E0C5FF"/>
            </a:solidFill>
            <a:prstDash val="solid"/>
          </a:ln>
        </p:spPr>
      </p:sp>
      <p:sp>
        <p:nvSpPr>
          <p:cNvPr id="9" name="Shape 6"/>
          <p:cNvSpPr/>
          <p:nvPr/>
        </p:nvSpPr>
        <p:spPr>
          <a:xfrm>
            <a:off x="8504039" y="2280345"/>
            <a:ext cx="0" cy="1103412"/>
          </a:xfrm>
          <a:prstGeom prst="line">
            <a:avLst/>
          </a:prstGeom>
          <a:noFill/>
          <a:ln w="9525">
            <a:solidFill>
              <a:srgbClr val="E0C5FF"/>
            </a:solidFill>
            <a:prstDash val="solid"/>
          </a:ln>
        </p:spPr>
      </p:sp>
      <p:sp>
        <p:nvSpPr>
          <p:cNvPr id="10" name="Shape 7"/>
          <p:cNvSpPr/>
          <p:nvPr/>
        </p:nvSpPr>
        <p:spPr>
          <a:xfrm>
            <a:off x="634901" y="3378994"/>
            <a:ext cx="7873901" cy="0"/>
          </a:xfrm>
          <a:prstGeom prst="line">
            <a:avLst/>
          </a:prstGeom>
          <a:noFill/>
          <a:ln w="9525">
            <a:solidFill>
              <a:srgbClr val="E0C5FF"/>
            </a:solidFill>
            <a:prstDash val="solid"/>
          </a:ln>
        </p:spPr>
      </p:sp>
      <p:sp>
        <p:nvSpPr>
          <p:cNvPr id="11" name="Shape 8"/>
          <p:cNvSpPr/>
          <p:nvPr/>
        </p:nvSpPr>
        <p:spPr>
          <a:xfrm>
            <a:off x="663476" y="2280345"/>
            <a:ext cx="0" cy="1103412"/>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493020"/>
            <a:ext cx="165050" cy="165050"/>
          </a:xfrm>
          <a:prstGeom prst="rect">
            <a:avLst/>
          </a:prstGeom>
        </p:spPr>
      </p:pic>
      <p:sp>
        <p:nvSpPr>
          <p:cNvPr id="13" name="Text 9"/>
          <p:cNvSpPr/>
          <p:nvPr/>
        </p:nvSpPr>
        <p:spPr>
          <a:xfrm>
            <a:off x="1187202" y="25087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785021"/>
            <a:ext cx="7445413" cy="360611"/>
          </a:xfrm>
          <a:prstGeom prst="rect">
            <a:avLst/>
          </a:prstGeom>
          <a:noFill/>
          <a:ln/>
        </p:spPr>
        <p:txBody>
          <a:bodyPr wrap="square" lIns="0" tIns="0" rIns="0" bIns="0" rtlCol="0" anchor="t"/>
          <a:lstStyle/>
          <a:p>
            <a:pPr algn="l" indent="0" marL="0">
              <a:lnSpc>
                <a:spcPts val="2840"/>
              </a:lnSpc>
              <a:buNone/>
            </a:pPr>
            <a:r>
              <a:rPr lang="en-US" sz="2000" dirty="0">
                <a:solidFill>
                  <a:srgbClr val="1F2328"/>
                </a:solidFill>
                <a:latin typeface="Arial" pitchFamily="34" charset="0"/>
                <a:ea typeface="Arial" pitchFamily="34" charset="-122"/>
                <a:cs typeface="Arial" pitchFamily="34" charset="-120"/>
              </a:rPr>
              <a:t>Should I use PostgreSQL instead of SQLite for Grafana?</a:t>
            </a:r>
            <a:endParaRPr lang="en-US" sz="2000" dirty="0"/>
          </a:p>
        </p:txBody>
      </p:sp>
      <p:pic>
        <p:nvPicPr>
          <p:cNvPr id="15" name="Image 2" descr="/Users/danwahlin/.copilot/session-state/a2da67da-2d7a-45f2-aa6a-2a42a7b82a72/files/build/icons/GoLightBulb-0969DA.png">    </p:cNvPr>
          <p:cNvPicPr>
            <a:picLocks noChangeAspect="1"/>
          </p:cNvPicPr>
          <p:nvPr/>
        </p:nvPicPr>
        <p:blipFill>
          <a:blip r:embed="rId3"/>
          <a:stretch>
            <a:fillRect/>
          </a:stretch>
        </p:blipFill>
        <p:spPr>
          <a:xfrm>
            <a:off x="634901" y="3599557"/>
            <a:ext cx="177701" cy="177701"/>
          </a:xfrm>
          <a:prstGeom prst="rect">
            <a:avLst/>
          </a:prstGeom>
        </p:spPr>
      </p:pic>
      <p:sp>
        <p:nvSpPr>
          <p:cNvPr id="16" name="Text 11"/>
          <p:cNvSpPr/>
          <p:nvPr/>
        </p:nvSpPr>
        <p:spPr>
          <a:xfrm>
            <a:off x="914102" y="3586907"/>
            <a:ext cx="3618113"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Agents are good at tradeoffs. Ask before you decide.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THE TRADEOFF</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SQLite or PostgreSQL?</a:t>
            </a:r>
            <a:endParaRPr lang="en-US" sz="2600" dirty="0"/>
          </a:p>
        </p:txBody>
      </p:sp>
      <p:pic>
        <p:nvPicPr>
          <p:cNvPr id="7" name="Image 1" descr="/Users/danwahlin/.copilot/session-state/a2da67da-2d7a-45f2-aa6a-2a42a7b82a72/files/build/img/grafana-sqlite-vs-postgresql.png">    </p:cNvPr>
          <p:cNvPicPr>
            <a:picLocks noChangeAspect="1"/>
          </p:cNvPicPr>
          <p:nvPr/>
        </p:nvPicPr>
        <p:blipFill>
          <a:blip r:embed="rId2"/>
          <a:stretch>
            <a:fillRect/>
          </a:stretch>
        </p:blipFill>
        <p:spPr>
          <a:xfrm>
            <a:off x="1837581" y="1282601"/>
            <a:ext cx="5468541" cy="345430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GENERATE AND PREVIEW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then preview. Don't deploy yet.</a:t>
            </a:r>
            <a:endParaRPr lang="en-US" sz="2600" dirty="0"/>
          </a:p>
        </p:txBody>
      </p:sp>
      <p:sp>
        <p:nvSpPr>
          <p:cNvPr id="7" name="Text 4"/>
          <p:cNvSpPr/>
          <p:nvPr/>
        </p:nvSpPr>
        <p:spPr>
          <a:xfrm>
            <a:off x="634901" y="1946077"/>
            <a:ext cx="7873901"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50839"/>
            <a:ext cx="7873901" cy="0"/>
          </a:xfrm>
          <a:prstGeom prst="line">
            <a:avLst/>
          </a:prstGeom>
          <a:noFill/>
          <a:ln w="9525">
            <a:solidFill>
              <a:srgbClr val="E0C5FF"/>
            </a:solidFill>
            <a:prstDash val="solid"/>
          </a:ln>
        </p:spPr>
      </p:sp>
      <p:sp>
        <p:nvSpPr>
          <p:cNvPr id="9" name="Shape 6"/>
          <p:cNvSpPr/>
          <p:nvPr/>
        </p:nvSpPr>
        <p:spPr>
          <a:xfrm>
            <a:off x="8504039" y="1946077"/>
            <a:ext cx="0" cy="2178248"/>
          </a:xfrm>
          <a:prstGeom prst="line">
            <a:avLst/>
          </a:prstGeom>
          <a:noFill/>
          <a:ln w="9525">
            <a:solidFill>
              <a:srgbClr val="E0C5FF"/>
            </a:solidFill>
            <a:prstDash val="solid"/>
          </a:ln>
        </p:spPr>
      </p:sp>
      <p:sp>
        <p:nvSpPr>
          <p:cNvPr id="10" name="Shape 7"/>
          <p:cNvSpPr/>
          <p:nvPr/>
        </p:nvSpPr>
        <p:spPr>
          <a:xfrm>
            <a:off x="634901" y="4119563"/>
            <a:ext cx="7873901" cy="0"/>
          </a:xfrm>
          <a:prstGeom prst="line">
            <a:avLst/>
          </a:prstGeom>
          <a:noFill/>
          <a:ln w="9525">
            <a:solidFill>
              <a:srgbClr val="E0C5FF"/>
            </a:solidFill>
            <a:prstDash val="solid"/>
          </a:ln>
        </p:spPr>
      </p:sp>
      <p:sp>
        <p:nvSpPr>
          <p:cNvPr id="11" name="Shape 8"/>
          <p:cNvSpPr/>
          <p:nvPr/>
        </p:nvSpPr>
        <p:spPr>
          <a:xfrm>
            <a:off x="663476" y="1946077"/>
            <a:ext cx="0" cy="2178248"/>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58752"/>
            <a:ext cx="165050" cy="165050"/>
          </a:xfrm>
          <a:prstGeom prst="rect">
            <a:avLst/>
          </a:prstGeom>
        </p:spPr>
      </p:pic>
      <p:sp>
        <p:nvSpPr>
          <p:cNvPr id="13" name="Text 9"/>
          <p:cNvSpPr/>
          <p:nvPr/>
        </p:nvSpPr>
        <p:spPr>
          <a:xfrm>
            <a:off x="1187202" y="2174528"/>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25303"/>
            <a:ext cx="7445413" cy="1460897"/>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Generate the infrastructure for that plan: Bicep in infra-grafana/ and azure.yaml. Generate a secure admin password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store it only in the azd environment</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Prepare the azd environment for westus and my current subscription, then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run azd provision --preview</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and summarize what it will create.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run azd up.</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If a step fails, inspect the relevant logs, make the smallest safe correction, rerun the failed step, and record the problem and resolution in issues.md.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print secrets.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and verify</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One command to deploy. A checked-in verifier to prove it.</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Rocket-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SHIP AND 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Deploy, then prove it</a:t>
            </a:r>
            <a:endParaRPr lang="en-US" sz="2600" dirty="0"/>
          </a:p>
        </p:txBody>
      </p:sp>
      <p:sp>
        <p:nvSpPr>
          <p:cNvPr id="7" name="Text 4"/>
          <p:cNvSpPr/>
          <p:nvPr/>
        </p:nvSpPr>
        <p:spPr>
          <a:xfrm>
            <a:off x="1015901" y="1739801"/>
            <a:ext cx="7111901"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7398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222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222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222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0960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7140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azd up</a:t>
            </a:r>
            <a:endParaRPr lang="en-US" sz="1400" dirty="0"/>
          </a:p>
        </p:txBody>
      </p:sp>
      <p:sp>
        <p:nvSpPr>
          <p:cNvPr id="14" name="Text 11"/>
          <p:cNvSpPr/>
          <p:nvPr/>
        </p:nvSpPr>
        <p:spPr>
          <a:xfrm>
            <a:off x="1244501" y="258916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.github/scripts/verify-grafana.mjs</a:t>
            </a:r>
            <a:endParaRPr lang="en-US" sz="1400" dirty="0"/>
          </a:p>
        </p:txBody>
      </p:sp>
      <p:sp>
        <p:nvSpPr>
          <p:cNvPr id="15" name="Text 12"/>
          <p:cNvSpPr/>
          <p:nvPr/>
        </p:nvSpPr>
        <p:spPr>
          <a:xfrm>
            <a:off x="1244501" y="286479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&lt;grafana-url&gt;/api/health returned</a:t>
            </a:r>
            <a:endParaRPr lang="en-US" sz="1400" dirty="0"/>
          </a:p>
        </p:txBody>
      </p:sp>
      <p:sp>
        <p:nvSpPr>
          <p:cNvPr id="16" name="Text 13"/>
          <p:cNvSpPr/>
          <p:nvPr/>
        </p:nvSpPr>
        <p:spPr>
          <a:xfrm>
            <a:off x="1244501" y="314042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HTTP 200 and database=ok</a:t>
            </a:r>
            <a:endParaRPr lang="en-US" sz="1400" dirty="0"/>
          </a:p>
        </p:txBody>
      </p:sp>
      <p:pic>
        <p:nvPicPr>
          <p:cNvPr id="17" name="Image 1" descr="/Users/danwahlin/.copilot/session-state/a2da67da-2d7a-45f2-aa6a-2a42a7b82a72/files/build/icons/GoKey-0969DA.png">    </p:cNvPr>
          <p:cNvPicPr>
            <a:picLocks noChangeAspect="1"/>
          </p:cNvPicPr>
          <p:nvPr/>
        </p:nvPicPr>
        <p:blipFill>
          <a:blip r:embed="rId2"/>
          <a:stretch>
            <a:fillRect/>
          </a:stretch>
        </p:blipFill>
        <p:spPr>
          <a:xfrm>
            <a:off x="1015901" y="3968502"/>
            <a:ext cx="190500" cy="190500"/>
          </a:xfrm>
          <a:prstGeom prst="rect">
            <a:avLst/>
          </a:prstGeom>
        </p:spPr>
      </p:pic>
      <p:sp>
        <p:nvSpPr>
          <p:cNvPr id="18" name="Text 14"/>
          <p:cNvSpPr/>
          <p:nvPr/>
        </p:nvSpPr>
        <p:spPr>
          <a:xfrm>
            <a:off x="1307902" y="3847802"/>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sign in as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admin</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with the password from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azd env get-value GRAFANA_ADMIN_PASSWORD</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888950" y="1154311"/>
            <a:ext cx="558701" cy="558701"/>
          </a:xfrm>
          <a:prstGeom prst="roundRect">
            <a:avLst>
              <a:gd name="adj" fmla="val 13639"/>
            </a:avLst>
          </a:prstGeom>
          <a:solidFill>
            <a:srgbClr val="FBEFFF"/>
          </a:solidFill>
          <a:ln/>
        </p:spPr>
        <p:txBody>
          <a:bodyPr wrap="square" rtlCol="0" anchor="ctr"/>
          <a:lstStyle/>
          <a:p>
            <a:pPr indent="0" marL="0">
              <a:buNone/>
            </a:pPr>
            <a:endParaRPr lang="en-US" dirty="0"/>
          </a:p>
        </p:txBody>
      </p:sp>
      <p:pic>
        <p:nvPicPr>
          <p:cNvPr id="6" name="Image 1" descr="/Users/danwahlin/.copilot/session-state/a2da67da-2d7a-45f2-aa6a-2a42a7b82a72/files/build/icons/GoHourglass-8250DF.png">    </p:cNvPr>
          <p:cNvPicPr>
            <a:picLocks noChangeAspect="1"/>
          </p:cNvPicPr>
          <p:nvPr/>
        </p:nvPicPr>
        <p:blipFill>
          <a:blip r:embed="rId2"/>
          <a:stretch>
            <a:fillRect/>
          </a:stretch>
        </p:blipFill>
        <p:spPr>
          <a:xfrm>
            <a:off x="1009501" y="1274862"/>
            <a:ext cx="317450" cy="317450"/>
          </a:xfrm>
          <a:prstGeom prst="rect">
            <a:avLst/>
          </a:prstGeom>
        </p:spPr>
      </p:pic>
      <p:sp>
        <p:nvSpPr>
          <p:cNvPr id="7" name="Text 3"/>
          <p:cNvSpPr/>
          <p:nvPr/>
        </p:nvSpPr>
        <p:spPr>
          <a:xfrm>
            <a:off x="888950" y="1941612"/>
            <a:ext cx="7513269" cy="142875"/>
          </a:xfrm>
          <a:prstGeom prst="rect">
            <a:avLst/>
          </a:prstGeom>
          <a:noFill/>
          <a:ln/>
        </p:spPr>
        <p:txBody>
          <a:bodyPr wrap="square" lIns="0" tIns="0" rIns="0" bIns="0" rtlCol="0" anchor="t"/>
          <a:lstStyle/>
          <a:p>
            <a:pPr algn="l" indent="0" marL="0">
              <a:spcAft>
                <a:spcPts val="1000"/>
              </a:spcAft>
              <a:buNone/>
            </a:pPr>
            <a:r>
              <a:rPr lang="en-US" sz="1000" b="1" dirty="0">
                <a:solidFill>
                  <a:srgbClr val="8250DF"/>
                </a:solidFill>
                <a:latin typeface="Arial" pitchFamily="34" charset="0"/>
                <a:ea typeface="Arial" pitchFamily="34" charset="-122"/>
                <a:cs typeface="Arial" pitchFamily="34" charset="-120"/>
              </a:rPr>
              <a:t>EXPECT THIS</a:t>
            </a:r>
            <a:endParaRPr lang="en-US" sz="1000" dirty="0"/>
          </a:p>
        </p:txBody>
      </p:sp>
      <p:sp>
        <p:nvSpPr>
          <p:cNvPr id="8" name="Text 4"/>
          <p:cNvSpPr/>
          <p:nvPr/>
        </p:nvSpPr>
        <p:spPr>
          <a:xfrm>
            <a:off x="888950" y="2211437"/>
            <a:ext cx="7513269" cy="1015901"/>
          </a:xfrm>
          <a:prstGeom prst="rect">
            <a:avLst/>
          </a:prstGeom>
          <a:noFill/>
          <a:ln/>
        </p:spPr>
        <p:txBody>
          <a:bodyPr wrap="square" lIns="0" tIns="0" rIns="0" bIns="0" rtlCol="0" anchor="t"/>
          <a:lstStyle/>
          <a:p>
            <a:pPr algn="l" indent="0" marL="0">
              <a:lnSpc>
                <a:spcPts val="4000"/>
              </a:lnSpc>
              <a:buNone/>
            </a:pPr>
            <a:r>
              <a:rPr lang="en-US" sz="3200" b="1" dirty="0">
                <a:solidFill>
                  <a:srgbClr val="1F2328"/>
                </a:solidFill>
                <a:latin typeface="Arial" pitchFamily="34" charset="0"/>
                <a:ea typeface="Arial" pitchFamily="34" charset="-122"/>
                <a:cs typeface="Arial" pitchFamily="34" charset="-120"/>
              </a:rPr>
              <a:t>A slow first request or a 502 is normal.</a:t>
            </a:r>
            <a:endParaRPr lang="en-US" sz="3200" dirty="0"/>
          </a:p>
        </p:txBody>
      </p:sp>
      <p:sp>
        <p:nvSpPr>
          <p:cNvPr id="9" name="Text 5"/>
          <p:cNvSpPr/>
          <p:nvPr/>
        </p:nvSpPr>
        <p:spPr>
          <a:xfrm>
            <a:off x="888950" y="3430488"/>
            <a:ext cx="7513269" cy="558701"/>
          </a:xfrm>
          <a:prstGeom prst="rect">
            <a:avLst/>
          </a:prstGeom>
          <a:noFill/>
          <a:ln/>
        </p:spPr>
        <p:txBody>
          <a:bodyPr wrap="square" lIns="0" tIns="0" rIns="0" bIns="0" rtlCol="0" anchor="t"/>
          <a:lstStyle/>
          <a:p>
            <a:pPr algn="l" indent="0" marL="0">
              <a:lnSpc>
                <a:spcPts val="2200"/>
              </a:lnSpc>
              <a:spcBef>
                <a:spcPts val="1600"/>
              </a:spcBef>
              <a:buNone/>
            </a:pPr>
            <a:r>
              <a:rPr lang="en-US" sz="1600" dirty="0">
                <a:solidFill>
                  <a:srgbClr val="59636E"/>
                </a:solidFill>
                <a:latin typeface="Arial" pitchFamily="34" charset="0"/>
                <a:ea typeface="Arial" pitchFamily="34" charset="-122"/>
                <a:cs typeface="Arial" pitchFamily="34" charset="-120"/>
              </a:rPr>
              <a:t>With minReplicas set to 0, the app scales to zero. The first request wakes it up in about 30–60 seconds.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Operate and learn</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Use the agent to operate the app through its API, then restart it and watch what happens.</a:t>
            </a:r>
            <a:endParaRPr lang="en-US" sz="14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Graph-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THROUGH THE API</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Let the agent build the dashboard</a:t>
            </a:r>
            <a:endParaRPr lang="en-US" sz="2600" dirty="0"/>
          </a:p>
        </p:txBody>
      </p:sp>
      <p:sp>
        <p:nvSpPr>
          <p:cNvPr id="7" name="Text 4"/>
          <p:cNvSpPr/>
          <p:nvPr/>
        </p:nvSpPr>
        <p:spPr>
          <a:xfrm>
            <a:off x="634901" y="1858566"/>
            <a:ext cx="7873901" cy="2353419"/>
          </a:xfrm>
          <a:prstGeom prst="roundRect">
            <a:avLst>
              <a:gd name="adj" fmla="val 431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63328"/>
            <a:ext cx="7873901" cy="0"/>
          </a:xfrm>
          <a:prstGeom prst="line">
            <a:avLst/>
          </a:prstGeom>
          <a:noFill/>
          <a:ln w="9525">
            <a:solidFill>
              <a:srgbClr val="E0C5FF"/>
            </a:solidFill>
            <a:prstDash val="solid"/>
          </a:ln>
        </p:spPr>
      </p:sp>
      <p:sp>
        <p:nvSpPr>
          <p:cNvPr id="9" name="Shape 6"/>
          <p:cNvSpPr/>
          <p:nvPr/>
        </p:nvSpPr>
        <p:spPr>
          <a:xfrm>
            <a:off x="8504039" y="1858566"/>
            <a:ext cx="0" cy="2353419"/>
          </a:xfrm>
          <a:prstGeom prst="line">
            <a:avLst/>
          </a:prstGeom>
          <a:noFill/>
          <a:ln w="9525">
            <a:solidFill>
              <a:srgbClr val="E0C5FF"/>
            </a:solidFill>
            <a:prstDash val="solid"/>
          </a:ln>
        </p:spPr>
      </p:sp>
      <p:sp>
        <p:nvSpPr>
          <p:cNvPr id="10" name="Shape 7"/>
          <p:cNvSpPr/>
          <p:nvPr/>
        </p:nvSpPr>
        <p:spPr>
          <a:xfrm>
            <a:off x="634901" y="4207222"/>
            <a:ext cx="7873901" cy="0"/>
          </a:xfrm>
          <a:prstGeom prst="line">
            <a:avLst/>
          </a:prstGeom>
          <a:noFill/>
          <a:ln w="9525">
            <a:solidFill>
              <a:srgbClr val="E0C5FF"/>
            </a:solidFill>
            <a:prstDash val="solid"/>
          </a:ln>
        </p:spPr>
      </p:sp>
      <p:sp>
        <p:nvSpPr>
          <p:cNvPr id="11" name="Shape 8"/>
          <p:cNvSpPr/>
          <p:nvPr/>
        </p:nvSpPr>
        <p:spPr>
          <a:xfrm>
            <a:off x="663476" y="1858566"/>
            <a:ext cx="0" cy="235341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71241"/>
            <a:ext cx="165050" cy="165050"/>
          </a:xfrm>
          <a:prstGeom prst="rect">
            <a:avLst/>
          </a:prstGeom>
        </p:spPr>
      </p:pic>
      <p:sp>
        <p:nvSpPr>
          <p:cNvPr id="13" name="Text 9"/>
          <p:cNvSpPr/>
          <p:nvPr/>
        </p:nvSpPr>
        <p:spPr>
          <a:xfrm>
            <a:off x="1187202" y="2087017"/>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50443"/>
            <a:ext cx="7445413" cy="1623417"/>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Create scripts/create-grafana-dashboard.mjs. It reads GRAFANA_URL and GRAFANA_ADMIN_PASSWORD through azd env get-value with argument arrays and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never prints the password</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Through the Grafana HTTP API, it creates the built-in TestData data source if it doesn't exist, then creates a dashboard named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"Hello from Azure"</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with one time series panel that uses it, and prints the dashboard URL. Then run the script.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BREAK IT ON PURPOSE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Restart it and watch the dashboard vanish</a:t>
            </a:r>
            <a:endParaRPr lang="en-US" sz="2600" dirty="0"/>
          </a:p>
        </p:txBody>
      </p:sp>
      <p:sp>
        <p:nvSpPr>
          <p:cNvPr id="7" name="Text 4"/>
          <p:cNvSpPr/>
          <p:nvPr/>
        </p:nvSpPr>
        <p:spPr>
          <a:xfrm>
            <a:off x="901601" y="1903065"/>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Graph-0969DA.png">    </p:cNvPr>
          <p:cNvPicPr>
            <a:picLocks noChangeAspect="1"/>
          </p:cNvPicPr>
          <p:nvPr/>
        </p:nvPicPr>
        <p:blipFill>
          <a:blip r:embed="rId2"/>
          <a:stretch>
            <a:fillRect/>
          </a:stretch>
        </p:blipFill>
        <p:spPr>
          <a:xfrm>
            <a:off x="1028551" y="2030016"/>
            <a:ext cx="330101" cy="330101"/>
          </a:xfrm>
          <a:prstGeom prst="rect">
            <a:avLst/>
          </a:prstGeom>
        </p:spPr>
      </p:pic>
      <p:sp>
        <p:nvSpPr>
          <p:cNvPr id="9" name="Text 5"/>
          <p:cNvSpPr/>
          <p:nvPr/>
        </p:nvSpPr>
        <p:spPr>
          <a:xfrm>
            <a:off x="931585" y="2588716"/>
            <a:ext cx="524182"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Create</a:t>
            </a:r>
            <a:endParaRPr lang="en-US" sz="1300" dirty="0"/>
          </a:p>
        </p:txBody>
      </p:sp>
      <p:sp>
        <p:nvSpPr>
          <p:cNvPr id="10" name="Text 6"/>
          <p:cNvSpPr/>
          <p:nvPr/>
        </p:nvSpPr>
        <p:spPr>
          <a:xfrm>
            <a:off x="474803"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"Hello from Azure" dashboard</a:t>
            </a:r>
            <a:endParaRPr lang="en-US" sz="1050" dirty="0"/>
          </a:p>
        </p:txBody>
      </p:sp>
      <p:sp>
        <p:nvSpPr>
          <p:cNvPr id="11" name="Text 7"/>
          <p:cNvSpPr/>
          <p:nvPr/>
        </p:nvSpPr>
        <p:spPr>
          <a:xfrm>
            <a:off x="19345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2590651" y="1903065"/>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Sync-BC4C00.png">    </p:cNvPr>
          <p:cNvPicPr>
            <a:picLocks noChangeAspect="1"/>
          </p:cNvPicPr>
          <p:nvPr/>
        </p:nvPicPr>
        <p:blipFill>
          <a:blip r:embed="rId3"/>
          <a:stretch>
            <a:fillRect/>
          </a:stretch>
        </p:blipFill>
        <p:spPr>
          <a:xfrm>
            <a:off x="2717602" y="2030016"/>
            <a:ext cx="330101" cy="330101"/>
          </a:xfrm>
          <a:prstGeom prst="rect">
            <a:avLst/>
          </a:prstGeom>
        </p:spPr>
      </p:pic>
      <p:sp>
        <p:nvSpPr>
          <p:cNvPr id="14" name="Text 9"/>
          <p:cNvSpPr/>
          <p:nvPr/>
        </p:nvSpPr>
        <p:spPr>
          <a:xfrm>
            <a:off x="2592702" y="2588716"/>
            <a:ext cx="580198"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Restart</a:t>
            </a:r>
            <a:endParaRPr lang="en-US" sz="1300" dirty="0"/>
          </a:p>
        </p:txBody>
      </p:sp>
      <p:sp>
        <p:nvSpPr>
          <p:cNvPr id="15" name="Text 10"/>
          <p:cNvSpPr/>
          <p:nvPr/>
        </p:nvSpPr>
        <p:spPr>
          <a:xfrm>
            <a:off x="216385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Restart my Grafana container app.</a:t>
            </a:r>
            <a:endParaRPr lang="en-US" sz="1050" dirty="0"/>
          </a:p>
        </p:txBody>
      </p:sp>
      <p:sp>
        <p:nvSpPr>
          <p:cNvPr id="16" name="Text 11"/>
          <p:cNvSpPr/>
          <p:nvPr/>
        </p:nvSpPr>
        <p:spPr>
          <a:xfrm>
            <a:off x="362356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4279702" y="1903065"/>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XCircle-CF222E.png">    </p:cNvPr>
          <p:cNvPicPr>
            <a:picLocks noChangeAspect="1"/>
          </p:cNvPicPr>
          <p:nvPr/>
        </p:nvPicPr>
        <p:blipFill>
          <a:blip r:embed="rId4"/>
          <a:stretch>
            <a:fillRect/>
          </a:stretch>
        </p:blipFill>
        <p:spPr>
          <a:xfrm>
            <a:off x="4406652" y="2030016"/>
            <a:ext cx="330101" cy="330101"/>
          </a:xfrm>
          <a:prstGeom prst="rect">
            <a:avLst/>
          </a:prstGeom>
        </p:spPr>
      </p:pic>
      <p:sp>
        <p:nvSpPr>
          <p:cNvPr id="19" name="Text 13"/>
          <p:cNvSpPr/>
          <p:nvPr/>
        </p:nvSpPr>
        <p:spPr>
          <a:xfrm>
            <a:off x="4229076" y="2588716"/>
            <a:ext cx="68555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It's gone</a:t>
            </a:r>
            <a:endParaRPr lang="en-US" sz="1300" dirty="0"/>
          </a:p>
        </p:txBody>
      </p:sp>
      <p:sp>
        <p:nvSpPr>
          <p:cNvPr id="20" name="Text 14"/>
          <p:cNvSpPr/>
          <p:nvPr/>
        </p:nvSpPr>
        <p:spPr>
          <a:xfrm>
            <a:off x="385290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SQLite lived in the container</a:t>
            </a:r>
            <a:endParaRPr lang="en-US" sz="1050" dirty="0"/>
          </a:p>
        </p:txBody>
      </p:sp>
      <p:sp>
        <p:nvSpPr>
          <p:cNvPr id="21" name="Text 15"/>
          <p:cNvSpPr/>
          <p:nvPr/>
        </p:nvSpPr>
        <p:spPr>
          <a:xfrm>
            <a:off x="53126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5968752" y="1903065"/>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Question-8250DF.png">    </p:cNvPr>
          <p:cNvPicPr>
            <a:picLocks noChangeAspect="1"/>
          </p:cNvPicPr>
          <p:nvPr/>
        </p:nvPicPr>
        <p:blipFill>
          <a:blip r:embed="rId5"/>
          <a:stretch>
            <a:fillRect/>
          </a:stretch>
        </p:blipFill>
        <p:spPr>
          <a:xfrm>
            <a:off x="6095702" y="2030016"/>
            <a:ext cx="330101" cy="330101"/>
          </a:xfrm>
          <a:prstGeom prst="rect">
            <a:avLst/>
          </a:prstGeom>
        </p:spPr>
      </p:pic>
      <p:sp>
        <p:nvSpPr>
          <p:cNvPr id="24" name="Text 17"/>
          <p:cNvSpPr/>
          <p:nvPr/>
        </p:nvSpPr>
        <p:spPr>
          <a:xfrm>
            <a:off x="5919341" y="2588716"/>
            <a:ext cx="683121"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Ask why</a:t>
            </a:r>
            <a:endParaRPr lang="en-US" sz="1300" dirty="0"/>
          </a:p>
        </p:txBody>
      </p:sp>
      <p:sp>
        <p:nvSpPr>
          <p:cNvPr id="25" name="Text 18"/>
          <p:cNvSpPr/>
          <p:nvPr/>
        </p:nvSpPr>
        <p:spPr>
          <a:xfrm>
            <a:off x="554195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Why did my dashboard disappear?</a:t>
            </a:r>
            <a:endParaRPr lang="en-US" sz="1050" dirty="0"/>
          </a:p>
        </p:txBody>
      </p:sp>
      <p:sp>
        <p:nvSpPr>
          <p:cNvPr id="26" name="Text 19"/>
          <p:cNvSpPr/>
          <p:nvPr/>
        </p:nvSpPr>
        <p:spPr>
          <a:xfrm>
            <a:off x="7001670"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7657802" y="1903065"/>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Database-1A7F37.png">    </p:cNvPr>
          <p:cNvPicPr>
            <a:picLocks noChangeAspect="1"/>
          </p:cNvPicPr>
          <p:nvPr/>
        </p:nvPicPr>
        <p:blipFill>
          <a:blip r:embed="rId6"/>
          <a:stretch>
            <a:fillRect/>
          </a:stretch>
        </p:blipFill>
        <p:spPr>
          <a:xfrm>
            <a:off x="7784753" y="2030016"/>
            <a:ext cx="330101" cy="330101"/>
          </a:xfrm>
          <a:prstGeom prst="rect">
            <a:avLst/>
          </a:prstGeom>
        </p:spPr>
      </p:pic>
      <p:sp>
        <p:nvSpPr>
          <p:cNvPr id="29" name="Text 21"/>
          <p:cNvSpPr/>
          <p:nvPr/>
        </p:nvSpPr>
        <p:spPr>
          <a:xfrm>
            <a:off x="7673819" y="2588716"/>
            <a:ext cx="552265"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Decide</a:t>
            </a:r>
            <a:endParaRPr lang="en-US" sz="1300" dirty="0"/>
          </a:p>
        </p:txBody>
      </p:sp>
      <p:sp>
        <p:nvSpPr>
          <p:cNvPr id="30" name="Text 22"/>
          <p:cNvSpPr/>
          <p:nvPr/>
        </p:nvSpPr>
        <p:spPr>
          <a:xfrm>
            <a:off x="723100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PostgreSQL or Azure Files</a:t>
            </a:r>
            <a:endParaRPr lang="en-US" sz="1050" dirty="0"/>
          </a:p>
        </p:txBody>
      </p:sp>
      <p:sp>
        <p:nvSpPr>
          <p:cNvPr id="31" name="Text 23"/>
          <p:cNvSpPr/>
          <p:nvPr/>
        </p:nvSpPr>
        <p:spPr>
          <a:xfrm>
            <a:off x="2622649" y="3688556"/>
            <a:ext cx="3898404"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LightBulb-1A7F37.png">    </p:cNvPr>
          <p:cNvPicPr>
            <a:picLocks noChangeAspect="1"/>
          </p:cNvPicPr>
          <p:nvPr/>
        </p:nvPicPr>
        <p:blipFill>
          <a:blip r:embed="rId7"/>
          <a:stretch>
            <a:fillRect/>
          </a:stretch>
        </p:blipFill>
        <p:spPr>
          <a:xfrm>
            <a:off x="2784574" y="3813572"/>
            <a:ext cx="177701" cy="177701"/>
          </a:xfrm>
          <a:prstGeom prst="rect">
            <a:avLst/>
          </a:prstGeom>
        </p:spPr>
      </p:pic>
      <p:sp>
        <p:nvSpPr>
          <p:cNvPr id="33" name="Text 24"/>
          <p:cNvSpPr/>
          <p:nvPr/>
        </p:nvSpPr>
        <p:spPr>
          <a:xfrm>
            <a:off x="3063776" y="3799582"/>
            <a:ext cx="3361259"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Embedded storage is still a persistence decision.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Cost estimates assume the resources stay up for a month.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Purge</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also clears soft-deleted resources.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list-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Plan and preview before you create anything billable.</a:t>
            </a:r>
            <a:endParaRPr lang="en-US" sz="1300" dirty="0"/>
          </a:p>
        </p:txBody>
      </p:sp>
      <p:sp>
        <p:nvSpPr>
          <p:cNvPr id="10" name="Text 6"/>
          <p:cNvSpPr/>
          <p:nvPr/>
        </p:nvSpPr>
        <p:spPr>
          <a:xfrm>
            <a:off x="4736902" y="1320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Copilot-8250DF.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An agent plus app skills can deploy, and then operate, the app.</a:t>
            </a:r>
            <a:endParaRPr lang="en-US" sz="1300" dirty="0"/>
          </a:p>
        </p:txBody>
      </p:sp>
      <p:sp>
        <p:nvSpPr>
          <p:cNvPr id="13" name="Text 8"/>
          <p:cNvSpPr/>
          <p:nvPr/>
        </p:nvSpPr>
        <p:spPr>
          <a:xfrm>
            <a:off x="482501" y="2082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Database-BC4C00.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Embedded storage is a persistence decision. Test it.</a:t>
            </a:r>
            <a:endParaRPr lang="en-US" sz="1300" dirty="0"/>
          </a:p>
        </p:txBody>
      </p:sp>
      <p:sp>
        <p:nvSpPr>
          <p:cNvPr id="16" name="Text 10"/>
          <p:cNvSpPr/>
          <p:nvPr/>
        </p:nvSpPr>
        <p:spPr>
          <a:xfrm>
            <a:off x="4736902"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Hourglass-1A7F37.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190601"/>
            <a:ext cx="3106683"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Cold starts after scale-to-zero are normal.</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4651903"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4651903"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n8n</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Add PostgreSQL, health probes, and a post-provision hook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Grafana on Azure: Agentic Journey</dc:title>
  <dc:subject>PptxGenJS Presentation</dc:subject>
  <dc:creator>GitHub and Azure Agentic Journeys</dc:creator>
  <cp:lastModifiedBy>GitHub and Azure Agentic Journeys</cp:lastModifiedBy>
  <cp:revision>1</cp:revision>
  <dcterms:created xsi:type="dcterms:W3CDTF">2026-09-30T08:33:14Z</dcterms:created>
  <dcterms:modified xsi:type="dcterms:W3CDTF">2026-09-30T08:33:14Z</dcterms:modified>
</cp:coreProperties>
</file>