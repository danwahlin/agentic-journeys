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is the simplest open-source deployment journey: one container, no external database. You describe what you want, review the plan and cost, preview, deploy, and verify. Then we operate Grafana through its API and deliberately restart it to learn about storage tradeoffs. Deployment takes about 2 to 5 minutes, so there is time to explore. Timing guide: 5 minutes intro, 17 minutes plan and preview, 13 minutes deploy and verify, 18 minutes operate, 7 minutes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is a popular open-source dashboard and observability tool. We will not write application code today. The agent generates the infrastructure, deploys the public Grafana image, and helps us operate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write a prompt. The oss-to-azure-deployer agent loads two kinds of skills: the grafana-azure app skill in this repo, and the Azure Skills plugin, which provides current Bicep schemas and guidance through Azure MCP. The agent generates Bicep and azure.yaml, azd deploys, and a verifier proves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group. A Container Apps environment runs a single Grafana container app with public HTTPS ingress on port 3000. Grafana stores its data in SQLite on the container's local disk. That is fast and cheap, and also temporary, which we will prove later. Logs and metrics flow to Log Analytics. minReplicas is 0 so it scales to zero, and maxReplicas is 1 because SQLite cannot be shared across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plan and preview. About 17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Copilot CLI from the repository root. Add the Azure Skills marketplace and install the plugin once; it persists across sessions. Then choose the oss-to-azure-deployer agent with /agent. In other tools, select the same custom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first, with an explicit "don't create anything yet." You should get a list of resources, SKUs, and a monthly estimate around 10 to 20 dollars. This is where you catch surprises before they are billable.
Full prompt:
Plan a Grafana deployment to Azure Container Apps with Bicep and azd: SQLite in the container's local storage (no Azure Files mount), minReplicas: 0 and maxReplicas: 1, /api/health for probes, and the westus region. List each Azure resource, its SKU, and the estimated monthly cost if left running. Don't create files or Azure resources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question, and a great habit. The agent should explain that SQLite is fine for demos and testing, but data lives inside the container. PostgreSQL survives restarts and supports multiple replicas, at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SQLite: no extra resource and fast to deploy, but data is lost on restart. PostgreSQL: survives restarts and supports multiple replicas, but costs more. Today we choose SQLite on purpose so we can see the tradeoff for ourselves in section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prompt shows several safe habits. Secrets stay in the azd environment and never print. The preview shows exactly what will be created. The agent is told how to handle failures: smallest safe fix, rerun, and log it in issues.md. And the deploy itself stays in your hands.
Full prompt:
Generate the infrastructure for that plan: Bicep in infra-grafana/ and azure.yaml. Generate a secure admin password and store it only in the azd environment. Prepare the azd environment for westus and my current subscription, then run azd provision --preview and summarize what it will create. Don't run azd up. If a step fails, inspect the relevant logs, make the smallest safe correction, rerun the failed step, and record the problem and resolution in issues.md. Do not print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deploy and verify. About 13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run azd up yourself. It takes about 2 to 5 minutes. Then run the checked-in verifier. You can also ask the agent: "Verify the Grafana deployment. Report each acceptance criterion as pass or fail." Then open the URL and sign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to zero saves money, and the cost is a cold start. When no one has used Grafana for a while, it scales to zero. The first request starts the container, which can take 30 to 60 seconds, and may return a 502 while it starts. After that, it is fast. Knowing what normal looks like saves a lot of unnecessary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operate and learn. About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agent that deployed Grafana can now operate it. It writes a small script that uses the Grafana HTTP API. Argument arrays avoid shell interpolation and work on Windows, Mac, and Linux. Open the printed URL to see the dashboard.
Full prompt:
Create scripts/create-grafana-dashboard.mjs. It reads GRAFANA_URL and GRAFANA_ADMIN_PASSWORD through azd env get-value with argument arrays and never prints the password. Through the Grafana HTTP API, it creates the built-in TestData data source if it doesn't exist, then creates a dashboard named "Hello from Azure" with one time series panel that uses it, and prints the dashboard URL. Then run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memorable moment of the session. Ask the agent to restart the container app. It creates a restart script that finds the tagged app and restarts only the active revision. After the restart, the dashboard is gone, because SQLite lived on the container's temporary disk. Ask why, then ask "How do I make Grafana dashboards persist across restarts?" The answer is PostgreSQL, or Azure Files mounted at /var/lib/grafana.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Tear everything down. Record the resource group name first with azd env get-value RESOURCE_GROUP_NAME, run azd down with force and purge, then confirm with az group exists, which should return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Plan and preview first. The agent and skills can both deploy and operate the app. Storage choices matter even when they are invisible. And cold starts are expected with scale to zero. Next up: n8n, which adds a real database, careful health probes, and a hook that runs after provisioning.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71450"/>
          </a:xfrm>
          <a:prstGeom prst="rect">
            <a:avLst/>
          </a:prstGeom>
          <a:noFill/>
          <a:ln/>
        </p:spPr>
        <p:txBody>
          <a:bodyPr wrap="square" lIns="0" tIns="0" rIns="0" bIns="0" rtlCol="0" anchor="t"/>
          <a:lstStyle/>
          <a:p>
            <a:pPr algn="l" indent="0" marL="0">
              <a:spcAft>
                <a:spcPts val="600"/>
              </a:spcAft>
              <a:buNone/>
            </a:pPr>
            <a:r>
              <a:rPr lang="en-US" sz="1200" b="1" dirty="0">
                <a:solidFill>
                  <a:srgbClr val="1A7F37"/>
                </a:solidFill>
                <a:latin typeface="Arial" pitchFamily="34" charset="0"/>
                <a:ea typeface="Arial" pitchFamily="34" charset="-122"/>
                <a:cs typeface="Arial" pitchFamily="34" charset="-120"/>
              </a:rPr>
              <a:t>AGENTIC JOURNEY · GITHUB AND AZURE</a:t>
            </a:r>
            <a:endParaRPr lang="en-US" sz="1200" dirty="0"/>
          </a:p>
        </p:txBody>
      </p:sp>
      <p:sp>
        <p:nvSpPr>
          <p:cNvPr id="7" name="Text 4"/>
          <p:cNvSpPr/>
          <p:nvPr/>
        </p:nvSpPr>
        <p:spPr>
          <a:xfrm>
            <a:off x="482501" y="130150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Grafana on Azure</a:t>
            </a:r>
            <a:endParaRPr lang="en-US" sz="4000" dirty="0"/>
          </a:p>
        </p:txBody>
      </p:sp>
      <p:sp>
        <p:nvSpPr>
          <p:cNvPr id="8" name="Text 5"/>
          <p:cNvSpPr/>
          <p:nvPr/>
        </p:nvSpPr>
        <p:spPr>
          <a:xfrm>
            <a:off x="482501" y="2038052"/>
            <a:ext cx="7772400" cy="584299"/>
          </a:xfrm>
          <a:prstGeom prst="rect">
            <a:avLst/>
          </a:prstGeom>
          <a:noFill/>
          <a:ln/>
        </p:spPr>
        <p:txBody>
          <a:bodyPr wrap="square" lIns="0" tIns="0" rIns="0" bIns="0" rtlCol="0" anchor="t"/>
          <a:lstStyle/>
          <a:p>
            <a:pPr algn="l" indent="0" marL="0">
              <a:lnSpc>
                <a:spcPts val="2300"/>
              </a:lnSpc>
              <a:spcBef>
                <a:spcPts val="1200"/>
              </a:spcBef>
              <a:buNone/>
            </a:pPr>
            <a:r>
              <a:rPr lang="en-US" sz="1700" dirty="0">
                <a:solidFill>
                  <a:srgbClr val="59636E"/>
                </a:solidFill>
                <a:latin typeface="Arial" pitchFamily="34" charset="0"/>
                <a:ea typeface="Arial" pitchFamily="34" charset="-122"/>
                <a:cs typeface="Arial" pitchFamily="34" charset="-120"/>
              </a:rPr>
              <a:t>What if you could deploy a working dashboard app to Azure by describing it, then break it on purpose to learn why?</a:t>
            </a:r>
            <a:endParaRPr lang="en-US" sz="1700" dirty="0"/>
          </a:p>
        </p:txBody>
      </p:sp>
      <p:sp>
        <p:nvSpPr>
          <p:cNvPr id="9" name="Text 6"/>
          <p:cNvSpPr/>
          <p:nvPr/>
        </p:nvSpPr>
        <p:spPr>
          <a:xfrm>
            <a:off x="482501" y="2946350"/>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77751" y="3041600"/>
            <a:ext cx="241250" cy="241250"/>
          </a:xfrm>
          <a:prstGeom prst="rect">
            <a:avLst/>
          </a:prstGeom>
        </p:spPr>
      </p:pic>
      <p:sp>
        <p:nvSpPr>
          <p:cNvPr id="11" name="Text 7"/>
          <p:cNvSpPr/>
          <p:nvPr/>
        </p:nvSpPr>
        <p:spPr>
          <a:xfrm>
            <a:off x="1028551" y="2973288"/>
            <a:ext cx="947109"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SESSION</a:t>
            </a:r>
            <a:endParaRPr lang="en-US" sz="1000" dirty="0"/>
          </a:p>
        </p:txBody>
      </p:sp>
      <p:sp>
        <p:nvSpPr>
          <p:cNvPr id="12" name="Text 8"/>
          <p:cNvSpPr/>
          <p:nvPr/>
        </p:nvSpPr>
        <p:spPr>
          <a:xfrm>
            <a:off x="1028551" y="3141464"/>
            <a:ext cx="947109"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60 minutes</a:t>
            </a:r>
            <a:endParaRPr lang="en-US" sz="1400" dirty="0"/>
          </a:p>
        </p:txBody>
      </p:sp>
      <p:sp>
        <p:nvSpPr>
          <p:cNvPr id="13" name="Text 9"/>
          <p:cNvSpPr/>
          <p:nvPr/>
        </p:nvSpPr>
        <p:spPr>
          <a:xfrm>
            <a:off x="2312640" y="2946350"/>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1A7F37.png">    </p:cNvPr>
          <p:cNvPicPr>
            <a:picLocks noChangeAspect="1"/>
          </p:cNvPicPr>
          <p:nvPr/>
        </p:nvPicPr>
        <p:blipFill>
          <a:blip r:embed="rId3"/>
          <a:stretch>
            <a:fillRect/>
          </a:stretch>
        </p:blipFill>
        <p:spPr>
          <a:xfrm>
            <a:off x="2407890" y="3041600"/>
            <a:ext cx="241250" cy="241250"/>
          </a:xfrm>
          <a:prstGeom prst="rect">
            <a:avLst/>
          </a:prstGeom>
        </p:spPr>
      </p:pic>
      <p:sp>
        <p:nvSpPr>
          <p:cNvPr id="15" name="Text 10"/>
          <p:cNvSpPr/>
          <p:nvPr/>
        </p:nvSpPr>
        <p:spPr>
          <a:xfrm>
            <a:off x="2858691" y="2973288"/>
            <a:ext cx="1510912"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COST IF LEFT RUNNING</a:t>
            </a:r>
            <a:endParaRPr lang="en-US" sz="1000" dirty="0"/>
          </a:p>
        </p:txBody>
      </p:sp>
      <p:sp>
        <p:nvSpPr>
          <p:cNvPr id="16" name="Text 11"/>
          <p:cNvSpPr/>
          <p:nvPr/>
        </p:nvSpPr>
        <p:spPr>
          <a:xfrm>
            <a:off x="2858691" y="3141464"/>
            <a:ext cx="1510912"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~$10–20/month</a:t>
            </a:r>
            <a:endParaRPr lang="en-US" sz="1400" dirty="0"/>
          </a:p>
        </p:txBody>
      </p:sp>
      <p:sp>
        <p:nvSpPr>
          <p:cNvPr id="17" name="Text 12"/>
          <p:cNvSpPr/>
          <p:nvPr/>
        </p:nvSpPr>
        <p:spPr>
          <a:xfrm>
            <a:off x="4695527" y="2946350"/>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790777" y="3041600"/>
            <a:ext cx="241250" cy="241250"/>
          </a:xfrm>
          <a:prstGeom prst="rect">
            <a:avLst/>
          </a:prstGeom>
        </p:spPr>
      </p:pic>
      <p:sp>
        <p:nvSpPr>
          <p:cNvPr id="19" name="Text 13"/>
          <p:cNvSpPr/>
          <p:nvPr/>
        </p:nvSpPr>
        <p:spPr>
          <a:xfrm>
            <a:off x="5241578" y="2973288"/>
            <a:ext cx="1897103"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RUNS ON</a:t>
            </a:r>
            <a:endParaRPr lang="en-US" sz="1000" dirty="0"/>
          </a:p>
        </p:txBody>
      </p:sp>
      <p:sp>
        <p:nvSpPr>
          <p:cNvPr id="20" name="Text 14"/>
          <p:cNvSpPr/>
          <p:nvPr/>
        </p:nvSpPr>
        <p:spPr>
          <a:xfrm>
            <a:off x="5241578" y="3141464"/>
            <a:ext cx="1897103"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Azure Container Apps</a:t>
            </a:r>
            <a:endParaRPr lang="en-US" sz="1400" dirty="0"/>
          </a:p>
        </p:txBody>
      </p:sp>
      <p:sp>
        <p:nvSpPr>
          <p:cNvPr id="21" name="Text 15"/>
          <p:cNvSpPr/>
          <p:nvPr/>
        </p:nvSpPr>
        <p:spPr>
          <a:xfrm>
            <a:off x="482501" y="3708350"/>
            <a:ext cx="8342275"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IN THIS SESSION</a:t>
            </a:r>
            <a:endParaRPr lang="en-US" sz="1000" dirty="0"/>
          </a:p>
        </p:txBody>
      </p:sp>
      <p:sp>
        <p:nvSpPr>
          <p:cNvPr id="22" name="Text 16"/>
          <p:cNvSpPr/>
          <p:nvPr/>
        </p:nvSpPr>
        <p:spPr>
          <a:xfrm>
            <a:off x="482501" y="3952726"/>
            <a:ext cx="1719858" cy="361652"/>
          </a:xfrm>
          <a:prstGeom prst="roundRect">
            <a:avLst>
              <a:gd name="adj" fmla="val 52675"/>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25652"/>
            <a:ext cx="215801" cy="215801"/>
          </a:xfrm>
          <a:prstGeom prst="roundRect">
            <a:avLst>
              <a:gd name="adj" fmla="val 423724"/>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43640"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5" name="Text 19"/>
          <p:cNvSpPr/>
          <p:nvPr/>
        </p:nvSpPr>
        <p:spPr>
          <a:xfrm>
            <a:off x="860227" y="4047827"/>
            <a:ext cx="121686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Plan and preview</a:t>
            </a:r>
            <a:endParaRPr lang="en-US" sz="1150" dirty="0"/>
          </a:p>
        </p:txBody>
      </p:sp>
      <p:sp>
        <p:nvSpPr>
          <p:cNvPr id="26" name="Text 20"/>
          <p:cNvSpPr/>
          <p:nvPr/>
        </p:nvSpPr>
        <p:spPr>
          <a:xfrm>
            <a:off x="2303859" y="3952726"/>
            <a:ext cx="1744117" cy="361652"/>
          </a:xfrm>
          <a:prstGeom prst="roundRect">
            <a:avLst>
              <a:gd name="adj" fmla="val 52675"/>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2389584" y="4025652"/>
            <a:ext cx="215801" cy="215801"/>
          </a:xfrm>
          <a:prstGeom prst="roundRect">
            <a:avLst>
              <a:gd name="adj" fmla="val 423724"/>
            </a:avLst>
          </a:prstGeom>
          <a:solidFill>
            <a:srgbClr val="8250DF"/>
          </a:solidFill>
          <a:ln/>
        </p:spPr>
        <p:txBody>
          <a:bodyPr wrap="square" rtlCol="0" anchor="ctr"/>
          <a:lstStyle/>
          <a:p>
            <a:pPr indent="0" marL="0">
              <a:buNone/>
            </a:pPr>
            <a:endParaRPr lang="en-US" dirty="0"/>
          </a:p>
        </p:txBody>
      </p:sp>
      <p:sp>
        <p:nvSpPr>
          <p:cNvPr id="28" name="Text 22"/>
          <p:cNvSpPr/>
          <p:nvPr/>
        </p:nvSpPr>
        <p:spPr>
          <a:xfrm>
            <a:off x="2464999"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9" name="Text 23"/>
          <p:cNvSpPr/>
          <p:nvPr/>
        </p:nvSpPr>
        <p:spPr>
          <a:xfrm>
            <a:off x="2681585" y="4047827"/>
            <a:ext cx="1241611"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Deploy and verify</a:t>
            </a:r>
            <a:endParaRPr lang="en-US" sz="1150" dirty="0"/>
          </a:p>
        </p:txBody>
      </p:sp>
      <p:sp>
        <p:nvSpPr>
          <p:cNvPr id="30" name="Text 24"/>
          <p:cNvSpPr/>
          <p:nvPr/>
        </p:nvSpPr>
        <p:spPr>
          <a:xfrm>
            <a:off x="4149477" y="3952726"/>
            <a:ext cx="1768525" cy="361652"/>
          </a:xfrm>
          <a:prstGeom prst="roundRect">
            <a:avLst>
              <a:gd name="adj" fmla="val 52675"/>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4235202" y="4025652"/>
            <a:ext cx="215801" cy="215801"/>
          </a:xfrm>
          <a:prstGeom prst="roundRect">
            <a:avLst>
              <a:gd name="adj" fmla="val 423724"/>
            </a:avLst>
          </a:prstGeom>
          <a:solidFill>
            <a:srgbClr val="1A7F37"/>
          </a:solidFill>
          <a:ln/>
        </p:spPr>
        <p:txBody>
          <a:bodyPr wrap="square" rtlCol="0" anchor="ctr"/>
          <a:lstStyle/>
          <a:p>
            <a:pPr indent="0" marL="0">
              <a:buNone/>
            </a:pPr>
            <a:endParaRPr lang="en-US" dirty="0"/>
          </a:p>
        </p:txBody>
      </p:sp>
      <p:sp>
        <p:nvSpPr>
          <p:cNvPr id="32" name="Text 26"/>
          <p:cNvSpPr/>
          <p:nvPr/>
        </p:nvSpPr>
        <p:spPr>
          <a:xfrm>
            <a:off x="4310616"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3" name="Text 27"/>
          <p:cNvSpPr/>
          <p:nvPr/>
        </p:nvSpPr>
        <p:spPr>
          <a:xfrm>
            <a:off x="4527203" y="4047827"/>
            <a:ext cx="1266507"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Operate and learn</a:t>
            </a:r>
            <a:endParaRPr lang="en-US" sz="1150" dirty="0"/>
          </a:p>
        </p:txBody>
      </p:sp>
      <p:sp>
        <p:nvSpPr>
          <p:cNvPr id="34" name="Text 28"/>
          <p:cNvSpPr/>
          <p:nvPr/>
        </p:nvSpPr>
        <p:spPr>
          <a:xfrm>
            <a:off x="482501" y="4673501"/>
            <a:ext cx="2635329"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github.com/microsoft/agentic-journeys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WHERE WE ARE HEADED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Grafana dashboards, running on Azure</a:t>
            </a:r>
            <a:endParaRPr lang="en-US" sz="2800" dirty="0"/>
          </a:p>
        </p:txBody>
      </p:sp>
      <p:pic>
        <p:nvPicPr>
          <p:cNvPr id="7" name="Image 1" descr="/Users/danwahlin/.copilot/session-state/a2da67da-2d7a-45f2-aa6a-2a42a7b82a72/files/build/img/grafana-grafana-observability.png">    </p:cNvPr>
          <p:cNvPicPr>
            <a:picLocks noChangeAspect="1"/>
          </p:cNvPicPr>
          <p:nvPr/>
        </p:nvPicPr>
        <p:blipFill>
          <a:blip r:embed="rId2"/>
          <a:stretch>
            <a:fillRect/>
          </a:stretch>
        </p:blipFill>
        <p:spPr>
          <a:xfrm>
            <a:off x="1233041" y="1257300"/>
            <a:ext cx="6677620" cy="3555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HOW IT WORKS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Your prompt, the agent, and the skills</a:t>
            </a:r>
            <a:endParaRPr lang="en-US" sz="2800" dirty="0"/>
          </a:p>
        </p:txBody>
      </p:sp>
      <p:pic>
        <p:nvPicPr>
          <p:cNvPr id="7" name="Image 1" descr="/Users/danwahlin/.copilot/session-state/a2da67da-2d7a-45f2-aa6a-2a42a7b82a72/files/build/img/grafana-deploy-agent.png">    </p:cNvPr>
          <p:cNvPicPr>
            <a:picLocks noChangeAspect="1"/>
          </p:cNvPicPr>
          <p:nvPr/>
        </p:nvPicPr>
        <p:blipFill>
          <a:blip r:embed="rId2"/>
          <a:stretch>
            <a:fillRect/>
          </a:stretch>
        </p:blipFill>
        <p:spPr>
          <a:xfrm>
            <a:off x="690711" y="1308050"/>
            <a:ext cx="7762131" cy="34543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ARCHITECTURE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One container. No database server.</a:t>
            </a:r>
            <a:endParaRPr lang="en-US" sz="2800" dirty="0"/>
          </a:p>
        </p:txBody>
      </p:sp>
      <p:sp>
        <p:nvSpPr>
          <p:cNvPr id="7" name="Text 4"/>
          <p:cNvSpPr/>
          <p:nvPr/>
        </p:nvSpPr>
        <p:spPr>
          <a:xfrm>
            <a:off x="762298" y="2390775"/>
            <a:ext cx="1524000" cy="1288852"/>
          </a:xfrm>
          <a:prstGeom prst="roundRect">
            <a:avLst>
              <a:gd name="adj" fmla="val 78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1295698" y="2539901"/>
            <a:ext cx="457200" cy="457200"/>
          </a:xfrm>
          <a:prstGeom prst="roundRect">
            <a:avLst>
              <a:gd name="adj" fmla="val 16667"/>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Person-8250DF.png">    </p:cNvPr>
          <p:cNvPicPr>
            <a:picLocks noChangeAspect="1"/>
          </p:cNvPicPr>
          <p:nvPr/>
        </p:nvPicPr>
        <p:blipFill>
          <a:blip r:embed="rId2"/>
          <a:stretch>
            <a:fillRect/>
          </a:stretch>
        </p:blipFill>
        <p:spPr>
          <a:xfrm>
            <a:off x="1397347" y="2641550"/>
            <a:ext cx="253901" cy="253901"/>
          </a:xfrm>
          <a:prstGeom prst="rect">
            <a:avLst/>
          </a:prstGeom>
        </p:spPr>
      </p:pic>
      <p:sp>
        <p:nvSpPr>
          <p:cNvPr id="10" name="Text 6"/>
          <p:cNvSpPr/>
          <p:nvPr/>
        </p:nvSpPr>
        <p:spPr>
          <a:xfrm>
            <a:off x="1371432" y="3073301"/>
            <a:ext cx="305583"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You</a:t>
            </a:r>
            <a:endParaRPr lang="en-US" sz="1300" dirty="0"/>
          </a:p>
        </p:txBody>
      </p:sp>
      <p:sp>
        <p:nvSpPr>
          <p:cNvPr id="11" name="Text 7"/>
          <p:cNvSpPr/>
          <p:nvPr/>
        </p:nvSpPr>
        <p:spPr>
          <a:xfrm>
            <a:off x="1049301" y="3352651"/>
            <a:ext cx="949994"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Browser or API</a:t>
            </a:r>
            <a:endParaRPr lang="en-US" sz="1100" dirty="0"/>
          </a:p>
        </p:txBody>
      </p:sp>
      <p:sp>
        <p:nvSpPr>
          <p:cNvPr id="12" name="Text 8"/>
          <p:cNvSpPr/>
          <p:nvPr/>
        </p:nvSpPr>
        <p:spPr>
          <a:xfrm>
            <a:off x="2467575" y="2836664"/>
            <a:ext cx="424598" cy="142875"/>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HTTPS</a:t>
            </a:r>
            <a:endParaRPr lang="en-US" sz="1000" dirty="0"/>
          </a:p>
        </p:txBody>
      </p:sp>
      <p:sp>
        <p:nvSpPr>
          <p:cNvPr id="13" name="Text 9"/>
          <p:cNvSpPr/>
          <p:nvPr/>
        </p:nvSpPr>
        <p:spPr>
          <a:xfrm>
            <a:off x="2563362" y="2979539"/>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4" name="Text 10"/>
          <p:cNvSpPr/>
          <p:nvPr/>
        </p:nvSpPr>
        <p:spPr>
          <a:xfrm>
            <a:off x="3073598" y="1851124"/>
            <a:ext cx="5307806" cy="2368153"/>
          </a:xfrm>
          <a:prstGeom prst="roundRect">
            <a:avLst>
              <a:gd name="adj" fmla="val 5363"/>
            </a:avLst>
          </a:prstGeom>
          <a:solidFill>
            <a:srgbClr val="DDF4FF"/>
          </a:solidFill>
          <a:ln w="9525">
            <a:solidFill>
              <a:srgbClr val="9CD7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Cloud-0969DA.png">    </p:cNvPr>
          <p:cNvPicPr>
            <a:picLocks noChangeAspect="1"/>
          </p:cNvPicPr>
          <p:nvPr/>
        </p:nvPicPr>
        <p:blipFill>
          <a:blip r:embed="rId3"/>
          <a:stretch>
            <a:fillRect/>
          </a:stretch>
        </p:blipFill>
        <p:spPr>
          <a:xfrm>
            <a:off x="3235523" y="2013049"/>
            <a:ext cx="165050" cy="165050"/>
          </a:xfrm>
          <a:prstGeom prst="rect">
            <a:avLst/>
          </a:prstGeom>
        </p:spPr>
      </p:pic>
      <p:sp>
        <p:nvSpPr>
          <p:cNvPr id="16" name="Text 11"/>
          <p:cNvSpPr/>
          <p:nvPr/>
        </p:nvSpPr>
        <p:spPr>
          <a:xfrm>
            <a:off x="3463975" y="2024062"/>
            <a:ext cx="172693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AZURE RESOURCE GROUP</a:t>
            </a:r>
            <a:endParaRPr lang="en-US" sz="1000" dirty="0"/>
          </a:p>
        </p:txBody>
      </p:sp>
      <p:sp>
        <p:nvSpPr>
          <p:cNvPr id="17" name="Text 12"/>
          <p:cNvSpPr/>
          <p:nvPr/>
        </p:nvSpPr>
        <p:spPr>
          <a:xfrm>
            <a:off x="3235523" y="2254300"/>
            <a:ext cx="2596604" cy="1803053"/>
          </a:xfrm>
          <a:prstGeom prst="roundRect">
            <a:avLst>
              <a:gd name="adj" fmla="val 7044"/>
            </a:avLst>
          </a:prstGeom>
          <a:solidFill>
            <a:srgbClr val="DDF4FF"/>
          </a:solidFill>
          <a:ln w="9525">
            <a:solidFill>
              <a:srgbClr val="9CD7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0969DA.png">    </p:cNvPr>
          <p:cNvPicPr>
            <a:picLocks noChangeAspect="1"/>
          </p:cNvPicPr>
          <p:nvPr/>
        </p:nvPicPr>
        <p:blipFill>
          <a:blip r:embed="rId4"/>
          <a:stretch>
            <a:fillRect/>
          </a:stretch>
        </p:blipFill>
        <p:spPr>
          <a:xfrm>
            <a:off x="3371999" y="2390775"/>
            <a:ext cx="165050" cy="165050"/>
          </a:xfrm>
          <a:prstGeom prst="rect">
            <a:avLst/>
          </a:prstGeom>
        </p:spPr>
      </p:pic>
      <p:sp>
        <p:nvSpPr>
          <p:cNvPr id="19" name="Text 13"/>
          <p:cNvSpPr/>
          <p:nvPr/>
        </p:nvSpPr>
        <p:spPr>
          <a:xfrm>
            <a:off x="3600450" y="2401788"/>
            <a:ext cx="2137106"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CONTAINER APPS ENVIRONMENT</a:t>
            </a:r>
            <a:endParaRPr lang="en-US" sz="1000" dirty="0"/>
          </a:p>
        </p:txBody>
      </p:sp>
      <p:sp>
        <p:nvSpPr>
          <p:cNvPr id="20" name="Text 14"/>
          <p:cNvSpPr/>
          <p:nvPr/>
        </p:nvSpPr>
        <p:spPr>
          <a:xfrm>
            <a:off x="3454301" y="2632025"/>
            <a:ext cx="2158901" cy="1288852"/>
          </a:xfrm>
          <a:prstGeom prst="roundRect">
            <a:avLst>
              <a:gd name="adj" fmla="val 7883"/>
            </a:avLst>
          </a:prstGeom>
          <a:solidFill>
            <a:srgbClr val="FFFFFF"/>
          </a:solidFill>
          <a:ln w="9525">
            <a:solidFill>
              <a:srgbClr val="FFC49B"/>
            </a:solidFill>
          </a:ln>
        </p:spPr>
        <p:txBody>
          <a:bodyPr wrap="square" rtlCol="0" anchor="ctr"/>
          <a:lstStyle/>
          <a:p>
            <a:pPr indent="0" marL="0">
              <a:buNone/>
            </a:pPr>
            <a:endParaRPr lang="en-US" dirty="0"/>
          </a:p>
        </p:txBody>
      </p:sp>
      <p:sp>
        <p:nvSpPr>
          <p:cNvPr id="21" name="Text 15"/>
          <p:cNvSpPr/>
          <p:nvPr/>
        </p:nvSpPr>
        <p:spPr>
          <a:xfrm>
            <a:off x="4305151" y="2781151"/>
            <a:ext cx="457200" cy="457200"/>
          </a:xfrm>
          <a:prstGeom prst="roundRect">
            <a:avLst>
              <a:gd name="adj" fmla="val 16667"/>
            </a:avLst>
          </a:prstGeom>
          <a:solidFill>
            <a:srgbClr val="FFF1E5"/>
          </a:solidFill>
          <a:ln/>
        </p:spPr>
        <p:txBody>
          <a:bodyPr wrap="square" rtlCol="0" anchor="ctr"/>
          <a:lstStyle/>
          <a:p>
            <a:pPr indent="0" marL="0">
              <a:buNone/>
            </a:pPr>
            <a:endParaRPr lang="en-US" dirty="0"/>
          </a:p>
        </p:txBody>
      </p:sp>
      <p:pic>
        <p:nvPicPr>
          <p:cNvPr id="22" name="Image 4" descr="/Users/danwahlin/.copilot/session-state/a2da67da-2d7a-45f2-aa6a-2a42a7b82a72/files/build/icons/GoGraph-BC4C00.png">    </p:cNvPr>
          <p:cNvPicPr>
            <a:picLocks noChangeAspect="1"/>
          </p:cNvPicPr>
          <p:nvPr/>
        </p:nvPicPr>
        <p:blipFill>
          <a:blip r:embed="rId5"/>
          <a:stretch>
            <a:fillRect/>
          </a:stretch>
        </p:blipFill>
        <p:spPr>
          <a:xfrm>
            <a:off x="4406801" y="2882801"/>
            <a:ext cx="253901" cy="253901"/>
          </a:xfrm>
          <a:prstGeom prst="rect">
            <a:avLst/>
          </a:prstGeom>
        </p:spPr>
      </p:pic>
      <p:sp>
        <p:nvSpPr>
          <p:cNvPr id="23" name="Text 16"/>
          <p:cNvSpPr/>
          <p:nvPr/>
        </p:nvSpPr>
        <p:spPr>
          <a:xfrm>
            <a:off x="4215569" y="3314551"/>
            <a:ext cx="636365"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Grafana</a:t>
            </a:r>
            <a:endParaRPr lang="en-US" sz="1300" dirty="0"/>
          </a:p>
        </p:txBody>
      </p:sp>
      <p:sp>
        <p:nvSpPr>
          <p:cNvPr id="24" name="Text 17"/>
          <p:cNvSpPr/>
          <p:nvPr/>
        </p:nvSpPr>
        <p:spPr>
          <a:xfrm>
            <a:off x="3662848" y="3593902"/>
            <a:ext cx="1741807"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SQLite inside · 0–1 replicas</a:t>
            </a:r>
            <a:endParaRPr lang="en-US" sz="1100" dirty="0"/>
          </a:p>
        </p:txBody>
      </p:sp>
      <p:sp>
        <p:nvSpPr>
          <p:cNvPr id="25" name="Text 18"/>
          <p:cNvSpPr/>
          <p:nvPr/>
        </p:nvSpPr>
        <p:spPr>
          <a:xfrm>
            <a:off x="6017916" y="2957364"/>
            <a:ext cx="237726" cy="142875"/>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logs</a:t>
            </a:r>
            <a:endParaRPr lang="en-US" sz="1000" dirty="0"/>
          </a:p>
        </p:txBody>
      </p:sp>
      <p:sp>
        <p:nvSpPr>
          <p:cNvPr id="26" name="Text 19"/>
          <p:cNvSpPr/>
          <p:nvPr/>
        </p:nvSpPr>
        <p:spPr>
          <a:xfrm>
            <a:off x="6020193" y="3100239"/>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7" name="Text 20"/>
          <p:cNvSpPr/>
          <p:nvPr/>
        </p:nvSpPr>
        <p:spPr>
          <a:xfrm>
            <a:off x="6441579" y="2511326"/>
            <a:ext cx="1777901" cy="1288852"/>
          </a:xfrm>
          <a:prstGeom prst="roundRect">
            <a:avLst>
              <a:gd name="adj" fmla="val 7883"/>
            </a:avLst>
          </a:prstGeom>
          <a:solidFill>
            <a:srgbClr val="FFFFFF"/>
          </a:solidFill>
          <a:ln w="9525">
            <a:solidFill>
              <a:srgbClr val="8CE7A5"/>
            </a:solidFill>
          </a:ln>
        </p:spPr>
        <p:txBody>
          <a:bodyPr wrap="square" rtlCol="0" anchor="ctr"/>
          <a:lstStyle/>
          <a:p>
            <a:pPr indent="0" marL="0">
              <a:buNone/>
            </a:pPr>
            <a:endParaRPr lang="en-US" dirty="0"/>
          </a:p>
        </p:txBody>
      </p:sp>
      <p:sp>
        <p:nvSpPr>
          <p:cNvPr id="28" name="Text 21"/>
          <p:cNvSpPr/>
          <p:nvPr/>
        </p:nvSpPr>
        <p:spPr>
          <a:xfrm>
            <a:off x="7101929" y="2660452"/>
            <a:ext cx="457200" cy="457200"/>
          </a:xfrm>
          <a:prstGeom prst="roundRect">
            <a:avLst>
              <a:gd name="adj" fmla="val 16667"/>
            </a:avLst>
          </a:prstGeom>
          <a:solidFill>
            <a:srgbClr val="DAFBE1"/>
          </a:solidFill>
          <a:ln/>
        </p:spPr>
        <p:txBody>
          <a:bodyPr wrap="square" rtlCol="0" anchor="ctr"/>
          <a:lstStyle/>
          <a:p>
            <a:pPr indent="0" marL="0">
              <a:buNone/>
            </a:pPr>
            <a:endParaRPr lang="en-US" dirty="0"/>
          </a:p>
        </p:txBody>
      </p:sp>
      <p:pic>
        <p:nvPicPr>
          <p:cNvPr id="29" name="Image 5" descr="/Users/danwahlin/.copilot/session-state/a2da67da-2d7a-45f2-aa6a-2a42a7b82a72/files/build/icons/GoLog-1A7F37.png">    </p:cNvPr>
          <p:cNvPicPr>
            <a:picLocks noChangeAspect="1"/>
          </p:cNvPicPr>
          <p:nvPr/>
        </p:nvPicPr>
        <p:blipFill>
          <a:blip r:embed="rId6"/>
          <a:stretch>
            <a:fillRect/>
          </a:stretch>
        </p:blipFill>
        <p:spPr>
          <a:xfrm>
            <a:off x="7203579" y="2762101"/>
            <a:ext cx="253901" cy="253901"/>
          </a:xfrm>
          <a:prstGeom prst="rect">
            <a:avLst/>
          </a:prstGeom>
        </p:spPr>
      </p:pic>
      <p:sp>
        <p:nvSpPr>
          <p:cNvPr id="30" name="Text 22"/>
          <p:cNvSpPr/>
          <p:nvPr/>
        </p:nvSpPr>
        <p:spPr>
          <a:xfrm>
            <a:off x="6781605" y="3193852"/>
            <a:ext cx="1097700"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Log Analytics</a:t>
            </a:r>
            <a:endParaRPr lang="en-US" sz="1300" dirty="0"/>
          </a:p>
        </p:txBody>
      </p:sp>
      <p:sp>
        <p:nvSpPr>
          <p:cNvPr id="31" name="Text 23"/>
          <p:cNvSpPr/>
          <p:nvPr/>
        </p:nvSpPr>
        <p:spPr>
          <a:xfrm>
            <a:off x="6788133" y="3473202"/>
            <a:ext cx="1084644"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Logs and metrics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1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Plan and preview</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Describe what you want, see the cost, and preview the deployment before anything is created.</a:t>
            </a:r>
            <a:endParaRPr lang="en-US" sz="1600" dirty="0"/>
          </a:p>
        </p:txBody>
      </p:sp>
      <p:sp>
        <p:nvSpPr>
          <p:cNvPr id="10" name="Text 7"/>
          <p:cNvSpPr/>
          <p:nvPr/>
        </p:nvSpPr>
        <p:spPr>
          <a:xfrm>
            <a:off x="5486400" y="914400"/>
            <a:ext cx="2793950" cy="2793950"/>
          </a:xfrm>
          <a:prstGeom prst="roundRect">
            <a:avLst>
              <a:gd name="adj" fmla="val 32728"/>
            </a:avLst>
          </a:prstGeom>
          <a:solidFill>
            <a:srgbClr val="DDF4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Checklist-0969DA.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564184" cy="361652"/>
          </a:xfrm>
          <a:prstGeom prst="roundRect">
            <a:avLst>
              <a:gd name="adj" fmla="val 52675"/>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0969DA"/>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058079"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Plan and preview</a:t>
            </a:r>
            <a:endParaRPr lang="en-US" sz="1000" dirty="0"/>
          </a:p>
        </p:txBody>
      </p:sp>
      <p:sp>
        <p:nvSpPr>
          <p:cNvPr id="16" name="Text 12"/>
          <p:cNvSpPr/>
          <p:nvPr/>
        </p:nvSpPr>
        <p:spPr>
          <a:xfrm>
            <a:off x="2224385" y="4368701"/>
            <a:ext cx="1585317"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310110"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385524"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02111" y="4478089"/>
            <a:ext cx="1079635"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and verify</a:t>
            </a:r>
            <a:endParaRPr lang="en-US" sz="1000" dirty="0"/>
          </a:p>
        </p:txBody>
      </p:sp>
      <p:sp>
        <p:nvSpPr>
          <p:cNvPr id="20" name="Text 16"/>
          <p:cNvSpPr/>
          <p:nvPr/>
        </p:nvSpPr>
        <p:spPr>
          <a:xfrm>
            <a:off x="3911203" y="4368701"/>
            <a:ext cx="1606600"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996928"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4072342"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288929" y="4478089"/>
            <a:ext cx="1101343"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Operate and learn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GET STARTED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Load the Azure skills and the deploy agent</a:t>
            </a:r>
            <a:endParaRPr lang="en-US" sz="2800" dirty="0"/>
          </a:p>
        </p:txBody>
      </p:sp>
      <p:sp>
        <p:nvSpPr>
          <p:cNvPr id="7" name="Text 4"/>
          <p:cNvSpPr/>
          <p:nvPr/>
        </p:nvSpPr>
        <p:spPr>
          <a:xfrm>
            <a:off x="1269802" y="1835200"/>
            <a:ext cx="6603950"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269802" y="1835200"/>
            <a:ext cx="6603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396752" y="191765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549003" y="191765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701254" y="191765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955006" y="1890713"/>
            <a:ext cx="544068"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copilot</a:t>
            </a:r>
            <a:endParaRPr lang="en-US" sz="1000" dirty="0"/>
          </a:p>
        </p:txBody>
      </p:sp>
      <p:sp>
        <p:nvSpPr>
          <p:cNvPr id="13" name="Text 10"/>
          <p:cNvSpPr/>
          <p:nvPr/>
        </p:nvSpPr>
        <p:spPr>
          <a:xfrm>
            <a:off x="1498402" y="226680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marketplace add microsoft/azure-skills</a:t>
            </a:r>
            <a:endParaRPr lang="en-US" sz="1400" dirty="0"/>
          </a:p>
        </p:txBody>
      </p:sp>
      <p:sp>
        <p:nvSpPr>
          <p:cNvPr id="14" name="Text 11"/>
          <p:cNvSpPr/>
          <p:nvPr/>
        </p:nvSpPr>
        <p:spPr>
          <a:xfrm>
            <a:off x="1498402" y="254243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install azure@azure-skills</a:t>
            </a:r>
            <a:endParaRPr lang="en-US" sz="1400" dirty="0"/>
          </a:p>
        </p:txBody>
      </p:sp>
      <p:sp>
        <p:nvSpPr>
          <p:cNvPr id="15" name="Text 12"/>
          <p:cNvSpPr/>
          <p:nvPr/>
        </p:nvSpPr>
        <p:spPr>
          <a:xfrm>
            <a:off x="1498402" y="296019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/agent</a:t>
            </a:r>
            <a:endParaRPr lang="en-US" sz="1400" dirty="0"/>
          </a:p>
        </p:txBody>
      </p:sp>
      <p:sp>
        <p:nvSpPr>
          <p:cNvPr id="16" name="Text 13"/>
          <p:cNvSpPr/>
          <p:nvPr/>
        </p:nvSpPr>
        <p:spPr>
          <a:xfrm>
            <a:off x="1498402" y="3235821"/>
            <a:ext cx="6269685"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choose oss-to-azure-deployer</a:t>
            </a:r>
            <a:endParaRPr lang="en-US" sz="1400" dirty="0"/>
          </a:p>
        </p:txBody>
      </p:sp>
      <p:pic>
        <p:nvPicPr>
          <p:cNvPr id="17" name="Image 1" descr="/Users/danwahlin/.copilot/session-state/a2da67da-2d7a-45f2-aa6a-2a42a7b82a72/files/build/icons/GoCopilot-8250DF.png">    </p:cNvPr>
          <p:cNvPicPr>
            <a:picLocks noChangeAspect="1"/>
          </p:cNvPicPr>
          <p:nvPr/>
        </p:nvPicPr>
        <p:blipFill>
          <a:blip r:embed="rId2"/>
          <a:stretch>
            <a:fillRect/>
          </a:stretch>
        </p:blipFill>
        <p:spPr>
          <a:xfrm>
            <a:off x="1269802" y="4006602"/>
            <a:ext cx="215801" cy="215801"/>
          </a:xfrm>
          <a:prstGeom prst="rect">
            <a:avLst/>
          </a:prstGeom>
        </p:spPr>
      </p:pic>
      <p:sp>
        <p:nvSpPr>
          <p:cNvPr id="18" name="Text 14"/>
          <p:cNvSpPr/>
          <p:nvPr/>
        </p:nvSpPr>
        <p:spPr>
          <a:xfrm>
            <a:off x="1587103" y="3993952"/>
            <a:ext cx="5612827" cy="241250"/>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The agent brings the workflow. Skills bring the app-specific know-how.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PLAN AND COST FIRST</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Describe it. Ask what it costs.</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Plan a Grafana deployment to Azure Container Apps with Bicep and azd: SQLite in the container's local storage … /api/health for probes, and the westus region.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List each Azure resource, its SKU, and the estimated monthly cost</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if left running.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Don't create files or Azure resources yet.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QUESTION THE PLAN</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Ask the design question out loud</a:t>
            </a:r>
            <a:endParaRPr lang="en-US" sz="2800" dirty="0"/>
          </a:p>
        </p:txBody>
      </p:sp>
      <p:sp>
        <p:nvSpPr>
          <p:cNvPr id="7" name="Text 4"/>
          <p:cNvSpPr/>
          <p:nvPr/>
        </p:nvSpPr>
        <p:spPr>
          <a:xfrm>
            <a:off x="634901" y="1970782"/>
            <a:ext cx="7873901" cy="1697236"/>
          </a:xfrm>
          <a:prstGeom prst="roundRect">
            <a:avLst>
              <a:gd name="adj" fmla="val 5986"/>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75545"/>
            <a:ext cx="7873901" cy="0"/>
          </a:xfrm>
          <a:prstGeom prst="line">
            <a:avLst/>
          </a:prstGeom>
          <a:noFill/>
          <a:ln w="9525">
            <a:solidFill>
              <a:srgbClr val="E0C5FF"/>
            </a:solidFill>
            <a:prstDash val="solid"/>
          </a:ln>
        </p:spPr>
      </p:sp>
      <p:sp>
        <p:nvSpPr>
          <p:cNvPr id="9" name="Shape 6"/>
          <p:cNvSpPr/>
          <p:nvPr/>
        </p:nvSpPr>
        <p:spPr>
          <a:xfrm>
            <a:off x="8504039" y="1970782"/>
            <a:ext cx="0" cy="1697236"/>
          </a:xfrm>
          <a:prstGeom prst="line">
            <a:avLst/>
          </a:prstGeom>
          <a:noFill/>
          <a:ln w="9525">
            <a:solidFill>
              <a:srgbClr val="E0C5FF"/>
            </a:solidFill>
            <a:prstDash val="solid"/>
          </a:ln>
        </p:spPr>
      </p:sp>
      <p:sp>
        <p:nvSpPr>
          <p:cNvPr id="10" name="Shape 7"/>
          <p:cNvSpPr/>
          <p:nvPr/>
        </p:nvSpPr>
        <p:spPr>
          <a:xfrm>
            <a:off x="634901" y="3663255"/>
            <a:ext cx="7873901" cy="0"/>
          </a:xfrm>
          <a:prstGeom prst="line">
            <a:avLst/>
          </a:prstGeom>
          <a:noFill/>
          <a:ln w="9525">
            <a:solidFill>
              <a:srgbClr val="E0C5FF"/>
            </a:solidFill>
            <a:prstDash val="solid"/>
          </a:ln>
        </p:spPr>
      </p:sp>
      <p:sp>
        <p:nvSpPr>
          <p:cNvPr id="11" name="Shape 8"/>
          <p:cNvSpPr/>
          <p:nvPr/>
        </p:nvSpPr>
        <p:spPr>
          <a:xfrm>
            <a:off x="663476" y="1970782"/>
            <a:ext cx="0" cy="169723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208907"/>
            <a:ext cx="190500" cy="190500"/>
          </a:xfrm>
          <a:prstGeom prst="rect">
            <a:avLst/>
          </a:prstGeom>
        </p:spPr>
      </p:pic>
      <p:sp>
        <p:nvSpPr>
          <p:cNvPr id="13" name="Text 9"/>
          <p:cNvSpPr/>
          <p:nvPr/>
        </p:nvSpPr>
        <p:spPr>
          <a:xfrm>
            <a:off x="1238101" y="2227957"/>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539008"/>
            <a:ext cx="7393496" cy="865584"/>
          </a:xfrm>
          <a:prstGeom prst="rect">
            <a:avLst/>
          </a:prstGeom>
          <a:noFill/>
          <a:ln/>
        </p:spPr>
        <p:txBody>
          <a:bodyPr wrap="square" lIns="0" tIns="0" rIns="0" bIns="0" rtlCol="0" anchor="t"/>
          <a:lstStyle/>
          <a:p>
            <a:pPr algn="l" indent="0" marL="0">
              <a:lnSpc>
                <a:spcPts val="3408"/>
              </a:lnSpc>
              <a:buNone/>
            </a:pPr>
            <a:r>
              <a:rPr lang="en-US" sz="2400" dirty="0">
                <a:solidFill>
                  <a:srgbClr val="1F2328"/>
                </a:solidFill>
                <a:latin typeface="Arial" pitchFamily="34" charset="0"/>
                <a:ea typeface="Arial" pitchFamily="34" charset="-122"/>
                <a:cs typeface="Arial" pitchFamily="34" charset="-120"/>
              </a:rPr>
              <a:t>Should I use PostgreSQL instead of SQLite for Grafana?</a:t>
            </a:r>
            <a:endParaRPr lang="en-US" sz="2400" dirty="0"/>
          </a:p>
        </p:txBody>
      </p:sp>
      <p:pic>
        <p:nvPicPr>
          <p:cNvPr id="15" name="Image 2" descr="/Users/danwahlin/.copilot/session-state/a2da67da-2d7a-45f2-aa6a-2a42a7b82a72/files/build/icons/GoLightBulb-0969DA.png">    </p:cNvPr>
          <p:cNvPicPr>
            <a:picLocks noChangeAspect="1"/>
          </p:cNvPicPr>
          <p:nvPr/>
        </p:nvPicPr>
        <p:blipFill>
          <a:blip r:embed="rId3"/>
          <a:stretch>
            <a:fillRect/>
          </a:stretch>
        </p:blipFill>
        <p:spPr>
          <a:xfrm>
            <a:off x="634901" y="3928318"/>
            <a:ext cx="215801" cy="215801"/>
          </a:xfrm>
          <a:prstGeom prst="rect">
            <a:avLst/>
          </a:prstGeom>
        </p:spPr>
      </p:pic>
      <p:sp>
        <p:nvSpPr>
          <p:cNvPr id="16" name="Text 11"/>
          <p:cNvSpPr/>
          <p:nvPr/>
        </p:nvSpPr>
        <p:spPr>
          <a:xfrm>
            <a:off x="952202" y="3921919"/>
            <a:ext cx="4219563"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Agents are good at tradeoffs. Ask before you decide.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THE TRADEOFF</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SQLite or PostgreSQL?</a:t>
            </a:r>
            <a:endParaRPr lang="en-US" sz="2800" dirty="0"/>
          </a:p>
        </p:txBody>
      </p:sp>
      <p:pic>
        <p:nvPicPr>
          <p:cNvPr id="7" name="Image 1" descr="/Users/danwahlin/.copilot/session-state/a2da67da-2d7a-45f2-aa6a-2a42a7b82a72/files/build/img/grafana-sqlite-vs-postgresql.png">    </p:cNvPr>
          <p:cNvPicPr>
            <a:picLocks noChangeAspect="1"/>
          </p:cNvPicPr>
          <p:nvPr/>
        </p:nvPicPr>
        <p:blipFill>
          <a:blip r:embed="rId2"/>
          <a:stretch>
            <a:fillRect/>
          </a:stretch>
        </p:blipFill>
        <p:spPr>
          <a:xfrm>
            <a:off x="1837581" y="1308050"/>
            <a:ext cx="5468541" cy="34543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GENERATE AND PREVIEW</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Generate, then preview. Don't deploy yet.</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Generate the infrastructure for that plan: Bicep in infra-grafana/ and azure.yaml. Generate a secure admin password and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store it only in the azd environment</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 Then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run azd provision --preview</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and summarize what it will create.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Don't run azd up.</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 not print secrets.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2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Deploy and verify</a:t>
            </a:r>
            <a:endParaRPr lang="en-US" sz="3200" dirty="0"/>
          </a:p>
        </p:txBody>
      </p:sp>
      <p:sp>
        <p:nvSpPr>
          <p:cNvPr id="9" name="Text 6"/>
          <p:cNvSpPr/>
          <p:nvPr/>
        </p:nvSpPr>
        <p:spPr>
          <a:xfrm>
            <a:off x="558701" y="2666702"/>
            <a:ext cx="3886200" cy="5334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One command to deploy. A checked-in verifier to prove it.</a:t>
            </a:r>
            <a:endParaRPr lang="en-US" sz="1600" dirty="0"/>
          </a:p>
        </p:txBody>
      </p:sp>
      <p:sp>
        <p:nvSpPr>
          <p:cNvPr id="10" name="Text 7"/>
          <p:cNvSpPr/>
          <p:nvPr/>
        </p:nvSpPr>
        <p:spPr>
          <a:xfrm>
            <a:off x="5486400" y="914400"/>
            <a:ext cx="2793950" cy="2793950"/>
          </a:xfrm>
          <a:prstGeom prst="roundRect">
            <a:avLst>
              <a:gd name="adj" fmla="val 32728"/>
            </a:avLst>
          </a:prstGeom>
          <a:solidFill>
            <a:srgbClr val="FBEF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Rocket-8250DF.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564184"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058079"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and preview</a:t>
            </a:r>
            <a:endParaRPr lang="en-US" sz="1000" dirty="0"/>
          </a:p>
        </p:txBody>
      </p:sp>
      <p:sp>
        <p:nvSpPr>
          <p:cNvPr id="16" name="Text 12"/>
          <p:cNvSpPr/>
          <p:nvPr/>
        </p:nvSpPr>
        <p:spPr>
          <a:xfrm>
            <a:off x="2224385" y="4368701"/>
            <a:ext cx="1585317" cy="361652"/>
          </a:xfrm>
          <a:prstGeom prst="roundRect">
            <a:avLst>
              <a:gd name="adj" fmla="val 52675"/>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2310110"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8" name="Text 14"/>
          <p:cNvSpPr/>
          <p:nvPr/>
        </p:nvSpPr>
        <p:spPr>
          <a:xfrm>
            <a:off x="2385524" y="4482852"/>
            <a:ext cx="64972" cy="133350"/>
          </a:xfrm>
          <a:prstGeom prst="rect">
            <a:avLst/>
          </a:prstGeom>
          <a:noFill/>
          <a:ln/>
        </p:spPr>
        <p:txBody>
          <a:bodyPr wrap="square" lIns="0" tIns="0" rIns="0" bIns="0" rtlCol="0" anchor="t"/>
          <a:lstStyle/>
          <a:p>
            <a:pPr algn="ctr" indent="0" marL="0">
              <a:buNone/>
            </a:pPr>
            <a:r>
              <a:rPr lang="en-US" sz="900" b="1" dirty="0">
                <a:solidFill>
                  <a:srgbClr val="8250DF"/>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02111" y="4478089"/>
            <a:ext cx="1079635"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Deploy and verify</a:t>
            </a:r>
            <a:endParaRPr lang="en-US" sz="1000" dirty="0"/>
          </a:p>
        </p:txBody>
      </p:sp>
      <p:sp>
        <p:nvSpPr>
          <p:cNvPr id="20" name="Text 16"/>
          <p:cNvSpPr/>
          <p:nvPr/>
        </p:nvSpPr>
        <p:spPr>
          <a:xfrm>
            <a:off x="3911203" y="4368701"/>
            <a:ext cx="1606600"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3996928"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4072342"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288929" y="4478089"/>
            <a:ext cx="1101343"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Operate and learn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SHIP AND VERIFY</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Deploy, then prove it</a:t>
            </a:r>
            <a:endParaRPr lang="en-US" sz="2800" dirty="0"/>
          </a:p>
        </p:txBody>
      </p:sp>
      <p:sp>
        <p:nvSpPr>
          <p:cNvPr id="7" name="Text 4"/>
          <p:cNvSpPr/>
          <p:nvPr/>
        </p:nvSpPr>
        <p:spPr>
          <a:xfrm>
            <a:off x="1015901" y="1714649"/>
            <a:ext cx="7111901"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714649"/>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9710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9710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9710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70162"/>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244501" y="2146250"/>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azd up</a:t>
            </a:r>
            <a:endParaRPr lang="en-US" sz="1400" dirty="0"/>
          </a:p>
        </p:txBody>
      </p:sp>
      <p:sp>
        <p:nvSpPr>
          <p:cNvPr id="14" name="Text 11"/>
          <p:cNvSpPr/>
          <p:nvPr/>
        </p:nvSpPr>
        <p:spPr>
          <a:xfrm>
            <a:off x="1244501" y="2564011"/>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node .github/scripts/verify-grafana.mjs</a:t>
            </a:r>
            <a:endParaRPr lang="en-US" sz="1400" dirty="0"/>
          </a:p>
        </p:txBody>
      </p:sp>
      <p:sp>
        <p:nvSpPr>
          <p:cNvPr id="15" name="Text 12"/>
          <p:cNvSpPr/>
          <p:nvPr/>
        </p:nvSpPr>
        <p:spPr>
          <a:xfrm>
            <a:off x="1244501" y="2839641"/>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PASS: &lt;grafana-url&gt;/api/health returned</a:t>
            </a:r>
            <a:endParaRPr lang="en-US" sz="1400" dirty="0"/>
          </a:p>
        </p:txBody>
      </p:sp>
      <p:sp>
        <p:nvSpPr>
          <p:cNvPr id="16" name="Text 13"/>
          <p:cNvSpPr/>
          <p:nvPr/>
        </p:nvSpPr>
        <p:spPr>
          <a:xfrm>
            <a:off x="1244501" y="3115270"/>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 HTTP 200 and database=ok</a:t>
            </a:r>
            <a:endParaRPr lang="en-US" sz="1400" dirty="0"/>
          </a:p>
        </p:txBody>
      </p:sp>
      <p:pic>
        <p:nvPicPr>
          <p:cNvPr id="17" name="Image 1" descr="/Users/danwahlin/.copilot/session-state/a2da67da-2d7a-45f2-aa6a-2a42a7b82a72/files/build/icons/GoKey-0969DA.png">    </p:cNvPr>
          <p:cNvPicPr>
            <a:picLocks noChangeAspect="1"/>
          </p:cNvPicPr>
          <p:nvPr/>
        </p:nvPicPr>
        <p:blipFill>
          <a:blip r:embed="rId2"/>
          <a:stretch>
            <a:fillRect/>
          </a:stretch>
        </p:blipFill>
        <p:spPr>
          <a:xfrm>
            <a:off x="1015901" y="4006751"/>
            <a:ext cx="215801" cy="215801"/>
          </a:xfrm>
          <a:prstGeom prst="rect">
            <a:avLst/>
          </a:prstGeom>
        </p:spPr>
      </p:pic>
      <p:sp>
        <p:nvSpPr>
          <p:cNvPr id="18" name="Text 14"/>
          <p:cNvSpPr/>
          <p:nvPr/>
        </p:nvSpPr>
        <p:spPr>
          <a:xfrm>
            <a:off x="1333202" y="3873401"/>
            <a:ext cx="6930491" cy="482501"/>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Then sign in as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admin</a:t>
            </a:r>
            <a:pPr algn="l" indent="0" marL="0">
              <a:lnSpc>
                <a:spcPts val="1900"/>
              </a:lnSpc>
              <a:buNone/>
            </a:pPr>
            <a:r>
              <a:rPr lang="en-US" sz="1400" dirty="0">
                <a:solidFill>
                  <a:srgbClr val="1F2328"/>
                </a:solidFill>
                <a:latin typeface="Arial" pitchFamily="34" charset="0"/>
                <a:ea typeface="Arial" pitchFamily="34" charset="-122"/>
                <a:cs typeface="Arial" pitchFamily="34" charset="-120"/>
              </a:rPr>
              <a:t> with the password from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azd env get-value GRAFANA_ADMIN_PASSWORD</a:t>
            </a:r>
            <a:pPr algn="l" indent="0" marL="0">
              <a:lnSpc>
                <a:spcPts val="1900"/>
              </a:lnSpc>
              <a:buNone/>
            </a:pPr>
            <a:r>
              <a:rPr lang="en-US" sz="1400" dirty="0">
                <a:solidFill>
                  <a:srgbClr val="1F2328"/>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EXPECT THIS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slow first request or a 502 is normal</a:t>
            </a:r>
            <a:endParaRPr lang="en-US" sz="2800" dirty="0"/>
          </a:p>
        </p:txBody>
      </p:sp>
      <p:sp>
        <p:nvSpPr>
          <p:cNvPr id="7" name="Text 4"/>
          <p:cNvSpPr/>
          <p:nvPr/>
        </p:nvSpPr>
        <p:spPr>
          <a:xfrm>
            <a:off x="482501" y="1028551"/>
            <a:ext cx="8342275" cy="254050"/>
          </a:xfrm>
          <a:prstGeom prst="rect">
            <a:avLst/>
          </a:prstGeom>
          <a:noFill/>
          <a:ln/>
        </p:spPr>
        <p:txBody>
          <a:bodyPr wrap="square" lIns="0" tIns="0" rIns="0" bIns="0" rtlCol="0" anchor="t"/>
          <a:lstStyle/>
          <a:p>
            <a:pPr algn="l" indent="0" marL="0">
              <a:lnSpc>
                <a:spcPts val="2000"/>
              </a:lnSpc>
              <a:spcBef>
                <a:spcPts val="600"/>
              </a:spcBef>
              <a:buNone/>
            </a:pPr>
            <a:r>
              <a:rPr lang="en-US" sz="1600" dirty="0">
                <a:solidFill>
                  <a:srgbClr val="59636E"/>
                </a:solidFill>
                <a:latin typeface="Arial" pitchFamily="34" charset="0"/>
                <a:ea typeface="Arial" pitchFamily="34" charset="-122"/>
                <a:cs typeface="Arial" pitchFamily="34" charset="-120"/>
              </a:rPr>
              <a:t>With minReplicas set to 0, the first request wakes the app. Give it 30–60 seconds.</a:t>
            </a:r>
            <a:endParaRPr lang="en-US" sz="1600" dirty="0"/>
          </a:p>
        </p:txBody>
      </p:sp>
      <p:pic>
        <p:nvPicPr>
          <p:cNvPr id="8" name="Image 1" descr="/Users/danwahlin/.copilot/session-state/a2da67da-2d7a-45f2-aa6a-2a42a7b82a72/files/build/img/gen-cold-start.png">    </p:cNvPr>
          <p:cNvPicPr>
            <a:picLocks noChangeAspect="1"/>
          </p:cNvPicPr>
          <p:nvPr/>
        </p:nvPicPr>
        <p:blipFill>
          <a:blip r:embed="rId2"/>
          <a:stretch>
            <a:fillRect/>
          </a:stretch>
        </p:blipFill>
        <p:spPr>
          <a:xfrm>
            <a:off x="1150441" y="1498550"/>
            <a:ext cx="6842671" cy="3352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3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Operate and learn</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Use the agent to operate the app through its API, then restart it and watch what happens.</a:t>
            </a:r>
            <a:endParaRPr lang="en-US" sz="1600" dirty="0"/>
          </a:p>
        </p:txBody>
      </p:sp>
      <p:sp>
        <p:nvSpPr>
          <p:cNvPr id="10" name="Text 7"/>
          <p:cNvSpPr/>
          <p:nvPr/>
        </p:nvSpPr>
        <p:spPr>
          <a:xfrm>
            <a:off x="5486400" y="914400"/>
            <a:ext cx="2793950" cy="2793950"/>
          </a:xfrm>
          <a:prstGeom prst="roundRect">
            <a:avLst>
              <a:gd name="adj" fmla="val 32728"/>
            </a:avLst>
          </a:prstGeom>
          <a:solidFill>
            <a:srgbClr val="DAFBE1"/>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Graph-1A7F37.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564184"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058079"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and preview</a:t>
            </a:r>
            <a:endParaRPr lang="en-US" sz="1000" dirty="0"/>
          </a:p>
        </p:txBody>
      </p:sp>
      <p:sp>
        <p:nvSpPr>
          <p:cNvPr id="16" name="Text 12"/>
          <p:cNvSpPr/>
          <p:nvPr/>
        </p:nvSpPr>
        <p:spPr>
          <a:xfrm>
            <a:off x="2224385" y="4368701"/>
            <a:ext cx="1585317"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310110"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385524"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02111" y="4478089"/>
            <a:ext cx="1079635"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and verify</a:t>
            </a:r>
            <a:endParaRPr lang="en-US" sz="1000" dirty="0"/>
          </a:p>
        </p:txBody>
      </p:sp>
      <p:sp>
        <p:nvSpPr>
          <p:cNvPr id="20" name="Text 16"/>
          <p:cNvSpPr/>
          <p:nvPr/>
        </p:nvSpPr>
        <p:spPr>
          <a:xfrm>
            <a:off x="3911203" y="4368701"/>
            <a:ext cx="1606600" cy="361652"/>
          </a:xfrm>
          <a:prstGeom prst="roundRect">
            <a:avLst>
              <a:gd name="adj" fmla="val 52675"/>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3996928"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22" name="Text 18"/>
          <p:cNvSpPr/>
          <p:nvPr/>
        </p:nvSpPr>
        <p:spPr>
          <a:xfrm>
            <a:off x="4072342" y="4482852"/>
            <a:ext cx="64972" cy="133350"/>
          </a:xfrm>
          <a:prstGeom prst="rect">
            <a:avLst/>
          </a:prstGeom>
          <a:noFill/>
          <a:ln/>
        </p:spPr>
        <p:txBody>
          <a:bodyPr wrap="square" lIns="0" tIns="0" rIns="0" bIns="0" rtlCol="0" anchor="t"/>
          <a:lstStyle/>
          <a:p>
            <a:pPr algn="ctr" indent="0" marL="0">
              <a:buNone/>
            </a:pPr>
            <a:r>
              <a:rPr lang="en-US" sz="900" b="1" dirty="0">
                <a:solidFill>
                  <a:srgbClr val="1A7F37"/>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288929" y="4478089"/>
            <a:ext cx="1101343"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Operate and learn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OPERATE THROUGH THE API</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Let the agent build the dashboard</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Create scripts/create-grafana-dashboard.mjs. … It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never prints the password</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Through the Grafana HTTP API, it creates the built-in TestData data source if it doesn't exist, then creates a dashboard named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"Hello from Azure"</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 and prints the dashboard URL. Then run the script.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BREAK IT ON PURPOSE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Restart it and watch the dashboard vanish</a:t>
            </a:r>
            <a:endParaRPr lang="en-US" sz="2800" dirty="0"/>
          </a:p>
        </p:txBody>
      </p:sp>
      <p:sp>
        <p:nvSpPr>
          <p:cNvPr id="7" name="Text 4"/>
          <p:cNvSpPr/>
          <p:nvPr/>
        </p:nvSpPr>
        <p:spPr>
          <a:xfrm>
            <a:off x="901601" y="1741438"/>
            <a:ext cx="584150" cy="584150"/>
          </a:xfrm>
          <a:prstGeom prst="roundRect">
            <a:avLst>
              <a:gd name="adj" fmla="val 13045"/>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Graph-0969DA.png">    </p:cNvPr>
          <p:cNvPicPr>
            <a:picLocks noChangeAspect="1"/>
          </p:cNvPicPr>
          <p:nvPr/>
        </p:nvPicPr>
        <p:blipFill>
          <a:blip r:embed="rId2"/>
          <a:stretch>
            <a:fillRect/>
          </a:stretch>
        </p:blipFill>
        <p:spPr>
          <a:xfrm>
            <a:off x="1028551" y="1868388"/>
            <a:ext cx="330101" cy="330101"/>
          </a:xfrm>
          <a:prstGeom prst="rect">
            <a:avLst/>
          </a:prstGeom>
        </p:spPr>
      </p:pic>
      <p:sp>
        <p:nvSpPr>
          <p:cNvPr id="9" name="Text 5"/>
          <p:cNvSpPr/>
          <p:nvPr/>
        </p:nvSpPr>
        <p:spPr>
          <a:xfrm>
            <a:off x="891205" y="2427089"/>
            <a:ext cx="604942"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Create</a:t>
            </a:r>
            <a:endParaRPr lang="en-US" sz="1500" dirty="0"/>
          </a:p>
        </p:txBody>
      </p:sp>
      <p:sp>
        <p:nvSpPr>
          <p:cNvPr id="10" name="Text 6"/>
          <p:cNvSpPr/>
          <p:nvPr/>
        </p:nvSpPr>
        <p:spPr>
          <a:xfrm>
            <a:off x="474803" y="2766715"/>
            <a:ext cx="1437894"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"Hello from Azure" dashboard</a:t>
            </a:r>
            <a:endParaRPr lang="en-US" sz="1250" dirty="0"/>
          </a:p>
        </p:txBody>
      </p:sp>
      <p:sp>
        <p:nvSpPr>
          <p:cNvPr id="11" name="Text 7"/>
          <p:cNvSpPr/>
          <p:nvPr/>
        </p:nvSpPr>
        <p:spPr>
          <a:xfrm>
            <a:off x="1921615" y="1900089"/>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2" name="Text 8"/>
          <p:cNvSpPr/>
          <p:nvPr/>
        </p:nvSpPr>
        <p:spPr>
          <a:xfrm>
            <a:off x="2590651" y="1741438"/>
            <a:ext cx="584150" cy="584150"/>
          </a:xfrm>
          <a:prstGeom prst="roundRect">
            <a:avLst>
              <a:gd name="adj" fmla="val 13045"/>
            </a:avLst>
          </a:prstGeom>
          <a:solidFill>
            <a:srgbClr val="FFF1E5"/>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Sync-BC4C00.png">    </p:cNvPr>
          <p:cNvPicPr>
            <a:picLocks noChangeAspect="1"/>
          </p:cNvPicPr>
          <p:nvPr/>
        </p:nvPicPr>
        <p:blipFill>
          <a:blip r:embed="rId3"/>
          <a:stretch>
            <a:fillRect/>
          </a:stretch>
        </p:blipFill>
        <p:spPr>
          <a:xfrm>
            <a:off x="2717602" y="1868388"/>
            <a:ext cx="330101" cy="330101"/>
          </a:xfrm>
          <a:prstGeom prst="rect">
            <a:avLst/>
          </a:prstGeom>
        </p:spPr>
      </p:pic>
      <p:sp>
        <p:nvSpPr>
          <p:cNvPr id="14" name="Text 9"/>
          <p:cNvSpPr/>
          <p:nvPr/>
        </p:nvSpPr>
        <p:spPr>
          <a:xfrm>
            <a:off x="2547921" y="2427089"/>
            <a:ext cx="669610"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Restart</a:t>
            </a:r>
            <a:endParaRPr lang="en-US" sz="1500" dirty="0"/>
          </a:p>
        </p:txBody>
      </p:sp>
      <p:sp>
        <p:nvSpPr>
          <p:cNvPr id="15" name="Text 10"/>
          <p:cNvSpPr/>
          <p:nvPr/>
        </p:nvSpPr>
        <p:spPr>
          <a:xfrm>
            <a:off x="2163854" y="2766715"/>
            <a:ext cx="1437894"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Restart my Grafana container app.</a:t>
            </a:r>
            <a:endParaRPr lang="en-US" sz="1250" dirty="0"/>
          </a:p>
        </p:txBody>
      </p:sp>
      <p:sp>
        <p:nvSpPr>
          <p:cNvPr id="16" name="Text 11"/>
          <p:cNvSpPr/>
          <p:nvPr/>
        </p:nvSpPr>
        <p:spPr>
          <a:xfrm>
            <a:off x="3610666" y="1900089"/>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7" name="Text 12"/>
          <p:cNvSpPr/>
          <p:nvPr/>
        </p:nvSpPr>
        <p:spPr>
          <a:xfrm>
            <a:off x="4279702" y="1741438"/>
            <a:ext cx="584150" cy="584150"/>
          </a:xfrm>
          <a:prstGeom prst="roundRect">
            <a:avLst>
              <a:gd name="adj" fmla="val 13045"/>
            </a:avLst>
          </a:prstGeom>
          <a:solidFill>
            <a:srgbClr val="FFEBE9"/>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XCircle-CF222E.png">    </p:cNvPr>
          <p:cNvPicPr>
            <a:picLocks noChangeAspect="1"/>
          </p:cNvPicPr>
          <p:nvPr/>
        </p:nvPicPr>
        <p:blipFill>
          <a:blip r:embed="rId4"/>
          <a:stretch>
            <a:fillRect/>
          </a:stretch>
        </p:blipFill>
        <p:spPr>
          <a:xfrm>
            <a:off x="4406652" y="1868388"/>
            <a:ext cx="330101" cy="330101"/>
          </a:xfrm>
          <a:prstGeom prst="rect">
            <a:avLst/>
          </a:prstGeom>
        </p:spPr>
      </p:pic>
      <p:sp>
        <p:nvSpPr>
          <p:cNvPr id="19" name="Text 13"/>
          <p:cNvSpPr/>
          <p:nvPr/>
        </p:nvSpPr>
        <p:spPr>
          <a:xfrm>
            <a:off x="4176248" y="2427089"/>
            <a:ext cx="791206"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It's gone</a:t>
            </a:r>
            <a:endParaRPr lang="en-US" sz="1500" dirty="0"/>
          </a:p>
        </p:txBody>
      </p:sp>
      <p:sp>
        <p:nvSpPr>
          <p:cNvPr id="20" name="Text 14"/>
          <p:cNvSpPr/>
          <p:nvPr/>
        </p:nvSpPr>
        <p:spPr>
          <a:xfrm>
            <a:off x="3852904" y="2766715"/>
            <a:ext cx="1437894"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SQLite lived in the container</a:t>
            </a:r>
            <a:endParaRPr lang="en-US" sz="1250" dirty="0"/>
          </a:p>
        </p:txBody>
      </p:sp>
      <p:sp>
        <p:nvSpPr>
          <p:cNvPr id="21" name="Text 15"/>
          <p:cNvSpPr/>
          <p:nvPr/>
        </p:nvSpPr>
        <p:spPr>
          <a:xfrm>
            <a:off x="5299716" y="1900089"/>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2" name="Text 16"/>
          <p:cNvSpPr/>
          <p:nvPr/>
        </p:nvSpPr>
        <p:spPr>
          <a:xfrm>
            <a:off x="5968752" y="1741438"/>
            <a:ext cx="584150" cy="584150"/>
          </a:xfrm>
          <a:prstGeom prst="roundRect">
            <a:avLst>
              <a:gd name="adj" fmla="val 13045"/>
            </a:avLst>
          </a:prstGeom>
          <a:solidFill>
            <a:srgbClr val="FBEFFF"/>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Question-8250DF.png">    </p:cNvPr>
          <p:cNvPicPr>
            <a:picLocks noChangeAspect="1"/>
          </p:cNvPicPr>
          <p:nvPr/>
        </p:nvPicPr>
        <p:blipFill>
          <a:blip r:embed="rId5"/>
          <a:stretch>
            <a:fillRect/>
          </a:stretch>
        </p:blipFill>
        <p:spPr>
          <a:xfrm>
            <a:off x="6095702" y="1868388"/>
            <a:ext cx="330101" cy="330101"/>
          </a:xfrm>
          <a:prstGeom prst="rect">
            <a:avLst/>
          </a:prstGeom>
        </p:spPr>
      </p:pic>
      <p:sp>
        <p:nvSpPr>
          <p:cNvPr id="24" name="Text 17"/>
          <p:cNvSpPr/>
          <p:nvPr/>
        </p:nvSpPr>
        <p:spPr>
          <a:xfrm>
            <a:off x="5866665" y="2427089"/>
            <a:ext cx="788474"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Ask why</a:t>
            </a:r>
            <a:endParaRPr lang="en-US" sz="1500" dirty="0"/>
          </a:p>
        </p:txBody>
      </p:sp>
      <p:sp>
        <p:nvSpPr>
          <p:cNvPr id="25" name="Text 18"/>
          <p:cNvSpPr/>
          <p:nvPr/>
        </p:nvSpPr>
        <p:spPr>
          <a:xfrm>
            <a:off x="5541955" y="2766715"/>
            <a:ext cx="1437894" cy="642938"/>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Why did my dashboard disappear?</a:t>
            </a:r>
            <a:endParaRPr lang="en-US" sz="1250" dirty="0"/>
          </a:p>
        </p:txBody>
      </p:sp>
      <p:sp>
        <p:nvSpPr>
          <p:cNvPr id="26" name="Text 19"/>
          <p:cNvSpPr/>
          <p:nvPr/>
        </p:nvSpPr>
        <p:spPr>
          <a:xfrm>
            <a:off x="6988766" y="1900089"/>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7" name="Text 20"/>
          <p:cNvSpPr/>
          <p:nvPr/>
        </p:nvSpPr>
        <p:spPr>
          <a:xfrm>
            <a:off x="7657802" y="1741438"/>
            <a:ext cx="584150" cy="584150"/>
          </a:xfrm>
          <a:prstGeom prst="roundRect">
            <a:avLst>
              <a:gd name="adj" fmla="val 13045"/>
            </a:avLst>
          </a:prstGeom>
          <a:solidFill>
            <a:srgbClr val="DAFBE1"/>
          </a:solidFill>
          <a:ln/>
        </p:spPr>
        <p:txBody>
          <a:bodyPr wrap="square" rtlCol="0" anchor="ctr"/>
          <a:lstStyle/>
          <a:p>
            <a:pPr indent="0" marL="0">
              <a:buNone/>
            </a:pPr>
            <a:endParaRPr lang="en-US" dirty="0"/>
          </a:p>
        </p:txBody>
      </p:sp>
      <p:pic>
        <p:nvPicPr>
          <p:cNvPr id="28" name="Image 5" descr="/Users/danwahlin/.copilot/session-state/a2da67da-2d7a-45f2-aa6a-2a42a7b82a72/files/build/icons/GoDatabase-1A7F37.png">    </p:cNvPr>
          <p:cNvPicPr>
            <a:picLocks noChangeAspect="1"/>
          </p:cNvPicPr>
          <p:nvPr/>
        </p:nvPicPr>
        <p:blipFill>
          <a:blip r:embed="rId6"/>
          <a:stretch>
            <a:fillRect/>
          </a:stretch>
        </p:blipFill>
        <p:spPr>
          <a:xfrm>
            <a:off x="7784753" y="1868388"/>
            <a:ext cx="330101" cy="330101"/>
          </a:xfrm>
          <a:prstGeom prst="rect">
            <a:avLst/>
          </a:prstGeom>
        </p:spPr>
      </p:pic>
      <p:sp>
        <p:nvSpPr>
          <p:cNvPr id="29" name="Text 21"/>
          <p:cNvSpPr/>
          <p:nvPr/>
        </p:nvSpPr>
        <p:spPr>
          <a:xfrm>
            <a:off x="7631314" y="2427089"/>
            <a:ext cx="637276"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Decide</a:t>
            </a:r>
            <a:endParaRPr lang="en-US" sz="1500" dirty="0"/>
          </a:p>
        </p:txBody>
      </p:sp>
      <p:sp>
        <p:nvSpPr>
          <p:cNvPr id="30" name="Text 22"/>
          <p:cNvSpPr/>
          <p:nvPr/>
        </p:nvSpPr>
        <p:spPr>
          <a:xfrm>
            <a:off x="7231005" y="2766715"/>
            <a:ext cx="1437894"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PostgreSQL or Azure Files</a:t>
            </a:r>
            <a:endParaRPr lang="en-US" sz="1250" dirty="0"/>
          </a:p>
        </p:txBody>
      </p:sp>
      <p:sp>
        <p:nvSpPr>
          <p:cNvPr id="31" name="Text 23"/>
          <p:cNvSpPr/>
          <p:nvPr/>
        </p:nvSpPr>
        <p:spPr>
          <a:xfrm>
            <a:off x="2348657" y="3866852"/>
            <a:ext cx="4446240" cy="462111"/>
          </a:xfrm>
          <a:prstGeom prst="roundRect">
            <a:avLst>
              <a:gd name="adj" fmla="val 16490"/>
            </a:avLst>
          </a:prstGeom>
          <a:solidFill>
            <a:srgbClr val="DAFBE1"/>
          </a:solidFill>
          <a:ln w="9525">
            <a:solidFill>
              <a:srgbClr val="8CE7A5"/>
            </a:solidFill>
          </a:ln>
        </p:spPr>
        <p:txBody>
          <a:bodyPr wrap="square" rtlCol="0" anchor="ctr"/>
          <a:lstStyle/>
          <a:p>
            <a:pPr indent="0" marL="0">
              <a:buNone/>
            </a:pPr>
            <a:endParaRPr lang="en-US" dirty="0"/>
          </a:p>
        </p:txBody>
      </p:sp>
      <p:pic>
        <p:nvPicPr>
          <p:cNvPr id="32" name="Image 6" descr="/Users/danwahlin/.copilot/session-state/a2da67da-2d7a-45f2-aa6a-2a42a7b82a72/files/build/icons/GoLightBulb-1A7F37.png">    </p:cNvPr>
          <p:cNvPicPr>
            <a:picLocks noChangeAspect="1"/>
          </p:cNvPicPr>
          <p:nvPr/>
        </p:nvPicPr>
        <p:blipFill>
          <a:blip r:embed="rId7"/>
          <a:stretch>
            <a:fillRect/>
          </a:stretch>
        </p:blipFill>
        <p:spPr>
          <a:xfrm>
            <a:off x="2510582" y="4008983"/>
            <a:ext cx="177701" cy="177701"/>
          </a:xfrm>
          <a:prstGeom prst="rect">
            <a:avLst/>
          </a:prstGeom>
        </p:spPr>
      </p:pic>
      <p:sp>
        <p:nvSpPr>
          <p:cNvPr id="33" name="Text 24"/>
          <p:cNvSpPr/>
          <p:nvPr/>
        </p:nvSpPr>
        <p:spPr>
          <a:xfrm>
            <a:off x="2789783" y="3977878"/>
            <a:ext cx="3920052" cy="240060"/>
          </a:xfrm>
          <a:prstGeom prst="rect">
            <a:avLst/>
          </a:prstGeom>
          <a:noFill/>
          <a:ln/>
        </p:spPr>
        <p:txBody>
          <a:bodyPr wrap="square" lIns="0" tIns="0" rIns="0" bIns="0" rtlCol="0" anchor="t"/>
          <a:lstStyle/>
          <a:p>
            <a:pPr algn="l" indent="0" marL="0">
              <a:lnSpc>
                <a:spcPts val="1890"/>
              </a:lnSpc>
              <a:buNone/>
            </a:pPr>
            <a:r>
              <a:rPr lang="en-US" sz="1400" dirty="0">
                <a:solidFill>
                  <a:srgbClr val="1F2328"/>
                </a:solidFill>
                <a:latin typeface="Arial" pitchFamily="34" charset="0"/>
                <a:ea typeface="Arial" pitchFamily="34" charset="-122"/>
                <a:cs typeface="Arial" pitchFamily="34" charset="-120"/>
              </a:rPr>
              <a:t>Embedded storage is still a persistence decision.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CLEAN UP</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Tear it down the same day</a:t>
            </a:r>
            <a:endParaRPr lang="en-US" sz="2800" dirty="0"/>
          </a:p>
        </p:txBody>
      </p:sp>
      <p:sp>
        <p:nvSpPr>
          <p:cNvPr id="7" name="Text 4"/>
          <p:cNvSpPr/>
          <p:nvPr/>
        </p:nvSpPr>
        <p:spPr>
          <a:xfrm>
            <a:off x="1015901" y="1670149"/>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670149"/>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5260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5260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5260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25662"/>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244501" y="210175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54942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84470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13997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51102"/>
            <a:ext cx="215801" cy="215801"/>
          </a:xfrm>
          <a:prstGeom prst="rect">
            <a:avLst/>
          </a:prstGeom>
        </p:spPr>
      </p:pic>
      <p:sp>
        <p:nvSpPr>
          <p:cNvPr id="18" name="Text 14"/>
          <p:cNvSpPr/>
          <p:nvPr/>
        </p:nvSpPr>
        <p:spPr>
          <a:xfrm>
            <a:off x="1333202" y="3917752"/>
            <a:ext cx="6930491" cy="482501"/>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Cost estimates assume the resources stay up for a month.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Purge</a:t>
            </a:r>
            <a:pPr algn="l" indent="0" marL="0">
              <a:lnSpc>
                <a:spcPts val="1900"/>
              </a:lnSpc>
              <a:buNone/>
            </a:pPr>
            <a:r>
              <a:rPr lang="en-US" sz="1400" dirty="0">
                <a:solidFill>
                  <a:srgbClr val="1F2328"/>
                </a:solidFill>
                <a:latin typeface="Arial" pitchFamily="34" charset="0"/>
                <a:ea typeface="Arial" pitchFamily="34" charset="-122"/>
                <a:cs typeface="Arial" pitchFamily="34" charset="-120"/>
              </a:rPr>
              <a:t> also clears soft-deleted resources.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52742" y="152400"/>
            <a:ext cx="907107"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7786064" y="220563"/>
            <a:ext cx="640464"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GRAFANA</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KEY TAKEAWAYS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7" name="Text 4"/>
          <p:cNvSpPr/>
          <p:nvPr/>
        </p:nvSpPr>
        <p:spPr>
          <a:xfrm>
            <a:off x="482501" y="1422350"/>
            <a:ext cx="507950" cy="507950"/>
          </a:xfrm>
          <a:prstGeom prst="roundRect">
            <a:avLst>
              <a:gd name="adj" fmla="val 15001"/>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hecklist-0969DA.png">    </p:cNvPr>
          <p:cNvPicPr>
            <a:picLocks noChangeAspect="1"/>
          </p:cNvPicPr>
          <p:nvPr/>
        </p:nvPicPr>
        <p:blipFill>
          <a:blip r:embed="rId2"/>
          <a:stretch>
            <a:fillRect/>
          </a:stretch>
        </p:blipFill>
        <p:spPr>
          <a:xfrm>
            <a:off x="596801" y="1536650"/>
            <a:ext cx="279350" cy="279350"/>
          </a:xfrm>
          <a:prstGeom prst="rect">
            <a:avLst/>
          </a:prstGeom>
        </p:spPr>
      </p:pic>
      <p:sp>
        <p:nvSpPr>
          <p:cNvPr id="9" name="Text 5"/>
          <p:cNvSpPr/>
          <p:nvPr/>
        </p:nvSpPr>
        <p:spPr>
          <a:xfrm>
            <a:off x="115550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Plan and preview before you create anything billable.</a:t>
            </a:r>
            <a:endParaRPr lang="en-US" sz="1500" dirty="0"/>
          </a:p>
        </p:txBody>
      </p:sp>
      <p:sp>
        <p:nvSpPr>
          <p:cNvPr id="10" name="Text 6"/>
          <p:cNvSpPr/>
          <p:nvPr/>
        </p:nvSpPr>
        <p:spPr>
          <a:xfrm>
            <a:off x="4762351" y="1422350"/>
            <a:ext cx="507950" cy="507950"/>
          </a:xfrm>
          <a:prstGeom prst="roundRect">
            <a:avLst>
              <a:gd name="adj" fmla="val 15001"/>
            </a:avLst>
          </a:prstGeom>
          <a:solidFill>
            <a:srgbClr val="FBEFFF"/>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Copilot-8250DF.png">    </p:cNvPr>
          <p:cNvPicPr>
            <a:picLocks noChangeAspect="1"/>
          </p:cNvPicPr>
          <p:nvPr/>
        </p:nvPicPr>
        <p:blipFill>
          <a:blip r:embed="rId3"/>
          <a:stretch>
            <a:fillRect/>
          </a:stretch>
        </p:blipFill>
        <p:spPr>
          <a:xfrm>
            <a:off x="4876651" y="1536650"/>
            <a:ext cx="279350" cy="279350"/>
          </a:xfrm>
          <a:prstGeom prst="rect">
            <a:avLst/>
          </a:prstGeom>
        </p:spPr>
      </p:pic>
      <p:sp>
        <p:nvSpPr>
          <p:cNvPr id="12" name="Text 7"/>
          <p:cNvSpPr/>
          <p:nvPr/>
        </p:nvSpPr>
        <p:spPr>
          <a:xfrm>
            <a:off x="543535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An agent plus app skills can deploy, and then operate, the app.</a:t>
            </a:r>
            <a:endParaRPr lang="en-US" sz="1500" dirty="0"/>
          </a:p>
        </p:txBody>
      </p:sp>
      <p:sp>
        <p:nvSpPr>
          <p:cNvPr id="13" name="Text 8"/>
          <p:cNvSpPr/>
          <p:nvPr/>
        </p:nvSpPr>
        <p:spPr>
          <a:xfrm>
            <a:off x="482501" y="2311301"/>
            <a:ext cx="507950" cy="507950"/>
          </a:xfrm>
          <a:prstGeom prst="roundRect">
            <a:avLst>
              <a:gd name="adj" fmla="val 15001"/>
            </a:avLst>
          </a:prstGeom>
          <a:solidFill>
            <a:srgbClr val="FFF1E5"/>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Database-BC4C00.png">    </p:cNvPr>
          <p:cNvPicPr>
            <a:picLocks noChangeAspect="1"/>
          </p:cNvPicPr>
          <p:nvPr/>
        </p:nvPicPr>
        <p:blipFill>
          <a:blip r:embed="rId4"/>
          <a:stretch>
            <a:fillRect/>
          </a:stretch>
        </p:blipFill>
        <p:spPr>
          <a:xfrm>
            <a:off x="596801" y="2425601"/>
            <a:ext cx="279350" cy="279350"/>
          </a:xfrm>
          <a:prstGeom prst="rect">
            <a:avLst/>
          </a:prstGeom>
        </p:spPr>
      </p:pic>
      <p:sp>
        <p:nvSpPr>
          <p:cNvPr id="15" name="Text 9"/>
          <p:cNvSpPr/>
          <p:nvPr/>
        </p:nvSpPr>
        <p:spPr>
          <a:xfrm>
            <a:off x="1155502" y="232395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Embedded storage is a persistence decision. Test it.</a:t>
            </a:r>
            <a:endParaRPr lang="en-US" sz="1500" dirty="0"/>
          </a:p>
        </p:txBody>
      </p:sp>
      <p:sp>
        <p:nvSpPr>
          <p:cNvPr id="16" name="Text 10"/>
          <p:cNvSpPr/>
          <p:nvPr/>
        </p:nvSpPr>
        <p:spPr>
          <a:xfrm>
            <a:off x="4762351" y="2311301"/>
            <a:ext cx="507950" cy="507950"/>
          </a:xfrm>
          <a:prstGeom prst="roundRect">
            <a:avLst>
              <a:gd name="adj" fmla="val 15001"/>
            </a:avLst>
          </a:prstGeom>
          <a:solidFill>
            <a:srgbClr val="DAFBE1"/>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Hourglass-1A7F37.png">    </p:cNvPr>
          <p:cNvPicPr>
            <a:picLocks noChangeAspect="1"/>
          </p:cNvPicPr>
          <p:nvPr/>
        </p:nvPicPr>
        <p:blipFill>
          <a:blip r:embed="rId5"/>
          <a:stretch>
            <a:fillRect/>
          </a:stretch>
        </p:blipFill>
        <p:spPr>
          <a:xfrm>
            <a:off x="4876651" y="2425601"/>
            <a:ext cx="279350" cy="279350"/>
          </a:xfrm>
          <a:prstGeom prst="rect">
            <a:avLst/>
          </a:prstGeom>
        </p:spPr>
      </p:pic>
      <p:sp>
        <p:nvSpPr>
          <p:cNvPr id="18" name="Text 11"/>
          <p:cNvSpPr/>
          <p:nvPr/>
        </p:nvSpPr>
        <p:spPr>
          <a:xfrm>
            <a:off x="5435352" y="232395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Cold starts after scale-to-zero are normal.</a:t>
            </a:r>
            <a:endParaRPr lang="en-US" sz="1500" dirty="0"/>
          </a:p>
        </p:txBody>
      </p:sp>
      <p:sp>
        <p:nvSpPr>
          <p:cNvPr id="19" name="Text 12"/>
          <p:cNvSpPr/>
          <p:nvPr/>
        </p:nvSpPr>
        <p:spPr>
          <a:xfrm>
            <a:off x="482501" y="3810000"/>
            <a:ext cx="8178701" cy="787301"/>
          </a:xfrm>
          <a:prstGeom prst="roundRect">
            <a:avLst>
              <a:gd name="adj" fmla="val 12905"/>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3987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64977" y="4082951"/>
            <a:ext cx="241250" cy="241250"/>
          </a:xfrm>
          <a:prstGeom prst="rect">
            <a:avLst/>
          </a:prstGeom>
        </p:spPr>
      </p:pic>
      <p:sp>
        <p:nvSpPr>
          <p:cNvPr id="22" name="Text 14"/>
          <p:cNvSpPr/>
          <p:nvPr/>
        </p:nvSpPr>
        <p:spPr>
          <a:xfrm>
            <a:off x="1253877" y="4008388"/>
            <a:ext cx="521024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NEXT JOURNEY</a:t>
            </a:r>
            <a:endParaRPr lang="en-US" sz="1000" dirty="0"/>
          </a:p>
        </p:txBody>
      </p:sp>
      <p:sp>
        <p:nvSpPr>
          <p:cNvPr id="23" name="Text 15"/>
          <p:cNvSpPr/>
          <p:nvPr/>
        </p:nvSpPr>
        <p:spPr>
          <a:xfrm>
            <a:off x="1253877" y="4189363"/>
            <a:ext cx="5210240"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n8n</a:t>
            </a:r>
            <a:pPr algn="l" indent="0" marL="0">
              <a:buNone/>
            </a:pPr>
            <a:r>
              <a:rPr lang="en-US" sz="1400" dirty="0">
                <a:solidFill>
                  <a:srgbClr val="1F2328"/>
                </a:solidFill>
                <a:latin typeface="Arial" pitchFamily="34" charset="0"/>
                <a:ea typeface="Arial" pitchFamily="34" charset="-122"/>
                <a:cs typeface="Arial" pitchFamily="34" charset="-120"/>
              </a:rPr>
              <a:t> </a:t>
            </a:r>
            <a:pPr algn="l" indent="0" marL="0">
              <a:buNone/>
            </a:pPr>
            <a:r>
              <a:rPr lang="en-US" sz="1400" dirty="0">
                <a:solidFill>
                  <a:srgbClr val="59636E"/>
                </a:solidFill>
                <a:latin typeface="Arial" pitchFamily="34" charset="0"/>
                <a:ea typeface="Arial" pitchFamily="34" charset="-122"/>
                <a:cs typeface="Arial" pitchFamily="34" charset="-120"/>
              </a:rPr>
              <a:t>· Add PostgreSQL, health probes, and a post-provision hook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Grafana on Azure: Agentic Journey</dc:title>
  <dc:subject>PptxGenJS Presentation</dc:subject>
  <dc:creator>GitHub and Azure Agentic Journeys</dc:creator>
  <cp:lastModifiedBy>GitHub and Azure Agentic Journeys</cp:lastModifiedBy>
  <cp:revision>1</cp:revision>
  <dcterms:created xsi:type="dcterms:W3CDTF">2026-09-30T09:03:30Z</dcterms:created>
  <dcterms:modified xsi:type="dcterms:W3CDTF">2026-09-30T09:03:30Z</dcterms:modified>
</cp:coreProperties>
</file>