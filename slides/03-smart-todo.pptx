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SmartTodo is the most process-focused journey. The full journey takes 3 to 4 hours across several sessions, so in one hour we walk through the workflow and show the signature prompts of each phase. The app itself is a todo list where AI breaks a task into action steps. The real product is the workflow: issues, plan interviews, red and green TDD, deterministic gates, stacked pull requests, and finally a cloud-agent factory. Timing guide: 6 minutes intro, 8 minutes planning, 20 minutes build test-first, 13 minutes deploy, 8 minutes factory, 5 minutes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SwiftUI iPhone app. Add a todo such as "Plan a weekend camping trip," tap Generate Steps, and a Microsoft Foundry model breaks it into action steps. Check off steps and the todo completes automatically. You do not need a Mac to follow the API and Azure phases. The iOS phase needs macOS and Xcode.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journey. Humans make the decisions. Tests are written first and then frozen. Gates are deterministic scripts whose exit codes decide done, not the agent's claims. And a human reviews what ships. That changes your review job from reading every generated line to reviewing a short list of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phase runs the same loop. A GitHub issue. Grill the plan until decisions are clear. Red: write failing tests. Green: write code until the tests pass, without touching them. Run the gates. Review. Merge. Tests stay frozen from red to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iPhone app calls a REST API on Azure Functions Flex Consumption over HTTPS. The API uses managed identity to reach Azure SQL for todos and steps, and calls a gpt-5-mini deployment in Microsoft Foundry to decompose tasks. Storage holds the Functions runtime and deployment package. Application Insights and Log Analytics collect telemetry. Locally and in tests, an in-memory store and a fake step generator stand in for SQL and the model, so tests are fast and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plan the work. About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script creates a workspace next to this repository, copies the journey, creates your GitHub repository, installs the CI workflow, labels, and a branch ruleset, and waits for the first CI run. It ends with "Ruleset: active" and "CI on main: success." Use --start-at to jump to a later phase with checkpoint code for the earlier ones. That is handy for a one-hour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Attach the architecture image and PLAN.md, and the agent creates the Phase 1 to 3 issues. Every later prompt refers to those issue numbers, so the issues become the source of truth for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build test-first. About 20 minutes. This is the core of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The grill-plan skill interviews you, one question at a time, about every Decision Point in the plan, then posts a Decisions table and a test list to the issue. The tdd-builder agent writes failing tests for each behavior and you tag that commit, for example phase1-red. Then the same agent implements code until the gate passes, and it is not allowed to change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 asks one question at a time. Answer each Decision Point. For example: what happens when all steps of a todo are complete? The decisions and the resulting test list are posted to the issue so everyone can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test names. This is your review surface. If a test is wrong, fix it now and keep it red. For example, the README shows a Decision Point 3 test that gives a todo only one step. Completing it triggers auto-completion, so the test needs two steps.
Full prompt:
Use the tdd-builder agent for the red phase of issue #&lt;api-issue&gt;. Scaffold src/api as described in the "Project Structure", "Local Providers", and "Quality Gate" sections of PLAN-phase1-api.md. Then write the tests from its "Test Strategy" section and the Decisions comment on the issue. Tag the red commit phase1-red.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Autopilot is safe here because the finish line is deterministic: npm run check must pass, and the tests are frozen. If the agent reports a test that truly cannot pass, fix only that test in a new red commit and move the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gates. npm run check runs type checks and tests. The git diff against the red tag proves the tests are unchanged. There is also a black-box verifier you can run against the local API. Then run /review, triage the findings, and open the first stacked pull request with gh stack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runs the same loop for the SwiftUI app, starting from a supplied starter project. Attach the mockups and grill the plan. Then red: copy the starter and write tests. Then green with /autopilot until node scripts/test-ios.mjs passes. The iOS gate needs macOS with Xcode. Exploratory checks in the simulator cover Dark Mode and large Dynamic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is a branch stacked on the previous one: API, then iOS, then Azure. Each layer has its own pull request, tests, and gate, so reviewers see one focused change at a time. gh stack keeps them in order, and the whole stack merges once, from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deploy to Azure. About 13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read-only cost and architecture review and post your decisions to the issue. Then create the infrastructure gate and prove it fails. Then generate the infrastructure until the gate passes, prepare the azd environment, and run azd up. The same black-box verifier from Phase 1 now runs against Azure and prints the same PASS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checks things like managed identity instead of connection strings, Flex Consumption, the model deployment, and the SQL setup hook. After azd up, the post-provision hook prints "Post-provision SQL setup complete." Then run the verifier against API_URL. Point the iOS app at the deployed API for a final manual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infrastructure works, capture it. A prompt is good for discovery. A skill repeats the approach well. A script is free and deterministic. Phase 3 ends by creating a reusable infrastructure skill and a scaffold script, then proving the scaffold works on a fresh copy without AI. Finally, open the Phase 3 pull request and merge the whole stack from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the factory. About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agent is only as good as its environment and rules. The instructions file carries the definition of done: plan update, red commit, green commits. The setup steps workflow prepares its Linux environment. Validate it with gh workflow run copilot-setup-steps.yml.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the due-dates feature issue from the plan, then assign it to the Copilot cloud agent with the tdd-builder custom agent. The README uses gh api with this assign.json payload. The agent works in an ephemeral Linux environment, so it cannot build Swift. It pushes and waits for the macOS ios check in CI. You read the red test names first, review the pull request, run the deployed verifier, and merge only when checks, review, and verification all pass. Local fallback: /delegate Use the tdd-builder agent for the full cycle of issue #&lt;number&gt;.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azd down from journeys/smart-todo. If you set up the optional release pipeline, remove its role assignments and identity resource group using the values you recorded. Stop local API processes and remove the detached API worktree.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Decisions come from you and live on the issue. Tests are written first and frozen. Deterministic gates decide done, and stacked pull requests keep review focused. Once the workflow is encoded, a cloud agent can run it for the next feature while you keep the final say. Next, the open-source journeys, starting with Grafana, show agents deploying existing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787301"/>
            <a:ext cx="711101"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6" name="Text 3"/>
          <p:cNvSpPr/>
          <p:nvPr/>
        </p:nvSpPr>
        <p:spPr>
          <a:xfrm>
            <a:off x="482501" y="1053852"/>
            <a:ext cx="7772400" cy="171450"/>
          </a:xfrm>
          <a:prstGeom prst="rect">
            <a:avLst/>
          </a:prstGeom>
          <a:noFill/>
          <a:ln/>
        </p:spPr>
        <p:txBody>
          <a:bodyPr wrap="square" lIns="0" tIns="0" rIns="0" bIns="0" rtlCol="0" anchor="t"/>
          <a:lstStyle/>
          <a:p>
            <a:pPr algn="l" indent="0" marL="0">
              <a:spcAft>
                <a:spcPts val="600"/>
              </a:spcAft>
              <a:buNone/>
            </a:pPr>
            <a:r>
              <a:rPr lang="en-US" sz="1200" b="1" dirty="0">
                <a:solidFill>
                  <a:srgbClr val="1A7F37"/>
                </a:solidFill>
                <a:latin typeface="Arial" pitchFamily="34" charset="0"/>
                <a:ea typeface="Arial" pitchFamily="34" charset="-122"/>
                <a:cs typeface="Arial" pitchFamily="34" charset="-120"/>
              </a:rPr>
              <a:t>AGENTIC JOURNEY · GITHUB AND AZURE</a:t>
            </a:r>
            <a:endParaRPr lang="en-US" sz="1200" dirty="0"/>
          </a:p>
        </p:txBody>
      </p:sp>
      <p:sp>
        <p:nvSpPr>
          <p:cNvPr id="7" name="Text 4"/>
          <p:cNvSpPr/>
          <p:nvPr/>
        </p:nvSpPr>
        <p:spPr>
          <a:xfrm>
            <a:off x="482501" y="1301502"/>
            <a:ext cx="7772400" cy="584150"/>
          </a:xfrm>
          <a:prstGeom prst="rect">
            <a:avLst/>
          </a:prstGeom>
          <a:noFill/>
          <a:ln/>
        </p:spPr>
        <p:txBody>
          <a:bodyPr wrap="square" lIns="0" tIns="0" rIns="0" bIns="0" rtlCol="0" anchor="t"/>
          <a:lstStyle/>
          <a:p>
            <a:pPr algn="l" indent="0" marL="0">
              <a:lnSpc>
                <a:spcPts val="4600"/>
              </a:lnSpc>
              <a:buNone/>
            </a:pPr>
            <a:r>
              <a:rPr lang="en-US" sz="4000" b="1" dirty="0">
                <a:solidFill>
                  <a:srgbClr val="1F2328"/>
                </a:solidFill>
                <a:latin typeface="Arial" pitchFamily="34" charset="0"/>
                <a:ea typeface="Arial" pitchFamily="34" charset="-122"/>
                <a:cs typeface="Arial" pitchFamily="34" charset="-120"/>
              </a:rPr>
              <a:t>SmartTodo</a:t>
            </a:r>
            <a:endParaRPr lang="en-US" sz="4000" dirty="0"/>
          </a:p>
        </p:txBody>
      </p:sp>
      <p:sp>
        <p:nvSpPr>
          <p:cNvPr id="8" name="Text 5"/>
          <p:cNvSpPr/>
          <p:nvPr/>
        </p:nvSpPr>
        <p:spPr>
          <a:xfrm>
            <a:off x="482501" y="2038052"/>
            <a:ext cx="7772400" cy="584299"/>
          </a:xfrm>
          <a:prstGeom prst="rect">
            <a:avLst/>
          </a:prstGeom>
          <a:noFill/>
          <a:ln/>
        </p:spPr>
        <p:txBody>
          <a:bodyPr wrap="square" lIns="0" tIns="0" rIns="0" bIns="0" rtlCol="0" anchor="t"/>
          <a:lstStyle/>
          <a:p>
            <a:pPr algn="l" indent="0" marL="0">
              <a:lnSpc>
                <a:spcPts val="2300"/>
              </a:lnSpc>
              <a:spcBef>
                <a:spcPts val="1200"/>
              </a:spcBef>
              <a:buNone/>
            </a:pPr>
            <a:r>
              <a:rPr lang="en-US" sz="1700" dirty="0">
                <a:solidFill>
                  <a:srgbClr val="59636E"/>
                </a:solidFill>
                <a:latin typeface="Arial" pitchFamily="34" charset="0"/>
                <a:ea typeface="Arial" pitchFamily="34" charset="-122"/>
                <a:cs typeface="Arial" pitchFamily="34" charset="-120"/>
              </a:rPr>
              <a:t>What if an agent could build your iPhone app, but only after you made the decisions, froze the tests, and passed every gate?</a:t>
            </a:r>
            <a:endParaRPr lang="en-US" sz="1700" dirty="0"/>
          </a:p>
        </p:txBody>
      </p:sp>
      <p:sp>
        <p:nvSpPr>
          <p:cNvPr id="9" name="Text 6"/>
          <p:cNvSpPr/>
          <p:nvPr/>
        </p:nvSpPr>
        <p:spPr>
          <a:xfrm>
            <a:off x="482501" y="2946350"/>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10" name="Image 1" descr="/Users/danwahlin/.copilot/session-state/a2da67da-2d7a-45f2-aa6a-2a42a7b82a72/files/build/icons/GoClock-0969DA.png">    </p:cNvPr>
          <p:cNvPicPr>
            <a:picLocks noChangeAspect="1"/>
          </p:cNvPicPr>
          <p:nvPr/>
        </p:nvPicPr>
        <p:blipFill>
          <a:blip r:embed="rId2"/>
          <a:stretch>
            <a:fillRect/>
          </a:stretch>
        </p:blipFill>
        <p:spPr>
          <a:xfrm>
            <a:off x="577751" y="3041600"/>
            <a:ext cx="241250" cy="241250"/>
          </a:xfrm>
          <a:prstGeom prst="rect">
            <a:avLst/>
          </a:prstGeom>
        </p:spPr>
      </p:pic>
      <p:sp>
        <p:nvSpPr>
          <p:cNvPr id="11" name="Text 7"/>
          <p:cNvSpPr/>
          <p:nvPr/>
        </p:nvSpPr>
        <p:spPr>
          <a:xfrm>
            <a:off x="1028551" y="2973288"/>
            <a:ext cx="947109"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SESSION</a:t>
            </a:r>
            <a:endParaRPr lang="en-US" sz="1000" dirty="0"/>
          </a:p>
        </p:txBody>
      </p:sp>
      <p:sp>
        <p:nvSpPr>
          <p:cNvPr id="12" name="Text 8"/>
          <p:cNvSpPr/>
          <p:nvPr/>
        </p:nvSpPr>
        <p:spPr>
          <a:xfrm>
            <a:off x="1028551" y="3141464"/>
            <a:ext cx="947109"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60 minutes</a:t>
            </a:r>
            <a:endParaRPr lang="en-US" sz="1400" dirty="0"/>
          </a:p>
        </p:txBody>
      </p:sp>
      <p:sp>
        <p:nvSpPr>
          <p:cNvPr id="13" name="Text 9"/>
          <p:cNvSpPr/>
          <p:nvPr/>
        </p:nvSpPr>
        <p:spPr>
          <a:xfrm>
            <a:off x="2312640" y="2946350"/>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14" name="Image 2" descr="/Users/danwahlin/.copilot/session-state/a2da67da-2d7a-45f2-aa6a-2a42a7b82a72/files/build/icons/GoCreditCard-1A7F37.png">    </p:cNvPr>
          <p:cNvPicPr>
            <a:picLocks noChangeAspect="1"/>
          </p:cNvPicPr>
          <p:nvPr/>
        </p:nvPicPr>
        <p:blipFill>
          <a:blip r:embed="rId3"/>
          <a:stretch>
            <a:fillRect/>
          </a:stretch>
        </p:blipFill>
        <p:spPr>
          <a:xfrm>
            <a:off x="2407890" y="3041600"/>
            <a:ext cx="241250" cy="241250"/>
          </a:xfrm>
          <a:prstGeom prst="rect">
            <a:avLst/>
          </a:prstGeom>
        </p:spPr>
      </p:pic>
      <p:sp>
        <p:nvSpPr>
          <p:cNvPr id="15" name="Text 10"/>
          <p:cNvSpPr/>
          <p:nvPr/>
        </p:nvSpPr>
        <p:spPr>
          <a:xfrm>
            <a:off x="2858691" y="2973288"/>
            <a:ext cx="1510912"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COST IF LEFT RUNNING</a:t>
            </a:r>
            <a:endParaRPr lang="en-US" sz="1000" dirty="0"/>
          </a:p>
        </p:txBody>
      </p:sp>
      <p:sp>
        <p:nvSpPr>
          <p:cNvPr id="16" name="Text 11"/>
          <p:cNvSpPr/>
          <p:nvPr/>
        </p:nvSpPr>
        <p:spPr>
          <a:xfrm>
            <a:off x="2858691" y="3141464"/>
            <a:ext cx="1510912"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~$10–30/month</a:t>
            </a:r>
            <a:endParaRPr lang="en-US" sz="1400" dirty="0"/>
          </a:p>
        </p:txBody>
      </p:sp>
      <p:sp>
        <p:nvSpPr>
          <p:cNvPr id="17" name="Text 12"/>
          <p:cNvSpPr/>
          <p:nvPr/>
        </p:nvSpPr>
        <p:spPr>
          <a:xfrm>
            <a:off x="4695527" y="2946350"/>
            <a:ext cx="431750" cy="431750"/>
          </a:xfrm>
          <a:prstGeom prst="roundRect">
            <a:avLst>
              <a:gd name="adj" fmla="val 17649"/>
            </a:avLst>
          </a:prstGeom>
          <a:solidFill>
            <a:srgbClr val="FBEF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loud-8250DF.png">    </p:cNvPr>
          <p:cNvPicPr>
            <a:picLocks noChangeAspect="1"/>
          </p:cNvPicPr>
          <p:nvPr/>
        </p:nvPicPr>
        <p:blipFill>
          <a:blip r:embed="rId4"/>
          <a:stretch>
            <a:fillRect/>
          </a:stretch>
        </p:blipFill>
        <p:spPr>
          <a:xfrm>
            <a:off x="4790777" y="3041600"/>
            <a:ext cx="241250" cy="241250"/>
          </a:xfrm>
          <a:prstGeom prst="rect">
            <a:avLst/>
          </a:prstGeom>
        </p:spPr>
      </p:pic>
      <p:sp>
        <p:nvSpPr>
          <p:cNvPr id="19" name="Text 13"/>
          <p:cNvSpPr/>
          <p:nvPr/>
        </p:nvSpPr>
        <p:spPr>
          <a:xfrm>
            <a:off x="5241578" y="2973288"/>
            <a:ext cx="2373922"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RUNS ON</a:t>
            </a:r>
            <a:endParaRPr lang="en-US" sz="1000" dirty="0"/>
          </a:p>
        </p:txBody>
      </p:sp>
      <p:sp>
        <p:nvSpPr>
          <p:cNvPr id="20" name="Text 14"/>
          <p:cNvSpPr/>
          <p:nvPr/>
        </p:nvSpPr>
        <p:spPr>
          <a:xfrm>
            <a:off x="5241578" y="3141464"/>
            <a:ext cx="2373922"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Functions + SQL + Foundry</a:t>
            </a:r>
            <a:endParaRPr lang="en-US" sz="1400" dirty="0"/>
          </a:p>
        </p:txBody>
      </p:sp>
      <p:sp>
        <p:nvSpPr>
          <p:cNvPr id="21" name="Text 15"/>
          <p:cNvSpPr/>
          <p:nvPr/>
        </p:nvSpPr>
        <p:spPr>
          <a:xfrm>
            <a:off x="482501" y="3708350"/>
            <a:ext cx="8342275"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IN THIS SESSION</a:t>
            </a:r>
            <a:endParaRPr lang="en-US" sz="1000" dirty="0"/>
          </a:p>
        </p:txBody>
      </p:sp>
      <p:sp>
        <p:nvSpPr>
          <p:cNvPr id="22" name="Text 16"/>
          <p:cNvSpPr/>
          <p:nvPr/>
        </p:nvSpPr>
        <p:spPr>
          <a:xfrm>
            <a:off x="482501" y="3952726"/>
            <a:ext cx="1476226" cy="361652"/>
          </a:xfrm>
          <a:prstGeom prst="roundRect">
            <a:avLst>
              <a:gd name="adj" fmla="val 52675"/>
            </a:avLst>
          </a:prstGeom>
          <a:solidFill>
            <a:srgbClr val="DDF4FF"/>
          </a:solidFill>
          <a:ln w="9525">
            <a:solidFill>
              <a:srgbClr val="9CD7FF"/>
            </a:solidFill>
          </a:ln>
        </p:spPr>
        <p:txBody>
          <a:bodyPr wrap="square" rtlCol="0" anchor="ctr"/>
          <a:lstStyle/>
          <a:p>
            <a:pPr indent="0" marL="0">
              <a:buNone/>
            </a:pPr>
            <a:endParaRPr lang="en-US" dirty="0"/>
          </a:p>
        </p:txBody>
      </p:sp>
      <p:sp>
        <p:nvSpPr>
          <p:cNvPr id="23" name="Text 17"/>
          <p:cNvSpPr/>
          <p:nvPr/>
        </p:nvSpPr>
        <p:spPr>
          <a:xfrm>
            <a:off x="568226" y="4025652"/>
            <a:ext cx="215801" cy="215801"/>
          </a:xfrm>
          <a:prstGeom prst="roundRect">
            <a:avLst>
              <a:gd name="adj" fmla="val 423724"/>
            </a:avLst>
          </a:prstGeom>
          <a:solidFill>
            <a:srgbClr val="0969DA"/>
          </a:solidFill>
          <a:ln/>
        </p:spPr>
        <p:txBody>
          <a:bodyPr wrap="square" rtlCol="0" anchor="ctr"/>
          <a:lstStyle/>
          <a:p>
            <a:pPr indent="0" marL="0">
              <a:buNone/>
            </a:pPr>
            <a:endParaRPr lang="en-US" dirty="0"/>
          </a:p>
        </p:txBody>
      </p:sp>
      <p:sp>
        <p:nvSpPr>
          <p:cNvPr id="24" name="Text 18"/>
          <p:cNvSpPr/>
          <p:nvPr/>
        </p:nvSpPr>
        <p:spPr>
          <a:xfrm>
            <a:off x="643640"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5" name="Text 19"/>
          <p:cNvSpPr/>
          <p:nvPr/>
        </p:nvSpPr>
        <p:spPr>
          <a:xfrm>
            <a:off x="860227" y="4047827"/>
            <a:ext cx="968362"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Plan the work</a:t>
            </a:r>
            <a:endParaRPr lang="en-US" sz="1150" dirty="0"/>
          </a:p>
        </p:txBody>
      </p:sp>
      <p:sp>
        <p:nvSpPr>
          <p:cNvPr id="26" name="Text 20"/>
          <p:cNvSpPr/>
          <p:nvPr/>
        </p:nvSpPr>
        <p:spPr>
          <a:xfrm>
            <a:off x="2060228" y="3952726"/>
            <a:ext cx="1516559" cy="361652"/>
          </a:xfrm>
          <a:prstGeom prst="roundRect">
            <a:avLst>
              <a:gd name="adj" fmla="val 52675"/>
            </a:avLst>
          </a:prstGeom>
          <a:solidFill>
            <a:srgbClr val="FBE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2145953" y="4025652"/>
            <a:ext cx="215801" cy="215801"/>
          </a:xfrm>
          <a:prstGeom prst="roundRect">
            <a:avLst>
              <a:gd name="adj" fmla="val 423724"/>
            </a:avLst>
          </a:prstGeom>
          <a:solidFill>
            <a:srgbClr val="8250DF"/>
          </a:solidFill>
          <a:ln/>
        </p:spPr>
        <p:txBody>
          <a:bodyPr wrap="square" rtlCol="0" anchor="ctr"/>
          <a:lstStyle/>
          <a:p>
            <a:pPr indent="0" marL="0">
              <a:buNone/>
            </a:pPr>
            <a:endParaRPr lang="en-US" dirty="0"/>
          </a:p>
        </p:txBody>
      </p:sp>
      <p:sp>
        <p:nvSpPr>
          <p:cNvPr id="28" name="Text 22"/>
          <p:cNvSpPr/>
          <p:nvPr/>
        </p:nvSpPr>
        <p:spPr>
          <a:xfrm>
            <a:off x="2221367"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9" name="Text 23"/>
          <p:cNvSpPr/>
          <p:nvPr/>
        </p:nvSpPr>
        <p:spPr>
          <a:xfrm>
            <a:off x="2437954" y="4047827"/>
            <a:ext cx="1009501"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Build test-first</a:t>
            </a:r>
            <a:endParaRPr lang="en-US" sz="1150" dirty="0"/>
          </a:p>
        </p:txBody>
      </p:sp>
      <p:sp>
        <p:nvSpPr>
          <p:cNvPr id="30" name="Text 24"/>
          <p:cNvSpPr/>
          <p:nvPr/>
        </p:nvSpPr>
        <p:spPr>
          <a:xfrm>
            <a:off x="3678287" y="3952726"/>
            <a:ext cx="1632942" cy="361652"/>
          </a:xfrm>
          <a:prstGeom prst="roundRect">
            <a:avLst>
              <a:gd name="adj" fmla="val 52675"/>
            </a:avLst>
          </a:prstGeom>
          <a:solidFill>
            <a:srgbClr val="DAFBE1"/>
          </a:solidFill>
          <a:ln w="9525">
            <a:solidFill>
              <a:srgbClr val="8CE7A5"/>
            </a:solidFill>
          </a:ln>
        </p:spPr>
        <p:txBody>
          <a:bodyPr wrap="square" rtlCol="0" anchor="ctr"/>
          <a:lstStyle/>
          <a:p>
            <a:pPr indent="0" marL="0">
              <a:buNone/>
            </a:pPr>
            <a:endParaRPr lang="en-US" dirty="0"/>
          </a:p>
        </p:txBody>
      </p:sp>
      <p:sp>
        <p:nvSpPr>
          <p:cNvPr id="31" name="Text 25"/>
          <p:cNvSpPr/>
          <p:nvPr/>
        </p:nvSpPr>
        <p:spPr>
          <a:xfrm>
            <a:off x="3764012" y="4025652"/>
            <a:ext cx="215801" cy="215801"/>
          </a:xfrm>
          <a:prstGeom prst="roundRect">
            <a:avLst>
              <a:gd name="adj" fmla="val 423724"/>
            </a:avLst>
          </a:prstGeom>
          <a:solidFill>
            <a:srgbClr val="1A7F37"/>
          </a:solidFill>
          <a:ln/>
        </p:spPr>
        <p:txBody>
          <a:bodyPr wrap="square" rtlCol="0" anchor="ctr"/>
          <a:lstStyle/>
          <a:p>
            <a:pPr indent="0" marL="0">
              <a:buNone/>
            </a:pPr>
            <a:endParaRPr lang="en-US" dirty="0"/>
          </a:p>
        </p:txBody>
      </p:sp>
      <p:sp>
        <p:nvSpPr>
          <p:cNvPr id="32" name="Text 26"/>
          <p:cNvSpPr/>
          <p:nvPr/>
        </p:nvSpPr>
        <p:spPr>
          <a:xfrm>
            <a:off x="3839426"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3" name="Text 27"/>
          <p:cNvSpPr/>
          <p:nvPr/>
        </p:nvSpPr>
        <p:spPr>
          <a:xfrm>
            <a:off x="4056013" y="4047827"/>
            <a:ext cx="1128212" cy="17145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Deploy to Azure</a:t>
            </a:r>
            <a:endParaRPr lang="en-US" sz="1150" dirty="0"/>
          </a:p>
        </p:txBody>
      </p:sp>
      <p:sp>
        <p:nvSpPr>
          <p:cNvPr id="34" name="Text 28"/>
          <p:cNvSpPr/>
          <p:nvPr/>
        </p:nvSpPr>
        <p:spPr>
          <a:xfrm>
            <a:off x="5412730" y="3952726"/>
            <a:ext cx="1314004" cy="361652"/>
          </a:xfrm>
          <a:prstGeom prst="roundRect">
            <a:avLst>
              <a:gd name="adj" fmla="val 52675"/>
            </a:avLst>
          </a:prstGeom>
          <a:solidFill>
            <a:srgbClr val="FFF1E5"/>
          </a:solidFill>
          <a:ln w="9525">
            <a:solidFill>
              <a:srgbClr val="FFC49B"/>
            </a:solidFill>
          </a:ln>
        </p:spPr>
        <p:txBody>
          <a:bodyPr wrap="square" rtlCol="0" anchor="ctr"/>
          <a:lstStyle/>
          <a:p>
            <a:pPr indent="0" marL="0">
              <a:buNone/>
            </a:pPr>
            <a:endParaRPr lang="en-US" dirty="0"/>
          </a:p>
        </p:txBody>
      </p:sp>
      <p:sp>
        <p:nvSpPr>
          <p:cNvPr id="35" name="Text 29"/>
          <p:cNvSpPr/>
          <p:nvPr/>
        </p:nvSpPr>
        <p:spPr>
          <a:xfrm>
            <a:off x="5498455" y="4025652"/>
            <a:ext cx="215801" cy="215801"/>
          </a:xfrm>
          <a:prstGeom prst="roundRect">
            <a:avLst>
              <a:gd name="adj" fmla="val 423724"/>
            </a:avLst>
          </a:prstGeom>
          <a:solidFill>
            <a:srgbClr val="BC4C00"/>
          </a:solidFill>
          <a:ln/>
        </p:spPr>
        <p:txBody>
          <a:bodyPr wrap="square" rtlCol="0" anchor="ctr"/>
          <a:lstStyle/>
          <a:p>
            <a:pPr indent="0" marL="0">
              <a:buNone/>
            </a:pPr>
            <a:endParaRPr lang="en-US" dirty="0"/>
          </a:p>
        </p:txBody>
      </p:sp>
      <p:sp>
        <p:nvSpPr>
          <p:cNvPr id="36" name="Text 30"/>
          <p:cNvSpPr/>
          <p:nvPr/>
        </p:nvSpPr>
        <p:spPr>
          <a:xfrm>
            <a:off x="5573869"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7" name="Text 31"/>
          <p:cNvSpPr/>
          <p:nvPr/>
        </p:nvSpPr>
        <p:spPr>
          <a:xfrm>
            <a:off x="5790456" y="4047827"/>
            <a:ext cx="802895" cy="171450"/>
          </a:xfrm>
          <a:prstGeom prst="rect">
            <a:avLst/>
          </a:prstGeom>
          <a:noFill/>
          <a:ln/>
        </p:spPr>
        <p:txBody>
          <a:bodyPr wrap="square" lIns="0" tIns="0" rIns="0" bIns="0" rtlCol="0" anchor="t"/>
          <a:lstStyle/>
          <a:p>
            <a:pPr algn="l" indent="0" marL="0">
              <a:buNone/>
            </a:pPr>
            <a:r>
              <a:rPr lang="en-US" sz="1150" b="1" dirty="0">
                <a:solidFill>
                  <a:srgbClr val="BC4C00"/>
                </a:solidFill>
                <a:latin typeface="Arial" pitchFamily="34" charset="0"/>
                <a:ea typeface="Arial" pitchFamily="34" charset="-122"/>
                <a:cs typeface="Arial" pitchFamily="34" charset="-120"/>
              </a:rPr>
              <a:t>The factory</a:t>
            </a:r>
            <a:endParaRPr lang="en-US" sz="1150" dirty="0"/>
          </a:p>
        </p:txBody>
      </p:sp>
      <p:sp>
        <p:nvSpPr>
          <p:cNvPr id="38" name="Text 32"/>
          <p:cNvSpPr/>
          <p:nvPr/>
        </p:nvSpPr>
        <p:spPr>
          <a:xfrm>
            <a:off x="482501" y="4673501"/>
            <a:ext cx="2635329"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github.com/microsoft/agentic-journeys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WHAT WE ARE BUILDING</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Break any task into AI-generated steps</a:t>
            </a:r>
            <a:endParaRPr lang="en-US" sz="2800" dirty="0"/>
          </a:p>
        </p:txBody>
      </p:sp>
      <p:pic>
        <p:nvPicPr>
          <p:cNvPr id="7" name="Image 1" descr="/Users/danwahlin/.copilot/session-state/a2da67da-2d7a-45f2-aa6a-2a42a7b82a72/files/build/img/todo-smart-todo-hero.png">    </p:cNvPr>
          <p:cNvPicPr>
            <a:picLocks noChangeAspect="1"/>
          </p:cNvPicPr>
          <p:nvPr/>
        </p:nvPicPr>
        <p:blipFill>
          <a:blip r:embed="rId2"/>
          <a:stretch>
            <a:fillRect/>
          </a:stretch>
        </p:blipFill>
        <p:spPr>
          <a:xfrm>
            <a:off x="592336" y="1244501"/>
            <a:ext cx="7959030" cy="3581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888950" y="965299"/>
            <a:ext cx="558701" cy="558701"/>
          </a:xfrm>
          <a:prstGeom prst="roundRect">
            <a:avLst>
              <a:gd name="adj" fmla="val 13639"/>
            </a:avLst>
          </a:prstGeom>
          <a:solidFill>
            <a:srgbClr val="DDF4FF"/>
          </a:solidFill>
          <a:ln/>
        </p:spPr>
        <p:txBody>
          <a:bodyPr wrap="square" rtlCol="0" anchor="ctr"/>
          <a:lstStyle/>
          <a:p>
            <a:pPr indent="0" marL="0">
              <a:buNone/>
            </a:pPr>
            <a:endParaRPr lang="en-US" dirty="0"/>
          </a:p>
        </p:txBody>
      </p:sp>
      <p:pic>
        <p:nvPicPr>
          <p:cNvPr id="6" name="Image 1" descr="/Users/danwahlin/.copilot/session-state/a2da67da-2d7a-45f2-aa6a-2a42a7b82a72/files/build/icons/GoShieldCheck-0969DA.png">    </p:cNvPr>
          <p:cNvPicPr>
            <a:picLocks noChangeAspect="1"/>
          </p:cNvPicPr>
          <p:nvPr/>
        </p:nvPicPr>
        <p:blipFill>
          <a:blip r:embed="rId2"/>
          <a:stretch>
            <a:fillRect/>
          </a:stretch>
        </p:blipFill>
        <p:spPr>
          <a:xfrm>
            <a:off x="1009501" y="1085850"/>
            <a:ext cx="317450" cy="317450"/>
          </a:xfrm>
          <a:prstGeom prst="rect">
            <a:avLst/>
          </a:prstGeom>
        </p:spPr>
      </p:pic>
      <p:sp>
        <p:nvSpPr>
          <p:cNvPr id="7" name="Text 3"/>
          <p:cNvSpPr/>
          <p:nvPr/>
        </p:nvSpPr>
        <p:spPr>
          <a:xfrm>
            <a:off x="888950" y="1752600"/>
            <a:ext cx="7513269" cy="152400"/>
          </a:xfrm>
          <a:prstGeom prst="rect">
            <a:avLst/>
          </a:prstGeom>
          <a:noFill/>
          <a:ln/>
        </p:spPr>
        <p:txBody>
          <a:bodyPr wrap="square" lIns="0" tIns="0" rIns="0" bIns="0" rtlCol="0" anchor="t"/>
          <a:lstStyle/>
          <a:p>
            <a:pPr algn="l" indent="0" marL="0">
              <a:spcAft>
                <a:spcPts val="1000"/>
              </a:spcAft>
              <a:buNone/>
            </a:pPr>
            <a:r>
              <a:rPr lang="en-US" sz="1100" b="1" dirty="0">
                <a:solidFill>
                  <a:srgbClr val="0969DA"/>
                </a:solidFill>
                <a:latin typeface="Arial" pitchFamily="34" charset="0"/>
                <a:ea typeface="Arial" pitchFamily="34" charset="-122"/>
                <a:cs typeface="Arial" pitchFamily="34" charset="-120"/>
              </a:rPr>
              <a:t>THE BIG IDEA</a:t>
            </a:r>
            <a:endParaRPr lang="en-US" sz="1100" dirty="0"/>
          </a:p>
        </p:txBody>
      </p:sp>
      <p:sp>
        <p:nvSpPr>
          <p:cNvPr id="8" name="Text 4"/>
          <p:cNvSpPr/>
          <p:nvPr/>
        </p:nvSpPr>
        <p:spPr>
          <a:xfrm>
            <a:off x="888950" y="2031950"/>
            <a:ext cx="7513269" cy="1600200"/>
          </a:xfrm>
          <a:prstGeom prst="rect">
            <a:avLst/>
          </a:prstGeom>
          <a:noFill/>
          <a:ln/>
        </p:spPr>
        <p:txBody>
          <a:bodyPr wrap="square" lIns="0" tIns="0" rIns="0" bIns="0" rtlCol="0" anchor="t"/>
          <a:lstStyle/>
          <a:p>
            <a:pPr algn="l" indent="0" marL="0">
              <a:lnSpc>
                <a:spcPts val="4200"/>
              </a:lnSpc>
              <a:buNone/>
            </a:pPr>
            <a:r>
              <a:rPr lang="en-US" sz="3400" b="1" dirty="0">
                <a:solidFill>
                  <a:srgbClr val="1F2328"/>
                </a:solidFill>
                <a:latin typeface="Arial" pitchFamily="34" charset="0"/>
                <a:ea typeface="Arial" pitchFamily="34" charset="-122"/>
                <a:cs typeface="Arial" pitchFamily="34" charset="-120"/>
              </a:rPr>
              <a:t>AI output becomes trustworthy when decisions, frozen tests, and gates surround it.</a:t>
            </a:r>
            <a:endParaRPr lang="en-US" sz="3400" dirty="0"/>
          </a:p>
        </p:txBody>
      </p:sp>
      <p:sp>
        <p:nvSpPr>
          <p:cNvPr id="9" name="Text 5"/>
          <p:cNvSpPr/>
          <p:nvPr/>
        </p:nvSpPr>
        <p:spPr>
          <a:xfrm>
            <a:off x="888950" y="3860750"/>
            <a:ext cx="7513269" cy="317450"/>
          </a:xfrm>
          <a:prstGeom prst="rect">
            <a:avLst/>
          </a:prstGeom>
          <a:noFill/>
          <a:ln/>
        </p:spPr>
        <p:txBody>
          <a:bodyPr wrap="square" lIns="0" tIns="0" rIns="0" bIns="0" rtlCol="0" anchor="t"/>
          <a:lstStyle/>
          <a:p>
            <a:pPr algn="l" indent="0" marL="0">
              <a:lnSpc>
                <a:spcPts val="2500"/>
              </a:lnSpc>
              <a:spcBef>
                <a:spcPts val="1800"/>
              </a:spcBef>
              <a:buNone/>
            </a:pPr>
            <a:r>
              <a:rPr lang="en-US" sz="1800" dirty="0">
                <a:solidFill>
                  <a:srgbClr val="59636E"/>
                </a:solidFill>
                <a:latin typeface="Arial" pitchFamily="34" charset="0"/>
                <a:ea typeface="Arial" pitchFamily="34" charset="-122"/>
                <a:cs typeface="Arial" pitchFamily="34" charset="-120"/>
              </a:rPr>
              <a:t>You review a short test list instead of thousands of generated lines.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THE WORKFLOW</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One loop, every phase</a:t>
            </a:r>
            <a:endParaRPr lang="en-US" sz="2800" dirty="0"/>
          </a:p>
        </p:txBody>
      </p:sp>
      <p:pic>
        <p:nvPicPr>
          <p:cNvPr id="7" name="Image 1" descr="/Users/danwahlin/.copilot/session-state/a2da67da-2d7a-45f2-aa6a-2a42a7b82a72/files/build/img/todo-journey-loop.png">    </p:cNvPr>
          <p:cNvPicPr>
            <a:picLocks noChangeAspect="1"/>
          </p:cNvPicPr>
          <p:nvPr/>
        </p:nvPicPr>
        <p:blipFill>
          <a:blip r:embed="rId2"/>
          <a:stretch>
            <a:fillRect/>
          </a:stretch>
        </p:blipFill>
        <p:spPr>
          <a:xfrm>
            <a:off x="921841" y="1371600"/>
            <a:ext cx="7299871" cy="3327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ARCHITECTURE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we are building on</a:t>
            </a:r>
            <a:endParaRPr lang="en-US" sz="2800" dirty="0"/>
          </a:p>
        </p:txBody>
      </p:sp>
      <p:sp>
        <p:nvSpPr>
          <p:cNvPr id="7" name="Text 4"/>
          <p:cNvSpPr/>
          <p:nvPr/>
        </p:nvSpPr>
        <p:spPr>
          <a:xfrm>
            <a:off x="828675" y="2085975"/>
            <a:ext cx="1473101" cy="1288852"/>
          </a:xfrm>
          <a:prstGeom prst="roundRect">
            <a:avLst>
              <a:gd name="adj" fmla="val 7883"/>
            </a:avLst>
          </a:prstGeom>
          <a:solidFill>
            <a:srgbClr val="FFFFFF"/>
          </a:solidFill>
          <a:ln w="9525">
            <a:solidFill>
              <a:srgbClr val="E0C5FF"/>
            </a:solidFill>
          </a:ln>
        </p:spPr>
        <p:txBody>
          <a:bodyPr wrap="square" rtlCol="0" anchor="ctr"/>
          <a:lstStyle/>
          <a:p>
            <a:pPr indent="0" marL="0">
              <a:buNone/>
            </a:pPr>
            <a:endParaRPr lang="en-US" dirty="0"/>
          </a:p>
        </p:txBody>
      </p:sp>
      <p:sp>
        <p:nvSpPr>
          <p:cNvPr id="8" name="Text 5"/>
          <p:cNvSpPr/>
          <p:nvPr/>
        </p:nvSpPr>
        <p:spPr>
          <a:xfrm>
            <a:off x="1336625" y="2235101"/>
            <a:ext cx="457200" cy="457200"/>
          </a:xfrm>
          <a:prstGeom prst="roundRect">
            <a:avLst>
              <a:gd name="adj" fmla="val 16667"/>
            </a:avLst>
          </a:prstGeom>
          <a:solidFill>
            <a:srgbClr val="FBEFFF"/>
          </a:solidFill>
          <a:ln/>
        </p:spPr>
        <p:txBody>
          <a:bodyPr wrap="square" rtlCol="0" anchor="ctr"/>
          <a:lstStyle/>
          <a:p>
            <a:pPr indent="0" marL="0">
              <a:buNone/>
            </a:pPr>
            <a:endParaRPr lang="en-US" dirty="0"/>
          </a:p>
        </p:txBody>
      </p:sp>
      <p:pic>
        <p:nvPicPr>
          <p:cNvPr id="9" name="Image 1" descr="/Users/danwahlin/.copilot/session-state/a2da67da-2d7a-45f2-aa6a-2a42a7b82a72/files/build/icons/GoDeviceMobile-8250DF.png">    </p:cNvPr>
          <p:cNvPicPr>
            <a:picLocks noChangeAspect="1"/>
          </p:cNvPicPr>
          <p:nvPr/>
        </p:nvPicPr>
        <p:blipFill>
          <a:blip r:embed="rId2"/>
          <a:stretch>
            <a:fillRect/>
          </a:stretch>
        </p:blipFill>
        <p:spPr>
          <a:xfrm>
            <a:off x="1438275" y="2336750"/>
            <a:ext cx="253901" cy="253901"/>
          </a:xfrm>
          <a:prstGeom prst="rect">
            <a:avLst/>
          </a:prstGeom>
        </p:spPr>
      </p:pic>
      <p:sp>
        <p:nvSpPr>
          <p:cNvPr id="10" name="Text 6"/>
          <p:cNvSpPr/>
          <p:nvPr/>
        </p:nvSpPr>
        <p:spPr>
          <a:xfrm>
            <a:off x="1106777" y="2768501"/>
            <a:ext cx="916749"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SwiftUI app</a:t>
            </a:r>
            <a:endParaRPr lang="en-US" sz="1300" dirty="0"/>
          </a:p>
        </p:txBody>
      </p:sp>
      <p:sp>
        <p:nvSpPr>
          <p:cNvPr id="11" name="Text 7"/>
          <p:cNvSpPr/>
          <p:nvPr/>
        </p:nvSpPr>
        <p:spPr>
          <a:xfrm>
            <a:off x="1044535" y="3047851"/>
            <a:ext cx="1041380"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iPhone, iOS 17+</a:t>
            </a:r>
            <a:endParaRPr lang="en-US" sz="1100" dirty="0"/>
          </a:p>
        </p:txBody>
      </p:sp>
      <p:sp>
        <p:nvSpPr>
          <p:cNvPr id="12" name="Text 8"/>
          <p:cNvSpPr/>
          <p:nvPr/>
        </p:nvSpPr>
        <p:spPr>
          <a:xfrm>
            <a:off x="2344906" y="2460575"/>
            <a:ext cx="777240" cy="285750"/>
          </a:xfrm>
          <a:prstGeom prst="rect">
            <a:avLst/>
          </a:prstGeom>
          <a:noFill/>
          <a:ln/>
        </p:spPr>
        <p:txBody>
          <a:bodyPr wrap="square" lIns="0" tIns="0" rIns="0" bIns="0" rtlCol="0" anchor="t"/>
          <a:lstStyle/>
          <a:p>
            <a:pPr algn="ctr" indent="0" marL="0">
              <a:buNone/>
            </a:pPr>
            <a:r>
              <a:rPr lang="en-US" sz="1000" dirty="0">
                <a:solidFill>
                  <a:srgbClr val="59636E"/>
                </a:solidFill>
                <a:latin typeface="Arial" pitchFamily="34" charset="0"/>
                <a:ea typeface="Arial" pitchFamily="34" charset="-122"/>
                <a:cs typeface="Arial" pitchFamily="34" charset="-120"/>
              </a:rPr>
              <a:t>HTTPS JSON</a:t>
            </a:r>
            <a:endParaRPr lang="en-US" sz="1000" dirty="0"/>
          </a:p>
        </p:txBody>
      </p:sp>
      <p:sp>
        <p:nvSpPr>
          <p:cNvPr id="13" name="Text 9"/>
          <p:cNvSpPr/>
          <p:nvPr/>
        </p:nvSpPr>
        <p:spPr>
          <a:xfrm>
            <a:off x="2616940" y="2746325"/>
            <a:ext cx="233172" cy="254050"/>
          </a:xfrm>
          <a:prstGeom prst="rect">
            <a:avLst/>
          </a:prstGeom>
          <a:noFill/>
          <a:ln/>
        </p:spPr>
        <p:txBody>
          <a:bodyPr wrap="square" lIns="0" tIns="0" rIns="0" bIns="0" rtlCol="0" anchor="t"/>
          <a:lstStyle/>
          <a:p>
            <a:pPr algn="ctr" indent="0" marL="0">
              <a:lnSpc>
                <a:spcPts val="2000"/>
              </a:lnSpc>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4" name="Text 10"/>
          <p:cNvSpPr/>
          <p:nvPr/>
        </p:nvSpPr>
        <p:spPr>
          <a:xfrm>
            <a:off x="3165277" y="1378148"/>
            <a:ext cx="5149602" cy="2704654"/>
          </a:xfrm>
          <a:prstGeom prst="roundRect">
            <a:avLst>
              <a:gd name="adj" fmla="val 4696"/>
            </a:avLst>
          </a:prstGeom>
          <a:solidFill>
            <a:srgbClr val="DDF4FF"/>
          </a:solidFill>
          <a:ln w="9525">
            <a:solidFill>
              <a:srgbClr val="9CD7FF"/>
            </a:solidFill>
          </a:ln>
        </p:spPr>
        <p:txBody>
          <a:bodyPr wrap="square" rtlCol="0" anchor="ctr"/>
          <a:lstStyle/>
          <a:p>
            <a:pPr indent="0" marL="0">
              <a:buNone/>
            </a:pPr>
            <a:endParaRPr lang="en-US" dirty="0"/>
          </a:p>
        </p:txBody>
      </p:sp>
      <p:pic>
        <p:nvPicPr>
          <p:cNvPr id="15" name="Image 2" descr="/Users/danwahlin/.copilot/session-state/a2da67da-2d7a-45f2-aa6a-2a42a7b82a72/files/build/icons/GoCloud-0969DA.png">    </p:cNvPr>
          <p:cNvPicPr>
            <a:picLocks noChangeAspect="1"/>
          </p:cNvPicPr>
          <p:nvPr/>
        </p:nvPicPr>
        <p:blipFill>
          <a:blip r:embed="rId3"/>
          <a:stretch>
            <a:fillRect/>
          </a:stretch>
        </p:blipFill>
        <p:spPr>
          <a:xfrm>
            <a:off x="3327202" y="1540073"/>
            <a:ext cx="165050" cy="165050"/>
          </a:xfrm>
          <a:prstGeom prst="rect">
            <a:avLst/>
          </a:prstGeom>
        </p:spPr>
      </p:pic>
      <p:sp>
        <p:nvSpPr>
          <p:cNvPr id="16" name="Text 11"/>
          <p:cNvSpPr/>
          <p:nvPr/>
        </p:nvSpPr>
        <p:spPr>
          <a:xfrm>
            <a:off x="3555653" y="1551087"/>
            <a:ext cx="172693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AZURE RESOURCE GROUP</a:t>
            </a:r>
            <a:endParaRPr lang="en-US" sz="1000" dirty="0"/>
          </a:p>
        </p:txBody>
      </p:sp>
      <p:sp>
        <p:nvSpPr>
          <p:cNvPr id="17" name="Text 12"/>
          <p:cNvSpPr/>
          <p:nvPr/>
        </p:nvSpPr>
        <p:spPr>
          <a:xfrm>
            <a:off x="3327202" y="2206675"/>
            <a:ext cx="1676400" cy="1288852"/>
          </a:xfrm>
          <a:prstGeom prst="roundRect">
            <a:avLst>
              <a:gd name="adj" fmla="val 7883"/>
            </a:avLst>
          </a:prstGeom>
          <a:solidFill>
            <a:srgbClr val="FFFFFF"/>
          </a:solidFill>
          <a:ln w="9525">
            <a:solidFill>
              <a:srgbClr val="9CD7FF"/>
            </a:solidFill>
          </a:ln>
        </p:spPr>
        <p:txBody>
          <a:bodyPr wrap="square" rtlCol="0" anchor="ctr"/>
          <a:lstStyle/>
          <a:p>
            <a:pPr indent="0" marL="0">
              <a:buNone/>
            </a:pPr>
            <a:endParaRPr lang="en-US" dirty="0"/>
          </a:p>
        </p:txBody>
      </p:sp>
      <p:sp>
        <p:nvSpPr>
          <p:cNvPr id="18" name="Text 13"/>
          <p:cNvSpPr/>
          <p:nvPr/>
        </p:nvSpPr>
        <p:spPr>
          <a:xfrm>
            <a:off x="3936802" y="2355800"/>
            <a:ext cx="457200" cy="457200"/>
          </a:xfrm>
          <a:prstGeom prst="roundRect">
            <a:avLst>
              <a:gd name="adj" fmla="val 16667"/>
            </a:avLst>
          </a:prstGeom>
          <a:solidFill>
            <a:srgbClr val="DDF4FF"/>
          </a:solidFill>
          <a:ln/>
        </p:spPr>
        <p:txBody>
          <a:bodyPr wrap="square" rtlCol="0" anchor="ctr"/>
          <a:lstStyle/>
          <a:p>
            <a:pPr indent="0" marL="0">
              <a:buNone/>
            </a:pPr>
            <a:endParaRPr lang="en-US" dirty="0"/>
          </a:p>
        </p:txBody>
      </p:sp>
      <p:pic>
        <p:nvPicPr>
          <p:cNvPr id="19" name="Image 3" descr="/Users/danwahlin/.copilot/session-state/a2da67da-2d7a-45f2-aa6a-2a42a7b82a72/files/build/icons/GoZap-0969DA.png">    </p:cNvPr>
          <p:cNvPicPr>
            <a:picLocks noChangeAspect="1"/>
          </p:cNvPicPr>
          <p:nvPr/>
        </p:nvPicPr>
        <p:blipFill>
          <a:blip r:embed="rId4"/>
          <a:stretch>
            <a:fillRect/>
          </a:stretch>
        </p:blipFill>
        <p:spPr>
          <a:xfrm>
            <a:off x="4038451" y="2457450"/>
            <a:ext cx="253901" cy="253901"/>
          </a:xfrm>
          <a:prstGeom prst="rect">
            <a:avLst/>
          </a:prstGeom>
        </p:spPr>
      </p:pic>
      <p:sp>
        <p:nvSpPr>
          <p:cNvPr id="20" name="Text 14"/>
          <p:cNvSpPr/>
          <p:nvPr/>
        </p:nvSpPr>
        <p:spPr>
          <a:xfrm>
            <a:off x="3602511" y="2889200"/>
            <a:ext cx="1125632"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Functions API</a:t>
            </a:r>
            <a:endParaRPr lang="en-US" sz="1300" dirty="0"/>
          </a:p>
        </p:txBody>
      </p:sp>
      <p:sp>
        <p:nvSpPr>
          <p:cNvPr id="21" name="Text 15"/>
          <p:cNvSpPr/>
          <p:nvPr/>
        </p:nvSpPr>
        <p:spPr>
          <a:xfrm>
            <a:off x="3507632" y="3168551"/>
            <a:ext cx="1315539"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Node.js + TypeScript</a:t>
            </a:r>
            <a:endParaRPr lang="en-US" sz="1100" dirty="0"/>
          </a:p>
        </p:txBody>
      </p:sp>
      <p:sp>
        <p:nvSpPr>
          <p:cNvPr id="22" name="Text 16"/>
          <p:cNvSpPr/>
          <p:nvPr/>
        </p:nvSpPr>
        <p:spPr>
          <a:xfrm>
            <a:off x="5166562" y="2652564"/>
            <a:ext cx="410480" cy="142875"/>
          </a:xfrm>
          <a:prstGeom prst="rect">
            <a:avLst/>
          </a:prstGeom>
          <a:noFill/>
          <a:ln/>
        </p:spPr>
        <p:txBody>
          <a:bodyPr wrap="square" lIns="0" tIns="0" rIns="0" bIns="0" rtlCol="0" anchor="t"/>
          <a:lstStyle/>
          <a:p>
            <a:pPr algn="ctr" indent="0" marL="0">
              <a:buNone/>
            </a:pPr>
            <a:r>
              <a:rPr lang="en-US" sz="1000" dirty="0">
                <a:solidFill>
                  <a:srgbClr val="59636E"/>
                </a:solidFill>
                <a:latin typeface="Arial" pitchFamily="34" charset="0"/>
                <a:ea typeface="Arial" pitchFamily="34" charset="-122"/>
                <a:cs typeface="Arial" pitchFamily="34" charset="-120"/>
              </a:rPr>
              <a:t>identity</a:t>
            </a:r>
            <a:endParaRPr lang="en-US" sz="1000" dirty="0"/>
          </a:p>
        </p:txBody>
      </p:sp>
      <p:sp>
        <p:nvSpPr>
          <p:cNvPr id="23" name="Text 17"/>
          <p:cNvSpPr/>
          <p:nvPr/>
        </p:nvSpPr>
        <p:spPr>
          <a:xfrm>
            <a:off x="5255216" y="2795439"/>
            <a:ext cx="233172" cy="254050"/>
          </a:xfrm>
          <a:prstGeom prst="rect">
            <a:avLst/>
          </a:prstGeom>
          <a:noFill/>
          <a:ln/>
        </p:spPr>
        <p:txBody>
          <a:bodyPr wrap="square" lIns="0" tIns="0" rIns="0" bIns="0" rtlCol="0" anchor="t"/>
          <a:lstStyle/>
          <a:p>
            <a:pPr algn="ctr" indent="0" marL="0">
              <a:lnSpc>
                <a:spcPts val="2000"/>
              </a:lnSpc>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24" name="Text 18"/>
          <p:cNvSpPr/>
          <p:nvPr/>
        </p:nvSpPr>
        <p:spPr>
          <a:xfrm>
            <a:off x="5740003" y="1781324"/>
            <a:ext cx="2412950" cy="653951"/>
          </a:xfrm>
          <a:prstGeom prst="roundRect">
            <a:avLst>
              <a:gd name="adj" fmla="val 15536"/>
            </a:avLst>
          </a:prstGeom>
          <a:solidFill>
            <a:srgbClr val="FFFFFF"/>
          </a:solidFill>
          <a:ln w="9525">
            <a:solidFill>
              <a:srgbClr val="8CE7A5"/>
            </a:solidFill>
          </a:ln>
        </p:spPr>
        <p:txBody>
          <a:bodyPr wrap="square" rtlCol="0" anchor="ctr"/>
          <a:lstStyle/>
          <a:p>
            <a:pPr indent="0" marL="0">
              <a:buNone/>
            </a:pPr>
            <a:endParaRPr lang="en-US" dirty="0"/>
          </a:p>
        </p:txBody>
      </p:sp>
      <p:sp>
        <p:nvSpPr>
          <p:cNvPr id="25" name="Text 19"/>
          <p:cNvSpPr/>
          <p:nvPr/>
        </p:nvSpPr>
        <p:spPr>
          <a:xfrm>
            <a:off x="5901928" y="1905149"/>
            <a:ext cx="406301" cy="406301"/>
          </a:xfrm>
          <a:prstGeom prst="roundRect">
            <a:avLst>
              <a:gd name="adj" fmla="val 18755"/>
            </a:avLst>
          </a:prstGeom>
          <a:solidFill>
            <a:srgbClr val="DAFBE1"/>
          </a:solidFill>
          <a:ln/>
        </p:spPr>
        <p:txBody>
          <a:bodyPr wrap="square" rtlCol="0" anchor="ctr"/>
          <a:lstStyle/>
          <a:p>
            <a:pPr indent="0" marL="0">
              <a:buNone/>
            </a:pPr>
            <a:endParaRPr lang="en-US" dirty="0"/>
          </a:p>
        </p:txBody>
      </p:sp>
      <p:pic>
        <p:nvPicPr>
          <p:cNvPr id="26" name="Image 4" descr="/Users/danwahlin/.copilot/session-state/a2da67da-2d7a-45f2-aa6a-2a42a7b82a72/files/build/icons/GoDatabase-1A7F37.png">    </p:cNvPr>
          <p:cNvPicPr>
            <a:picLocks noChangeAspect="1"/>
          </p:cNvPicPr>
          <p:nvPr/>
        </p:nvPicPr>
        <p:blipFill>
          <a:blip r:embed="rId5"/>
          <a:stretch>
            <a:fillRect/>
          </a:stretch>
        </p:blipFill>
        <p:spPr>
          <a:xfrm>
            <a:off x="5990779" y="1993999"/>
            <a:ext cx="228600" cy="228600"/>
          </a:xfrm>
          <a:prstGeom prst="rect">
            <a:avLst/>
          </a:prstGeom>
        </p:spPr>
      </p:pic>
      <p:sp>
        <p:nvSpPr>
          <p:cNvPr id="27" name="Text 20"/>
          <p:cNvSpPr/>
          <p:nvPr/>
        </p:nvSpPr>
        <p:spPr>
          <a:xfrm>
            <a:off x="6435179" y="1919436"/>
            <a:ext cx="882896" cy="200025"/>
          </a:xfrm>
          <a:prstGeom prst="rect">
            <a:avLst/>
          </a:prstGeom>
          <a:noFill/>
          <a:ln/>
        </p:spPr>
        <p:txBody>
          <a:bodyPr wrap="square" lIns="0" tIns="0" rIns="0" bIns="0" rtlCol="0" anchor="t"/>
          <a:lstStyle/>
          <a:p>
            <a:pPr algn="l" indent="0" marL="0">
              <a:buNone/>
            </a:pPr>
            <a:r>
              <a:rPr lang="en-US" sz="1300" b="1" dirty="0">
                <a:solidFill>
                  <a:srgbClr val="1F2328"/>
                </a:solidFill>
                <a:latin typeface="Arial" pitchFamily="34" charset="0"/>
                <a:ea typeface="Arial" pitchFamily="34" charset="-122"/>
                <a:cs typeface="Arial" pitchFamily="34" charset="-120"/>
              </a:rPr>
              <a:t>Azure SQL</a:t>
            </a:r>
            <a:endParaRPr lang="en-US" sz="1300" dirty="0"/>
          </a:p>
        </p:txBody>
      </p:sp>
      <p:sp>
        <p:nvSpPr>
          <p:cNvPr id="28" name="Text 21"/>
          <p:cNvSpPr/>
          <p:nvPr/>
        </p:nvSpPr>
        <p:spPr>
          <a:xfrm>
            <a:off x="6435179" y="2144762"/>
            <a:ext cx="882896" cy="152400"/>
          </a:xfrm>
          <a:prstGeom prst="rect">
            <a:avLst/>
          </a:prstGeom>
          <a:noFill/>
          <a:ln/>
        </p:spPr>
        <p:txBody>
          <a:bodyPr wrap="square" lIns="0" tIns="0" rIns="0" bIns="0" rtlCol="0" anchor="t"/>
          <a:lstStyle/>
          <a:p>
            <a:pPr algn="l" indent="0" marL="0">
              <a:buNone/>
            </a:pPr>
            <a:r>
              <a:rPr lang="en-US" sz="1100" dirty="0">
                <a:solidFill>
                  <a:srgbClr val="59636E"/>
                </a:solidFill>
                <a:latin typeface="Arial" pitchFamily="34" charset="0"/>
                <a:ea typeface="Arial" pitchFamily="34" charset="-122"/>
                <a:cs typeface="Arial" pitchFamily="34" charset="-120"/>
              </a:rPr>
              <a:t>Todos + steps</a:t>
            </a:r>
            <a:endParaRPr lang="en-US" sz="1100" dirty="0"/>
          </a:p>
        </p:txBody>
      </p:sp>
      <p:sp>
        <p:nvSpPr>
          <p:cNvPr id="29" name="Text 22"/>
          <p:cNvSpPr/>
          <p:nvPr/>
        </p:nvSpPr>
        <p:spPr>
          <a:xfrm>
            <a:off x="5740003" y="2524125"/>
            <a:ext cx="2412950" cy="653951"/>
          </a:xfrm>
          <a:prstGeom prst="roundRect">
            <a:avLst>
              <a:gd name="adj" fmla="val 15536"/>
            </a:avLst>
          </a:prstGeom>
          <a:solidFill>
            <a:srgbClr val="FFFFFF"/>
          </a:solidFill>
          <a:ln w="9525">
            <a:solidFill>
              <a:srgbClr val="FFC49B"/>
            </a:solidFill>
          </a:ln>
        </p:spPr>
        <p:txBody>
          <a:bodyPr wrap="square" rtlCol="0" anchor="ctr"/>
          <a:lstStyle/>
          <a:p>
            <a:pPr indent="0" marL="0">
              <a:buNone/>
            </a:pPr>
            <a:endParaRPr lang="en-US" dirty="0"/>
          </a:p>
        </p:txBody>
      </p:sp>
      <p:sp>
        <p:nvSpPr>
          <p:cNvPr id="30" name="Text 23"/>
          <p:cNvSpPr/>
          <p:nvPr/>
        </p:nvSpPr>
        <p:spPr>
          <a:xfrm>
            <a:off x="5901928" y="2647950"/>
            <a:ext cx="406301" cy="406301"/>
          </a:xfrm>
          <a:prstGeom prst="roundRect">
            <a:avLst>
              <a:gd name="adj" fmla="val 18755"/>
            </a:avLst>
          </a:prstGeom>
          <a:solidFill>
            <a:srgbClr val="FFF1E5"/>
          </a:solidFill>
          <a:ln/>
        </p:spPr>
        <p:txBody>
          <a:bodyPr wrap="square" rtlCol="0" anchor="ctr"/>
          <a:lstStyle/>
          <a:p>
            <a:pPr indent="0" marL="0">
              <a:buNone/>
            </a:pPr>
            <a:endParaRPr lang="en-US" dirty="0"/>
          </a:p>
        </p:txBody>
      </p:sp>
      <p:pic>
        <p:nvPicPr>
          <p:cNvPr id="31" name="Image 5" descr="/Users/danwahlin/.copilot/session-state/a2da67da-2d7a-45f2-aa6a-2a42a7b82a72/files/build/icons/GoCopilot-BC4C00.png">    </p:cNvPr>
          <p:cNvPicPr>
            <a:picLocks noChangeAspect="1"/>
          </p:cNvPicPr>
          <p:nvPr/>
        </p:nvPicPr>
        <p:blipFill>
          <a:blip r:embed="rId6"/>
          <a:stretch>
            <a:fillRect/>
          </a:stretch>
        </p:blipFill>
        <p:spPr>
          <a:xfrm>
            <a:off x="5990779" y="2736800"/>
            <a:ext cx="228600" cy="228600"/>
          </a:xfrm>
          <a:prstGeom prst="rect">
            <a:avLst/>
          </a:prstGeom>
        </p:spPr>
      </p:pic>
      <p:sp>
        <p:nvSpPr>
          <p:cNvPr id="32" name="Text 24"/>
          <p:cNvSpPr/>
          <p:nvPr/>
        </p:nvSpPr>
        <p:spPr>
          <a:xfrm>
            <a:off x="6435179" y="2662238"/>
            <a:ext cx="1477970" cy="200025"/>
          </a:xfrm>
          <a:prstGeom prst="rect">
            <a:avLst/>
          </a:prstGeom>
          <a:noFill/>
          <a:ln/>
        </p:spPr>
        <p:txBody>
          <a:bodyPr wrap="square" lIns="0" tIns="0" rIns="0" bIns="0" rtlCol="0" anchor="t"/>
          <a:lstStyle/>
          <a:p>
            <a:pPr algn="l" indent="0" marL="0">
              <a:buNone/>
            </a:pPr>
            <a:r>
              <a:rPr lang="en-US" sz="1300" b="1" dirty="0">
                <a:solidFill>
                  <a:srgbClr val="1F2328"/>
                </a:solidFill>
                <a:latin typeface="Arial" pitchFamily="34" charset="0"/>
                <a:ea typeface="Arial" pitchFamily="34" charset="-122"/>
                <a:cs typeface="Arial" pitchFamily="34" charset="-120"/>
              </a:rPr>
              <a:t>Microsoft Foundry</a:t>
            </a:r>
            <a:endParaRPr lang="en-US" sz="1300" dirty="0"/>
          </a:p>
        </p:txBody>
      </p:sp>
      <p:sp>
        <p:nvSpPr>
          <p:cNvPr id="33" name="Text 25"/>
          <p:cNvSpPr/>
          <p:nvPr/>
        </p:nvSpPr>
        <p:spPr>
          <a:xfrm>
            <a:off x="6435179" y="2887563"/>
            <a:ext cx="1477970" cy="152400"/>
          </a:xfrm>
          <a:prstGeom prst="rect">
            <a:avLst/>
          </a:prstGeom>
          <a:noFill/>
          <a:ln/>
        </p:spPr>
        <p:txBody>
          <a:bodyPr wrap="square" lIns="0" tIns="0" rIns="0" bIns="0" rtlCol="0" anchor="t"/>
          <a:lstStyle/>
          <a:p>
            <a:pPr algn="l" indent="0" marL="0">
              <a:buNone/>
            </a:pPr>
            <a:r>
              <a:rPr lang="en-US" sz="1100" dirty="0">
                <a:solidFill>
                  <a:srgbClr val="59636E"/>
                </a:solidFill>
                <a:latin typeface="Arial" pitchFamily="34" charset="0"/>
                <a:ea typeface="Arial" pitchFamily="34" charset="-122"/>
                <a:cs typeface="Arial" pitchFamily="34" charset="-120"/>
              </a:rPr>
              <a:t>gpt-5-mini</a:t>
            </a:r>
            <a:endParaRPr lang="en-US" sz="1100" dirty="0"/>
          </a:p>
        </p:txBody>
      </p:sp>
      <p:sp>
        <p:nvSpPr>
          <p:cNvPr id="34" name="Text 26"/>
          <p:cNvSpPr/>
          <p:nvPr/>
        </p:nvSpPr>
        <p:spPr>
          <a:xfrm>
            <a:off x="5740003" y="3266926"/>
            <a:ext cx="2412950" cy="653951"/>
          </a:xfrm>
          <a:prstGeom prst="roundRect">
            <a:avLst>
              <a:gd name="adj" fmla="val 15536"/>
            </a:avLst>
          </a:prstGeom>
          <a:solidFill>
            <a:srgbClr val="FFFFFF"/>
          </a:solidFill>
          <a:ln w="9525">
            <a:solidFill>
              <a:srgbClr val="D1D9E0"/>
            </a:solidFill>
          </a:ln>
        </p:spPr>
        <p:txBody>
          <a:bodyPr wrap="square" rtlCol="0" anchor="ctr"/>
          <a:lstStyle/>
          <a:p>
            <a:pPr indent="0" marL="0">
              <a:buNone/>
            </a:pPr>
            <a:endParaRPr lang="en-US" dirty="0"/>
          </a:p>
        </p:txBody>
      </p:sp>
      <p:sp>
        <p:nvSpPr>
          <p:cNvPr id="35" name="Text 27"/>
          <p:cNvSpPr/>
          <p:nvPr/>
        </p:nvSpPr>
        <p:spPr>
          <a:xfrm>
            <a:off x="5901928" y="3390751"/>
            <a:ext cx="406301" cy="406301"/>
          </a:xfrm>
          <a:prstGeom prst="roundRect">
            <a:avLst>
              <a:gd name="adj" fmla="val 18755"/>
            </a:avLst>
          </a:prstGeom>
          <a:solidFill>
            <a:srgbClr val="F6F8FA"/>
          </a:solidFill>
          <a:ln/>
        </p:spPr>
        <p:txBody>
          <a:bodyPr wrap="square" rtlCol="0" anchor="ctr"/>
          <a:lstStyle/>
          <a:p>
            <a:pPr indent="0" marL="0">
              <a:buNone/>
            </a:pPr>
            <a:endParaRPr lang="en-US" dirty="0"/>
          </a:p>
        </p:txBody>
      </p:sp>
      <p:pic>
        <p:nvPicPr>
          <p:cNvPr id="36" name="Image 6" descr="/Users/danwahlin/.copilot/session-state/a2da67da-2d7a-45f2-aa6a-2a42a7b82a72/files/build/icons/GoPackage-59636E.png">    </p:cNvPr>
          <p:cNvPicPr>
            <a:picLocks noChangeAspect="1"/>
          </p:cNvPicPr>
          <p:nvPr/>
        </p:nvPicPr>
        <p:blipFill>
          <a:blip r:embed="rId7"/>
          <a:stretch>
            <a:fillRect/>
          </a:stretch>
        </p:blipFill>
        <p:spPr>
          <a:xfrm>
            <a:off x="5990779" y="3479602"/>
            <a:ext cx="228600" cy="228600"/>
          </a:xfrm>
          <a:prstGeom prst="rect">
            <a:avLst/>
          </a:prstGeom>
        </p:spPr>
      </p:pic>
      <p:sp>
        <p:nvSpPr>
          <p:cNvPr id="37" name="Text 28"/>
          <p:cNvSpPr/>
          <p:nvPr/>
        </p:nvSpPr>
        <p:spPr>
          <a:xfrm>
            <a:off x="6435179" y="3405039"/>
            <a:ext cx="1132008" cy="200025"/>
          </a:xfrm>
          <a:prstGeom prst="rect">
            <a:avLst/>
          </a:prstGeom>
          <a:noFill/>
          <a:ln/>
        </p:spPr>
        <p:txBody>
          <a:bodyPr wrap="square" lIns="0" tIns="0" rIns="0" bIns="0" rtlCol="0" anchor="t"/>
          <a:lstStyle/>
          <a:p>
            <a:pPr algn="l" indent="0" marL="0">
              <a:buNone/>
            </a:pPr>
            <a:r>
              <a:rPr lang="en-US" sz="1300" b="1" dirty="0">
                <a:solidFill>
                  <a:srgbClr val="1F2328"/>
                </a:solidFill>
                <a:latin typeface="Arial" pitchFamily="34" charset="0"/>
                <a:ea typeface="Arial" pitchFamily="34" charset="-122"/>
                <a:cs typeface="Arial" pitchFamily="34" charset="-120"/>
              </a:rPr>
              <a:t>Storage</a:t>
            </a:r>
            <a:endParaRPr lang="en-US" sz="1300" dirty="0"/>
          </a:p>
        </p:txBody>
      </p:sp>
      <p:sp>
        <p:nvSpPr>
          <p:cNvPr id="38" name="Text 29"/>
          <p:cNvSpPr/>
          <p:nvPr/>
        </p:nvSpPr>
        <p:spPr>
          <a:xfrm>
            <a:off x="6435179" y="3630364"/>
            <a:ext cx="1132008" cy="152400"/>
          </a:xfrm>
          <a:prstGeom prst="rect">
            <a:avLst/>
          </a:prstGeom>
          <a:noFill/>
          <a:ln/>
        </p:spPr>
        <p:txBody>
          <a:bodyPr wrap="square" lIns="0" tIns="0" rIns="0" bIns="0" rtlCol="0" anchor="t"/>
          <a:lstStyle/>
          <a:p>
            <a:pPr algn="l" indent="0" marL="0">
              <a:buNone/>
            </a:pPr>
            <a:r>
              <a:rPr lang="en-US" sz="1100" dirty="0">
                <a:solidFill>
                  <a:srgbClr val="59636E"/>
                </a:solidFill>
                <a:latin typeface="Arial" pitchFamily="34" charset="0"/>
                <a:ea typeface="Arial" pitchFamily="34" charset="-122"/>
                <a:cs typeface="Arial" pitchFamily="34" charset="-120"/>
              </a:rPr>
              <a:t>Functions runtime</a:t>
            </a:r>
            <a:endParaRPr lang="en-US" sz="1100" dirty="0"/>
          </a:p>
        </p:txBody>
      </p:sp>
      <p:sp>
        <p:nvSpPr>
          <p:cNvPr id="39" name="Text 30"/>
          <p:cNvSpPr/>
          <p:nvPr/>
        </p:nvSpPr>
        <p:spPr>
          <a:xfrm>
            <a:off x="3295948" y="4311402"/>
            <a:ext cx="381000" cy="381000"/>
          </a:xfrm>
          <a:prstGeom prst="roundRect">
            <a:avLst>
              <a:gd name="adj" fmla="val 20000"/>
            </a:avLst>
          </a:prstGeom>
          <a:solidFill>
            <a:srgbClr val="F6F8FA"/>
          </a:solidFill>
          <a:ln/>
        </p:spPr>
        <p:txBody>
          <a:bodyPr wrap="square" rtlCol="0" anchor="ctr"/>
          <a:lstStyle/>
          <a:p>
            <a:pPr indent="0" marL="0">
              <a:buNone/>
            </a:pPr>
            <a:endParaRPr lang="en-US" dirty="0"/>
          </a:p>
        </p:txBody>
      </p:sp>
      <p:pic>
        <p:nvPicPr>
          <p:cNvPr id="40" name="Image 7" descr="/Users/danwahlin/.copilot/session-state/a2da67da-2d7a-45f2-aa6a-2a42a7b82a72/files/build/icons/GoGraph-59636E.png">    </p:cNvPr>
          <p:cNvPicPr>
            <a:picLocks noChangeAspect="1"/>
          </p:cNvPicPr>
          <p:nvPr/>
        </p:nvPicPr>
        <p:blipFill>
          <a:blip r:embed="rId8"/>
          <a:stretch>
            <a:fillRect/>
          </a:stretch>
        </p:blipFill>
        <p:spPr>
          <a:xfrm>
            <a:off x="3378547" y="4394002"/>
            <a:ext cx="215801" cy="215801"/>
          </a:xfrm>
          <a:prstGeom prst="rect">
            <a:avLst/>
          </a:prstGeom>
        </p:spPr>
      </p:pic>
      <p:sp>
        <p:nvSpPr>
          <p:cNvPr id="41" name="Text 31"/>
          <p:cNvSpPr/>
          <p:nvPr/>
        </p:nvSpPr>
        <p:spPr>
          <a:xfrm>
            <a:off x="3778448" y="4401889"/>
            <a:ext cx="2110692" cy="200025"/>
          </a:xfrm>
          <a:prstGeom prst="rect">
            <a:avLst/>
          </a:prstGeom>
          <a:noFill/>
          <a:ln/>
        </p:spPr>
        <p:txBody>
          <a:bodyPr wrap="square" lIns="0" tIns="0" rIns="0" bIns="0" rtlCol="0" anchor="t"/>
          <a:lstStyle/>
          <a:p>
            <a:pPr algn="l" indent="0" marL="0">
              <a:buNone/>
            </a:pPr>
            <a:r>
              <a:rPr lang="en-US" sz="1300" dirty="0">
                <a:solidFill>
                  <a:srgbClr val="59636E"/>
                </a:solidFill>
                <a:latin typeface="Arial" pitchFamily="34" charset="0"/>
                <a:ea typeface="Arial" pitchFamily="34" charset="-122"/>
                <a:cs typeface="Arial" pitchFamily="34" charset="-120"/>
              </a:rPr>
              <a:t>App Insights + Log Analytics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0969DA"/>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0969DA"/>
                </a:solidFill>
                <a:latin typeface="Arial" pitchFamily="34" charset="0"/>
                <a:ea typeface="Arial" pitchFamily="34" charset="-122"/>
                <a:cs typeface="Arial" pitchFamily="34" charset="-120"/>
              </a:rPr>
              <a:t>01</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1 OF 4</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Plan the work</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Turn the architecture into GitHub issues, and put CI and branch protection in place before any code.</a:t>
            </a:r>
            <a:endParaRPr lang="en-US" sz="1600" dirty="0"/>
          </a:p>
        </p:txBody>
      </p:sp>
      <p:sp>
        <p:nvSpPr>
          <p:cNvPr id="10" name="Text 7"/>
          <p:cNvSpPr/>
          <p:nvPr/>
        </p:nvSpPr>
        <p:spPr>
          <a:xfrm>
            <a:off x="5486400" y="914400"/>
            <a:ext cx="2793950" cy="2793950"/>
          </a:xfrm>
          <a:prstGeom prst="roundRect">
            <a:avLst>
              <a:gd name="adj" fmla="val 32728"/>
            </a:avLst>
          </a:prstGeom>
          <a:solidFill>
            <a:srgbClr val="DDF4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IssueOpened-0969DA.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352401" cy="361652"/>
          </a:xfrm>
          <a:prstGeom prst="roundRect">
            <a:avLst>
              <a:gd name="adj" fmla="val 52675"/>
            </a:avLst>
          </a:prstGeom>
          <a:solidFill>
            <a:srgbClr val="0969DA"/>
          </a:solidFill>
          <a:ln w="9525">
            <a:solidFill>
              <a:srgbClr val="0969DA"/>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0969DA"/>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842061"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Plan the work</a:t>
            </a:r>
            <a:endParaRPr lang="en-US" sz="1000" dirty="0"/>
          </a:p>
        </p:txBody>
      </p:sp>
      <p:sp>
        <p:nvSpPr>
          <p:cNvPr id="16" name="Text 12"/>
          <p:cNvSpPr/>
          <p:nvPr/>
        </p:nvSpPr>
        <p:spPr>
          <a:xfrm>
            <a:off x="2012603" y="4368701"/>
            <a:ext cx="1387525"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098328"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173742"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390329" y="4478089"/>
            <a:ext cx="877887"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Build test-first</a:t>
            </a:r>
            <a:endParaRPr lang="en-US" sz="1000" dirty="0"/>
          </a:p>
        </p:txBody>
      </p:sp>
      <p:sp>
        <p:nvSpPr>
          <p:cNvPr id="20" name="Text 16"/>
          <p:cNvSpPr/>
          <p:nvPr/>
        </p:nvSpPr>
        <p:spPr>
          <a:xfrm>
            <a:off x="3501628" y="4368701"/>
            <a:ext cx="1488728"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587353"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662767"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3879354" y="4478089"/>
            <a:ext cx="981114"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Deploy to Azure</a:t>
            </a:r>
            <a:endParaRPr lang="en-US" sz="1000" dirty="0"/>
          </a:p>
        </p:txBody>
      </p:sp>
      <p:sp>
        <p:nvSpPr>
          <p:cNvPr id="24" name="Text 20"/>
          <p:cNvSpPr/>
          <p:nvPr/>
        </p:nvSpPr>
        <p:spPr>
          <a:xfrm>
            <a:off x="5091857" y="4368701"/>
            <a:ext cx="1211312"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5177582"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6" name="Text 22"/>
          <p:cNvSpPr/>
          <p:nvPr/>
        </p:nvSpPr>
        <p:spPr>
          <a:xfrm>
            <a:off x="5252996"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4</a:t>
            </a:r>
            <a:endParaRPr lang="en-US" sz="900" dirty="0"/>
          </a:p>
        </p:txBody>
      </p:sp>
      <p:sp>
        <p:nvSpPr>
          <p:cNvPr id="27" name="Text 23"/>
          <p:cNvSpPr/>
          <p:nvPr/>
        </p:nvSpPr>
        <p:spPr>
          <a:xfrm>
            <a:off x="5469582" y="4478089"/>
            <a:ext cx="698150"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The factory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ONE-TIME SETUP</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Guardrails before code</a:t>
            </a:r>
            <a:endParaRPr lang="en-US" sz="2800" dirty="0"/>
          </a:p>
        </p:txBody>
      </p:sp>
      <p:sp>
        <p:nvSpPr>
          <p:cNvPr id="7" name="Text 4"/>
          <p:cNvSpPr/>
          <p:nvPr/>
        </p:nvSpPr>
        <p:spPr>
          <a:xfrm>
            <a:off x="795338" y="2268141"/>
            <a:ext cx="4825901" cy="1534269"/>
          </a:xfrm>
          <a:prstGeom prst="roundRect">
            <a:avLst>
              <a:gd name="adj" fmla="val 6622"/>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795338" y="2268141"/>
            <a:ext cx="4825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922288" y="2350591"/>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074539" y="2350591"/>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226790" y="2350591"/>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480542" y="2323654"/>
            <a:ext cx="621792"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a:t>
            </a:r>
            <a:endParaRPr lang="en-US" sz="1000" dirty="0"/>
          </a:p>
        </p:txBody>
      </p:sp>
      <p:sp>
        <p:nvSpPr>
          <p:cNvPr id="13" name="Text 10"/>
          <p:cNvSpPr/>
          <p:nvPr/>
        </p:nvSpPr>
        <p:spPr>
          <a:xfrm>
            <a:off x="1023938" y="2699742"/>
            <a:ext cx="4456075" cy="255836"/>
          </a:xfrm>
          <a:prstGeom prst="rect">
            <a:avLst/>
          </a:prstGeom>
          <a:noFill/>
          <a:ln/>
        </p:spPr>
        <p:txBody>
          <a:bodyPr wrap="square" lIns="0" tIns="0" rIns="0" bIns="0" rtlCol="0" anchor="t"/>
          <a:lstStyle/>
          <a:p>
            <a:pPr algn="l" indent="0" marL="0">
              <a:lnSpc>
                <a:spcPts val="2015"/>
              </a:lnSpc>
              <a:buNone/>
            </a:pPr>
            <a:r>
              <a:rPr lang="en-US" sz="1300" b="1" dirty="0">
                <a:solidFill>
                  <a:srgbClr val="3FB950"/>
                </a:solidFill>
                <a:latin typeface="Courier New" pitchFamily="34" charset="0"/>
                <a:ea typeface="Courier New" pitchFamily="34" charset="-122"/>
                <a:cs typeface="Courier New" pitchFamily="34" charset="-120"/>
              </a:rPr>
              <a:t>$</a:t>
            </a:r>
            <a:pPr algn="l" indent="0" marL="0">
              <a:lnSpc>
                <a:spcPts val="2015"/>
              </a:lnSpc>
              <a:buNone/>
            </a:pPr>
            <a:r>
              <a:rPr lang="en-US" sz="1300" dirty="0">
                <a:solidFill>
                  <a:srgbClr val="E6EDF3"/>
                </a:solidFill>
                <a:latin typeface="Courier New" pitchFamily="34" charset="0"/>
                <a:ea typeface="Courier New" pitchFamily="34" charset="-122"/>
                <a:cs typeface="Courier New" pitchFamily="34" charset="-120"/>
              </a:rPr>
              <a:t> node journeys/smart-todo/setup/setup.mjs</a:t>
            </a:r>
            <a:endParaRPr lang="en-US" sz="1300" dirty="0"/>
          </a:p>
        </p:txBody>
      </p:sp>
      <p:sp>
        <p:nvSpPr>
          <p:cNvPr id="14" name="Text 11"/>
          <p:cNvSpPr/>
          <p:nvPr/>
        </p:nvSpPr>
        <p:spPr>
          <a:xfrm>
            <a:off x="1023938" y="3087588"/>
            <a:ext cx="4456075" cy="255836"/>
          </a:xfrm>
          <a:prstGeom prst="rect">
            <a:avLst/>
          </a:prstGeom>
          <a:noFill/>
          <a:ln/>
        </p:spPr>
        <p:txBody>
          <a:bodyPr wrap="square" lIns="0" tIns="0" rIns="0" bIns="0" rtlCol="0" anchor="t"/>
          <a:lstStyle/>
          <a:p>
            <a:pPr algn="l" indent="0" marL="0">
              <a:lnSpc>
                <a:spcPts val="2015"/>
              </a:lnSpc>
              <a:buNone/>
            </a:pPr>
            <a:r>
              <a:rPr lang="en-US" sz="1300" dirty="0">
                <a:solidFill>
                  <a:srgbClr val="E6EDF3"/>
                </a:solidFill>
                <a:latin typeface="Courier New" pitchFamily="34" charset="0"/>
                <a:ea typeface="Courier New" pitchFamily="34" charset="-122"/>
                <a:cs typeface="Courier New" pitchFamily="34" charset="-120"/>
              </a:rPr>
              <a:t>Ruleset: active</a:t>
            </a:r>
            <a:endParaRPr lang="en-US" sz="1300" dirty="0"/>
          </a:p>
        </p:txBody>
      </p:sp>
      <p:sp>
        <p:nvSpPr>
          <p:cNvPr id="15" name="Text 12"/>
          <p:cNvSpPr/>
          <p:nvPr/>
        </p:nvSpPr>
        <p:spPr>
          <a:xfrm>
            <a:off x="1023938" y="3343424"/>
            <a:ext cx="4456075" cy="255836"/>
          </a:xfrm>
          <a:prstGeom prst="rect">
            <a:avLst/>
          </a:prstGeom>
          <a:noFill/>
          <a:ln/>
        </p:spPr>
        <p:txBody>
          <a:bodyPr wrap="square" lIns="0" tIns="0" rIns="0" bIns="0" rtlCol="0" anchor="t"/>
          <a:lstStyle/>
          <a:p>
            <a:pPr algn="l" indent="0" marL="0">
              <a:lnSpc>
                <a:spcPts val="2015"/>
              </a:lnSpc>
              <a:buNone/>
            </a:pPr>
            <a:r>
              <a:rPr lang="en-US" sz="1300" dirty="0">
                <a:solidFill>
                  <a:srgbClr val="E6EDF3"/>
                </a:solidFill>
                <a:latin typeface="Courier New" pitchFamily="34" charset="0"/>
                <a:ea typeface="Courier New" pitchFamily="34" charset="-122"/>
                <a:cs typeface="Courier New" pitchFamily="34" charset="-120"/>
              </a:rPr>
              <a:t>CI on main: success</a:t>
            </a:r>
            <a:endParaRPr lang="en-US" sz="1300" dirty="0"/>
          </a:p>
        </p:txBody>
      </p:sp>
      <p:sp>
        <p:nvSpPr>
          <p:cNvPr id="16" name="Text 13"/>
          <p:cNvSpPr/>
          <p:nvPr/>
        </p:nvSpPr>
        <p:spPr>
          <a:xfrm>
            <a:off x="5951339" y="2184499"/>
            <a:ext cx="431750" cy="431750"/>
          </a:xfrm>
          <a:prstGeom prst="roundRect">
            <a:avLst>
              <a:gd name="adj" fmla="val 17649"/>
            </a:avLst>
          </a:prstGeom>
          <a:solidFill>
            <a:srgbClr val="F6F8FA"/>
          </a:solidFill>
          <a:ln/>
        </p:spPr>
        <p:txBody>
          <a:bodyPr wrap="square" rtlCol="0" anchor="ctr"/>
          <a:lstStyle/>
          <a:p>
            <a:pPr indent="0" marL="0">
              <a:buNone/>
            </a:pPr>
            <a:endParaRPr lang="en-US" dirty="0"/>
          </a:p>
        </p:txBody>
      </p:sp>
      <p:pic>
        <p:nvPicPr>
          <p:cNvPr id="17" name="Image 1" descr="/Users/danwahlin/.copilot/session-state/a2da67da-2d7a-45f2-aa6a-2a42a7b82a72/files/build/icons/FaGithub-1F2328.png">    </p:cNvPr>
          <p:cNvPicPr>
            <a:picLocks noChangeAspect="1"/>
          </p:cNvPicPr>
          <p:nvPr/>
        </p:nvPicPr>
        <p:blipFill>
          <a:blip r:embed="rId2"/>
          <a:stretch>
            <a:fillRect/>
          </a:stretch>
        </p:blipFill>
        <p:spPr>
          <a:xfrm>
            <a:off x="6046589" y="2279749"/>
            <a:ext cx="241250" cy="241250"/>
          </a:xfrm>
          <a:prstGeom prst="rect">
            <a:avLst/>
          </a:prstGeom>
        </p:spPr>
      </p:pic>
      <p:sp>
        <p:nvSpPr>
          <p:cNvPr id="18" name="Text 14"/>
          <p:cNvSpPr/>
          <p:nvPr/>
        </p:nvSpPr>
        <p:spPr>
          <a:xfrm>
            <a:off x="6510040" y="2290763"/>
            <a:ext cx="1874940" cy="219075"/>
          </a:xfrm>
          <a:prstGeom prst="rect">
            <a:avLst/>
          </a:prstGeom>
          <a:noFill/>
          <a:ln/>
        </p:spPr>
        <p:txBody>
          <a:bodyPr wrap="square" lIns="0" tIns="0" rIns="0" bIns="0" rtlCol="0" anchor="t"/>
          <a:lstStyle/>
          <a:p>
            <a:pPr algn="l" indent="0" marL="0">
              <a:buNone/>
            </a:pPr>
            <a:r>
              <a:rPr lang="en-US" sz="1500" b="1" dirty="0">
                <a:solidFill>
                  <a:srgbClr val="1F2328"/>
                </a:solidFill>
                <a:latin typeface="Arial" pitchFamily="34" charset="0"/>
                <a:ea typeface="Arial" pitchFamily="34" charset="-122"/>
                <a:cs typeface="Arial" pitchFamily="34" charset="-120"/>
              </a:rPr>
              <a:t>Your own repository</a:t>
            </a:r>
            <a:endParaRPr lang="en-US" sz="1500" dirty="0"/>
          </a:p>
        </p:txBody>
      </p:sp>
      <p:sp>
        <p:nvSpPr>
          <p:cNvPr id="19" name="Text 15"/>
          <p:cNvSpPr/>
          <p:nvPr/>
        </p:nvSpPr>
        <p:spPr>
          <a:xfrm>
            <a:off x="5951339" y="2819400"/>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20" name="Image 2" descr="/Users/danwahlin/.copilot/session-state/a2da67da-2d7a-45f2-aa6a-2a42a7b82a72/files/build/icons/GoWorkflow-0969DA.png">    </p:cNvPr>
          <p:cNvPicPr>
            <a:picLocks noChangeAspect="1"/>
          </p:cNvPicPr>
          <p:nvPr/>
        </p:nvPicPr>
        <p:blipFill>
          <a:blip r:embed="rId3"/>
          <a:stretch>
            <a:fillRect/>
          </a:stretch>
        </p:blipFill>
        <p:spPr>
          <a:xfrm>
            <a:off x="6046589" y="2914650"/>
            <a:ext cx="241250" cy="241250"/>
          </a:xfrm>
          <a:prstGeom prst="rect">
            <a:avLst/>
          </a:prstGeom>
        </p:spPr>
      </p:pic>
      <p:sp>
        <p:nvSpPr>
          <p:cNvPr id="21" name="Text 16"/>
          <p:cNvSpPr/>
          <p:nvPr/>
        </p:nvSpPr>
        <p:spPr>
          <a:xfrm>
            <a:off x="6510040" y="2925663"/>
            <a:ext cx="1511519" cy="219075"/>
          </a:xfrm>
          <a:prstGeom prst="rect">
            <a:avLst/>
          </a:prstGeom>
          <a:noFill/>
          <a:ln/>
        </p:spPr>
        <p:txBody>
          <a:bodyPr wrap="square" lIns="0" tIns="0" rIns="0" bIns="0" rtlCol="0" anchor="t"/>
          <a:lstStyle/>
          <a:p>
            <a:pPr algn="l" indent="0" marL="0">
              <a:buNone/>
            </a:pPr>
            <a:r>
              <a:rPr lang="en-US" sz="1500" b="1" dirty="0">
                <a:solidFill>
                  <a:srgbClr val="1F2328"/>
                </a:solidFill>
                <a:latin typeface="Arial" pitchFamily="34" charset="0"/>
                <a:ea typeface="Arial" pitchFamily="34" charset="-122"/>
                <a:cs typeface="Arial" pitchFamily="34" charset="-120"/>
              </a:rPr>
              <a:t>CI: api, ios, infra</a:t>
            </a:r>
            <a:endParaRPr lang="en-US" sz="1500" dirty="0"/>
          </a:p>
        </p:txBody>
      </p:sp>
      <p:sp>
        <p:nvSpPr>
          <p:cNvPr id="22" name="Text 17"/>
          <p:cNvSpPr/>
          <p:nvPr/>
        </p:nvSpPr>
        <p:spPr>
          <a:xfrm>
            <a:off x="5951339" y="3454301"/>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23" name="Image 3" descr="/Users/danwahlin/.copilot/session-state/a2da67da-2d7a-45f2-aa6a-2a42a7b82a72/files/build/icons/GoShieldLock-1A7F37.png">    </p:cNvPr>
          <p:cNvPicPr>
            <a:picLocks noChangeAspect="1"/>
          </p:cNvPicPr>
          <p:nvPr/>
        </p:nvPicPr>
        <p:blipFill>
          <a:blip r:embed="rId4"/>
          <a:stretch>
            <a:fillRect/>
          </a:stretch>
        </p:blipFill>
        <p:spPr>
          <a:xfrm>
            <a:off x="6046589" y="3549551"/>
            <a:ext cx="241250" cy="241250"/>
          </a:xfrm>
          <a:prstGeom prst="rect">
            <a:avLst/>
          </a:prstGeom>
        </p:spPr>
      </p:pic>
      <p:sp>
        <p:nvSpPr>
          <p:cNvPr id="24" name="Text 18"/>
          <p:cNvSpPr/>
          <p:nvPr/>
        </p:nvSpPr>
        <p:spPr>
          <a:xfrm>
            <a:off x="6510040" y="3560564"/>
            <a:ext cx="1403738" cy="219075"/>
          </a:xfrm>
          <a:prstGeom prst="rect">
            <a:avLst/>
          </a:prstGeom>
          <a:noFill/>
          <a:ln/>
        </p:spPr>
        <p:txBody>
          <a:bodyPr wrap="square" lIns="0" tIns="0" rIns="0" bIns="0" rtlCol="0" anchor="t"/>
          <a:lstStyle/>
          <a:p>
            <a:pPr algn="l" indent="0" marL="0">
              <a:buNone/>
            </a:pPr>
            <a:r>
              <a:rPr lang="en-US" sz="1500" b="1" dirty="0">
                <a:solidFill>
                  <a:srgbClr val="1F2328"/>
                </a:solidFill>
                <a:latin typeface="Arial" pitchFamily="34" charset="0"/>
                <a:ea typeface="Arial" pitchFamily="34" charset="-122"/>
                <a:cs typeface="Arial" pitchFamily="34" charset="-120"/>
              </a:rPr>
              <a:t>Protected main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ARCHITECTURE TO ISSUES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Let the diagram plan the work</a:t>
            </a:r>
            <a:endParaRPr lang="en-US" sz="2800" dirty="0"/>
          </a:p>
        </p:txBody>
      </p:sp>
      <p:sp>
        <p:nvSpPr>
          <p:cNvPr id="7" name="Text 4"/>
          <p:cNvSpPr/>
          <p:nvPr/>
        </p:nvSpPr>
        <p:spPr>
          <a:xfrm>
            <a:off x="634901" y="1868984"/>
            <a:ext cx="7873901" cy="1900833"/>
          </a:xfrm>
          <a:prstGeom prst="roundRect">
            <a:avLst>
              <a:gd name="adj" fmla="val 5345"/>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73746"/>
            <a:ext cx="7873901" cy="0"/>
          </a:xfrm>
          <a:prstGeom prst="line">
            <a:avLst/>
          </a:prstGeom>
          <a:noFill/>
          <a:ln w="9525">
            <a:solidFill>
              <a:srgbClr val="E0C5FF"/>
            </a:solidFill>
            <a:prstDash val="solid"/>
          </a:ln>
        </p:spPr>
      </p:sp>
      <p:sp>
        <p:nvSpPr>
          <p:cNvPr id="9" name="Shape 6"/>
          <p:cNvSpPr/>
          <p:nvPr/>
        </p:nvSpPr>
        <p:spPr>
          <a:xfrm>
            <a:off x="8504039" y="1868984"/>
            <a:ext cx="0" cy="1900833"/>
          </a:xfrm>
          <a:prstGeom prst="line">
            <a:avLst/>
          </a:prstGeom>
          <a:noFill/>
          <a:ln w="9525">
            <a:solidFill>
              <a:srgbClr val="E0C5FF"/>
            </a:solidFill>
            <a:prstDash val="solid"/>
          </a:ln>
        </p:spPr>
      </p:sp>
      <p:sp>
        <p:nvSpPr>
          <p:cNvPr id="10" name="Shape 7"/>
          <p:cNvSpPr/>
          <p:nvPr/>
        </p:nvSpPr>
        <p:spPr>
          <a:xfrm>
            <a:off x="634901" y="3765054"/>
            <a:ext cx="7873901" cy="0"/>
          </a:xfrm>
          <a:prstGeom prst="line">
            <a:avLst/>
          </a:prstGeom>
          <a:noFill/>
          <a:ln w="9525">
            <a:solidFill>
              <a:srgbClr val="E0C5FF"/>
            </a:solidFill>
            <a:prstDash val="solid"/>
          </a:ln>
        </p:spPr>
      </p:sp>
      <p:sp>
        <p:nvSpPr>
          <p:cNvPr id="11" name="Shape 8"/>
          <p:cNvSpPr/>
          <p:nvPr/>
        </p:nvSpPr>
        <p:spPr>
          <a:xfrm>
            <a:off x="663476" y="1868984"/>
            <a:ext cx="0" cy="190083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107109"/>
            <a:ext cx="190500" cy="190500"/>
          </a:xfrm>
          <a:prstGeom prst="rect">
            <a:avLst/>
          </a:prstGeom>
        </p:spPr>
      </p:pic>
      <p:sp>
        <p:nvSpPr>
          <p:cNvPr id="13" name="Text 9"/>
          <p:cNvSpPr/>
          <p:nvPr/>
        </p:nvSpPr>
        <p:spPr>
          <a:xfrm>
            <a:off x="1238101" y="2126159"/>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424559"/>
            <a:ext cx="7393496" cy="1081832"/>
          </a:xfrm>
          <a:prstGeom prst="rect">
            <a:avLst/>
          </a:prstGeom>
          <a:noFill/>
          <a:ln/>
        </p:spPr>
        <p:txBody>
          <a:bodyPr wrap="square" lIns="0" tIns="0" rIns="0" bIns="0" rtlCol="0" anchor="t"/>
          <a:lstStyle/>
          <a:p>
            <a:pPr algn="l" indent="0" marL="0">
              <a:lnSpc>
                <a:spcPts val="2840"/>
              </a:lnSpc>
              <a:buNone/>
            </a:pPr>
            <a:r>
              <a:rPr lang="en-US" sz="2000" b="1" dirty="0">
                <a:solidFill>
                  <a:srgbClr val="1F2328"/>
                </a:solidFill>
                <a:latin typeface="Arial" pitchFamily="34" charset="0"/>
                <a:ea typeface="Arial" pitchFamily="34" charset="-122"/>
                <a:cs typeface="Arial" pitchFamily="34" charset="-120"/>
              </a:rPr>
              <a:t>@images/architecture.png</a:t>
            </a:r>
            <a:pPr algn="l" indent="0" marL="0">
              <a:lnSpc>
                <a:spcPts val="2840"/>
              </a:lnSpc>
              <a:buNone/>
            </a:pPr>
            <a:r>
              <a:rPr lang="en-US" sz="2000" dirty="0">
                <a:solidFill>
                  <a:srgbClr val="1F2328"/>
                </a:solidFill>
                <a:latin typeface="Arial" pitchFamily="34" charset="0"/>
                <a:ea typeface="Arial" pitchFamily="34" charset="-122"/>
                <a:cs typeface="Arial" pitchFamily="34" charset="-120"/>
              </a:rPr>
              <a:t> This is the SmartTodo architecture. Read PLAN.md, then create the issues described in its "Issue Breakdown" section. Show me each issue number and title.</a:t>
            </a:r>
            <a:endParaRPr lang="en-US" sz="2000" dirty="0"/>
          </a:p>
        </p:txBody>
      </p:sp>
      <p:pic>
        <p:nvPicPr>
          <p:cNvPr id="15" name="Image 2" descr="/Users/danwahlin/.copilot/session-state/a2da67da-2d7a-45f2-aa6a-2a42a7b82a72/files/build/icons/GoIssueOpened-0969DA.png">    </p:cNvPr>
          <p:cNvPicPr>
            <a:picLocks noChangeAspect="1"/>
          </p:cNvPicPr>
          <p:nvPr/>
        </p:nvPicPr>
        <p:blipFill>
          <a:blip r:embed="rId3"/>
          <a:stretch>
            <a:fillRect/>
          </a:stretch>
        </p:blipFill>
        <p:spPr>
          <a:xfrm>
            <a:off x="634901" y="4030117"/>
            <a:ext cx="215801" cy="215801"/>
          </a:xfrm>
          <a:prstGeom prst="rect">
            <a:avLst/>
          </a:prstGeom>
        </p:spPr>
      </p:pic>
      <p:sp>
        <p:nvSpPr>
          <p:cNvPr id="16" name="Text 11"/>
          <p:cNvSpPr/>
          <p:nvPr/>
        </p:nvSpPr>
        <p:spPr>
          <a:xfrm>
            <a:off x="952202" y="4023717"/>
            <a:ext cx="4766971" cy="228600"/>
          </a:xfrm>
          <a:prstGeom prst="rect">
            <a:avLst/>
          </a:prstGeom>
          <a:noFill/>
          <a:ln/>
        </p:spPr>
        <p:txBody>
          <a:bodyPr wrap="square" lIns="0" tIns="0" rIns="0" bIns="0" rtlCol="0" anchor="t"/>
          <a:lstStyle/>
          <a:p>
            <a:pPr algn="l" indent="0" marL="0">
              <a:lnSpc>
                <a:spcPts val="1800"/>
              </a:lnSpc>
              <a:buNone/>
            </a:pPr>
            <a:r>
              <a:rPr lang="en-US" sz="1400" dirty="0">
                <a:solidFill>
                  <a:srgbClr val="59636E"/>
                </a:solidFill>
                <a:latin typeface="Arial" pitchFamily="34" charset="0"/>
                <a:ea typeface="Arial" pitchFamily="34" charset="-122"/>
                <a:cs typeface="Arial" pitchFamily="34" charset="-120"/>
              </a:rPr>
              <a:t>One issue per phase: API, iOS app, and Azure deployment.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8250DF"/>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8250DF"/>
                </a:solidFill>
                <a:latin typeface="Arial" pitchFamily="34" charset="0"/>
                <a:ea typeface="Arial" pitchFamily="34" charset="-122"/>
                <a:cs typeface="Arial" pitchFamily="34" charset="-120"/>
              </a:rPr>
              <a:t>02</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2 OF 4</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Build test-first</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Grill the plan, write failing tests, then write code until they pass. Same loop for the API and the iPhone app.</a:t>
            </a:r>
            <a:endParaRPr lang="en-US" sz="1600" dirty="0"/>
          </a:p>
        </p:txBody>
      </p:sp>
      <p:sp>
        <p:nvSpPr>
          <p:cNvPr id="10" name="Text 7"/>
          <p:cNvSpPr/>
          <p:nvPr/>
        </p:nvSpPr>
        <p:spPr>
          <a:xfrm>
            <a:off x="4854476" y="1409551"/>
            <a:ext cx="3803600" cy="1930301"/>
          </a:xfrm>
          <a:prstGeom prst="roundRect">
            <a:avLst>
              <a:gd name="adj" fmla="val 5263"/>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11" name="Image 1" descr="/Users/danwahlin/.copilot/session-state/a2da67da-2d7a-45f2-aa6a-2a42a7b82a72/files/build/img/todo-phase1-api.png">    </p:cNvPr>
          <p:cNvPicPr>
            <a:picLocks noChangeAspect="1"/>
          </p:cNvPicPr>
          <p:nvPr/>
        </p:nvPicPr>
        <p:blipFill>
          <a:blip r:embed="rId2"/>
          <a:stretch>
            <a:fillRect/>
          </a:stretch>
        </p:blipFill>
        <p:spPr>
          <a:xfrm>
            <a:off x="4902101" y="1457176"/>
            <a:ext cx="3708350" cy="1835051"/>
          </a:xfrm>
          <a:prstGeom prst="rect">
            <a:avLst/>
          </a:prstGeom>
        </p:spPr>
      </p:pic>
      <p:sp>
        <p:nvSpPr>
          <p:cNvPr id="12" name="Text 8"/>
          <p:cNvSpPr/>
          <p:nvPr/>
        </p:nvSpPr>
        <p:spPr>
          <a:xfrm>
            <a:off x="558701" y="4368701"/>
            <a:ext cx="1352401"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842061"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Plan the work</a:t>
            </a:r>
            <a:endParaRPr lang="en-US" sz="1000" dirty="0"/>
          </a:p>
        </p:txBody>
      </p:sp>
      <p:sp>
        <p:nvSpPr>
          <p:cNvPr id="16" name="Text 12"/>
          <p:cNvSpPr/>
          <p:nvPr/>
        </p:nvSpPr>
        <p:spPr>
          <a:xfrm>
            <a:off x="2012603" y="4368701"/>
            <a:ext cx="1387525" cy="361652"/>
          </a:xfrm>
          <a:prstGeom prst="roundRect">
            <a:avLst>
              <a:gd name="adj" fmla="val 52675"/>
            </a:avLst>
          </a:prstGeom>
          <a:solidFill>
            <a:srgbClr val="8250DF"/>
          </a:solidFill>
          <a:ln w="9525">
            <a:solidFill>
              <a:srgbClr val="8250DF"/>
            </a:solidFill>
          </a:ln>
        </p:spPr>
        <p:txBody>
          <a:bodyPr wrap="square" rtlCol="0" anchor="ctr"/>
          <a:lstStyle/>
          <a:p>
            <a:pPr indent="0" marL="0">
              <a:buNone/>
            </a:pPr>
            <a:endParaRPr lang="en-US" dirty="0"/>
          </a:p>
        </p:txBody>
      </p:sp>
      <p:sp>
        <p:nvSpPr>
          <p:cNvPr id="17" name="Text 13"/>
          <p:cNvSpPr/>
          <p:nvPr/>
        </p:nvSpPr>
        <p:spPr>
          <a:xfrm>
            <a:off x="2098328"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18" name="Text 14"/>
          <p:cNvSpPr/>
          <p:nvPr/>
        </p:nvSpPr>
        <p:spPr>
          <a:xfrm>
            <a:off x="2173742" y="4482852"/>
            <a:ext cx="64972" cy="133350"/>
          </a:xfrm>
          <a:prstGeom prst="rect">
            <a:avLst/>
          </a:prstGeom>
          <a:noFill/>
          <a:ln/>
        </p:spPr>
        <p:txBody>
          <a:bodyPr wrap="square" lIns="0" tIns="0" rIns="0" bIns="0" rtlCol="0" anchor="t"/>
          <a:lstStyle/>
          <a:p>
            <a:pPr algn="ctr" indent="0" marL="0">
              <a:buNone/>
            </a:pPr>
            <a:r>
              <a:rPr lang="en-US" sz="900" b="1" dirty="0">
                <a:solidFill>
                  <a:srgbClr val="8250DF"/>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390329" y="4478089"/>
            <a:ext cx="87788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Build test-first</a:t>
            </a:r>
            <a:endParaRPr lang="en-US" sz="1000" dirty="0"/>
          </a:p>
        </p:txBody>
      </p:sp>
      <p:sp>
        <p:nvSpPr>
          <p:cNvPr id="20" name="Text 16"/>
          <p:cNvSpPr/>
          <p:nvPr/>
        </p:nvSpPr>
        <p:spPr>
          <a:xfrm>
            <a:off x="3501628" y="4368701"/>
            <a:ext cx="1488728"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587353"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662767"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3879354" y="4478089"/>
            <a:ext cx="981114"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Deploy to Azure</a:t>
            </a:r>
            <a:endParaRPr lang="en-US" sz="1000" dirty="0"/>
          </a:p>
        </p:txBody>
      </p:sp>
      <p:sp>
        <p:nvSpPr>
          <p:cNvPr id="24" name="Text 20"/>
          <p:cNvSpPr/>
          <p:nvPr/>
        </p:nvSpPr>
        <p:spPr>
          <a:xfrm>
            <a:off x="5091857" y="4368701"/>
            <a:ext cx="1211312"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5177582"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6" name="Text 22"/>
          <p:cNvSpPr/>
          <p:nvPr/>
        </p:nvSpPr>
        <p:spPr>
          <a:xfrm>
            <a:off x="5252996"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4</a:t>
            </a:r>
            <a:endParaRPr lang="en-US" sz="900" dirty="0"/>
          </a:p>
        </p:txBody>
      </p:sp>
      <p:sp>
        <p:nvSpPr>
          <p:cNvPr id="27" name="Text 23"/>
          <p:cNvSpPr/>
          <p:nvPr/>
        </p:nvSpPr>
        <p:spPr>
          <a:xfrm>
            <a:off x="5469582" y="4478089"/>
            <a:ext cx="698150"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The factory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THE INNER LOOP</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Grill. Red. Green.</a:t>
            </a:r>
            <a:endParaRPr lang="en-US" sz="2800" dirty="0"/>
          </a:p>
        </p:txBody>
      </p:sp>
      <p:sp>
        <p:nvSpPr>
          <p:cNvPr id="7" name="Text 4"/>
          <p:cNvSpPr/>
          <p:nvPr/>
        </p:nvSpPr>
        <p:spPr>
          <a:xfrm>
            <a:off x="292001" y="1536650"/>
            <a:ext cx="2514600" cy="2997101"/>
          </a:xfrm>
          <a:prstGeom prst="roundRect">
            <a:avLst>
              <a:gd name="adj" fmla="val 4040"/>
            </a:avLst>
          </a:prstGeom>
          <a:solidFill>
            <a:srgbClr val="FFFFFF"/>
          </a:solidFill>
          <a:ln/>
        </p:spPr>
        <p:txBody>
          <a:bodyPr wrap="square" rtlCol="0" anchor="ctr"/>
          <a:lstStyle/>
          <a:p>
            <a:pPr indent="0" marL="0">
              <a:buNone/>
            </a:pPr>
            <a:endParaRPr lang="en-US" dirty="0"/>
          </a:p>
        </p:txBody>
      </p:sp>
      <p:sp>
        <p:nvSpPr>
          <p:cNvPr id="8" name="Shape 5"/>
          <p:cNvSpPr/>
          <p:nvPr/>
        </p:nvSpPr>
        <p:spPr>
          <a:xfrm>
            <a:off x="292001" y="1565225"/>
            <a:ext cx="2514600" cy="0"/>
          </a:xfrm>
          <a:prstGeom prst="line">
            <a:avLst/>
          </a:prstGeom>
          <a:noFill/>
          <a:ln w="57150">
            <a:solidFill>
              <a:srgbClr val="0969DA"/>
            </a:solidFill>
            <a:prstDash val="solid"/>
          </a:ln>
        </p:spPr>
      </p:sp>
      <p:sp>
        <p:nvSpPr>
          <p:cNvPr id="9" name="Shape 6"/>
          <p:cNvSpPr/>
          <p:nvPr/>
        </p:nvSpPr>
        <p:spPr>
          <a:xfrm>
            <a:off x="2801838" y="1536650"/>
            <a:ext cx="0" cy="2997101"/>
          </a:xfrm>
          <a:prstGeom prst="line">
            <a:avLst/>
          </a:prstGeom>
          <a:noFill/>
          <a:ln w="9525">
            <a:solidFill>
              <a:srgbClr val="9CD7FF"/>
            </a:solidFill>
            <a:prstDash val="solid"/>
          </a:ln>
        </p:spPr>
      </p:sp>
      <p:sp>
        <p:nvSpPr>
          <p:cNvPr id="10" name="Shape 7"/>
          <p:cNvSpPr/>
          <p:nvPr/>
        </p:nvSpPr>
        <p:spPr>
          <a:xfrm>
            <a:off x="292001" y="4528989"/>
            <a:ext cx="2514600" cy="0"/>
          </a:xfrm>
          <a:prstGeom prst="line">
            <a:avLst/>
          </a:prstGeom>
          <a:noFill/>
          <a:ln w="9525">
            <a:solidFill>
              <a:srgbClr val="9CD7FF"/>
            </a:solidFill>
            <a:prstDash val="solid"/>
          </a:ln>
        </p:spPr>
      </p:sp>
      <p:sp>
        <p:nvSpPr>
          <p:cNvPr id="11" name="Shape 8"/>
          <p:cNvSpPr/>
          <p:nvPr/>
        </p:nvSpPr>
        <p:spPr>
          <a:xfrm>
            <a:off x="296763" y="1536650"/>
            <a:ext cx="0" cy="2997101"/>
          </a:xfrm>
          <a:prstGeom prst="line">
            <a:avLst/>
          </a:prstGeom>
          <a:noFill/>
          <a:ln w="9525">
            <a:solidFill>
              <a:srgbClr val="9CD7FF"/>
            </a:solidFill>
            <a:prstDash val="solid"/>
          </a:ln>
        </p:spPr>
      </p:sp>
      <p:sp>
        <p:nvSpPr>
          <p:cNvPr id="12" name="Text 9"/>
          <p:cNvSpPr/>
          <p:nvPr/>
        </p:nvSpPr>
        <p:spPr>
          <a:xfrm>
            <a:off x="1193750" y="1822400"/>
            <a:ext cx="711101" cy="711101"/>
          </a:xfrm>
          <a:prstGeom prst="roundRect">
            <a:avLst>
              <a:gd name="adj" fmla="val 10716"/>
            </a:avLst>
          </a:prstGeom>
          <a:solidFill>
            <a:srgbClr val="DDF4FF"/>
          </a:solidFill>
          <a:ln/>
        </p:spPr>
        <p:txBody>
          <a:bodyPr wrap="square" rtlCol="0" anchor="ctr"/>
          <a:lstStyle/>
          <a:p>
            <a:pPr indent="0" marL="0">
              <a:buNone/>
            </a:pPr>
            <a:endParaRPr lang="en-US" dirty="0"/>
          </a:p>
        </p:txBody>
      </p:sp>
      <p:pic>
        <p:nvPicPr>
          <p:cNvPr id="13" name="Image 1" descr="/Users/danwahlin/.copilot/session-state/a2da67da-2d7a-45f2-aa6a-2a42a7b82a72/files/build/icons/GoCommentDiscussion-0969DA.png">    </p:cNvPr>
          <p:cNvPicPr>
            <a:picLocks noChangeAspect="1"/>
          </p:cNvPicPr>
          <p:nvPr/>
        </p:nvPicPr>
        <p:blipFill>
          <a:blip r:embed="rId2"/>
          <a:stretch>
            <a:fillRect/>
          </a:stretch>
        </p:blipFill>
        <p:spPr>
          <a:xfrm>
            <a:off x="1352401" y="1981051"/>
            <a:ext cx="393650" cy="393650"/>
          </a:xfrm>
          <a:prstGeom prst="rect">
            <a:avLst/>
          </a:prstGeom>
        </p:spPr>
      </p:pic>
      <p:sp>
        <p:nvSpPr>
          <p:cNvPr id="14" name="Text 10"/>
          <p:cNvSpPr/>
          <p:nvPr/>
        </p:nvSpPr>
        <p:spPr>
          <a:xfrm>
            <a:off x="1264212" y="2660452"/>
            <a:ext cx="570178" cy="323850"/>
          </a:xfrm>
          <a:prstGeom prst="rect">
            <a:avLst/>
          </a:prstGeom>
          <a:noFill/>
          <a:ln/>
        </p:spPr>
        <p:txBody>
          <a:bodyPr wrap="square" lIns="0" tIns="0" rIns="0" bIns="0" rtlCol="0" anchor="t"/>
          <a:lstStyle/>
          <a:p>
            <a:pPr algn="ctr" indent="0" marL="0">
              <a:buNone/>
            </a:pPr>
            <a:r>
              <a:rPr lang="en-US" sz="2200" b="1" dirty="0">
                <a:solidFill>
                  <a:srgbClr val="1F2328"/>
                </a:solidFill>
                <a:latin typeface="Arial" pitchFamily="34" charset="0"/>
                <a:ea typeface="Arial" pitchFamily="34" charset="-122"/>
                <a:cs typeface="Arial" pitchFamily="34" charset="-120"/>
              </a:rPr>
              <a:t>Grill</a:t>
            </a:r>
            <a:endParaRPr lang="en-US" sz="2200" dirty="0"/>
          </a:p>
        </p:txBody>
      </p:sp>
      <p:sp>
        <p:nvSpPr>
          <p:cNvPr id="15" name="Text 11"/>
          <p:cNvSpPr/>
          <p:nvPr/>
        </p:nvSpPr>
        <p:spPr>
          <a:xfrm>
            <a:off x="457825" y="3111252"/>
            <a:ext cx="2182951" cy="457200"/>
          </a:xfrm>
          <a:prstGeom prst="rect">
            <a:avLst/>
          </a:prstGeom>
          <a:noFill/>
          <a:ln/>
        </p:spPr>
        <p:txBody>
          <a:bodyPr wrap="square" lIns="0" tIns="0" rIns="0" bIns="0" rtlCol="0" anchor="t"/>
          <a:lstStyle/>
          <a:p>
            <a:pPr algn="ctr" indent="0" marL="0">
              <a:lnSpc>
                <a:spcPts val="1800"/>
              </a:lnSpc>
              <a:buNone/>
            </a:pPr>
            <a:r>
              <a:rPr lang="en-US" sz="1350" dirty="0">
                <a:solidFill>
                  <a:srgbClr val="59636E"/>
                </a:solidFill>
                <a:latin typeface="Arial" pitchFamily="34" charset="0"/>
                <a:ea typeface="Arial" pitchFamily="34" charset="-122"/>
                <a:cs typeface="Arial" pitchFamily="34" charset="-120"/>
              </a:rPr>
              <a:t>You answer each Decision Point, one at a time</a:t>
            </a:r>
            <a:endParaRPr lang="en-US" sz="1350" dirty="0"/>
          </a:p>
        </p:txBody>
      </p:sp>
      <p:sp>
        <p:nvSpPr>
          <p:cNvPr id="16" name="Text 12"/>
          <p:cNvSpPr/>
          <p:nvPr/>
        </p:nvSpPr>
        <p:spPr>
          <a:xfrm>
            <a:off x="644872" y="4047976"/>
            <a:ext cx="1808708" cy="247650"/>
          </a:xfrm>
          <a:prstGeom prst="roundRect">
            <a:avLst>
              <a:gd name="adj" fmla="val 51282"/>
            </a:avLst>
          </a:prstGeom>
          <a:solidFill>
            <a:srgbClr val="DDF4FF"/>
          </a:solidFill>
          <a:ln/>
        </p:spPr>
        <p:txBody>
          <a:bodyPr wrap="square" rtlCol="0" anchor="ctr"/>
          <a:lstStyle/>
          <a:p>
            <a:pPr indent="0" marL="0">
              <a:buNone/>
            </a:pPr>
            <a:endParaRPr lang="en-US" dirty="0"/>
          </a:p>
        </p:txBody>
      </p:sp>
      <p:sp>
        <p:nvSpPr>
          <p:cNvPr id="17" name="Text 13"/>
          <p:cNvSpPr/>
          <p:nvPr/>
        </p:nvSpPr>
        <p:spPr>
          <a:xfrm>
            <a:off x="756275" y="4086076"/>
            <a:ext cx="1585904" cy="171450"/>
          </a:xfrm>
          <a:prstGeom prst="rect">
            <a:avLst/>
          </a:prstGeom>
          <a:noFill/>
          <a:ln/>
        </p:spPr>
        <p:txBody>
          <a:bodyPr wrap="square" lIns="0" tIns="0" rIns="0" bIns="0" rtlCol="0" anchor="t"/>
          <a:lstStyle/>
          <a:p>
            <a:pPr algn="ctr" indent="0" marL="0">
              <a:buNone/>
            </a:pPr>
            <a:r>
              <a:rPr lang="en-US" sz="1200" b="1" dirty="0">
                <a:solidFill>
                  <a:srgbClr val="0969DA"/>
                </a:solidFill>
                <a:latin typeface="Courier New" pitchFamily="34" charset="0"/>
                <a:ea typeface="Courier New" pitchFamily="34" charset="-122"/>
                <a:cs typeface="Courier New" pitchFamily="34" charset="-120"/>
              </a:rPr>
              <a:t>Decisions + tests</a:t>
            </a:r>
            <a:endParaRPr lang="en-US" sz="1200" dirty="0"/>
          </a:p>
        </p:txBody>
      </p:sp>
      <p:sp>
        <p:nvSpPr>
          <p:cNvPr id="18" name="Text 14"/>
          <p:cNvSpPr/>
          <p:nvPr/>
        </p:nvSpPr>
        <p:spPr>
          <a:xfrm>
            <a:off x="2933551" y="2887563"/>
            <a:ext cx="259131" cy="295275"/>
          </a:xfrm>
          <a:prstGeom prst="rect">
            <a:avLst/>
          </a:prstGeom>
          <a:noFill/>
          <a:ln/>
        </p:spPr>
        <p:txBody>
          <a:bodyPr wrap="square" lIns="0" tIns="0" rIns="0" bIns="0" rtlCol="0" anchor="t"/>
          <a:lstStyle/>
          <a:p>
            <a:pPr algn="l" indent="0" marL="0">
              <a:buNone/>
            </a:pPr>
            <a:r>
              <a:rPr lang="en-US" sz="2000" dirty="0">
                <a:solidFill>
                  <a:srgbClr val="818B98"/>
                </a:solidFill>
                <a:latin typeface="Arial" pitchFamily="34" charset="0"/>
                <a:ea typeface="Arial" pitchFamily="34" charset="-122"/>
                <a:cs typeface="Arial" pitchFamily="34" charset="-120"/>
              </a:rPr>
              <a:t>→</a:t>
            </a:r>
            <a:endParaRPr lang="en-US" sz="2000" dirty="0"/>
          </a:p>
        </p:txBody>
      </p:sp>
      <p:sp>
        <p:nvSpPr>
          <p:cNvPr id="19" name="Text 15"/>
          <p:cNvSpPr/>
          <p:nvPr/>
        </p:nvSpPr>
        <p:spPr>
          <a:xfrm>
            <a:off x="3314551" y="1536650"/>
            <a:ext cx="2514600" cy="2997101"/>
          </a:xfrm>
          <a:prstGeom prst="roundRect">
            <a:avLst>
              <a:gd name="adj" fmla="val 4040"/>
            </a:avLst>
          </a:prstGeom>
          <a:solidFill>
            <a:srgbClr val="FFFFFF"/>
          </a:solidFill>
          <a:ln/>
        </p:spPr>
        <p:txBody>
          <a:bodyPr wrap="square" rtlCol="0" anchor="ctr"/>
          <a:lstStyle/>
          <a:p>
            <a:pPr indent="0" marL="0">
              <a:buNone/>
            </a:pPr>
            <a:endParaRPr lang="en-US" dirty="0"/>
          </a:p>
        </p:txBody>
      </p:sp>
      <p:sp>
        <p:nvSpPr>
          <p:cNvPr id="20" name="Shape 16"/>
          <p:cNvSpPr/>
          <p:nvPr/>
        </p:nvSpPr>
        <p:spPr>
          <a:xfrm>
            <a:off x="3314551" y="1565225"/>
            <a:ext cx="2514600" cy="0"/>
          </a:xfrm>
          <a:prstGeom prst="line">
            <a:avLst/>
          </a:prstGeom>
          <a:noFill/>
          <a:ln w="57150">
            <a:solidFill>
              <a:srgbClr val="CF222E"/>
            </a:solidFill>
            <a:prstDash val="solid"/>
          </a:ln>
        </p:spPr>
      </p:sp>
      <p:sp>
        <p:nvSpPr>
          <p:cNvPr id="21" name="Shape 17"/>
          <p:cNvSpPr/>
          <p:nvPr/>
        </p:nvSpPr>
        <p:spPr>
          <a:xfrm>
            <a:off x="5824389" y="1536650"/>
            <a:ext cx="0" cy="2997101"/>
          </a:xfrm>
          <a:prstGeom prst="line">
            <a:avLst/>
          </a:prstGeom>
          <a:noFill/>
          <a:ln w="9525">
            <a:solidFill>
              <a:srgbClr val="FFCECB"/>
            </a:solidFill>
            <a:prstDash val="solid"/>
          </a:ln>
        </p:spPr>
      </p:sp>
      <p:sp>
        <p:nvSpPr>
          <p:cNvPr id="22" name="Shape 18"/>
          <p:cNvSpPr/>
          <p:nvPr/>
        </p:nvSpPr>
        <p:spPr>
          <a:xfrm>
            <a:off x="3314551" y="4528989"/>
            <a:ext cx="2514600" cy="0"/>
          </a:xfrm>
          <a:prstGeom prst="line">
            <a:avLst/>
          </a:prstGeom>
          <a:noFill/>
          <a:ln w="9525">
            <a:solidFill>
              <a:srgbClr val="FFCECB"/>
            </a:solidFill>
            <a:prstDash val="solid"/>
          </a:ln>
        </p:spPr>
      </p:sp>
      <p:sp>
        <p:nvSpPr>
          <p:cNvPr id="23" name="Shape 19"/>
          <p:cNvSpPr/>
          <p:nvPr/>
        </p:nvSpPr>
        <p:spPr>
          <a:xfrm>
            <a:off x="3319314" y="1536650"/>
            <a:ext cx="0" cy="2997101"/>
          </a:xfrm>
          <a:prstGeom prst="line">
            <a:avLst/>
          </a:prstGeom>
          <a:noFill/>
          <a:ln w="9525">
            <a:solidFill>
              <a:srgbClr val="FFCECB"/>
            </a:solidFill>
            <a:prstDash val="solid"/>
          </a:ln>
        </p:spPr>
      </p:sp>
      <p:sp>
        <p:nvSpPr>
          <p:cNvPr id="24" name="Text 20"/>
          <p:cNvSpPr/>
          <p:nvPr/>
        </p:nvSpPr>
        <p:spPr>
          <a:xfrm>
            <a:off x="4216301" y="1822400"/>
            <a:ext cx="711101" cy="711101"/>
          </a:xfrm>
          <a:prstGeom prst="roundRect">
            <a:avLst>
              <a:gd name="adj" fmla="val 10716"/>
            </a:avLst>
          </a:prstGeom>
          <a:solidFill>
            <a:srgbClr val="FFEBE9"/>
          </a:solidFill>
          <a:ln/>
        </p:spPr>
        <p:txBody>
          <a:bodyPr wrap="square" rtlCol="0" anchor="ctr"/>
          <a:lstStyle/>
          <a:p>
            <a:pPr indent="0" marL="0">
              <a:buNone/>
            </a:pPr>
            <a:endParaRPr lang="en-US" dirty="0"/>
          </a:p>
        </p:txBody>
      </p:sp>
      <p:pic>
        <p:nvPicPr>
          <p:cNvPr id="25" name="Image 2" descr="/Users/danwahlin/.copilot/session-state/a2da67da-2d7a-45f2-aa6a-2a42a7b82a72/files/build/icons/GoXCircle-CF222E.png">    </p:cNvPr>
          <p:cNvPicPr>
            <a:picLocks noChangeAspect="1"/>
          </p:cNvPicPr>
          <p:nvPr/>
        </p:nvPicPr>
        <p:blipFill>
          <a:blip r:embed="rId3"/>
          <a:stretch>
            <a:fillRect/>
          </a:stretch>
        </p:blipFill>
        <p:spPr>
          <a:xfrm>
            <a:off x="4374952" y="1981051"/>
            <a:ext cx="393650" cy="393650"/>
          </a:xfrm>
          <a:prstGeom prst="rect">
            <a:avLst/>
          </a:prstGeom>
        </p:spPr>
      </p:pic>
      <p:sp>
        <p:nvSpPr>
          <p:cNvPr id="26" name="Text 21"/>
          <p:cNvSpPr/>
          <p:nvPr/>
        </p:nvSpPr>
        <p:spPr>
          <a:xfrm>
            <a:off x="4302551" y="2660452"/>
            <a:ext cx="538451" cy="323850"/>
          </a:xfrm>
          <a:prstGeom prst="rect">
            <a:avLst/>
          </a:prstGeom>
          <a:noFill/>
          <a:ln/>
        </p:spPr>
        <p:txBody>
          <a:bodyPr wrap="square" lIns="0" tIns="0" rIns="0" bIns="0" rtlCol="0" anchor="t"/>
          <a:lstStyle/>
          <a:p>
            <a:pPr algn="ctr" indent="0" marL="0">
              <a:buNone/>
            </a:pPr>
            <a:r>
              <a:rPr lang="en-US" sz="2200" b="1" dirty="0">
                <a:solidFill>
                  <a:srgbClr val="1F2328"/>
                </a:solidFill>
                <a:latin typeface="Arial" pitchFamily="34" charset="0"/>
                <a:ea typeface="Arial" pitchFamily="34" charset="-122"/>
                <a:cs typeface="Arial" pitchFamily="34" charset="-120"/>
              </a:rPr>
              <a:t>Red</a:t>
            </a:r>
            <a:endParaRPr lang="en-US" sz="2200" dirty="0"/>
          </a:p>
        </p:txBody>
      </p:sp>
      <p:sp>
        <p:nvSpPr>
          <p:cNvPr id="27" name="Text 22"/>
          <p:cNvSpPr/>
          <p:nvPr/>
        </p:nvSpPr>
        <p:spPr>
          <a:xfrm>
            <a:off x="3480375" y="3111252"/>
            <a:ext cx="2182951" cy="685800"/>
          </a:xfrm>
          <a:prstGeom prst="rect">
            <a:avLst/>
          </a:prstGeom>
          <a:noFill/>
          <a:ln/>
        </p:spPr>
        <p:txBody>
          <a:bodyPr wrap="square" lIns="0" tIns="0" rIns="0" bIns="0" rtlCol="0" anchor="t"/>
          <a:lstStyle/>
          <a:p>
            <a:pPr algn="ctr" indent="0" marL="0">
              <a:lnSpc>
                <a:spcPts val="1800"/>
              </a:lnSpc>
              <a:buNone/>
            </a:pPr>
            <a:r>
              <a:rPr lang="en-US" sz="1350" dirty="0">
                <a:solidFill>
                  <a:srgbClr val="59636E"/>
                </a:solidFill>
                <a:latin typeface="Arial" pitchFamily="34" charset="0"/>
                <a:ea typeface="Arial" pitchFamily="34" charset="-122"/>
                <a:cs typeface="Arial" pitchFamily="34" charset="-120"/>
              </a:rPr>
              <a:t>Failing tests for each behavior, then tag the commit</a:t>
            </a:r>
            <a:endParaRPr lang="en-US" sz="1350" dirty="0"/>
          </a:p>
        </p:txBody>
      </p:sp>
      <p:sp>
        <p:nvSpPr>
          <p:cNvPr id="28" name="Text 23"/>
          <p:cNvSpPr/>
          <p:nvPr/>
        </p:nvSpPr>
        <p:spPr>
          <a:xfrm>
            <a:off x="3987552" y="4047976"/>
            <a:ext cx="1168450" cy="247650"/>
          </a:xfrm>
          <a:prstGeom prst="roundRect">
            <a:avLst>
              <a:gd name="adj" fmla="val 51282"/>
            </a:avLst>
          </a:prstGeom>
          <a:solidFill>
            <a:srgbClr val="FFEBE9"/>
          </a:solidFill>
          <a:ln/>
        </p:spPr>
        <p:txBody>
          <a:bodyPr wrap="square" rtlCol="0" anchor="ctr"/>
          <a:lstStyle/>
          <a:p>
            <a:pPr indent="0" marL="0">
              <a:buNone/>
            </a:pPr>
            <a:endParaRPr lang="en-US" dirty="0"/>
          </a:p>
        </p:txBody>
      </p:sp>
      <p:sp>
        <p:nvSpPr>
          <p:cNvPr id="29" name="Text 24"/>
          <p:cNvSpPr/>
          <p:nvPr/>
        </p:nvSpPr>
        <p:spPr>
          <a:xfrm>
            <a:off x="4105357" y="4086076"/>
            <a:ext cx="932840" cy="171450"/>
          </a:xfrm>
          <a:prstGeom prst="rect">
            <a:avLst/>
          </a:prstGeom>
          <a:noFill/>
          <a:ln/>
        </p:spPr>
        <p:txBody>
          <a:bodyPr wrap="square" lIns="0" tIns="0" rIns="0" bIns="0" rtlCol="0" anchor="t"/>
          <a:lstStyle/>
          <a:p>
            <a:pPr algn="ctr" indent="0" marL="0">
              <a:buNone/>
            </a:pPr>
            <a:r>
              <a:rPr lang="en-US" sz="1200" b="1" dirty="0">
                <a:solidFill>
                  <a:srgbClr val="CF222E"/>
                </a:solidFill>
                <a:latin typeface="Courier New" pitchFamily="34" charset="0"/>
                <a:ea typeface="Courier New" pitchFamily="34" charset="-122"/>
                <a:cs typeface="Courier New" pitchFamily="34" charset="-120"/>
              </a:rPr>
              <a:t>phase1-red</a:t>
            </a:r>
            <a:endParaRPr lang="en-US" sz="1200" dirty="0"/>
          </a:p>
        </p:txBody>
      </p:sp>
      <p:sp>
        <p:nvSpPr>
          <p:cNvPr id="30" name="Text 25"/>
          <p:cNvSpPr/>
          <p:nvPr/>
        </p:nvSpPr>
        <p:spPr>
          <a:xfrm>
            <a:off x="5956102" y="2887563"/>
            <a:ext cx="259131" cy="295275"/>
          </a:xfrm>
          <a:prstGeom prst="rect">
            <a:avLst/>
          </a:prstGeom>
          <a:noFill/>
          <a:ln/>
        </p:spPr>
        <p:txBody>
          <a:bodyPr wrap="square" lIns="0" tIns="0" rIns="0" bIns="0" rtlCol="0" anchor="t"/>
          <a:lstStyle/>
          <a:p>
            <a:pPr algn="l" indent="0" marL="0">
              <a:buNone/>
            </a:pPr>
            <a:r>
              <a:rPr lang="en-US" sz="2000" dirty="0">
                <a:solidFill>
                  <a:srgbClr val="818B98"/>
                </a:solidFill>
                <a:latin typeface="Arial" pitchFamily="34" charset="0"/>
                <a:ea typeface="Arial" pitchFamily="34" charset="-122"/>
                <a:cs typeface="Arial" pitchFamily="34" charset="-120"/>
              </a:rPr>
              <a:t>→</a:t>
            </a:r>
            <a:endParaRPr lang="en-US" sz="2000" dirty="0"/>
          </a:p>
        </p:txBody>
      </p:sp>
      <p:sp>
        <p:nvSpPr>
          <p:cNvPr id="31" name="Text 26"/>
          <p:cNvSpPr/>
          <p:nvPr/>
        </p:nvSpPr>
        <p:spPr>
          <a:xfrm>
            <a:off x="6337102" y="1536650"/>
            <a:ext cx="2514600" cy="2997101"/>
          </a:xfrm>
          <a:prstGeom prst="roundRect">
            <a:avLst>
              <a:gd name="adj" fmla="val 4040"/>
            </a:avLst>
          </a:prstGeom>
          <a:solidFill>
            <a:srgbClr val="FFFFFF"/>
          </a:solidFill>
          <a:ln/>
        </p:spPr>
        <p:txBody>
          <a:bodyPr wrap="square" rtlCol="0" anchor="ctr"/>
          <a:lstStyle/>
          <a:p>
            <a:pPr indent="0" marL="0">
              <a:buNone/>
            </a:pPr>
            <a:endParaRPr lang="en-US" dirty="0"/>
          </a:p>
        </p:txBody>
      </p:sp>
      <p:sp>
        <p:nvSpPr>
          <p:cNvPr id="32" name="Shape 27"/>
          <p:cNvSpPr/>
          <p:nvPr/>
        </p:nvSpPr>
        <p:spPr>
          <a:xfrm>
            <a:off x="6337102" y="1565225"/>
            <a:ext cx="2514600" cy="0"/>
          </a:xfrm>
          <a:prstGeom prst="line">
            <a:avLst/>
          </a:prstGeom>
          <a:noFill/>
          <a:ln w="57150">
            <a:solidFill>
              <a:srgbClr val="1A7F37"/>
            </a:solidFill>
            <a:prstDash val="solid"/>
          </a:ln>
        </p:spPr>
      </p:sp>
      <p:sp>
        <p:nvSpPr>
          <p:cNvPr id="33" name="Shape 28"/>
          <p:cNvSpPr/>
          <p:nvPr/>
        </p:nvSpPr>
        <p:spPr>
          <a:xfrm>
            <a:off x="8846939" y="1536650"/>
            <a:ext cx="0" cy="2997101"/>
          </a:xfrm>
          <a:prstGeom prst="line">
            <a:avLst/>
          </a:prstGeom>
          <a:noFill/>
          <a:ln w="9525">
            <a:solidFill>
              <a:srgbClr val="8CE7A5"/>
            </a:solidFill>
            <a:prstDash val="solid"/>
          </a:ln>
        </p:spPr>
      </p:sp>
      <p:sp>
        <p:nvSpPr>
          <p:cNvPr id="34" name="Shape 29"/>
          <p:cNvSpPr/>
          <p:nvPr/>
        </p:nvSpPr>
        <p:spPr>
          <a:xfrm>
            <a:off x="6337102" y="4528989"/>
            <a:ext cx="2514600" cy="0"/>
          </a:xfrm>
          <a:prstGeom prst="line">
            <a:avLst/>
          </a:prstGeom>
          <a:noFill/>
          <a:ln w="9525">
            <a:solidFill>
              <a:srgbClr val="8CE7A5"/>
            </a:solidFill>
            <a:prstDash val="solid"/>
          </a:ln>
        </p:spPr>
      </p:sp>
      <p:sp>
        <p:nvSpPr>
          <p:cNvPr id="35" name="Shape 30"/>
          <p:cNvSpPr/>
          <p:nvPr/>
        </p:nvSpPr>
        <p:spPr>
          <a:xfrm>
            <a:off x="6341864" y="1536650"/>
            <a:ext cx="0" cy="2997101"/>
          </a:xfrm>
          <a:prstGeom prst="line">
            <a:avLst/>
          </a:prstGeom>
          <a:noFill/>
          <a:ln w="9525">
            <a:solidFill>
              <a:srgbClr val="8CE7A5"/>
            </a:solidFill>
            <a:prstDash val="solid"/>
          </a:ln>
        </p:spPr>
      </p:sp>
      <p:sp>
        <p:nvSpPr>
          <p:cNvPr id="36" name="Text 31"/>
          <p:cNvSpPr/>
          <p:nvPr/>
        </p:nvSpPr>
        <p:spPr>
          <a:xfrm>
            <a:off x="7238851" y="1822400"/>
            <a:ext cx="711101" cy="711101"/>
          </a:xfrm>
          <a:prstGeom prst="roundRect">
            <a:avLst>
              <a:gd name="adj" fmla="val 10716"/>
            </a:avLst>
          </a:prstGeom>
          <a:solidFill>
            <a:srgbClr val="DAFBE1"/>
          </a:solidFill>
          <a:ln/>
        </p:spPr>
        <p:txBody>
          <a:bodyPr wrap="square" rtlCol="0" anchor="ctr"/>
          <a:lstStyle/>
          <a:p>
            <a:pPr indent="0" marL="0">
              <a:buNone/>
            </a:pPr>
            <a:endParaRPr lang="en-US" dirty="0"/>
          </a:p>
        </p:txBody>
      </p:sp>
      <p:pic>
        <p:nvPicPr>
          <p:cNvPr id="37" name="Image 3" descr="/Users/danwahlin/.copilot/session-state/a2da67da-2d7a-45f2-aa6a-2a42a7b82a72/files/build/icons/GoCheckCircle-1A7F37.png">    </p:cNvPr>
          <p:cNvPicPr>
            <a:picLocks noChangeAspect="1"/>
          </p:cNvPicPr>
          <p:nvPr/>
        </p:nvPicPr>
        <p:blipFill>
          <a:blip r:embed="rId4"/>
          <a:stretch>
            <a:fillRect/>
          </a:stretch>
        </p:blipFill>
        <p:spPr>
          <a:xfrm>
            <a:off x="7397502" y="1981051"/>
            <a:ext cx="393650" cy="393650"/>
          </a:xfrm>
          <a:prstGeom prst="rect">
            <a:avLst/>
          </a:prstGeom>
        </p:spPr>
      </p:pic>
      <p:sp>
        <p:nvSpPr>
          <p:cNvPr id="38" name="Text 32"/>
          <p:cNvSpPr/>
          <p:nvPr/>
        </p:nvSpPr>
        <p:spPr>
          <a:xfrm>
            <a:off x="7182555" y="2660452"/>
            <a:ext cx="823692" cy="323850"/>
          </a:xfrm>
          <a:prstGeom prst="rect">
            <a:avLst/>
          </a:prstGeom>
          <a:noFill/>
          <a:ln/>
        </p:spPr>
        <p:txBody>
          <a:bodyPr wrap="square" lIns="0" tIns="0" rIns="0" bIns="0" rtlCol="0" anchor="t"/>
          <a:lstStyle/>
          <a:p>
            <a:pPr algn="ctr" indent="0" marL="0">
              <a:buNone/>
            </a:pPr>
            <a:r>
              <a:rPr lang="en-US" sz="2200" b="1" dirty="0">
                <a:solidFill>
                  <a:srgbClr val="1F2328"/>
                </a:solidFill>
                <a:latin typeface="Arial" pitchFamily="34" charset="0"/>
                <a:ea typeface="Arial" pitchFamily="34" charset="-122"/>
                <a:cs typeface="Arial" pitchFamily="34" charset="-120"/>
              </a:rPr>
              <a:t>Green</a:t>
            </a:r>
            <a:endParaRPr lang="en-US" sz="2200" dirty="0"/>
          </a:p>
        </p:txBody>
      </p:sp>
      <p:sp>
        <p:nvSpPr>
          <p:cNvPr id="39" name="Text 33"/>
          <p:cNvSpPr/>
          <p:nvPr/>
        </p:nvSpPr>
        <p:spPr>
          <a:xfrm>
            <a:off x="6502926" y="3111252"/>
            <a:ext cx="2182951" cy="457200"/>
          </a:xfrm>
          <a:prstGeom prst="rect">
            <a:avLst/>
          </a:prstGeom>
          <a:noFill/>
          <a:ln/>
        </p:spPr>
        <p:txBody>
          <a:bodyPr wrap="square" lIns="0" tIns="0" rIns="0" bIns="0" rtlCol="0" anchor="t"/>
          <a:lstStyle/>
          <a:p>
            <a:pPr algn="ctr" indent="0" marL="0">
              <a:lnSpc>
                <a:spcPts val="1800"/>
              </a:lnSpc>
              <a:buNone/>
            </a:pPr>
            <a:r>
              <a:rPr lang="en-US" sz="1350" dirty="0">
                <a:solidFill>
                  <a:srgbClr val="59636E"/>
                </a:solidFill>
                <a:latin typeface="Arial" pitchFamily="34" charset="0"/>
                <a:ea typeface="Arial" pitchFamily="34" charset="-122"/>
                <a:cs typeface="Arial" pitchFamily="34" charset="-120"/>
              </a:rPr>
              <a:t>Code until the gate passes. Tests stay frozen.</a:t>
            </a:r>
            <a:endParaRPr lang="en-US" sz="1350" dirty="0"/>
          </a:p>
        </p:txBody>
      </p:sp>
      <p:sp>
        <p:nvSpPr>
          <p:cNvPr id="40" name="Text 34"/>
          <p:cNvSpPr/>
          <p:nvPr/>
        </p:nvSpPr>
        <p:spPr>
          <a:xfrm>
            <a:off x="6872883" y="4047976"/>
            <a:ext cx="1442889" cy="247650"/>
          </a:xfrm>
          <a:prstGeom prst="roundRect">
            <a:avLst>
              <a:gd name="adj" fmla="val 51282"/>
            </a:avLst>
          </a:prstGeom>
          <a:solidFill>
            <a:srgbClr val="DAFBE1"/>
          </a:solidFill>
          <a:ln/>
        </p:spPr>
        <p:txBody>
          <a:bodyPr wrap="square" rtlCol="0" anchor="ctr"/>
          <a:lstStyle/>
          <a:p>
            <a:pPr indent="0" marL="0">
              <a:buNone/>
            </a:pPr>
            <a:endParaRPr lang="en-US" dirty="0"/>
          </a:p>
        </p:txBody>
      </p:sp>
      <p:sp>
        <p:nvSpPr>
          <p:cNvPr id="41" name="Text 35"/>
          <p:cNvSpPr/>
          <p:nvPr/>
        </p:nvSpPr>
        <p:spPr>
          <a:xfrm>
            <a:off x="6987943" y="4086076"/>
            <a:ext cx="1212768" cy="171450"/>
          </a:xfrm>
          <a:prstGeom prst="rect">
            <a:avLst/>
          </a:prstGeom>
          <a:noFill/>
          <a:ln/>
        </p:spPr>
        <p:txBody>
          <a:bodyPr wrap="square" lIns="0" tIns="0" rIns="0" bIns="0" rtlCol="0" anchor="t"/>
          <a:lstStyle/>
          <a:p>
            <a:pPr algn="ctr" indent="0" marL="0">
              <a:buNone/>
            </a:pPr>
            <a:r>
              <a:rPr lang="en-US" sz="1200" b="1" dirty="0">
                <a:solidFill>
                  <a:srgbClr val="1A7F37"/>
                </a:solidFill>
                <a:latin typeface="Courier New" pitchFamily="34" charset="0"/>
                <a:ea typeface="Courier New" pitchFamily="34" charset="-122"/>
                <a:cs typeface="Courier New" pitchFamily="34" charset="-120"/>
              </a:rPr>
              <a:t>npm run check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GRILL THE PLAN</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Decide before anyone codes</a:t>
            </a:r>
            <a:endParaRPr lang="en-US" sz="2800" dirty="0"/>
          </a:p>
        </p:txBody>
      </p:sp>
      <p:sp>
        <p:nvSpPr>
          <p:cNvPr id="7" name="Text 4"/>
          <p:cNvSpPr/>
          <p:nvPr/>
        </p:nvSpPr>
        <p:spPr>
          <a:xfrm>
            <a:off x="634901" y="1868984"/>
            <a:ext cx="7873901" cy="1900833"/>
          </a:xfrm>
          <a:prstGeom prst="roundRect">
            <a:avLst>
              <a:gd name="adj" fmla="val 5345"/>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73746"/>
            <a:ext cx="7873901" cy="0"/>
          </a:xfrm>
          <a:prstGeom prst="line">
            <a:avLst/>
          </a:prstGeom>
          <a:noFill/>
          <a:ln w="9525">
            <a:solidFill>
              <a:srgbClr val="E0C5FF"/>
            </a:solidFill>
            <a:prstDash val="solid"/>
          </a:ln>
        </p:spPr>
      </p:sp>
      <p:sp>
        <p:nvSpPr>
          <p:cNvPr id="9" name="Shape 6"/>
          <p:cNvSpPr/>
          <p:nvPr/>
        </p:nvSpPr>
        <p:spPr>
          <a:xfrm>
            <a:off x="8504039" y="1868984"/>
            <a:ext cx="0" cy="1900833"/>
          </a:xfrm>
          <a:prstGeom prst="line">
            <a:avLst/>
          </a:prstGeom>
          <a:noFill/>
          <a:ln w="9525">
            <a:solidFill>
              <a:srgbClr val="E0C5FF"/>
            </a:solidFill>
            <a:prstDash val="solid"/>
          </a:ln>
        </p:spPr>
      </p:sp>
      <p:sp>
        <p:nvSpPr>
          <p:cNvPr id="10" name="Shape 7"/>
          <p:cNvSpPr/>
          <p:nvPr/>
        </p:nvSpPr>
        <p:spPr>
          <a:xfrm>
            <a:off x="634901" y="3765054"/>
            <a:ext cx="7873901" cy="0"/>
          </a:xfrm>
          <a:prstGeom prst="line">
            <a:avLst/>
          </a:prstGeom>
          <a:noFill/>
          <a:ln w="9525">
            <a:solidFill>
              <a:srgbClr val="E0C5FF"/>
            </a:solidFill>
            <a:prstDash val="solid"/>
          </a:ln>
        </p:spPr>
      </p:sp>
      <p:sp>
        <p:nvSpPr>
          <p:cNvPr id="11" name="Shape 8"/>
          <p:cNvSpPr/>
          <p:nvPr/>
        </p:nvSpPr>
        <p:spPr>
          <a:xfrm>
            <a:off x="663476" y="1868984"/>
            <a:ext cx="0" cy="190083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107109"/>
            <a:ext cx="190500" cy="190500"/>
          </a:xfrm>
          <a:prstGeom prst="rect">
            <a:avLst/>
          </a:prstGeom>
        </p:spPr>
      </p:pic>
      <p:sp>
        <p:nvSpPr>
          <p:cNvPr id="13" name="Text 9"/>
          <p:cNvSpPr/>
          <p:nvPr/>
        </p:nvSpPr>
        <p:spPr>
          <a:xfrm>
            <a:off x="1238101" y="2126159"/>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424559"/>
            <a:ext cx="7393496" cy="1081832"/>
          </a:xfrm>
          <a:prstGeom prst="rect">
            <a:avLst/>
          </a:prstGeom>
          <a:noFill/>
          <a:ln/>
        </p:spPr>
        <p:txBody>
          <a:bodyPr wrap="square" lIns="0" tIns="0" rIns="0" bIns="0" rtlCol="0" anchor="t"/>
          <a:lstStyle/>
          <a:p>
            <a:pPr algn="l" indent="0" marL="0">
              <a:lnSpc>
                <a:spcPts val="2840"/>
              </a:lnSpc>
              <a:buNone/>
            </a:pPr>
            <a:r>
              <a:rPr lang="en-US" sz="2000" dirty="0">
                <a:solidFill>
                  <a:srgbClr val="1F2328"/>
                </a:solidFill>
                <a:latin typeface="Arial" pitchFamily="34" charset="0"/>
                <a:ea typeface="Arial" pitchFamily="34" charset="-122"/>
                <a:cs typeface="Arial" pitchFamily="34" charset="-120"/>
              </a:rPr>
              <a:t>Use the </a:t>
            </a:r>
            <a:pPr algn="l" indent="0" marL="0">
              <a:lnSpc>
                <a:spcPts val="2840"/>
              </a:lnSpc>
              <a:buNone/>
            </a:pPr>
            <a:r>
              <a:rPr lang="en-US" sz="2000" b="1" dirty="0">
                <a:solidFill>
                  <a:srgbClr val="1F2328"/>
                </a:solidFill>
                <a:latin typeface="Arial" pitchFamily="34" charset="0"/>
                <a:ea typeface="Arial" pitchFamily="34" charset="-122"/>
                <a:cs typeface="Arial" pitchFamily="34" charset="-120"/>
              </a:rPr>
              <a:t>grill-plan</a:t>
            </a:r>
            <a:pPr algn="l" indent="0" marL="0">
              <a:lnSpc>
                <a:spcPts val="2840"/>
              </a:lnSpc>
              <a:buNone/>
            </a:pPr>
            <a:r>
              <a:rPr lang="en-US" sz="2000" dirty="0">
                <a:solidFill>
                  <a:srgbClr val="1F2328"/>
                </a:solidFill>
                <a:latin typeface="Arial" pitchFamily="34" charset="0"/>
                <a:ea typeface="Arial" pitchFamily="34" charset="-122"/>
                <a:cs typeface="Arial" pitchFamily="34" charset="-120"/>
              </a:rPr>
              <a:t> skill on issue #&lt;api-issue&gt;. Read PLAN.md and PLAN-phase1-api.md first. When we finish, post the Decisions and the Test list as a comment on the issue.</a:t>
            </a:r>
            <a:endParaRPr lang="en-US" sz="2000" dirty="0"/>
          </a:p>
        </p:txBody>
      </p:sp>
      <p:pic>
        <p:nvPicPr>
          <p:cNvPr id="15" name="Image 2" descr="/Users/danwahlin/.copilot/session-state/a2da67da-2d7a-45f2-aa6a-2a42a7b82a72/files/build/icons/GoGitBranch-8250DF.png">    </p:cNvPr>
          <p:cNvPicPr>
            <a:picLocks noChangeAspect="1"/>
          </p:cNvPicPr>
          <p:nvPr/>
        </p:nvPicPr>
        <p:blipFill>
          <a:blip r:embed="rId3"/>
          <a:stretch>
            <a:fillRect/>
          </a:stretch>
        </p:blipFill>
        <p:spPr>
          <a:xfrm>
            <a:off x="634901" y="4030117"/>
            <a:ext cx="215801" cy="215801"/>
          </a:xfrm>
          <a:prstGeom prst="rect">
            <a:avLst/>
          </a:prstGeom>
        </p:spPr>
      </p:pic>
      <p:sp>
        <p:nvSpPr>
          <p:cNvPr id="16" name="Text 11"/>
          <p:cNvSpPr/>
          <p:nvPr/>
        </p:nvSpPr>
        <p:spPr>
          <a:xfrm>
            <a:off x="952202" y="4023717"/>
            <a:ext cx="4775472" cy="228600"/>
          </a:xfrm>
          <a:prstGeom prst="rect">
            <a:avLst/>
          </a:prstGeom>
          <a:noFill/>
          <a:ln/>
        </p:spPr>
        <p:txBody>
          <a:bodyPr wrap="square" lIns="0" tIns="0" rIns="0" bIns="0" rtlCol="0" anchor="t"/>
          <a:lstStyle/>
          <a:p>
            <a:pPr algn="l" indent="0" marL="0">
              <a:lnSpc>
                <a:spcPts val="1800"/>
              </a:lnSpc>
              <a:buNone/>
            </a:pPr>
            <a:r>
              <a:rPr lang="en-US" sz="1400" dirty="0">
                <a:solidFill>
                  <a:srgbClr val="59636E"/>
                </a:solidFill>
                <a:latin typeface="Arial" pitchFamily="34" charset="0"/>
                <a:ea typeface="Arial" pitchFamily="34" charset="-122"/>
                <a:cs typeface="Arial" pitchFamily="34" charset="-120"/>
              </a:rPr>
              <a:t>Start the stack first: </a:t>
            </a:r>
            <a:pPr algn="l" indent="0" marL="0">
              <a:lnSpc>
                <a:spcPts val="1800"/>
              </a:lnSpc>
              <a:buNone/>
            </a:pPr>
            <a:r>
              <a:rPr lang="en-US" sz="1400" b="1" dirty="0">
                <a:solidFill>
                  <a:srgbClr val="59636E"/>
                </a:solidFill>
                <a:latin typeface="Arial" pitchFamily="34" charset="0"/>
                <a:ea typeface="Arial" pitchFamily="34" charset="-122"/>
                <a:cs typeface="Arial" pitchFamily="34" charset="-120"/>
              </a:rPr>
              <a:t>gh stack init --base main phase-1-api</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RED</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Write the tests first</a:t>
            </a:r>
            <a:endParaRPr lang="en-US" sz="2800" dirty="0"/>
          </a:p>
        </p:txBody>
      </p:sp>
      <p:sp>
        <p:nvSpPr>
          <p:cNvPr id="7" name="Text 4"/>
          <p:cNvSpPr/>
          <p:nvPr/>
        </p:nvSpPr>
        <p:spPr>
          <a:xfrm>
            <a:off x="634901" y="1767036"/>
            <a:ext cx="7873901" cy="2104579"/>
          </a:xfrm>
          <a:prstGeom prst="roundRect">
            <a:avLst>
              <a:gd name="adj" fmla="val 4828"/>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771799"/>
            <a:ext cx="7873901" cy="0"/>
          </a:xfrm>
          <a:prstGeom prst="line">
            <a:avLst/>
          </a:prstGeom>
          <a:noFill/>
          <a:ln w="9525">
            <a:solidFill>
              <a:srgbClr val="E0C5FF"/>
            </a:solidFill>
            <a:prstDash val="solid"/>
          </a:ln>
        </p:spPr>
      </p:sp>
      <p:sp>
        <p:nvSpPr>
          <p:cNvPr id="9" name="Shape 6"/>
          <p:cNvSpPr/>
          <p:nvPr/>
        </p:nvSpPr>
        <p:spPr>
          <a:xfrm>
            <a:off x="8504039" y="1767036"/>
            <a:ext cx="0" cy="2104579"/>
          </a:xfrm>
          <a:prstGeom prst="line">
            <a:avLst/>
          </a:prstGeom>
          <a:noFill/>
          <a:ln w="9525">
            <a:solidFill>
              <a:srgbClr val="E0C5FF"/>
            </a:solidFill>
            <a:prstDash val="solid"/>
          </a:ln>
        </p:spPr>
      </p:sp>
      <p:sp>
        <p:nvSpPr>
          <p:cNvPr id="10" name="Shape 7"/>
          <p:cNvSpPr/>
          <p:nvPr/>
        </p:nvSpPr>
        <p:spPr>
          <a:xfrm>
            <a:off x="634901" y="3866852"/>
            <a:ext cx="7873901" cy="0"/>
          </a:xfrm>
          <a:prstGeom prst="line">
            <a:avLst/>
          </a:prstGeom>
          <a:noFill/>
          <a:ln w="9525">
            <a:solidFill>
              <a:srgbClr val="E0C5FF"/>
            </a:solidFill>
            <a:prstDash val="solid"/>
          </a:ln>
        </p:spPr>
      </p:sp>
      <p:sp>
        <p:nvSpPr>
          <p:cNvPr id="11" name="Shape 8"/>
          <p:cNvSpPr/>
          <p:nvPr/>
        </p:nvSpPr>
        <p:spPr>
          <a:xfrm>
            <a:off x="663476" y="1767036"/>
            <a:ext cx="0" cy="2104579"/>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05161"/>
            <a:ext cx="190500" cy="190500"/>
          </a:xfrm>
          <a:prstGeom prst="rect">
            <a:avLst/>
          </a:prstGeom>
        </p:spPr>
      </p:pic>
      <p:sp>
        <p:nvSpPr>
          <p:cNvPr id="13" name="Text 9"/>
          <p:cNvSpPr/>
          <p:nvPr/>
        </p:nvSpPr>
        <p:spPr>
          <a:xfrm>
            <a:off x="1238101" y="2024211"/>
            <a:ext cx="1423169" cy="152400"/>
          </a:xfrm>
          <a:prstGeom prst="rect">
            <a:avLst/>
          </a:prstGeom>
          <a:noFill/>
          <a:ln/>
        </p:spPr>
        <p:txBody>
          <a:bodyPr wrap="square" lIns="0" tIns="0" rIns="0" bIns="0" rtlCol="0" anchor="t"/>
          <a:lstStyle/>
          <a:p>
            <a:pPr algn="l" indent="0" marL="0">
              <a:buNone/>
            </a:pPr>
            <a:r>
              <a:rPr lang="en-US" sz="1050" dirty="0">
                <a:solidFill>
                  <a:srgbClr val="8250DF"/>
                </a:solidFill>
                <a:latin typeface="Arial" pitchFamily="34" charset="0"/>
                <a:ea typeface="Arial" pitchFamily="34" charset="-122"/>
                <a:cs typeface="Arial" pitchFamily="34" charset="-120"/>
              </a:rPr>
              <a:t>PROMPT</a:t>
            </a:r>
            <a:pPr algn="l" indent="0" marL="0">
              <a:buNone/>
            </a:pPr>
            <a:r>
              <a:rPr lang="en-US" sz="1050" b="1" dirty="0">
                <a:solidFill>
                  <a:srgbClr val="818B98"/>
                </a:solidFill>
                <a:latin typeface="Arial" pitchFamily="34" charset="0"/>
                <a:ea typeface="Arial" pitchFamily="34" charset="-122"/>
                <a:cs typeface="Arial" pitchFamily="34" charset="-120"/>
              </a:rPr>
              <a:t> · ABRIDGED</a:t>
            </a:r>
            <a:endParaRPr lang="en-US" sz="1050" dirty="0"/>
          </a:p>
        </p:txBody>
      </p:sp>
      <p:sp>
        <p:nvSpPr>
          <p:cNvPr id="14" name="Text 10"/>
          <p:cNvSpPr/>
          <p:nvPr/>
        </p:nvSpPr>
        <p:spPr>
          <a:xfrm>
            <a:off x="971401" y="2309813"/>
            <a:ext cx="7393496" cy="1298377"/>
          </a:xfrm>
          <a:prstGeom prst="rect">
            <a:avLst/>
          </a:prstGeom>
          <a:noFill/>
          <a:ln/>
        </p:spPr>
        <p:txBody>
          <a:bodyPr wrap="square" lIns="0" tIns="0" rIns="0" bIns="0" rtlCol="0" anchor="t"/>
          <a:lstStyle/>
          <a:p>
            <a:pPr algn="l" indent="0" marL="0">
              <a:lnSpc>
                <a:spcPts val="2556"/>
              </a:lnSpc>
              <a:buNone/>
            </a:pPr>
            <a:r>
              <a:rPr lang="en-US" sz="1800" dirty="0">
                <a:solidFill>
                  <a:srgbClr val="1F2328"/>
                </a:solidFill>
                <a:latin typeface="Arial" pitchFamily="34" charset="0"/>
                <a:ea typeface="Arial" pitchFamily="34" charset="-122"/>
                <a:cs typeface="Arial" pitchFamily="34" charset="-120"/>
              </a:rPr>
              <a:t>Use the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tdd-builder</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agent for the red phase of issue #&lt;api-issue&gt;. Scaffold src/api as described in … PLAN-phase1-api.md. Then write the tests from its "Test Strategy" section and the Decisions comment on the issue.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Tag the red commit phase1-red.</a:t>
            </a:r>
            <a:endParaRPr lang="en-US" sz="1800" dirty="0"/>
          </a:p>
        </p:txBody>
      </p:sp>
      <p:pic>
        <p:nvPicPr>
          <p:cNvPr id="15" name="Image 2" descr="/Users/danwahlin/.copilot/session-state/a2da67da-2d7a-45f2-aa6a-2a42a7b82a72/files/build/icons/GoXCircle-8250DF.png">    </p:cNvPr>
          <p:cNvPicPr>
            <a:picLocks noChangeAspect="1"/>
          </p:cNvPicPr>
          <p:nvPr/>
        </p:nvPicPr>
        <p:blipFill>
          <a:blip r:embed="rId3"/>
          <a:stretch>
            <a:fillRect/>
          </a:stretch>
        </p:blipFill>
        <p:spPr>
          <a:xfrm>
            <a:off x="634901" y="4131915"/>
            <a:ext cx="215801" cy="215801"/>
          </a:xfrm>
          <a:prstGeom prst="rect">
            <a:avLst/>
          </a:prstGeom>
        </p:spPr>
      </p:pic>
      <p:sp>
        <p:nvSpPr>
          <p:cNvPr id="16" name="Text 11"/>
          <p:cNvSpPr/>
          <p:nvPr/>
        </p:nvSpPr>
        <p:spPr>
          <a:xfrm>
            <a:off x="952202" y="4125516"/>
            <a:ext cx="5098664" cy="228600"/>
          </a:xfrm>
          <a:prstGeom prst="rect">
            <a:avLst/>
          </a:prstGeom>
          <a:noFill/>
          <a:ln/>
        </p:spPr>
        <p:txBody>
          <a:bodyPr wrap="square" lIns="0" tIns="0" rIns="0" bIns="0" rtlCol="0" anchor="t"/>
          <a:lstStyle/>
          <a:p>
            <a:pPr algn="l" indent="0" marL="0">
              <a:lnSpc>
                <a:spcPts val="1800"/>
              </a:lnSpc>
              <a:buNone/>
            </a:pPr>
            <a:r>
              <a:rPr lang="en-US" sz="1400" dirty="0">
                <a:solidFill>
                  <a:srgbClr val="59636E"/>
                </a:solidFill>
                <a:latin typeface="Arial" pitchFamily="34" charset="0"/>
                <a:ea typeface="Arial" pitchFamily="34" charset="-122"/>
                <a:cs typeface="Arial" pitchFamily="34" charset="-120"/>
              </a:rPr>
              <a:t>Run </a:t>
            </a:r>
            <a:pPr algn="l" indent="0" marL="0">
              <a:lnSpc>
                <a:spcPts val="1800"/>
              </a:lnSpc>
              <a:buNone/>
            </a:pPr>
            <a:r>
              <a:rPr lang="en-US" sz="1400" b="1" dirty="0">
                <a:solidFill>
                  <a:srgbClr val="59636E"/>
                </a:solidFill>
                <a:latin typeface="Arial" pitchFamily="34" charset="0"/>
                <a:ea typeface="Arial" pitchFamily="34" charset="-122"/>
                <a:cs typeface="Arial" pitchFamily="34" charset="-120"/>
              </a:rPr>
              <a:t>npm test</a:t>
            </a:r>
            <a:pPr algn="l" indent="0" marL="0">
              <a:lnSpc>
                <a:spcPts val="1800"/>
              </a:lnSpc>
              <a:buNone/>
            </a:pPr>
            <a:r>
              <a:rPr lang="en-US" sz="1400" dirty="0">
                <a:solidFill>
                  <a:srgbClr val="59636E"/>
                </a:solidFill>
                <a:latin typeface="Arial" pitchFamily="34" charset="0"/>
                <a:ea typeface="Arial" pitchFamily="34" charset="-122"/>
                <a:cs typeface="Arial" pitchFamily="34" charset="-120"/>
              </a:rPr>
              <a:t>. Failures should be assertions, not syntax errors.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GREEN</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Make it pass. Don't touch the tests.</a:t>
            </a:r>
            <a:endParaRPr lang="en-US" sz="2800" dirty="0"/>
          </a:p>
        </p:txBody>
      </p:sp>
      <p:sp>
        <p:nvSpPr>
          <p:cNvPr id="7" name="Text 4"/>
          <p:cNvSpPr/>
          <p:nvPr/>
        </p:nvSpPr>
        <p:spPr>
          <a:xfrm>
            <a:off x="634901" y="2008287"/>
            <a:ext cx="7873901" cy="2104579"/>
          </a:xfrm>
          <a:prstGeom prst="roundRect">
            <a:avLst>
              <a:gd name="adj" fmla="val 4828"/>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2013049"/>
            <a:ext cx="7873901" cy="0"/>
          </a:xfrm>
          <a:prstGeom prst="line">
            <a:avLst/>
          </a:prstGeom>
          <a:noFill/>
          <a:ln w="9525">
            <a:solidFill>
              <a:srgbClr val="E0C5FF"/>
            </a:solidFill>
            <a:prstDash val="solid"/>
          </a:ln>
        </p:spPr>
      </p:sp>
      <p:sp>
        <p:nvSpPr>
          <p:cNvPr id="9" name="Shape 6"/>
          <p:cNvSpPr/>
          <p:nvPr/>
        </p:nvSpPr>
        <p:spPr>
          <a:xfrm>
            <a:off x="8504039" y="2008287"/>
            <a:ext cx="0" cy="2104579"/>
          </a:xfrm>
          <a:prstGeom prst="line">
            <a:avLst/>
          </a:prstGeom>
          <a:noFill/>
          <a:ln w="9525">
            <a:solidFill>
              <a:srgbClr val="E0C5FF"/>
            </a:solidFill>
            <a:prstDash val="solid"/>
          </a:ln>
        </p:spPr>
      </p:sp>
      <p:sp>
        <p:nvSpPr>
          <p:cNvPr id="10" name="Shape 7"/>
          <p:cNvSpPr/>
          <p:nvPr/>
        </p:nvSpPr>
        <p:spPr>
          <a:xfrm>
            <a:off x="634901" y="4108103"/>
            <a:ext cx="7873901" cy="0"/>
          </a:xfrm>
          <a:prstGeom prst="line">
            <a:avLst/>
          </a:prstGeom>
          <a:noFill/>
          <a:ln w="9525">
            <a:solidFill>
              <a:srgbClr val="E0C5FF"/>
            </a:solidFill>
            <a:prstDash val="solid"/>
          </a:ln>
        </p:spPr>
      </p:sp>
      <p:sp>
        <p:nvSpPr>
          <p:cNvPr id="11" name="Shape 8"/>
          <p:cNvSpPr/>
          <p:nvPr/>
        </p:nvSpPr>
        <p:spPr>
          <a:xfrm>
            <a:off x="663476" y="2008287"/>
            <a:ext cx="0" cy="2104579"/>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246412"/>
            <a:ext cx="190500" cy="190500"/>
          </a:xfrm>
          <a:prstGeom prst="rect">
            <a:avLst/>
          </a:prstGeom>
        </p:spPr>
      </p:pic>
      <p:sp>
        <p:nvSpPr>
          <p:cNvPr id="13" name="Text 9"/>
          <p:cNvSpPr/>
          <p:nvPr/>
        </p:nvSpPr>
        <p:spPr>
          <a:xfrm>
            <a:off x="1238101" y="2265462"/>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551063"/>
            <a:ext cx="7393496" cy="1298377"/>
          </a:xfrm>
          <a:prstGeom prst="rect">
            <a:avLst/>
          </a:prstGeom>
          <a:noFill/>
          <a:ln/>
        </p:spPr>
        <p:txBody>
          <a:bodyPr wrap="square" lIns="0" tIns="0" rIns="0" bIns="0" rtlCol="0" anchor="t"/>
          <a:lstStyle/>
          <a:p>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/autopilot</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Use the tdd-builder agent for the green phase of issue #&lt;api-issue&gt;. Implement src/api until "npm run check" passes.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Do not change anything under src/api/test.</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Commit the result as a green commit.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DETERMINISTIC GATES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Exit codes decide "done"</a:t>
            </a:r>
            <a:endParaRPr lang="en-US" sz="2800" dirty="0"/>
          </a:p>
        </p:txBody>
      </p:sp>
      <p:sp>
        <p:nvSpPr>
          <p:cNvPr id="7" name="Text 4"/>
          <p:cNvSpPr/>
          <p:nvPr/>
        </p:nvSpPr>
        <p:spPr>
          <a:xfrm>
            <a:off x="888802" y="1857375"/>
            <a:ext cx="7365950" cy="1835051"/>
          </a:xfrm>
          <a:prstGeom prst="roundRect">
            <a:avLst>
              <a:gd name="adj" fmla="val 5537"/>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888802" y="1857375"/>
            <a:ext cx="736595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015752" y="1939826"/>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168003" y="1939826"/>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320254" y="1939826"/>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574006" y="1912888"/>
            <a:ext cx="621792"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a:t>
            </a:r>
            <a:endParaRPr lang="en-US" sz="1000" dirty="0"/>
          </a:p>
        </p:txBody>
      </p:sp>
      <p:sp>
        <p:nvSpPr>
          <p:cNvPr id="13" name="Text 10"/>
          <p:cNvSpPr/>
          <p:nvPr/>
        </p:nvSpPr>
        <p:spPr>
          <a:xfrm>
            <a:off x="1117402" y="2288977"/>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npm run check</a:t>
            </a:r>
            <a:endParaRPr lang="en-US" sz="1350" dirty="0"/>
          </a:p>
        </p:txBody>
      </p:sp>
      <p:sp>
        <p:nvSpPr>
          <p:cNvPr id="14" name="Text 11"/>
          <p:cNvSpPr/>
          <p:nvPr/>
        </p:nvSpPr>
        <p:spPr>
          <a:xfrm>
            <a:off x="1117402" y="2554784"/>
            <a:ext cx="7046925" cy="265807"/>
          </a:xfrm>
          <a:prstGeom prst="rect">
            <a:avLst/>
          </a:prstGeom>
          <a:noFill/>
          <a:ln/>
        </p:spPr>
        <p:txBody>
          <a:bodyPr wrap="square" lIns="0" tIns="0" rIns="0" bIns="0" rtlCol="0" anchor="t"/>
          <a:lstStyle/>
          <a:p>
            <a:pPr algn="l" indent="0" marL="0">
              <a:lnSpc>
                <a:spcPts val="2092"/>
              </a:lnSpc>
              <a:buNone/>
            </a:pPr>
            <a:r>
              <a:rPr lang="en-US" sz="1350" dirty="0">
                <a:solidFill>
                  <a:srgbClr val="8B949E"/>
                </a:solidFill>
                <a:latin typeface="Courier New" pitchFamily="34" charset="0"/>
                <a:ea typeface="Courier New" pitchFamily="34" charset="-122"/>
                <a:cs typeface="Courier New" pitchFamily="34" charset="-120"/>
              </a:rPr>
              <a:t># type check + unit and contract tests</a:t>
            </a:r>
            <a:endParaRPr lang="en-US" sz="1350" dirty="0"/>
          </a:p>
        </p:txBody>
      </p:sp>
      <p:sp>
        <p:nvSpPr>
          <p:cNvPr id="15" name="Text 12"/>
          <p:cNvSpPr/>
          <p:nvPr/>
        </p:nvSpPr>
        <p:spPr>
          <a:xfrm>
            <a:off x="1117402" y="2957661"/>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git diff --exit-code phase1-red -- src/api/test</a:t>
            </a:r>
            <a:endParaRPr lang="en-US" sz="1350" dirty="0"/>
          </a:p>
        </p:txBody>
      </p:sp>
      <p:sp>
        <p:nvSpPr>
          <p:cNvPr id="16" name="Text 13"/>
          <p:cNvSpPr/>
          <p:nvPr/>
        </p:nvSpPr>
        <p:spPr>
          <a:xfrm>
            <a:off x="1117402" y="3223468"/>
            <a:ext cx="7046925" cy="265807"/>
          </a:xfrm>
          <a:prstGeom prst="rect">
            <a:avLst/>
          </a:prstGeom>
          <a:noFill/>
          <a:ln/>
        </p:spPr>
        <p:txBody>
          <a:bodyPr wrap="square" lIns="0" tIns="0" rIns="0" bIns="0" rtlCol="0" anchor="t"/>
          <a:lstStyle/>
          <a:p>
            <a:pPr algn="l" indent="0" marL="0">
              <a:lnSpc>
                <a:spcPts val="2092"/>
              </a:lnSpc>
              <a:buNone/>
            </a:pPr>
            <a:r>
              <a:rPr lang="en-US" sz="1350" dirty="0">
                <a:solidFill>
                  <a:srgbClr val="8B949E"/>
                </a:solidFill>
                <a:latin typeface="Courier New" pitchFamily="34" charset="0"/>
                <a:ea typeface="Courier New" pitchFamily="34" charset="-122"/>
                <a:cs typeface="Courier New" pitchFamily="34" charset="-120"/>
              </a:rPr>
              <a:t># proves green did not edit the tests</a:t>
            </a:r>
            <a:endParaRPr lang="en-US" sz="1350" dirty="0"/>
          </a:p>
        </p:txBody>
      </p:sp>
      <p:pic>
        <p:nvPicPr>
          <p:cNvPr id="17" name="Image 1" descr="/Users/danwahlin/.copilot/session-state/a2da67da-2d7a-45f2-aa6a-2a42a7b82a72/files/build/icons/GoShieldCheck-1A7F37.png">    </p:cNvPr>
          <p:cNvPicPr>
            <a:picLocks noChangeAspect="1"/>
          </p:cNvPicPr>
          <p:nvPr/>
        </p:nvPicPr>
        <p:blipFill>
          <a:blip r:embed="rId2"/>
          <a:stretch>
            <a:fillRect/>
          </a:stretch>
        </p:blipFill>
        <p:spPr>
          <a:xfrm>
            <a:off x="888802" y="3984427"/>
            <a:ext cx="215801" cy="215801"/>
          </a:xfrm>
          <a:prstGeom prst="rect">
            <a:avLst/>
          </a:prstGeom>
        </p:spPr>
      </p:pic>
      <p:sp>
        <p:nvSpPr>
          <p:cNvPr id="18" name="Text 14"/>
          <p:cNvSpPr/>
          <p:nvPr/>
        </p:nvSpPr>
        <p:spPr>
          <a:xfrm>
            <a:off x="1206103" y="3971776"/>
            <a:ext cx="3406649" cy="241250"/>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Not the agent's summary. </a:t>
            </a:r>
            <a:pPr algn="l" indent="0" marL="0">
              <a:lnSpc>
                <a:spcPts val="1900"/>
              </a:lnSpc>
              <a:buNone/>
            </a:pPr>
            <a:r>
              <a:rPr lang="en-US" sz="1400" b="1" dirty="0">
                <a:solidFill>
                  <a:srgbClr val="1F2328"/>
                </a:solidFill>
                <a:latin typeface="Arial" pitchFamily="34" charset="0"/>
                <a:ea typeface="Arial" pitchFamily="34" charset="-122"/>
                <a:cs typeface="Arial" pitchFamily="34" charset="-120"/>
              </a:rPr>
              <a:t>The exit codes.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SAME LOOP, NEW PLATFORM</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Mockups in. Tests first. Then the screen.</a:t>
            </a:r>
            <a:endParaRPr lang="en-US" sz="2800" dirty="0"/>
          </a:p>
        </p:txBody>
      </p:sp>
      <p:pic>
        <p:nvPicPr>
          <p:cNvPr id="7" name="Image 1" descr="/Users/danwahlin/.copilot/session-state/a2da67da-2d7a-45f2-aa6a-2a42a7b82a72/files/build/img/todomock-todo-detail-empty.png">    </p:cNvPr>
          <p:cNvPicPr>
            <a:picLocks noChangeAspect="1"/>
          </p:cNvPicPr>
          <p:nvPr/>
        </p:nvPicPr>
        <p:blipFill>
          <a:blip r:embed="rId2"/>
          <a:stretch>
            <a:fillRect/>
          </a:stretch>
        </p:blipFill>
        <p:spPr>
          <a:xfrm>
            <a:off x="584150" y="1413421"/>
            <a:ext cx="1498550" cy="3243560"/>
          </a:xfrm>
          <a:prstGeom prst="rect">
            <a:avLst/>
          </a:prstGeom>
        </p:spPr>
      </p:pic>
      <p:pic>
        <p:nvPicPr>
          <p:cNvPr id="8" name="Image 2" descr="/Users/danwahlin/.copilot/session-state/a2da67da-2d7a-45f2-aa6a-2a42a7b82a72/files/build/img/todomock-todo-detail-steps.png">    </p:cNvPr>
          <p:cNvPicPr>
            <a:picLocks noChangeAspect="1"/>
          </p:cNvPicPr>
          <p:nvPr/>
        </p:nvPicPr>
        <p:blipFill>
          <a:blip r:embed="rId3"/>
          <a:stretch>
            <a:fillRect/>
          </a:stretch>
        </p:blipFill>
        <p:spPr>
          <a:xfrm>
            <a:off x="2209651" y="1413421"/>
            <a:ext cx="1498550" cy="3243560"/>
          </a:xfrm>
          <a:prstGeom prst="rect">
            <a:avLst/>
          </a:prstGeom>
        </p:spPr>
      </p:pic>
      <p:sp>
        <p:nvSpPr>
          <p:cNvPr id="9" name="Text 4"/>
          <p:cNvSpPr/>
          <p:nvPr/>
        </p:nvSpPr>
        <p:spPr>
          <a:xfrm>
            <a:off x="3987552" y="1820466"/>
            <a:ext cx="4572000" cy="2429619"/>
          </a:xfrm>
          <a:prstGeom prst="roundRect">
            <a:avLst>
              <a:gd name="adj" fmla="val 4182"/>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10" name="Shape 5"/>
          <p:cNvSpPr/>
          <p:nvPr/>
        </p:nvSpPr>
        <p:spPr>
          <a:xfrm>
            <a:off x="3987552" y="1825228"/>
            <a:ext cx="4572000" cy="0"/>
          </a:xfrm>
          <a:prstGeom prst="line">
            <a:avLst/>
          </a:prstGeom>
          <a:noFill/>
          <a:ln w="9525">
            <a:solidFill>
              <a:srgbClr val="E0C5FF"/>
            </a:solidFill>
            <a:prstDash val="solid"/>
          </a:ln>
        </p:spPr>
      </p:sp>
      <p:sp>
        <p:nvSpPr>
          <p:cNvPr id="11" name="Shape 6"/>
          <p:cNvSpPr/>
          <p:nvPr/>
        </p:nvSpPr>
        <p:spPr>
          <a:xfrm>
            <a:off x="8554789" y="1820466"/>
            <a:ext cx="0" cy="2429619"/>
          </a:xfrm>
          <a:prstGeom prst="line">
            <a:avLst/>
          </a:prstGeom>
          <a:noFill/>
          <a:ln w="9525">
            <a:solidFill>
              <a:srgbClr val="E0C5FF"/>
            </a:solidFill>
            <a:prstDash val="solid"/>
          </a:ln>
        </p:spPr>
      </p:sp>
      <p:sp>
        <p:nvSpPr>
          <p:cNvPr id="12" name="Shape 7"/>
          <p:cNvSpPr/>
          <p:nvPr/>
        </p:nvSpPr>
        <p:spPr>
          <a:xfrm>
            <a:off x="3987552" y="4245322"/>
            <a:ext cx="4572000" cy="0"/>
          </a:xfrm>
          <a:prstGeom prst="line">
            <a:avLst/>
          </a:prstGeom>
          <a:noFill/>
          <a:ln w="9525">
            <a:solidFill>
              <a:srgbClr val="E0C5FF"/>
            </a:solidFill>
            <a:prstDash val="solid"/>
          </a:ln>
        </p:spPr>
      </p:sp>
      <p:sp>
        <p:nvSpPr>
          <p:cNvPr id="13" name="Shape 8"/>
          <p:cNvSpPr/>
          <p:nvPr/>
        </p:nvSpPr>
        <p:spPr>
          <a:xfrm>
            <a:off x="4016127" y="1820466"/>
            <a:ext cx="0" cy="2429619"/>
          </a:xfrm>
          <a:prstGeom prst="line">
            <a:avLst/>
          </a:prstGeom>
          <a:noFill/>
          <a:ln w="57150">
            <a:solidFill>
              <a:srgbClr val="8250DF"/>
            </a:solidFill>
            <a:prstDash val="solid"/>
          </a:ln>
        </p:spPr>
      </p:sp>
      <p:pic>
        <p:nvPicPr>
          <p:cNvPr id="14" name="Image 3" descr="/Users/danwahlin/.copilot/session-state/a2da67da-2d7a-45f2-aa6a-2a42a7b82a72/files/build/icons/GoCopilot-8250DF.png">    </p:cNvPr>
          <p:cNvPicPr>
            <a:picLocks noChangeAspect="1"/>
          </p:cNvPicPr>
          <p:nvPr/>
        </p:nvPicPr>
        <p:blipFill>
          <a:blip r:embed="rId4"/>
          <a:stretch>
            <a:fillRect/>
          </a:stretch>
        </p:blipFill>
        <p:spPr>
          <a:xfrm>
            <a:off x="4324052" y="2058591"/>
            <a:ext cx="190500" cy="190500"/>
          </a:xfrm>
          <a:prstGeom prst="rect">
            <a:avLst/>
          </a:prstGeom>
        </p:spPr>
      </p:pic>
      <p:sp>
        <p:nvSpPr>
          <p:cNvPr id="15" name="Text 9"/>
          <p:cNvSpPr/>
          <p:nvPr/>
        </p:nvSpPr>
        <p:spPr>
          <a:xfrm>
            <a:off x="4590752" y="2077641"/>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6" name="Text 10"/>
          <p:cNvSpPr/>
          <p:nvPr/>
        </p:nvSpPr>
        <p:spPr>
          <a:xfrm>
            <a:off x="4324052" y="2363242"/>
            <a:ext cx="4025557" cy="1623417"/>
          </a:xfrm>
          <a:prstGeom prst="rect">
            <a:avLst/>
          </a:prstGeom>
          <a:noFill/>
          <a:ln/>
        </p:spPr>
        <p:txBody>
          <a:bodyPr wrap="square" lIns="0" tIns="0" rIns="0" bIns="0" rtlCol="0" anchor="t"/>
          <a:lstStyle/>
          <a:p>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@images/mockups/todo-detail-empty.png @images/mockups/todo-detail-steps.png</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These are the SmartTodo detail screen mockups. Use the grill-plan skill on issue #&lt;ios-issue&gt; with PLAN-phase2-ios.md, and post the decisions to the issue.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STACKED PULL REQUESTS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Reviewable layers, one merge</a:t>
            </a:r>
            <a:endParaRPr lang="en-US" sz="2800" dirty="0"/>
          </a:p>
        </p:txBody>
      </p:sp>
      <p:pic>
        <p:nvPicPr>
          <p:cNvPr id="7" name="Image 1" descr="/Users/danwahlin/.copilot/session-state/a2da67da-2d7a-45f2-aa6a-2a42a7b82a72/files/build/img/todo-stacked-prs.png">    </p:cNvPr>
          <p:cNvPicPr>
            <a:picLocks noChangeAspect="1"/>
          </p:cNvPicPr>
          <p:nvPr/>
        </p:nvPicPr>
        <p:blipFill>
          <a:blip r:embed="rId2"/>
          <a:stretch>
            <a:fillRect/>
          </a:stretch>
        </p:blipFill>
        <p:spPr>
          <a:xfrm>
            <a:off x="1981051" y="1308050"/>
            <a:ext cx="5181600" cy="34543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1A7F37"/>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1A7F37"/>
                </a:solidFill>
                <a:latin typeface="Arial" pitchFamily="34" charset="0"/>
                <a:ea typeface="Arial" pitchFamily="34" charset="-122"/>
                <a:cs typeface="Arial" pitchFamily="34" charset="-120"/>
              </a:rPr>
              <a:t>03</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3 OF 4</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Deploy to Azure</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Review the cost, write the infrastructure gate, and let the agent generate Bicep until it passes.</a:t>
            </a:r>
            <a:endParaRPr lang="en-US" sz="1600" dirty="0"/>
          </a:p>
        </p:txBody>
      </p:sp>
      <p:sp>
        <p:nvSpPr>
          <p:cNvPr id="10" name="Text 7"/>
          <p:cNvSpPr/>
          <p:nvPr/>
        </p:nvSpPr>
        <p:spPr>
          <a:xfrm>
            <a:off x="4854476" y="1709291"/>
            <a:ext cx="3803600" cy="1330821"/>
          </a:xfrm>
          <a:prstGeom prst="roundRect">
            <a:avLst>
              <a:gd name="adj" fmla="val 7634"/>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11" name="Image 1" descr="/Users/danwahlin/.copilot/session-state/a2da67da-2d7a-45f2-aa6a-2a42a7b82a72/files/build/img/todo-phase3-deploy.png">    </p:cNvPr>
          <p:cNvPicPr>
            <a:picLocks noChangeAspect="1"/>
          </p:cNvPicPr>
          <p:nvPr/>
        </p:nvPicPr>
        <p:blipFill>
          <a:blip r:embed="rId2"/>
          <a:stretch>
            <a:fillRect/>
          </a:stretch>
        </p:blipFill>
        <p:spPr>
          <a:xfrm>
            <a:off x="4902101" y="1756916"/>
            <a:ext cx="3708350" cy="1235571"/>
          </a:xfrm>
          <a:prstGeom prst="rect">
            <a:avLst/>
          </a:prstGeom>
        </p:spPr>
      </p:pic>
      <p:sp>
        <p:nvSpPr>
          <p:cNvPr id="12" name="Text 8"/>
          <p:cNvSpPr/>
          <p:nvPr/>
        </p:nvSpPr>
        <p:spPr>
          <a:xfrm>
            <a:off x="558701" y="4368701"/>
            <a:ext cx="1352401"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842061"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Plan the work</a:t>
            </a:r>
            <a:endParaRPr lang="en-US" sz="1000" dirty="0"/>
          </a:p>
        </p:txBody>
      </p:sp>
      <p:sp>
        <p:nvSpPr>
          <p:cNvPr id="16" name="Text 12"/>
          <p:cNvSpPr/>
          <p:nvPr/>
        </p:nvSpPr>
        <p:spPr>
          <a:xfrm>
            <a:off x="2012603" y="4368701"/>
            <a:ext cx="1387525"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098328"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173742"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390329" y="4478089"/>
            <a:ext cx="877887"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Build test-first</a:t>
            </a:r>
            <a:endParaRPr lang="en-US" sz="1000" dirty="0"/>
          </a:p>
        </p:txBody>
      </p:sp>
      <p:sp>
        <p:nvSpPr>
          <p:cNvPr id="20" name="Text 16"/>
          <p:cNvSpPr/>
          <p:nvPr/>
        </p:nvSpPr>
        <p:spPr>
          <a:xfrm>
            <a:off x="3501628" y="4368701"/>
            <a:ext cx="1488728" cy="361652"/>
          </a:xfrm>
          <a:prstGeom prst="roundRect">
            <a:avLst>
              <a:gd name="adj" fmla="val 52675"/>
            </a:avLst>
          </a:prstGeom>
          <a:solidFill>
            <a:srgbClr val="1A7F37"/>
          </a:solidFill>
          <a:ln w="9525">
            <a:solidFill>
              <a:srgbClr val="1A7F37"/>
            </a:solidFill>
          </a:ln>
        </p:spPr>
        <p:txBody>
          <a:bodyPr wrap="square" rtlCol="0" anchor="ctr"/>
          <a:lstStyle/>
          <a:p>
            <a:pPr indent="0" marL="0">
              <a:buNone/>
            </a:pPr>
            <a:endParaRPr lang="en-US" dirty="0"/>
          </a:p>
        </p:txBody>
      </p:sp>
      <p:sp>
        <p:nvSpPr>
          <p:cNvPr id="21" name="Text 17"/>
          <p:cNvSpPr/>
          <p:nvPr/>
        </p:nvSpPr>
        <p:spPr>
          <a:xfrm>
            <a:off x="3587353"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22" name="Text 18"/>
          <p:cNvSpPr/>
          <p:nvPr/>
        </p:nvSpPr>
        <p:spPr>
          <a:xfrm>
            <a:off x="3662767" y="4482852"/>
            <a:ext cx="64972" cy="133350"/>
          </a:xfrm>
          <a:prstGeom prst="rect">
            <a:avLst/>
          </a:prstGeom>
          <a:noFill/>
          <a:ln/>
        </p:spPr>
        <p:txBody>
          <a:bodyPr wrap="square" lIns="0" tIns="0" rIns="0" bIns="0" rtlCol="0" anchor="t"/>
          <a:lstStyle/>
          <a:p>
            <a:pPr algn="ctr" indent="0" marL="0">
              <a:buNone/>
            </a:pPr>
            <a:r>
              <a:rPr lang="en-US" sz="900" b="1" dirty="0">
                <a:solidFill>
                  <a:srgbClr val="1A7F37"/>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3879354" y="4478089"/>
            <a:ext cx="981114"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Deploy to Azure</a:t>
            </a:r>
            <a:endParaRPr lang="en-US" sz="1000" dirty="0"/>
          </a:p>
        </p:txBody>
      </p:sp>
      <p:sp>
        <p:nvSpPr>
          <p:cNvPr id="24" name="Text 20"/>
          <p:cNvSpPr/>
          <p:nvPr/>
        </p:nvSpPr>
        <p:spPr>
          <a:xfrm>
            <a:off x="5091857" y="4368701"/>
            <a:ext cx="1211312"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5" name="Text 21"/>
          <p:cNvSpPr/>
          <p:nvPr/>
        </p:nvSpPr>
        <p:spPr>
          <a:xfrm>
            <a:off x="5177582"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6" name="Text 22"/>
          <p:cNvSpPr/>
          <p:nvPr/>
        </p:nvSpPr>
        <p:spPr>
          <a:xfrm>
            <a:off x="5252996"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4</a:t>
            </a:r>
            <a:endParaRPr lang="en-US" sz="900" dirty="0"/>
          </a:p>
        </p:txBody>
      </p:sp>
      <p:sp>
        <p:nvSpPr>
          <p:cNvPr id="27" name="Text 23"/>
          <p:cNvSpPr/>
          <p:nvPr/>
        </p:nvSpPr>
        <p:spPr>
          <a:xfrm>
            <a:off x="5469582" y="4478089"/>
            <a:ext cx="698150"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The factory</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TEST-FIRST INFRASTRUCTURE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The same loop, for Bicep</a:t>
            </a:r>
            <a:endParaRPr lang="en-US" sz="2800" dirty="0"/>
          </a:p>
        </p:txBody>
      </p:sp>
      <p:sp>
        <p:nvSpPr>
          <p:cNvPr id="7" name="Text 4"/>
          <p:cNvSpPr/>
          <p:nvPr/>
        </p:nvSpPr>
        <p:spPr>
          <a:xfrm>
            <a:off x="1054001" y="1785193"/>
            <a:ext cx="711101" cy="711101"/>
          </a:xfrm>
          <a:prstGeom prst="roundRect">
            <a:avLst>
              <a:gd name="adj" fmla="val 10716"/>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CreditCard-0969DA.png">    </p:cNvPr>
          <p:cNvPicPr>
            <a:picLocks noChangeAspect="1"/>
          </p:cNvPicPr>
          <p:nvPr/>
        </p:nvPicPr>
        <p:blipFill>
          <a:blip r:embed="rId2"/>
          <a:stretch>
            <a:fillRect/>
          </a:stretch>
        </p:blipFill>
        <p:spPr>
          <a:xfrm>
            <a:off x="1212652" y="1943844"/>
            <a:ext cx="393650" cy="393650"/>
          </a:xfrm>
          <a:prstGeom prst="rect">
            <a:avLst/>
          </a:prstGeom>
        </p:spPr>
      </p:pic>
      <p:sp>
        <p:nvSpPr>
          <p:cNvPr id="9" name="Text 5"/>
          <p:cNvSpPr/>
          <p:nvPr/>
        </p:nvSpPr>
        <p:spPr>
          <a:xfrm>
            <a:off x="864118" y="2597795"/>
            <a:ext cx="1090717"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Cost review</a:t>
            </a:r>
            <a:endParaRPr lang="en-US" sz="1500" dirty="0"/>
          </a:p>
        </p:txBody>
      </p:sp>
      <p:sp>
        <p:nvSpPr>
          <p:cNvPr id="10" name="Text 6"/>
          <p:cNvSpPr/>
          <p:nvPr/>
        </p:nvSpPr>
        <p:spPr>
          <a:xfrm>
            <a:off x="476863" y="2937421"/>
            <a:ext cx="1865376"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Read-only, posted to the issue</a:t>
            </a:r>
            <a:endParaRPr lang="en-US" sz="1250" dirty="0"/>
          </a:p>
        </p:txBody>
      </p:sp>
      <p:sp>
        <p:nvSpPr>
          <p:cNvPr id="11" name="Text 7"/>
          <p:cNvSpPr/>
          <p:nvPr/>
        </p:nvSpPr>
        <p:spPr>
          <a:xfrm>
            <a:off x="2346966" y="2007394"/>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2" name="Text 8"/>
          <p:cNvSpPr/>
          <p:nvPr/>
        </p:nvSpPr>
        <p:spPr>
          <a:xfrm>
            <a:off x="3162151" y="1785193"/>
            <a:ext cx="711101" cy="711101"/>
          </a:xfrm>
          <a:prstGeom prst="roundRect">
            <a:avLst>
              <a:gd name="adj" fmla="val 10716"/>
            </a:avLst>
          </a:prstGeom>
          <a:solidFill>
            <a:srgbClr val="FFEBE9"/>
          </a:solidFill>
          <a:ln/>
        </p:spPr>
        <p:txBody>
          <a:bodyPr wrap="square" rtlCol="0" anchor="ctr"/>
          <a:lstStyle/>
          <a:p>
            <a:pPr indent="0" marL="0">
              <a:buNone/>
            </a:pPr>
            <a:endParaRPr lang="en-US" dirty="0"/>
          </a:p>
        </p:txBody>
      </p:sp>
      <p:pic>
        <p:nvPicPr>
          <p:cNvPr id="13" name="Image 2" descr="/Users/danwahlin/.copilot/session-state/a2da67da-2d7a-45f2-aa6a-2a42a7b82a72/files/build/icons/GoXCircle-CF222E.png">    </p:cNvPr>
          <p:cNvPicPr>
            <a:picLocks noChangeAspect="1"/>
          </p:cNvPicPr>
          <p:nvPr/>
        </p:nvPicPr>
        <p:blipFill>
          <a:blip r:embed="rId3"/>
          <a:stretch>
            <a:fillRect/>
          </a:stretch>
        </p:blipFill>
        <p:spPr>
          <a:xfrm>
            <a:off x="3320802" y="1943844"/>
            <a:ext cx="393650" cy="393650"/>
          </a:xfrm>
          <a:prstGeom prst="rect">
            <a:avLst/>
          </a:prstGeom>
        </p:spPr>
      </p:pic>
      <p:sp>
        <p:nvSpPr>
          <p:cNvPr id="14" name="Text 9"/>
          <p:cNvSpPr/>
          <p:nvPr/>
        </p:nvSpPr>
        <p:spPr>
          <a:xfrm>
            <a:off x="3080202" y="2597795"/>
            <a:ext cx="874850"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Gate fails</a:t>
            </a:r>
            <a:endParaRPr lang="en-US" sz="1500" dirty="0"/>
          </a:p>
        </p:txBody>
      </p:sp>
      <p:sp>
        <p:nvSpPr>
          <p:cNvPr id="15" name="Text 10"/>
          <p:cNvSpPr/>
          <p:nvPr/>
        </p:nvSpPr>
        <p:spPr>
          <a:xfrm>
            <a:off x="2585014" y="2937421"/>
            <a:ext cx="1865376"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check-infra.mjs, tag phase3-red</a:t>
            </a:r>
            <a:endParaRPr lang="en-US" sz="1250" dirty="0"/>
          </a:p>
        </p:txBody>
      </p:sp>
      <p:sp>
        <p:nvSpPr>
          <p:cNvPr id="16" name="Text 11"/>
          <p:cNvSpPr/>
          <p:nvPr/>
        </p:nvSpPr>
        <p:spPr>
          <a:xfrm>
            <a:off x="4455116" y="2007394"/>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7" name="Text 12"/>
          <p:cNvSpPr/>
          <p:nvPr/>
        </p:nvSpPr>
        <p:spPr>
          <a:xfrm>
            <a:off x="5270302" y="1785193"/>
            <a:ext cx="711101" cy="711101"/>
          </a:xfrm>
          <a:prstGeom prst="roundRect">
            <a:avLst>
              <a:gd name="adj" fmla="val 10716"/>
            </a:avLst>
          </a:prstGeom>
          <a:solidFill>
            <a:srgbClr val="FBEF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FileCode-8250DF.png">    </p:cNvPr>
          <p:cNvPicPr>
            <a:picLocks noChangeAspect="1"/>
          </p:cNvPicPr>
          <p:nvPr/>
        </p:nvPicPr>
        <p:blipFill>
          <a:blip r:embed="rId4"/>
          <a:stretch>
            <a:fillRect/>
          </a:stretch>
        </p:blipFill>
        <p:spPr>
          <a:xfrm>
            <a:off x="5428952" y="1943844"/>
            <a:ext cx="393650" cy="393650"/>
          </a:xfrm>
          <a:prstGeom prst="rect">
            <a:avLst/>
          </a:prstGeom>
        </p:spPr>
      </p:pic>
      <p:sp>
        <p:nvSpPr>
          <p:cNvPr id="19" name="Text 13"/>
          <p:cNvSpPr/>
          <p:nvPr/>
        </p:nvSpPr>
        <p:spPr>
          <a:xfrm>
            <a:off x="5204594" y="2597795"/>
            <a:ext cx="842516"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Generate</a:t>
            </a:r>
            <a:endParaRPr lang="en-US" sz="1500" dirty="0"/>
          </a:p>
        </p:txBody>
      </p:sp>
      <p:sp>
        <p:nvSpPr>
          <p:cNvPr id="20" name="Text 14"/>
          <p:cNvSpPr/>
          <p:nvPr/>
        </p:nvSpPr>
        <p:spPr>
          <a:xfrm>
            <a:off x="4870016" y="2937421"/>
            <a:ext cx="1511671" cy="214313"/>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Until the gate passes</a:t>
            </a:r>
            <a:endParaRPr lang="en-US" sz="1250" dirty="0"/>
          </a:p>
        </p:txBody>
      </p:sp>
      <p:sp>
        <p:nvSpPr>
          <p:cNvPr id="21" name="Text 15"/>
          <p:cNvSpPr/>
          <p:nvPr/>
        </p:nvSpPr>
        <p:spPr>
          <a:xfrm>
            <a:off x="6563267" y="2007394"/>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22" name="Text 16"/>
          <p:cNvSpPr/>
          <p:nvPr/>
        </p:nvSpPr>
        <p:spPr>
          <a:xfrm>
            <a:off x="7378452" y="1785193"/>
            <a:ext cx="711101" cy="711101"/>
          </a:xfrm>
          <a:prstGeom prst="roundRect">
            <a:avLst>
              <a:gd name="adj" fmla="val 10716"/>
            </a:avLst>
          </a:prstGeom>
          <a:solidFill>
            <a:srgbClr val="FFF1E5"/>
          </a:solidFill>
          <a:ln/>
        </p:spPr>
        <p:txBody>
          <a:bodyPr wrap="square" rtlCol="0" anchor="ctr"/>
          <a:lstStyle/>
          <a:p>
            <a:pPr indent="0" marL="0">
              <a:buNone/>
            </a:pPr>
            <a:endParaRPr lang="en-US" dirty="0"/>
          </a:p>
        </p:txBody>
      </p:sp>
      <p:pic>
        <p:nvPicPr>
          <p:cNvPr id="23" name="Image 4" descr="/Users/danwahlin/.copilot/session-state/a2da67da-2d7a-45f2-aa6a-2a42a7b82a72/files/build/icons/GoRocket-BC4C00.png">    </p:cNvPr>
          <p:cNvPicPr>
            <a:picLocks noChangeAspect="1"/>
          </p:cNvPicPr>
          <p:nvPr/>
        </p:nvPicPr>
        <p:blipFill>
          <a:blip r:embed="rId5"/>
          <a:stretch>
            <a:fillRect/>
          </a:stretch>
        </p:blipFill>
        <p:spPr>
          <a:xfrm>
            <a:off x="7537103" y="1943844"/>
            <a:ext cx="393650" cy="393650"/>
          </a:xfrm>
          <a:prstGeom prst="rect">
            <a:avLst/>
          </a:prstGeom>
        </p:spPr>
      </p:pic>
      <p:sp>
        <p:nvSpPr>
          <p:cNvPr id="24" name="Text 17"/>
          <p:cNvSpPr/>
          <p:nvPr/>
        </p:nvSpPr>
        <p:spPr>
          <a:xfrm>
            <a:off x="7426294" y="2597795"/>
            <a:ext cx="615416"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azd up</a:t>
            </a:r>
            <a:endParaRPr lang="en-US" sz="1500" dirty="0"/>
          </a:p>
        </p:txBody>
      </p:sp>
      <p:sp>
        <p:nvSpPr>
          <p:cNvPr id="25" name="Text 18"/>
          <p:cNvSpPr/>
          <p:nvPr/>
        </p:nvSpPr>
        <p:spPr>
          <a:xfrm>
            <a:off x="7009742" y="2937421"/>
            <a:ext cx="1448520" cy="214313"/>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Then run the verifier</a:t>
            </a:r>
            <a:endParaRPr lang="en-US" sz="1250" dirty="0"/>
          </a:p>
        </p:txBody>
      </p:sp>
      <p:sp>
        <p:nvSpPr>
          <p:cNvPr id="26" name="Text 19"/>
          <p:cNvSpPr/>
          <p:nvPr/>
        </p:nvSpPr>
        <p:spPr>
          <a:xfrm>
            <a:off x="1760786" y="3823246"/>
            <a:ext cx="5622131" cy="462111"/>
          </a:xfrm>
          <a:prstGeom prst="roundRect">
            <a:avLst>
              <a:gd name="adj" fmla="val 16490"/>
            </a:avLst>
          </a:prstGeom>
          <a:solidFill>
            <a:srgbClr val="DAFBE1"/>
          </a:solidFill>
          <a:ln w="9525">
            <a:solidFill>
              <a:srgbClr val="8CE7A5"/>
            </a:solidFill>
          </a:ln>
        </p:spPr>
        <p:txBody>
          <a:bodyPr wrap="square" rtlCol="0" anchor="ctr"/>
          <a:lstStyle/>
          <a:p>
            <a:pPr indent="0" marL="0">
              <a:buNone/>
            </a:pPr>
            <a:endParaRPr lang="en-US" dirty="0"/>
          </a:p>
        </p:txBody>
      </p:sp>
      <p:pic>
        <p:nvPicPr>
          <p:cNvPr id="27" name="Image 5" descr="/Users/danwahlin/.copilot/session-state/a2da67da-2d7a-45f2-aa6a-2a42a7b82a72/files/build/icons/GoCheckCircle-1A7F37.png">    </p:cNvPr>
          <p:cNvPicPr>
            <a:picLocks noChangeAspect="1"/>
          </p:cNvPicPr>
          <p:nvPr/>
        </p:nvPicPr>
        <p:blipFill>
          <a:blip r:embed="rId6"/>
          <a:stretch>
            <a:fillRect/>
          </a:stretch>
        </p:blipFill>
        <p:spPr>
          <a:xfrm>
            <a:off x="1922711" y="3965377"/>
            <a:ext cx="177701" cy="177701"/>
          </a:xfrm>
          <a:prstGeom prst="rect">
            <a:avLst/>
          </a:prstGeom>
        </p:spPr>
      </p:pic>
      <p:sp>
        <p:nvSpPr>
          <p:cNvPr id="28" name="Text 20"/>
          <p:cNvSpPr/>
          <p:nvPr/>
        </p:nvSpPr>
        <p:spPr>
          <a:xfrm>
            <a:off x="2201912" y="3934271"/>
            <a:ext cx="5119461" cy="240060"/>
          </a:xfrm>
          <a:prstGeom prst="rect">
            <a:avLst/>
          </a:prstGeom>
          <a:noFill/>
          <a:ln/>
        </p:spPr>
        <p:txBody>
          <a:bodyPr wrap="square" lIns="0" tIns="0" rIns="0" bIns="0" rtlCol="0" anchor="t"/>
          <a:lstStyle/>
          <a:p>
            <a:pPr algn="l" indent="0" marL="0">
              <a:lnSpc>
                <a:spcPts val="1890"/>
              </a:lnSpc>
              <a:buNone/>
            </a:pPr>
            <a:r>
              <a:rPr lang="en-US" sz="1400" dirty="0">
                <a:solidFill>
                  <a:srgbClr val="1F2328"/>
                </a:solidFill>
                <a:latin typeface="Arial" pitchFamily="34" charset="0"/>
                <a:ea typeface="Arial" pitchFamily="34" charset="-122"/>
                <a:cs typeface="Arial" pitchFamily="34" charset="-120"/>
              </a:rPr>
              <a:t>The verifier that proved the local API now proves the Azure one.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GREEN, FOR INFRASTRUCTURE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Generate until the gate passes</a:t>
            </a:r>
            <a:endParaRPr lang="en-US" sz="2800" dirty="0"/>
          </a:p>
        </p:txBody>
      </p:sp>
      <p:sp>
        <p:nvSpPr>
          <p:cNvPr id="7" name="Text 4"/>
          <p:cNvSpPr/>
          <p:nvPr/>
        </p:nvSpPr>
        <p:spPr>
          <a:xfrm>
            <a:off x="634901" y="1688604"/>
            <a:ext cx="7873901" cy="2261443"/>
          </a:xfrm>
          <a:prstGeom prst="roundRect">
            <a:avLst>
              <a:gd name="adj" fmla="val 449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693366"/>
            <a:ext cx="7873901" cy="0"/>
          </a:xfrm>
          <a:prstGeom prst="line">
            <a:avLst/>
          </a:prstGeom>
          <a:noFill/>
          <a:ln w="9525">
            <a:solidFill>
              <a:srgbClr val="E0C5FF"/>
            </a:solidFill>
            <a:prstDash val="solid"/>
          </a:ln>
        </p:spPr>
      </p:sp>
      <p:sp>
        <p:nvSpPr>
          <p:cNvPr id="9" name="Shape 6"/>
          <p:cNvSpPr/>
          <p:nvPr/>
        </p:nvSpPr>
        <p:spPr>
          <a:xfrm>
            <a:off x="8504039" y="1688604"/>
            <a:ext cx="0" cy="2261443"/>
          </a:xfrm>
          <a:prstGeom prst="line">
            <a:avLst/>
          </a:prstGeom>
          <a:noFill/>
          <a:ln w="9525">
            <a:solidFill>
              <a:srgbClr val="E0C5FF"/>
            </a:solidFill>
            <a:prstDash val="solid"/>
          </a:ln>
        </p:spPr>
      </p:sp>
      <p:sp>
        <p:nvSpPr>
          <p:cNvPr id="10" name="Shape 7"/>
          <p:cNvSpPr/>
          <p:nvPr/>
        </p:nvSpPr>
        <p:spPr>
          <a:xfrm>
            <a:off x="634901" y="3945285"/>
            <a:ext cx="7873901" cy="0"/>
          </a:xfrm>
          <a:prstGeom prst="line">
            <a:avLst/>
          </a:prstGeom>
          <a:noFill/>
          <a:ln w="9525">
            <a:solidFill>
              <a:srgbClr val="E0C5FF"/>
            </a:solidFill>
            <a:prstDash val="solid"/>
          </a:ln>
        </p:spPr>
      </p:sp>
      <p:sp>
        <p:nvSpPr>
          <p:cNvPr id="11" name="Shape 8"/>
          <p:cNvSpPr/>
          <p:nvPr/>
        </p:nvSpPr>
        <p:spPr>
          <a:xfrm>
            <a:off x="663476" y="1688604"/>
            <a:ext cx="0" cy="226144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1926729"/>
            <a:ext cx="190500" cy="190500"/>
          </a:xfrm>
          <a:prstGeom prst="rect">
            <a:avLst/>
          </a:prstGeom>
        </p:spPr>
      </p:pic>
      <p:sp>
        <p:nvSpPr>
          <p:cNvPr id="13" name="Text 9"/>
          <p:cNvSpPr/>
          <p:nvPr/>
        </p:nvSpPr>
        <p:spPr>
          <a:xfrm>
            <a:off x="1238101" y="1945779"/>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244179"/>
            <a:ext cx="7393496" cy="1442442"/>
          </a:xfrm>
          <a:prstGeom prst="rect">
            <a:avLst/>
          </a:prstGeom>
          <a:noFill/>
          <a:ln/>
        </p:spPr>
        <p:txBody>
          <a:bodyPr wrap="square" lIns="0" tIns="0" rIns="0" bIns="0" rtlCol="0" anchor="t"/>
          <a:lstStyle/>
          <a:p>
            <a:pPr algn="l" indent="0" marL="0">
              <a:lnSpc>
                <a:spcPts val="2840"/>
              </a:lnSpc>
              <a:buNone/>
            </a:pPr>
            <a:r>
              <a:rPr lang="en-US" sz="2000" b="1" dirty="0">
                <a:solidFill>
                  <a:srgbClr val="1F2328"/>
                </a:solidFill>
                <a:latin typeface="Arial" pitchFamily="34" charset="0"/>
                <a:ea typeface="Arial" pitchFamily="34" charset="-122"/>
                <a:cs typeface="Arial" pitchFamily="34" charset="-120"/>
              </a:rPr>
              <a:t>/autopilot</a:t>
            </a:r>
            <a:pPr algn="l" indent="0" marL="0">
              <a:lnSpc>
                <a:spcPts val="2840"/>
              </a:lnSpc>
              <a:buNone/>
            </a:pPr>
            <a:r>
              <a:rPr lang="en-US" sz="2000" dirty="0">
                <a:solidFill>
                  <a:srgbClr val="1F2328"/>
                </a:solidFill>
                <a:latin typeface="Arial" pitchFamily="34" charset="0"/>
                <a:ea typeface="Arial" pitchFamily="34" charset="-122"/>
                <a:cs typeface="Arial" pitchFamily="34" charset="-120"/>
              </a:rPr>
              <a:t> Generate the infrastructure in the "Azure Deployment" section of PLAN-phase3-azure.md until "node scripts/check-infra.mjs --offline" passes. </a:t>
            </a:r>
            <a:pPr algn="l" indent="0" marL="0">
              <a:lnSpc>
                <a:spcPts val="2840"/>
              </a:lnSpc>
              <a:buNone/>
            </a:pPr>
            <a:r>
              <a:rPr lang="en-US" sz="2000" b="1" dirty="0">
                <a:solidFill>
                  <a:srgbClr val="1F2328"/>
                </a:solidFill>
                <a:latin typeface="Arial" pitchFamily="34" charset="0"/>
                <a:ea typeface="Arial" pitchFamily="34" charset="-122"/>
                <a:cs typeface="Arial" pitchFamily="34" charset="-120"/>
              </a:rPr>
              <a:t>Do not change scripts/check-infra.mjs.</a:t>
            </a:r>
            <a:endParaRPr lang="en-US" sz="2000" dirty="0"/>
          </a:p>
        </p:txBody>
      </p:sp>
      <p:pic>
        <p:nvPicPr>
          <p:cNvPr id="15" name="Image 2" descr="/Users/danwahlin/.copilot/session-state/a2da67da-2d7a-45f2-aa6a-2a42a7b82a72/files/build/icons/GoRocket-1A7F37.png">    </p:cNvPr>
          <p:cNvPicPr>
            <a:picLocks noChangeAspect="1"/>
          </p:cNvPicPr>
          <p:nvPr/>
        </p:nvPicPr>
        <p:blipFill>
          <a:blip r:embed="rId3"/>
          <a:stretch>
            <a:fillRect/>
          </a:stretch>
        </p:blipFill>
        <p:spPr>
          <a:xfrm>
            <a:off x="634901" y="4210348"/>
            <a:ext cx="215801" cy="215801"/>
          </a:xfrm>
          <a:prstGeom prst="rect">
            <a:avLst/>
          </a:prstGeom>
        </p:spPr>
      </p:pic>
      <p:sp>
        <p:nvSpPr>
          <p:cNvPr id="16" name="Text 11"/>
          <p:cNvSpPr/>
          <p:nvPr/>
        </p:nvSpPr>
        <p:spPr>
          <a:xfrm>
            <a:off x="952202" y="4203948"/>
            <a:ext cx="5379655" cy="228600"/>
          </a:xfrm>
          <a:prstGeom prst="rect">
            <a:avLst/>
          </a:prstGeom>
          <a:noFill/>
          <a:ln/>
        </p:spPr>
        <p:txBody>
          <a:bodyPr wrap="square" lIns="0" tIns="0" rIns="0" bIns="0" rtlCol="0" anchor="t"/>
          <a:lstStyle/>
          <a:p>
            <a:pPr algn="l" indent="0" marL="0">
              <a:lnSpc>
                <a:spcPts val="1800"/>
              </a:lnSpc>
              <a:buNone/>
            </a:pPr>
            <a:r>
              <a:rPr lang="en-US" sz="1400" dirty="0">
                <a:solidFill>
                  <a:srgbClr val="59636E"/>
                </a:solidFill>
                <a:latin typeface="Arial" pitchFamily="34" charset="0"/>
                <a:ea typeface="Arial" pitchFamily="34" charset="-122"/>
                <a:cs typeface="Arial" pitchFamily="34" charset="-120"/>
              </a:rPr>
              <a:t>Then </a:t>
            </a:r>
            <a:pPr algn="l" indent="0" marL="0">
              <a:lnSpc>
                <a:spcPts val="1800"/>
              </a:lnSpc>
              <a:buNone/>
            </a:pPr>
            <a:r>
              <a:rPr lang="en-US" sz="1400" b="1" dirty="0">
                <a:solidFill>
                  <a:srgbClr val="59636E"/>
                </a:solidFill>
                <a:latin typeface="Arial" pitchFamily="34" charset="0"/>
                <a:ea typeface="Arial" pitchFamily="34" charset="-122"/>
                <a:cs typeface="Arial" pitchFamily="34" charset="-120"/>
              </a:rPr>
              <a:t>azd up</a:t>
            </a:r>
            <a:pPr algn="l" indent="0" marL="0">
              <a:lnSpc>
                <a:spcPts val="1800"/>
              </a:lnSpc>
              <a:buNone/>
            </a:pPr>
            <a:r>
              <a:rPr lang="en-US" sz="1400" dirty="0">
                <a:solidFill>
                  <a:srgbClr val="59636E"/>
                </a:solidFill>
                <a:latin typeface="Arial" pitchFamily="34" charset="0"/>
                <a:ea typeface="Arial" pitchFamily="34" charset="-122"/>
                <a:cs typeface="Arial" pitchFamily="34" charset="-120"/>
              </a:rPr>
              <a:t> and </a:t>
            </a:r>
            <a:pPr algn="l" indent="0" marL="0">
              <a:lnSpc>
                <a:spcPts val="1800"/>
              </a:lnSpc>
              <a:buNone/>
            </a:pPr>
            <a:r>
              <a:rPr lang="en-US" sz="1400" b="1" dirty="0">
                <a:solidFill>
                  <a:srgbClr val="59636E"/>
                </a:solidFill>
                <a:latin typeface="Arial" pitchFamily="34" charset="0"/>
                <a:ea typeface="Arial" pitchFamily="34" charset="-122"/>
                <a:cs typeface="Arial" pitchFamily="34" charset="-120"/>
              </a:rPr>
              <a:t>node ../../.github/scripts/verify-smart-todo.mjs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CAPTURE WHAT YOU LEARNED</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Prompt → Skill → Script</a:t>
            </a:r>
            <a:endParaRPr lang="en-US" sz="2800" dirty="0"/>
          </a:p>
        </p:txBody>
      </p:sp>
      <p:sp>
        <p:nvSpPr>
          <p:cNvPr id="7" name="Text 4"/>
          <p:cNvSpPr/>
          <p:nvPr/>
        </p:nvSpPr>
        <p:spPr>
          <a:xfrm>
            <a:off x="482501" y="1028551"/>
            <a:ext cx="8342275" cy="254050"/>
          </a:xfrm>
          <a:prstGeom prst="rect">
            <a:avLst/>
          </a:prstGeom>
          <a:noFill/>
          <a:ln/>
        </p:spPr>
        <p:txBody>
          <a:bodyPr wrap="square" lIns="0" tIns="0" rIns="0" bIns="0" rtlCol="0" anchor="t"/>
          <a:lstStyle/>
          <a:p>
            <a:pPr algn="l" indent="0" marL="0">
              <a:lnSpc>
                <a:spcPts val="2000"/>
              </a:lnSpc>
              <a:spcBef>
                <a:spcPts val="600"/>
              </a:spcBef>
              <a:buNone/>
            </a:pPr>
            <a:r>
              <a:rPr lang="en-US" sz="1600" dirty="0">
                <a:solidFill>
                  <a:srgbClr val="59636E"/>
                </a:solidFill>
                <a:latin typeface="Arial" pitchFamily="34" charset="0"/>
                <a:ea typeface="Arial" pitchFamily="34" charset="-122"/>
                <a:cs typeface="Arial" pitchFamily="34" charset="-120"/>
              </a:rPr>
              <a:t>Move repeatable work toward free, deterministic automation.</a:t>
            </a:r>
            <a:endParaRPr lang="en-US" sz="1600" dirty="0"/>
          </a:p>
        </p:txBody>
      </p:sp>
      <p:pic>
        <p:nvPicPr>
          <p:cNvPr id="8" name="Image 1" descr="/Users/danwahlin/.copilot/session-state/a2da67da-2d7a-45f2-aa6a-2a42a7b82a72/files/build/img/todo-knowledge-ladder.png">    </p:cNvPr>
          <p:cNvPicPr>
            <a:picLocks noChangeAspect="1"/>
          </p:cNvPicPr>
          <p:nvPr/>
        </p:nvPicPr>
        <p:blipFill>
          <a:blip r:embed="rId2"/>
          <a:stretch>
            <a:fillRect/>
          </a:stretch>
        </p:blipFill>
        <p:spPr>
          <a:xfrm>
            <a:off x="2190601" y="1587401"/>
            <a:ext cx="4762500" cy="31749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BC4C00"/>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BC4C00"/>
                </a:solidFill>
                <a:latin typeface="Arial" pitchFamily="34" charset="0"/>
                <a:ea typeface="Arial" pitchFamily="34" charset="-122"/>
                <a:cs typeface="Arial" pitchFamily="34" charset="-120"/>
              </a:rPr>
              <a:t>04</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4 OF 4</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The factory</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Encode the workflow so a cloud agent can run it for the next feature while you decide what ships.</a:t>
            </a:r>
            <a:endParaRPr lang="en-US" sz="1600" dirty="0"/>
          </a:p>
        </p:txBody>
      </p:sp>
      <p:sp>
        <p:nvSpPr>
          <p:cNvPr id="10" name="Text 7"/>
          <p:cNvSpPr/>
          <p:nvPr/>
        </p:nvSpPr>
        <p:spPr>
          <a:xfrm>
            <a:off x="4854476" y="1090761"/>
            <a:ext cx="3803600" cy="2567880"/>
          </a:xfrm>
          <a:prstGeom prst="roundRect">
            <a:avLst>
              <a:gd name="adj" fmla="val 3957"/>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11" name="Image 1" descr="/Users/danwahlin/.copilot/session-state/a2da67da-2d7a-45f2-aa6a-2a42a7b82a72/files/build/img/todo-phase4-factory.png">    </p:cNvPr>
          <p:cNvPicPr>
            <a:picLocks noChangeAspect="1"/>
          </p:cNvPicPr>
          <p:nvPr/>
        </p:nvPicPr>
        <p:blipFill>
          <a:blip r:embed="rId2"/>
          <a:stretch>
            <a:fillRect/>
          </a:stretch>
        </p:blipFill>
        <p:spPr>
          <a:xfrm>
            <a:off x="4902101" y="1138386"/>
            <a:ext cx="3708350" cy="2472630"/>
          </a:xfrm>
          <a:prstGeom prst="rect">
            <a:avLst/>
          </a:prstGeom>
        </p:spPr>
      </p:pic>
      <p:sp>
        <p:nvSpPr>
          <p:cNvPr id="12" name="Text 8"/>
          <p:cNvSpPr/>
          <p:nvPr/>
        </p:nvSpPr>
        <p:spPr>
          <a:xfrm>
            <a:off x="558701" y="4368701"/>
            <a:ext cx="1352401"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842061"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Plan the work</a:t>
            </a:r>
            <a:endParaRPr lang="en-US" sz="1000" dirty="0"/>
          </a:p>
        </p:txBody>
      </p:sp>
      <p:sp>
        <p:nvSpPr>
          <p:cNvPr id="16" name="Text 12"/>
          <p:cNvSpPr/>
          <p:nvPr/>
        </p:nvSpPr>
        <p:spPr>
          <a:xfrm>
            <a:off x="2012603" y="4368701"/>
            <a:ext cx="1387525"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098328"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173742"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390329" y="4478089"/>
            <a:ext cx="877887"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Build test-first</a:t>
            </a:r>
            <a:endParaRPr lang="en-US" sz="1000" dirty="0"/>
          </a:p>
        </p:txBody>
      </p:sp>
      <p:sp>
        <p:nvSpPr>
          <p:cNvPr id="20" name="Text 16"/>
          <p:cNvSpPr/>
          <p:nvPr/>
        </p:nvSpPr>
        <p:spPr>
          <a:xfrm>
            <a:off x="3501628" y="4368701"/>
            <a:ext cx="1488728"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587353"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662767"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3879354" y="4478089"/>
            <a:ext cx="981114"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Deploy to Azure</a:t>
            </a:r>
            <a:endParaRPr lang="en-US" sz="1000" dirty="0"/>
          </a:p>
        </p:txBody>
      </p:sp>
      <p:sp>
        <p:nvSpPr>
          <p:cNvPr id="24" name="Text 20"/>
          <p:cNvSpPr/>
          <p:nvPr/>
        </p:nvSpPr>
        <p:spPr>
          <a:xfrm>
            <a:off x="5091857" y="4368701"/>
            <a:ext cx="1211312" cy="361652"/>
          </a:xfrm>
          <a:prstGeom prst="roundRect">
            <a:avLst>
              <a:gd name="adj" fmla="val 52675"/>
            </a:avLst>
          </a:prstGeom>
          <a:solidFill>
            <a:srgbClr val="BC4C00"/>
          </a:solidFill>
          <a:ln w="9525">
            <a:solidFill>
              <a:srgbClr val="BC4C00"/>
            </a:solidFill>
          </a:ln>
        </p:spPr>
        <p:txBody>
          <a:bodyPr wrap="square" rtlCol="0" anchor="ctr"/>
          <a:lstStyle/>
          <a:p>
            <a:pPr indent="0" marL="0">
              <a:buNone/>
            </a:pPr>
            <a:endParaRPr lang="en-US" dirty="0"/>
          </a:p>
        </p:txBody>
      </p:sp>
      <p:sp>
        <p:nvSpPr>
          <p:cNvPr id="25" name="Text 21"/>
          <p:cNvSpPr/>
          <p:nvPr/>
        </p:nvSpPr>
        <p:spPr>
          <a:xfrm>
            <a:off x="5177582"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26" name="Text 22"/>
          <p:cNvSpPr/>
          <p:nvPr/>
        </p:nvSpPr>
        <p:spPr>
          <a:xfrm>
            <a:off x="5252996" y="4482852"/>
            <a:ext cx="64972" cy="133350"/>
          </a:xfrm>
          <a:prstGeom prst="rect">
            <a:avLst/>
          </a:prstGeom>
          <a:noFill/>
          <a:ln/>
        </p:spPr>
        <p:txBody>
          <a:bodyPr wrap="square" lIns="0" tIns="0" rIns="0" bIns="0" rtlCol="0" anchor="t"/>
          <a:lstStyle/>
          <a:p>
            <a:pPr algn="ctr" indent="0" marL="0">
              <a:buNone/>
            </a:pPr>
            <a:r>
              <a:rPr lang="en-US" sz="900" b="1" dirty="0">
                <a:solidFill>
                  <a:srgbClr val="BC4C00"/>
                </a:solidFill>
                <a:latin typeface="Arial" pitchFamily="34" charset="0"/>
                <a:ea typeface="Arial" pitchFamily="34" charset="-122"/>
                <a:cs typeface="Arial" pitchFamily="34" charset="-120"/>
              </a:rPr>
              <a:t>4</a:t>
            </a:r>
            <a:endParaRPr lang="en-US" sz="900" dirty="0"/>
          </a:p>
        </p:txBody>
      </p:sp>
      <p:sp>
        <p:nvSpPr>
          <p:cNvPr id="27" name="Text 23"/>
          <p:cNvSpPr/>
          <p:nvPr/>
        </p:nvSpPr>
        <p:spPr>
          <a:xfrm>
            <a:off x="5469582" y="4478089"/>
            <a:ext cx="698150"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The factory</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BC4C00"/>
                </a:solidFill>
                <a:latin typeface="Arial" pitchFamily="34" charset="0"/>
                <a:ea typeface="Arial" pitchFamily="34" charset="-122"/>
                <a:cs typeface="Arial" pitchFamily="34" charset="-120"/>
              </a:rPr>
              <a:t>ENCODE THE RULES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Teach the cloud agent your definition of done</a:t>
            </a:r>
            <a:endParaRPr lang="en-US" sz="2800" dirty="0"/>
          </a:p>
        </p:txBody>
      </p:sp>
      <p:sp>
        <p:nvSpPr>
          <p:cNvPr id="7" name="Text 4"/>
          <p:cNvSpPr/>
          <p:nvPr/>
        </p:nvSpPr>
        <p:spPr>
          <a:xfrm>
            <a:off x="634901" y="1767036"/>
            <a:ext cx="7873901" cy="2104579"/>
          </a:xfrm>
          <a:prstGeom prst="roundRect">
            <a:avLst>
              <a:gd name="adj" fmla="val 4828"/>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771799"/>
            <a:ext cx="7873901" cy="0"/>
          </a:xfrm>
          <a:prstGeom prst="line">
            <a:avLst/>
          </a:prstGeom>
          <a:noFill/>
          <a:ln w="9525">
            <a:solidFill>
              <a:srgbClr val="E0C5FF"/>
            </a:solidFill>
            <a:prstDash val="solid"/>
          </a:ln>
        </p:spPr>
      </p:sp>
      <p:sp>
        <p:nvSpPr>
          <p:cNvPr id="9" name="Shape 6"/>
          <p:cNvSpPr/>
          <p:nvPr/>
        </p:nvSpPr>
        <p:spPr>
          <a:xfrm>
            <a:off x="8504039" y="1767036"/>
            <a:ext cx="0" cy="2104579"/>
          </a:xfrm>
          <a:prstGeom prst="line">
            <a:avLst/>
          </a:prstGeom>
          <a:noFill/>
          <a:ln w="9525">
            <a:solidFill>
              <a:srgbClr val="E0C5FF"/>
            </a:solidFill>
            <a:prstDash val="solid"/>
          </a:ln>
        </p:spPr>
      </p:sp>
      <p:sp>
        <p:nvSpPr>
          <p:cNvPr id="10" name="Shape 7"/>
          <p:cNvSpPr/>
          <p:nvPr/>
        </p:nvSpPr>
        <p:spPr>
          <a:xfrm>
            <a:off x="634901" y="3866852"/>
            <a:ext cx="7873901" cy="0"/>
          </a:xfrm>
          <a:prstGeom prst="line">
            <a:avLst/>
          </a:prstGeom>
          <a:noFill/>
          <a:ln w="9525">
            <a:solidFill>
              <a:srgbClr val="E0C5FF"/>
            </a:solidFill>
            <a:prstDash val="solid"/>
          </a:ln>
        </p:spPr>
      </p:sp>
      <p:sp>
        <p:nvSpPr>
          <p:cNvPr id="11" name="Shape 8"/>
          <p:cNvSpPr/>
          <p:nvPr/>
        </p:nvSpPr>
        <p:spPr>
          <a:xfrm>
            <a:off x="663476" y="1767036"/>
            <a:ext cx="0" cy="2104579"/>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05161"/>
            <a:ext cx="190500" cy="190500"/>
          </a:xfrm>
          <a:prstGeom prst="rect">
            <a:avLst/>
          </a:prstGeom>
        </p:spPr>
      </p:pic>
      <p:sp>
        <p:nvSpPr>
          <p:cNvPr id="13" name="Text 9"/>
          <p:cNvSpPr/>
          <p:nvPr/>
        </p:nvSpPr>
        <p:spPr>
          <a:xfrm>
            <a:off x="1238101" y="2024211"/>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309813"/>
            <a:ext cx="7393496" cy="1298377"/>
          </a:xfrm>
          <a:prstGeom prst="rect">
            <a:avLst/>
          </a:prstGeom>
          <a:noFill/>
          <a:ln/>
        </p:spPr>
        <p:txBody>
          <a:bodyPr wrap="square" lIns="0" tIns="0" rIns="0" bIns="0" rtlCol="0" anchor="t"/>
          <a:lstStyle/>
          <a:p>
            <a:pPr algn="l" indent="0" marL="0">
              <a:lnSpc>
                <a:spcPts val="2556"/>
              </a:lnSpc>
              <a:buNone/>
            </a:pPr>
            <a:r>
              <a:rPr lang="en-US" sz="1800" dirty="0">
                <a:solidFill>
                  <a:srgbClr val="1F2328"/>
                </a:solidFill>
                <a:latin typeface="Arial" pitchFamily="34" charset="0"/>
                <a:ea typeface="Arial" pitchFamily="34" charset="-122"/>
                <a:cs typeface="Arial" pitchFamily="34" charset="-120"/>
              </a:rPr>
              <a:t>Create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.github/copilot-instructions.md</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and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.github/workflows/copilot-setup-steps.yml</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as described in the "Definition of Done" and "Cloud Agent Environment" sections of PLAN-phase4-factory.md. Open a pull request. Don't enable auto-merge.</a:t>
            </a:r>
            <a:endParaRPr lang="en-US" sz="1800" dirty="0"/>
          </a:p>
        </p:txBody>
      </p:sp>
      <p:pic>
        <p:nvPicPr>
          <p:cNvPr id="15" name="Image 2" descr="/Users/danwahlin/.copilot/session-state/a2da67da-2d7a-45f2-aa6a-2a42a7b82a72/files/build/icons/GoGear-BC4C00.png">    </p:cNvPr>
          <p:cNvPicPr>
            <a:picLocks noChangeAspect="1"/>
          </p:cNvPicPr>
          <p:nvPr/>
        </p:nvPicPr>
        <p:blipFill>
          <a:blip r:embed="rId3"/>
          <a:stretch>
            <a:fillRect/>
          </a:stretch>
        </p:blipFill>
        <p:spPr>
          <a:xfrm>
            <a:off x="634901" y="4131915"/>
            <a:ext cx="215801" cy="215801"/>
          </a:xfrm>
          <a:prstGeom prst="rect">
            <a:avLst/>
          </a:prstGeom>
        </p:spPr>
      </p:pic>
      <p:sp>
        <p:nvSpPr>
          <p:cNvPr id="16" name="Text 11"/>
          <p:cNvSpPr/>
          <p:nvPr/>
        </p:nvSpPr>
        <p:spPr>
          <a:xfrm>
            <a:off x="952202" y="4125516"/>
            <a:ext cx="7252924" cy="228600"/>
          </a:xfrm>
          <a:prstGeom prst="rect">
            <a:avLst/>
          </a:prstGeom>
          <a:noFill/>
          <a:ln/>
        </p:spPr>
        <p:txBody>
          <a:bodyPr wrap="square" lIns="0" tIns="0" rIns="0" bIns="0" rtlCol="0" anchor="t"/>
          <a:lstStyle/>
          <a:p>
            <a:pPr algn="l" indent="0" marL="0">
              <a:lnSpc>
                <a:spcPts val="1800"/>
              </a:lnSpc>
              <a:buNone/>
            </a:pPr>
            <a:r>
              <a:rPr lang="en-US" sz="1400" dirty="0">
                <a:solidFill>
                  <a:srgbClr val="59636E"/>
                </a:solidFill>
                <a:latin typeface="Arial" pitchFamily="34" charset="0"/>
                <a:ea typeface="Arial" pitchFamily="34" charset="-122"/>
                <a:cs typeface="Arial" pitchFamily="34" charset="-120"/>
              </a:rPr>
              <a:t>Setup steps install Node, dependencies, and Functions Core Tools before the agent starts.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BC4C00"/>
                </a:solidFill>
                <a:latin typeface="Arial" pitchFamily="34" charset="0"/>
                <a:ea typeface="Arial" pitchFamily="34" charset="-122"/>
                <a:cs typeface="Arial" pitchFamily="34" charset="-120"/>
              </a:rPr>
              <a:t>ASSIGN THE ISSUE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Hand the next feature to tdd-builder</a:t>
            </a:r>
            <a:endParaRPr lang="en-US" sz="2800" dirty="0"/>
          </a:p>
        </p:txBody>
      </p:sp>
      <p:sp>
        <p:nvSpPr>
          <p:cNvPr id="7" name="Text 4"/>
          <p:cNvSpPr/>
          <p:nvPr/>
        </p:nvSpPr>
        <p:spPr>
          <a:xfrm>
            <a:off x="545902" y="1856780"/>
            <a:ext cx="4876800" cy="2356842"/>
          </a:xfrm>
          <a:prstGeom prst="roundRect">
            <a:avLst>
              <a:gd name="adj" fmla="val 4311"/>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545902" y="1856780"/>
            <a:ext cx="487680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672852" y="193923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825103" y="193923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977354" y="193923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231106" y="1912293"/>
            <a:ext cx="854964"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assign.json</a:t>
            </a:r>
            <a:endParaRPr lang="en-US" sz="1000" dirty="0"/>
          </a:p>
        </p:txBody>
      </p:sp>
      <p:sp>
        <p:nvSpPr>
          <p:cNvPr id="13" name="Text 10"/>
          <p:cNvSpPr/>
          <p:nvPr/>
        </p:nvSpPr>
        <p:spPr>
          <a:xfrm>
            <a:off x="774502" y="2288381"/>
            <a:ext cx="4507992" cy="246013"/>
          </a:xfrm>
          <a:prstGeom prst="rect">
            <a:avLst/>
          </a:prstGeom>
          <a:noFill/>
          <a:ln/>
        </p:spPr>
        <p:txBody>
          <a:bodyPr wrap="square" lIns="0" tIns="0" rIns="0" bIns="0" rtlCol="0" anchor="t"/>
          <a:lstStyle/>
          <a:p>
            <a:pPr algn="l" indent="0" marL="0">
              <a:lnSpc>
                <a:spcPts val="1937"/>
              </a:lnSpc>
              <a:buNone/>
            </a:pPr>
            <a:r>
              <a:rPr lang="en-US" sz="1250" dirty="0">
                <a:solidFill>
                  <a:srgbClr val="E6EDF3"/>
                </a:solidFill>
                <a:latin typeface="Courier New" pitchFamily="34" charset="0"/>
                <a:ea typeface="Courier New" pitchFamily="34" charset="-122"/>
                <a:cs typeface="Courier New" pitchFamily="34" charset="-120"/>
              </a:rPr>
              <a:t>{</a:t>
            </a:r>
            <a:endParaRPr lang="en-US" sz="1250" dirty="0"/>
          </a:p>
        </p:txBody>
      </p:sp>
      <p:sp>
        <p:nvSpPr>
          <p:cNvPr id="14" name="Text 11"/>
          <p:cNvSpPr/>
          <p:nvPr/>
        </p:nvSpPr>
        <p:spPr>
          <a:xfrm>
            <a:off x="774502" y="2534394"/>
            <a:ext cx="4507992" cy="246013"/>
          </a:xfrm>
          <a:prstGeom prst="rect">
            <a:avLst/>
          </a:prstGeom>
          <a:noFill/>
          <a:ln/>
        </p:spPr>
        <p:txBody>
          <a:bodyPr wrap="square" lIns="0" tIns="0" rIns="0" bIns="0" rtlCol="0" anchor="t"/>
          <a:lstStyle/>
          <a:p>
            <a:pPr algn="l" indent="0" marL="0">
              <a:lnSpc>
                <a:spcPts val="1937"/>
              </a:lnSpc>
              <a:buNone/>
            </a:pPr>
            <a:r>
              <a:rPr lang="en-US" sz="1250" dirty="0">
                <a:solidFill>
                  <a:srgbClr val="E6EDF3"/>
                </a:solidFill>
                <a:latin typeface="Courier New" pitchFamily="34" charset="0"/>
                <a:ea typeface="Courier New" pitchFamily="34" charset="-122"/>
                <a:cs typeface="Courier New" pitchFamily="34" charset="-120"/>
              </a:rPr>
              <a:t>​  "assignees": ["copilot-swe-agent[bot]"],</a:t>
            </a:r>
            <a:endParaRPr lang="en-US" sz="1250" dirty="0"/>
          </a:p>
        </p:txBody>
      </p:sp>
      <p:sp>
        <p:nvSpPr>
          <p:cNvPr id="15" name="Text 12"/>
          <p:cNvSpPr/>
          <p:nvPr/>
        </p:nvSpPr>
        <p:spPr>
          <a:xfrm>
            <a:off x="774502" y="2780407"/>
            <a:ext cx="4507992" cy="246013"/>
          </a:xfrm>
          <a:prstGeom prst="rect">
            <a:avLst/>
          </a:prstGeom>
          <a:noFill/>
          <a:ln/>
        </p:spPr>
        <p:txBody>
          <a:bodyPr wrap="square" lIns="0" tIns="0" rIns="0" bIns="0" rtlCol="0" anchor="t"/>
          <a:lstStyle/>
          <a:p>
            <a:pPr algn="l" indent="0" marL="0">
              <a:lnSpc>
                <a:spcPts val="1937"/>
              </a:lnSpc>
              <a:buNone/>
            </a:pPr>
            <a:r>
              <a:rPr lang="en-US" sz="1250" dirty="0">
                <a:solidFill>
                  <a:srgbClr val="E6EDF3"/>
                </a:solidFill>
                <a:latin typeface="Courier New" pitchFamily="34" charset="0"/>
                <a:ea typeface="Courier New" pitchFamily="34" charset="-122"/>
                <a:cs typeface="Courier New" pitchFamily="34" charset="-120"/>
              </a:rPr>
              <a:t>​  "agent_assignment": {</a:t>
            </a:r>
            <a:endParaRPr lang="en-US" sz="1250" dirty="0"/>
          </a:p>
        </p:txBody>
      </p:sp>
      <p:sp>
        <p:nvSpPr>
          <p:cNvPr id="16" name="Text 13"/>
          <p:cNvSpPr/>
          <p:nvPr/>
        </p:nvSpPr>
        <p:spPr>
          <a:xfrm>
            <a:off x="774502" y="3026420"/>
            <a:ext cx="4507992" cy="246013"/>
          </a:xfrm>
          <a:prstGeom prst="rect">
            <a:avLst/>
          </a:prstGeom>
          <a:noFill/>
          <a:ln/>
        </p:spPr>
        <p:txBody>
          <a:bodyPr wrap="square" lIns="0" tIns="0" rIns="0" bIns="0" rtlCol="0" anchor="t"/>
          <a:lstStyle/>
          <a:p>
            <a:pPr algn="l" indent="0" marL="0">
              <a:lnSpc>
                <a:spcPts val="1937"/>
              </a:lnSpc>
              <a:buNone/>
            </a:pPr>
            <a:r>
              <a:rPr lang="en-US" sz="1250" dirty="0">
                <a:solidFill>
                  <a:srgbClr val="E6EDF3"/>
                </a:solidFill>
                <a:latin typeface="Courier New" pitchFamily="34" charset="0"/>
                <a:ea typeface="Courier New" pitchFamily="34" charset="-122"/>
                <a:cs typeface="Courier New" pitchFamily="34" charset="-120"/>
              </a:rPr>
              <a:t>​    "base_branch": "main",</a:t>
            </a:r>
            <a:endParaRPr lang="en-US" sz="1250" dirty="0"/>
          </a:p>
        </p:txBody>
      </p:sp>
      <p:sp>
        <p:nvSpPr>
          <p:cNvPr id="17" name="Text 14"/>
          <p:cNvSpPr/>
          <p:nvPr/>
        </p:nvSpPr>
        <p:spPr>
          <a:xfrm>
            <a:off x="774502" y="3272433"/>
            <a:ext cx="4507992" cy="246013"/>
          </a:xfrm>
          <a:prstGeom prst="rect">
            <a:avLst/>
          </a:prstGeom>
          <a:noFill/>
          <a:ln/>
        </p:spPr>
        <p:txBody>
          <a:bodyPr wrap="square" lIns="0" tIns="0" rIns="0" bIns="0" rtlCol="0" anchor="t"/>
          <a:lstStyle/>
          <a:p>
            <a:pPr algn="l" indent="0" marL="0">
              <a:lnSpc>
                <a:spcPts val="1937"/>
              </a:lnSpc>
              <a:buNone/>
            </a:pPr>
            <a:r>
              <a:rPr lang="en-US" sz="1250" dirty="0">
                <a:solidFill>
                  <a:srgbClr val="E6EDF3"/>
                </a:solidFill>
                <a:latin typeface="Courier New" pitchFamily="34" charset="0"/>
                <a:ea typeface="Courier New" pitchFamily="34" charset="-122"/>
                <a:cs typeface="Courier New" pitchFamily="34" charset="-120"/>
              </a:rPr>
              <a:t>​    "custom_agent": "tdd-builder"</a:t>
            </a:r>
            <a:endParaRPr lang="en-US" sz="1250" dirty="0"/>
          </a:p>
        </p:txBody>
      </p:sp>
      <p:sp>
        <p:nvSpPr>
          <p:cNvPr id="18" name="Text 15"/>
          <p:cNvSpPr/>
          <p:nvPr/>
        </p:nvSpPr>
        <p:spPr>
          <a:xfrm>
            <a:off x="774502" y="3518446"/>
            <a:ext cx="4507992" cy="246013"/>
          </a:xfrm>
          <a:prstGeom prst="rect">
            <a:avLst/>
          </a:prstGeom>
          <a:noFill/>
          <a:ln/>
        </p:spPr>
        <p:txBody>
          <a:bodyPr wrap="square" lIns="0" tIns="0" rIns="0" bIns="0" rtlCol="0" anchor="t"/>
          <a:lstStyle/>
          <a:p>
            <a:pPr algn="l" indent="0" marL="0">
              <a:lnSpc>
                <a:spcPts val="1937"/>
              </a:lnSpc>
              <a:buNone/>
            </a:pPr>
            <a:r>
              <a:rPr lang="en-US" sz="1250" dirty="0">
                <a:solidFill>
                  <a:srgbClr val="E6EDF3"/>
                </a:solidFill>
                <a:latin typeface="Courier New" pitchFamily="34" charset="0"/>
                <a:ea typeface="Courier New" pitchFamily="34" charset="-122"/>
                <a:cs typeface="Courier New" pitchFamily="34" charset="-120"/>
              </a:rPr>
              <a:t>​  }</a:t>
            </a:r>
            <a:endParaRPr lang="en-US" sz="1250" dirty="0"/>
          </a:p>
        </p:txBody>
      </p:sp>
      <p:sp>
        <p:nvSpPr>
          <p:cNvPr id="19" name="Text 16"/>
          <p:cNvSpPr/>
          <p:nvPr/>
        </p:nvSpPr>
        <p:spPr>
          <a:xfrm>
            <a:off x="774502" y="3764459"/>
            <a:ext cx="4507992" cy="246013"/>
          </a:xfrm>
          <a:prstGeom prst="rect">
            <a:avLst/>
          </a:prstGeom>
          <a:noFill/>
          <a:ln/>
        </p:spPr>
        <p:txBody>
          <a:bodyPr wrap="square" lIns="0" tIns="0" rIns="0" bIns="0" rtlCol="0" anchor="t"/>
          <a:lstStyle/>
          <a:p>
            <a:pPr algn="l" indent="0" marL="0">
              <a:lnSpc>
                <a:spcPts val="1937"/>
              </a:lnSpc>
              <a:buNone/>
            </a:pPr>
            <a:r>
              <a:rPr lang="en-US" sz="1250" dirty="0">
                <a:solidFill>
                  <a:srgbClr val="E6EDF3"/>
                </a:solidFill>
                <a:latin typeface="Courier New" pitchFamily="34" charset="0"/>
                <a:ea typeface="Courier New" pitchFamily="34" charset="-122"/>
                <a:cs typeface="Courier New" pitchFamily="34" charset="-120"/>
              </a:rPr>
              <a:t>}</a:t>
            </a:r>
            <a:endParaRPr lang="en-US" sz="1250" dirty="0"/>
          </a:p>
        </p:txBody>
      </p:sp>
      <p:sp>
        <p:nvSpPr>
          <p:cNvPr id="20" name="Text 17"/>
          <p:cNvSpPr/>
          <p:nvPr/>
        </p:nvSpPr>
        <p:spPr>
          <a:xfrm>
            <a:off x="5727502" y="2184350"/>
            <a:ext cx="431750" cy="431750"/>
          </a:xfrm>
          <a:prstGeom prst="roundRect">
            <a:avLst>
              <a:gd name="adj" fmla="val 17649"/>
            </a:avLst>
          </a:prstGeom>
          <a:solidFill>
            <a:srgbClr val="FBEFFF"/>
          </a:solidFill>
          <a:ln/>
        </p:spPr>
        <p:txBody>
          <a:bodyPr wrap="square" rtlCol="0" anchor="ctr"/>
          <a:lstStyle/>
          <a:p>
            <a:pPr indent="0" marL="0">
              <a:buNone/>
            </a:pPr>
            <a:endParaRPr lang="en-US" dirty="0"/>
          </a:p>
        </p:txBody>
      </p:sp>
      <p:pic>
        <p:nvPicPr>
          <p:cNvPr id="21" name="Image 1" descr="/Users/danwahlin/.copilot/session-state/a2da67da-2d7a-45f2-aa6a-2a42a7b82a72/files/build/icons/GoCopilot-8250DF.png">    </p:cNvPr>
          <p:cNvPicPr>
            <a:picLocks noChangeAspect="1"/>
          </p:cNvPicPr>
          <p:nvPr/>
        </p:nvPicPr>
        <p:blipFill>
          <a:blip r:embed="rId2"/>
          <a:stretch>
            <a:fillRect/>
          </a:stretch>
        </p:blipFill>
        <p:spPr>
          <a:xfrm>
            <a:off x="5822752" y="2279600"/>
            <a:ext cx="241250" cy="241250"/>
          </a:xfrm>
          <a:prstGeom prst="rect">
            <a:avLst/>
          </a:prstGeom>
        </p:spPr>
      </p:pic>
      <p:sp>
        <p:nvSpPr>
          <p:cNvPr id="22" name="Text 18"/>
          <p:cNvSpPr/>
          <p:nvPr/>
        </p:nvSpPr>
        <p:spPr>
          <a:xfrm>
            <a:off x="6286202" y="2295376"/>
            <a:ext cx="2317299" cy="209550"/>
          </a:xfrm>
          <a:prstGeom prst="rect">
            <a:avLst/>
          </a:prstGeom>
          <a:noFill/>
          <a:ln/>
        </p:spPr>
        <p:txBody>
          <a:bodyPr wrap="square" lIns="0" tIns="0" rIns="0" bIns="0" rtlCol="0" anchor="t"/>
          <a:lstStyle/>
          <a:p>
            <a:pPr algn="l" indent="0" marL="0">
              <a:buNone/>
            </a:pPr>
            <a:r>
              <a:rPr lang="en-US" sz="1450" b="1" dirty="0">
                <a:solidFill>
                  <a:srgbClr val="1F2328"/>
                </a:solidFill>
                <a:latin typeface="Arial" pitchFamily="34" charset="0"/>
                <a:ea typeface="Arial" pitchFamily="34" charset="-122"/>
                <a:cs typeface="Arial" pitchFamily="34" charset="-120"/>
              </a:rPr>
              <a:t>Agent</a:t>
            </a:r>
            <a:pPr algn="l" indent="0" marL="0">
              <a:buNone/>
            </a:pPr>
            <a:r>
              <a:rPr lang="en-US" sz="1450" dirty="0">
                <a:solidFill>
                  <a:srgbClr val="1F2328"/>
                </a:solidFill>
                <a:latin typeface="Arial" pitchFamily="34" charset="0"/>
                <a:ea typeface="Arial" pitchFamily="34" charset="-122"/>
                <a:cs typeface="Arial" pitchFamily="34" charset="-120"/>
              </a:rPr>
              <a:t> runs plan, red, green</a:t>
            </a:r>
            <a:endParaRPr lang="en-US" sz="1450" dirty="0"/>
          </a:p>
        </p:txBody>
      </p:sp>
      <p:sp>
        <p:nvSpPr>
          <p:cNvPr id="23" name="Text 19"/>
          <p:cNvSpPr/>
          <p:nvPr/>
        </p:nvSpPr>
        <p:spPr>
          <a:xfrm>
            <a:off x="5727502" y="2819251"/>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24" name="Image 2" descr="/Users/danwahlin/.copilot/session-state/a2da67da-2d7a-45f2-aa6a-2a42a7b82a72/files/build/icons/GoWorkflow-0969DA.png">    </p:cNvPr>
          <p:cNvPicPr>
            <a:picLocks noChangeAspect="1"/>
          </p:cNvPicPr>
          <p:nvPr/>
        </p:nvPicPr>
        <p:blipFill>
          <a:blip r:embed="rId3"/>
          <a:stretch>
            <a:fillRect/>
          </a:stretch>
        </p:blipFill>
        <p:spPr>
          <a:xfrm>
            <a:off x="5822752" y="2914501"/>
            <a:ext cx="241250" cy="241250"/>
          </a:xfrm>
          <a:prstGeom prst="rect">
            <a:avLst/>
          </a:prstGeom>
        </p:spPr>
      </p:pic>
      <p:sp>
        <p:nvSpPr>
          <p:cNvPr id="25" name="Text 20"/>
          <p:cNvSpPr/>
          <p:nvPr/>
        </p:nvSpPr>
        <p:spPr>
          <a:xfrm>
            <a:off x="6286202" y="2930277"/>
            <a:ext cx="1722376" cy="209550"/>
          </a:xfrm>
          <a:prstGeom prst="rect">
            <a:avLst/>
          </a:prstGeom>
          <a:noFill/>
          <a:ln/>
        </p:spPr>
        <p:txBody>
          <a:bodyPr wrap="square" lIns="0" tIns="0" rIns="0" bIns="0" rtlCol="0" anchor="t"/>
          <a:lstStyle/>
          <a:p>
            <a:pPr algn="l" indent="0" marL="0">
              <a:buNone/>
            </a:pPr>
            <a:r>
              <a:rPr lang="en-US" sz="1450" b="1" dirty="0">
                <a:solidFill>
                  <a:srgbClr val="1F2328"/>
                </a:solidFill>
                <a:latin typeface="Arial" pitchFamily="34" charset="0"/>
                <a:ea typeface="Arial" pitchFamily="34" charset="-122"/>
                <a:cs typeface="Arial" pitchFamily="34" charset="-120"/>
              </a:rPr>
              <a:t>CI</a:t>
            </a:r>
            <a:pPr algn="l" indent="0" marL="0">
              <a:buNone/>
            </a:pPr>
            <a:r>
              <a:rPr lang="en-US" sz="1450" dirty="0">
                <a:solidFill>
                  <a:srgbClr val="1F2328"/>
                </a:solidFill>
                <a:latin typeface="Arial" pitchFamily="34" charset="0"/>
                <a:ea typeface="Arial" pitchFamily="34" charset="-122"/>
                <a:cs typeface="Arial" pitchFamily="34" charset="-120"/>
              </a:rPr>
              <a:t> runs api, ios, infra</a:t>
            </a:r>
            <a:endParaRPr lang="en-US" sz="1450" dirty="0"/>
          </a:p>
        </p:txBody>
      </p:sp>
      <p:sp>
        <p:nvSpPr>
          <p:cNvPr id="26" name="Text 21"/>
          <p:cNvSpPr/>
          <p:nvPr/>
        </p:nvSpPr>
        <p:spPr>
          <a:xfrm>
            <a:off x="5727502" y="3454152"/>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27" name="Image 3" descr="/Users/danwahlin/.copilot/session-state/a2da67da-2d7a-45f2-aa6a-2a42a7b82a72/files/build/icons/GoPerson-1A7F37.png">    </p:cNvPr>
          <p:cNvPicPr>
            <a:picLocks noChangeAspect="1"/>
          </p:cNvPicPr>
          <p:nvPr/>
        </p:nvPicPr>
        <p:blipFill>
          <a:blip r:embed="rId4"/>
          <a:stretch>
            <a:fillRect/>
          </a:stretch>
        </p:blipFill>
        <p:spPr>
          <a:xfrm>
            <a:off x="5822752" y="3549402"/>
            <a:ext cx="241250" cy="241250"/>
          </a:xfrm>
          <a:prstGeom prst="rect">
            <a:avLst/>
          </a:prstGeom>
        </p:spPr>
      </p:pic>
      <p:sp>
        <p:nvSpPr>
          <p:cNvPr id="28" name="Text 22"/>
          <p:cNvSpPr/>
          <p:nvPr/>
        </p:nvSpPr>
        <p:spPr>
          <a:xfrm>
            <a:off x="6286202" y="3565178"/>
            <a:ext cx="1885718" cy="209550"/>
          </a:xfrm>
          <a:prstGeom prst="rect">
            <a:avLst/>
          </a:prstGeom>
          <a:noFill/>
          <a:ln/>
        </p:spPr>
        <p:txBody>
          <a:bodyPr wrap="square" lIns="0" tIns="0" rIns="0" bIns="0" rtlCol="0" anchor="t"/>
          <a:lstStyle/>
          <a:p>
            <a:pPr algn="l" indent="0" marL="0">
              <a:buNone/>
            </a:pPr>
            <a:r>
              <a:rPr lang="en-US" sz="1450" b="1" dirty="0">
                <a:solidFill>
                  <a:srgbClr val="1F2328"/>
                </a:solidFill>
                <a:latin typeface="Arial" pitchFamily="34" charset="0"/>
                <a:ea typeface="Arial" pitchFamily="34" charset="-122"/>
                <a:cs typeface="Arial" pitchFamily="34" charset="-120"/>
              </a:rPr>
              <a:t>You</a:t>
            </a:r>
            <a:pPr algn="l" indent="0" marL="0">
              <a:buNone/>
            </a:pPr>
            <a:r>
              <a:rPr lang="en-US" sz="1450" dirty="0">
                <a:solidFill>
                  <a:srgbClr val="1F2328"/>
                </a:solidFill>
                <a:latin typeface="Arial" pitchFamily="34" charset="0"/>
                <a:ea typeface="Arial" pitchFamily="34" charset="-122"/>
                <a:cs typeface="Arial" pitchFamily="34" charset="-120"/>
              </a:rPr>
              <a:t> review and merge</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BC4C00"/>
                </a:solidFill>
                <a:latin typeface="Arial" pitchFamily="34" charset="0"/>
                <a:ea typeface="Arial" pitchFamily="34" charset="-122"/>
                <a:cs typeface="Arial" pitchFamily="34" charset="-120"/>
              </a:rPr>
              <a:t>CLEAN UP</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Tear it down the same day</a:t>
            </a:r>
            <a:endParaRPr lang="en-US" sz="2800" dirty="0"/>
          </a:p>
        </p:txBody>
      </p:sp>
      <p:sp>
        <p:nvSpPr>
          <p:cNvPr id="7" name="Text 4"/>
          <p:cNvSpPr/>
          <p:nvPr/>
        </p:nvSpPr>
        <p:spPr>
          <a:xfrm>
            <a:off x="1015901" y="1670149"/>
            <a:ext cx="7111901" cy="1968252"/>
          </a:xfrm>
          <a:prstGeom prst="roundRect">
            <a:avLst>
              <a:gd name="adj" fmla="val 5162"/>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670149"/>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75260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75260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75260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725662"/>
            <a:ext cx="621792"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a:t>
            </a:r>
            <a:endParaRPr lang="en-US" sz="1000" dirty="0"/>
          </a:p>
        </p:txBody>
      </p:sp>
      <p:sp>
        <p:nvSpPr>
          <p:cNvPr id="13" name="Text 10"/>
          <p:cNvSpPr/>
          <p:nvPr/>
        </p:nvSpPr>
        <p:spPr>
          <a:xfrm>
            <a:off x="1244501" y="2101751"/>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azd down --force --purge</a:t>
            </a:r>
            <a:endParaRPr lang="en-US" sz="1500" dirty="0"/>
          </a:p>
        </p:txBody>
      </p:sp>
      <p:sp>
        <p:nvSpPr>
          <p:cNvPr id="14" name="Text 11"/>
          <p:cNvSpPr/>
          <p:nvPr/>
        </p:nvSpPr>
        <p:spPr>
          <a:xfrm>
            <a:off x="1244501" y="2549426"/>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Confirm it is really gone</a:t>
            </a:r>
            <a:endParaRPr lang="en-US" sz="1500" dirty="0"/>
          </a:p>
        </p:txBody>
      </p:sp>
      <p:sp>
        <p:nvSpPr>
          <p:cNvPr id="15" name="Text 12"/>
          <p:cNvSpPr/>
          <p:nvPr/>
        </p:nvSpPr>
        <p:spPr>
          <a:xfrm>
            <a:off x="1244501" y="2844701"/>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 group exists --name &lt;resource-group-name&gt;</a:t>
            </a:r>
            <a:endParaRPr lang="en-US" sz="1500" dirty="0"/>
          </a:p>
        </p:txBody>
      </p:sp>
      <p:sp>
        <p:nvSpPr>
          <p:cNvPr id="16" name="Text 13"/>
          <p:cNvSpPr/>
          <p:nvPr/>
        </p:nvSpPr>
        <p:spPr>
          <a:xfrm>
            <a:off x="1244501" y="3139976"/>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false</a:t>
            </a:r>
            <a:endParaRPr lang="en-US" sz="1500" dirty="0"/>
          </a:p>
        </p:txBody>
      </p:sp>
      <p:pic>
        <p:nvPicPr>
          <p:cNvPr id="17" name="Image 1" descr="/Users/danwahlin/.copilot/session-state/a2da67da-2d7a-45f2-aa6a-2a42a7b82a72/files/build/icons/GoAlert-9A6700.png">    </p:cNvPr>
          <p:cNvPicPr>
            <a:picLocks noChangeAspect="1"/>
          </p:cNvPicPr>
          <p:nvPr/>
        </p:nvPicPr>
        <p:blipFill>
          <a:blip r:embed="rId2"/>
          <a:stretch>
            <a:fillRect/>
          </a:stretch>
        </p:blipFill>
        <p:spPr>
          <a:xfrm>
            <a:off x="1015901" y="4051102"/>
            <a:ext cx="215801" cy="215801"/>
          </a:xfrm>
          <a:prstGeom prst="rect">
            <a:avLst/>
          </a:prstGeom>
        </p:spPr>
      </p:pic>
      <p:sp>
        <p:nvSpPr>
          <p:cNvPr id="18" name="Text 14"/>
          <p:cNvSpPr/>
          <p:nvPr/>
        </p:nvSpPr>
        <p:spPr>
          <a:xfrm>
            <a:off x="1333202" y="3917752"/>
            <a:ext cx="6930491" cy="482501"/>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Also delete the practice GitHub repo if you no longer need it: </a:t>
            </a:r>
            <a:pPr algn="l" indent="0" marL="0">
              <a:lnSpc>
                <a:spcPts val="1900"/>
              </a:lnSpc>
              <a:buNone/>
            </a:pPr>
            <a:r>
              <a:rPr lang="en-US" sz="1400" b="1" dirty="0">
                <a:solidFill>
                  <a:srgbClr val="1F2328"/>
                </a:solidFill>
                <a:latin typeface="Arial" pitchFamily="34" charset="0"/>
                <a:ea typeface="Arial" pitchFamily="34" charset="-122"/>
                <a:cs typeface="Arial" pitchFamily="34" charset="-120"/>
              </a:rPr>
              <a:t>gh repo delete &lt;owner&gt;/smart-todo</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64772" y="152400"/>
            <a:ext cx="109507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596214" y="220563"/>
            <a:ext cx="832193"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SMARTTODO</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KEY TAKEAWAYS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7" name="Text 4"/>
          <p:cNvSpPr/>
          <p:nvPr/>
        </p:nvSpPr>
        <p:spPr>
          <a:xfrm>
            <a:off x="482501" y="1422350"/>
            <a:ext cx="507950" cy="507950"/>
          </a:xfrm>
          <a:prstGeom prst="roundRect">
            <a:avLst>
              <a:gd name="adj" fmla="val 15001"/>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CommentDiscussion-0969DA.png">    </p:cNvPr>
          <p:cNvPicPr>
            <a:picLocks noChangeAspect="1"/>
          </p:cNvPicPr>
          <p:nvPr/>
        </p:nvPicPr>
        <p:blipFill>
          <a:blip r:embed="rId2"/>
          <a:stretch>
            <a:fillRect/>
          </a:stretch>
        </p:blipFill>
        <p:spPr>
          <a:xfrm>
            <a:off x="596801" y="1536650"/>
            <a:ext cx="279350" cy="279350"/>
          </a:xfrm>
          <a:prstGeom prst="rect">
            <a:avLst/>
          </a:prstGeom>
        </p:spPr>
      </p:pic>
      <p:sp>
        <p:nvSpPr>
          <p:cNvPr id="9" name="Text 5"/>
          <p:cNvSpPr/>
          <p:nvPr/>
        </p:nvSpPr>
        <p:spPr>
          <a:xfrm>
            <a:off x="1155502" y="143500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Grill the plan. Decisions live on the issue.</a:t>
            </a:r>
            <a:endParaRPr lang="en-US" sz="1500" dirty="0"/>
          </a:p>
        </p:txBody>
      </p:sp>
      <p:sp>
        <p:nvSpPr>
          <p:cNvPr id="10" name="Text 6"/>
          <p:cNvSpPr/>
          <p:nvPr/>
        </p:nvSpPr>
        <p:spPr>
          <a:xfrm>
            <a:off x="4762351" y="1422350"/>
            <a:ext cx="507950" cy="507950"/>
          </a:xfrm>
          <a:prstGeom prst="roundRect">
            <a:avLst>
              <a:gd name="adj" fmla="val 15001"/>
            </a:avLst>
          </a:prstGeom>
          <a:solidFill>
            <a:srgbClr val="FFEBE9"/>
          </a:solidFill>
          <a:ln/>
        </p:spPr>
        <p:txBody>
          <a:bodyPr wrap="square" rtlCol="0" anchor="ctr"/>
          <a:lstStyle/>
          <a:p>
            <a:pPr indent="0" marL="0">
              <a:buNone/>
            </a:pPr>
            <a:endParaRPr lang="en-US" dirty="0"/>
          </a:p>
        </p:txBody>
      </p:sp>
      <p:pic>
        <p:nvPicPr>
          <p:cNvPr id="11" name="Image 2" descr="/Users/danwahlin/.copilot/session-state/a2da67da-2d7a-45f2-aa6a-2a42a7b82a72/files/build/icons/GoBeaker-CF222E.png">    </p:cNvPr>
          <p:cNvPicPr>
            <a:picLocks noChangeAspect="1"/>
          </p:cNvPicPr>
          <p:nvPr/>
        </p:nvPicPr>
        <p:blipFill>
          <a:blip r:embed="rId3"/>
          <a:stretch>
            <a:fillRect/>
          </a:stretch>
        </p:blipFill>
        <p:spPr>
          <a:xfrm>
            <a:off x="4876651" y="1536650"/>
            <a:ext cx="279350" cy="279350"/>
          </a:xfrm>
          <a:prstGeom prst="rect">
            <a:avLst/>
          </a:prstGeom>
        </p:spPr>
      </p:pic>
      <p:sp>
        <p:nvSpPr>
          <p:cNvPr id="12" name="Text 7"/>
          <p:cNvSpPr/>
          <p:nvPr/>
        </p:nvSpPr>
        <p:spPr>
          <a:xfrm>
            <a:off x="5435352" y="143500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Red first. Freeze the tests. Green can't change them.</a:t>
            </a:r>
            <a:endParaRPr lang="en-US" sz="1500" dirty="0"/>
          </a:p>
        </p:txBody>
      </p:sp>
      <p:sp>
        <p:nvSpPr>
          <p:cNvPr id="13" name="Text 8"/>
          <p:cNvSpPr/>
          <p:nvPr/>
        </p:nvSpPr>
        <p:spPr>
          <a:xfrm>
            <a:off x="482501" y="2311301"/>
            <a:ext cx="507950" cy="507950"/>
          </a:xfrm>
          <a:prstGeom prst="roundRect">
            <a:avLst>
              <a:gd name="adj" fmla="val 15001"/>
            </a:avLst>
          </a:prstGeom>
          <a:solidFill>
            <a:srgbClr val="DAFBE1"/>
          </a:solidFill>
          <a:ln/>
        </p:spPr>
        <p:txBody>
          <a:bodyPr wrap="square" rtlCol="0" anchor="ctr"/>
          <a:lstStyle/>
          <a:p>
            <a:pPr indent="0" marL="0">
              <a:buNone/>
            </a:pPr>
            <a:endParaRPr lang="en-US" dirty="0"/>
          </a:p>
        </p:txBody>
      </p:sp>
      <p:pic>
        <p:nvPicPr>
          <p:cNvPr id="14" name="Image 3" descr="/Users/danwahlin/.copilot/session-state/a2da67da-2d7a-45f2-aa6a-2a42a7b82a72/files/build/icons/GoShieldCheck-1A7F37.png">    </p:cNvPr>
          <p:cNvPicPr>
            <a:picLocks noChangeAspect="1"/>
          </p:cNvPicPr>
          <p:nvPr/>
        </p:nvPicPr>
        <p:blipFill>
          <a:blip r:embed="rId4"/>
          <a:stretch>
            <a:fillRect/>
          </a:stretch>
        </p:blipFill>
        <p:spPr>
          <a:xfrm>
            <a:off x="596801" y="2425601"/>
            <a:ext cx="279350" cy="279350"/>
          </a:xfrm>
          <a:prstGeom prst="rect">
            <a:avLst/>
          </a:prstGeom>
        </p:spPr>
      </p:pic>
      <p:sp>
        <p:nvSpPr>
          <p:cNvPr id="15" name="Text 9"/>
          <p:cNvSpPr/>
          <p:nvPr/>
        </p:nvSpPr>
        <p:spPr>
          <a:xfrm>
            <a:off x="1155502" y="232395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Exit codes decide done. Stack PRs for focused review.</a:t>
            </a:r>
            <a:endParaRPr lang="en-US" sz="1500" dirty="0"/>
          </a:p>
        </p:txBody>
      </p:sp>
      <p:sp>
        <p:nvSpPr>
          <p:cNvPr id="16" name="Text 10"/>
          <p:cNvSpPr/>
          <p:nvPr/>
        </p:nvSpPr>
        <p:spPr>
          <a:xfrm>
            <a:off x="4762351" y="2311301"/>
            <a:ext cx="507950" cy="507950"/>
          </a:xfrm>
          <a:prstGeom prst="roundRect">
            <a:avLst>
              <a:gd name="adj" fmla="val 15001"/>
            </a:avLst>
          </a:prstGeom>
          <a:solidFill>
            <a:srgbClr val="FBEFFF"/>
          </a:solidFill>
          <a:ln/>
        </p:spPr>
        <p:txBody>
          <a:bodyPr wrap="square" rtlCol="0" anchor="ctr"/>
          <a:lstStyle/>
          <a:p>
            <a:pPr indent="0" marL="0">
              <a:buNone/>
            </a:pPr>
            <a:endParaRPr lang="en-US" dirty="0"/>
          </a:p>
        </p:txBody>
      </p:sp>
      <p:pic>
        <p:nvPicPr>
          <p:cNvPr id="17" name="Image 4" descr="/Users/danwahlin/.copilot/session-state/a2da67da-2d7a-45f2-aa6a-2a42a7b82a72/files/build/icons/GoCopilot-8250DF.png">    </p:cNvPr>
          <p:cNvPicPr>
            <a:picLocks noChangeAspect="1"/>
          </p:cNvPicPr>
          <p:nvPr/>
        </p:nvPicPr>
        <p:blipFill>
          <a:blip r:embed="rId5"/>
          <a:stretch>
            <a:fillRect/>
          </a:stretch>
        </p:blipFill>
        <p:spPr>
          <a:xfrm>
            <a:off x="4876651" y="2425601"/>
            <a:ext cx="279350" cy="279350"/>
          </a:xfrm>
          <a:prstGeom prst="rect">
            <a:avLst/>
          </a:prstGeom>
        </p:spPr>
      </p:pic>
      <p:sp>
        <p:nvSpPr>
          <p:cNvPr id="18" name="Text 11"/>
          <p:cNvSpPr/>
          <p:nvPr/>
        </p:nvSpPr>
        <p:spPr>
          <a:xfrm>
            <a:off x="5435352" y="232395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Encode the workflow, then let a cloud agent run it.</a:t>
            </a:r>
            <a:endParaRPr lang="en-US" sz="1500" dirty="0"/>
          </a:p>
        </p:txBody>
      </p:sp>
      <p:sp>
        <p:nvSpPr>
          <p:cNvPr id="19" name="Text 12"/>
          <p:cNvSpPr/>
          <p:nvPr/>
        </p:nvSpPr>
        <p:spPr>
          <a:xfrm>
            <a:off x="482501" y="3810000"/>
            <a:ext cx="8178701" cy="787301"/>
          </a:xfrm>
          <a:prstGeom prst="roundRect">
            <a:avLst>
              <a:gd name="adj" fmla="val 12905"/>
            </a:avLst>
          </a:prstGeom>
          <a:solidFill>
            <a:srgbClr val="DDF4FF"/>
          </a:solidFill>
          <a:ln w="9525">
            <a:solidFill>
              <a:srgbClr val="9CD7FF"/>
            </a:solidFill>
          </a:ln>
        </p:spPr>
        <p:txBody>
          <a:bodyPr wrap="square" rtlCol="0" anchor="ctr"/>
          <a:lstStyle/>
          <a:p>
            <a:pPr indent="0" marL="0">
              <a:buNone/>
            </a:pPr>
            <a:endParaRPr lang="en-US" dirty="0"/>
          </a:p>
        </p:txBody>
      </p:sp>
      <p:sp>
        <p:nvSpPr>
          <p:cNvPr id="20" name="Text 13"/>
          <p:cNvSpPr/>
          <p:nvPr/>
        </p:nvSpPr>
        <p:spPr>
          <a:xfrm>
            <a:off x="669727" y="3987701"/>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21" name="Image 5" descr="/Users/danwahlin/.copilot/session-state/a2da67da-2d7a-45f2-aa6a-2a42a7b82a72/files/build/icons/GoArrowRight-0969DA.png">    </p:cNvPr>
          <p:cNvPicPr>
            <a:picLocks noChangeAspect="1"/>
          </p:cNvPicPr>
          <p:nvPr/>
        </p:nvPicPr>
        <p:blipFill>
          <a:blip r:embed="rId6"/>
          <a:stretch>
            <a:fillRect/>
          </a:stretch>
        </p:blipFill>
        <p:spPr>
          <a:xfrm>
            <a:off x="764977" y="4082951"/>
            <a:ext cx="241250" cy="241250"/>
          </a:xfrm>
          <a:prstGeom prst="rect">
            <a:avLst/>
          </a:prstGeom>
        </p:spPr>
      </p:pic>
      <p:sp>
        <p:nvSpPr>
          <p:cNvPr id="22" name="Text 14"/>
          <p:cNvSpPr/>
          <p:nvPr/>
        </p:nvSpPr>
        <p:spPr>
          <a:xfrm>
            <a:off x="1253877" y="4008388"/>
            <a:ext cx="5895639"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NEXT JOURNEY</a:t>
            </a:r>
            <a:endParaRPr lang="en-US" sz="1000" dirty="0"/>
          </a:p>
        </p:txBody>
      </p:sp>
      <p:sp>
        <p:nvSpPr>
          <p:cNvPr id="23" name="Text 15"/>
          <p:cNvSpPr/>
          <p:nvPr/>
        </p:nvSpPr>
        <p:spPr>
          <a:xfrm>
            <a:off x="1253877" y="4189363"/>
            <a:ext cx="5895639"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Grafana</a:t>
            </a:r>
            <a:pPr algn="l" indent="0" marL="0">
              <a:buNone/>
            </a:pPr>
            <a:r>
              <a:rPr lang="en-US" sz="1400" dirty="0">
                <a:solidFill>
                  <a:srgbClr val="1F2328"/>
                </a:solidFill>
                <a:latin typeface="Arial" pitchFamily="34" charset="0"/>
                <a:ea typeface="Arial" pitchFamily="34" charset="-122"/>
                <a:cs typeface="Arial" pitchFamily="34" charset="-120"/>
              </a:rPr>
              <a:t> </a:t>
            </a:r>
            <a:pPr algn="l" indent="0" marL="0">
              <a:buNone/>
            </a:pPr>
            <a:r>
              <a:rPr lang="en-US" sz="1400" dirty="0">
                <a:solidFill>
                  <a:srgbClr val="59636E"/>
                </a:solidFill>
                <a:latin typeface="Arial" pitchFamily="34" charset="0"/>
                <a:ea typeface="Arial" pitchFamily="34" charset="-122"/>
                <a:cs typeface="Arial" pitchFamily="34" charset="-120"/>
              </a:rPr>
              <a:t>· Switch gears: let an agent deploy an open-source app to Azure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SmartTodo: Agentic Journey</dc:title>
  <dc:subject>PptxGenJS Presentation</dc:subject>
  <dc:creator>GitHub and Azure Agentic Journeys</dc:creator>
  <cp:lastModifiedBy>GitHub and Azure Agentic Journeys</cp:lastModifiedBy>
  <cp:revision>1</cp:revision>
  <dcterms:created xsi:type="dcterms:W3CDTF">2026-09-30T08:59:14Z</dcterms:created>
  <dcterms:modified xsi:type="dcterms:W3CDTF">2026-09-30T08:59:14Z</dcterms:modified>
</cp:coreProperties>
</file>