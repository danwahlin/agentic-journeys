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recommended starting journey. In one hour we go from a written plan to a live five-day forecast app on Azure Static Web Apps. There is no framework, no backend, no database, and no API key, so we can focus on the agentic workflow itself: plan, generate, inspect, test, refine, and deploy. Timing guide: 5 minutes intro, about 22 minutes building, 13 minutes testing, 15 minutes deploying, 5 minutes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finished app. City search, Celsius and Fahrenheit, light and dark themes, and five forecast cards. It uses the free Open-Meteo API directly from the browser. Everything you see here is generated by the agent from PLAN.md, one small prompt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path. Read the plan, build the shell, add live weather, test and verify, then deploy to Azure. Each step is a prompt or two. We will group these into three sections today: plan and build, test and verify, and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you will repeat all session. The agent generates. You inspect the diff. Tests prove behavior. You refine with a follow-up prompt. When the evidence is good, you deploy. The agent does the typing. You make the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plan and build. About 22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workspace script copies the journey into a separate repository next to this one, so you can experiment freely. Then start GitHub Copilot CLI in the journey folder. You can also use the GitHub Copilot app or VS Code. The same prompts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PLAN.md describes the product. GitHub Copilot turns it into plain HTML, CSS, and JavaScript modules. The app calls Open-Meteo for geocoding and forecasts and renders five cards. Keeping the stack tiny means every generated line is easy to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 mention attaches PLAN.md as context. Asking for a plan first lets you catch misunderstandings when they are cheap to fix. Review the list of files and what each will contain. If something is off, say so now, before any code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each step small. This prompt builds only the shell, with placeholder data. Open it in a browser and try the keyboard. Full prompt:
Build the app shell you just planned: create index.html, styles.css, package.json, app.js, weather-api.js, and weather-maps.js as PLAN.md specifies. For this step, build the semantic app shell and responsive visual system only:
- header/navigation with branded title
- labeled city search
- Celsius/Fahrenheit control
- light/dark theme control
- aria-live status region
- resolved-location heading area
- forecast-grid container with five realistic placeholder cards
- responsive design tokens, visible focus, reduced-motion support, and both themes
Do not call external APIs yet. Add a local start script that accepts a configurable port and does not require a global package. Log issues to issues.md.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plan's section names do the heavy lifting here. Full prompt:
Read "Primary User Flow," "City Search," "Weather Data," "Weather Code Mapping," "Caching," and "Application States and Resilience" in PLAN.md. Implement the real WeatherView behavior in weather-api.js, weather-maps.js, and app.js:
- browser geolocation with a bounded wait and Seattle fallback
- Open-Meteo city geocoding and five-day forecast requests
- strict payload validation and normalized day objects
- WMO code labels/icons with an unknown-code fallback
- exactly five forecast cards in one DOM update
- source-unit refetch for Celsius/Fahrenheit
- persisted theme, unit, and last successful location
- a ten-minute location+unit cache
- explicit loading, no-result, malformed-data, network-error, and retry states
Keep the previous successful forecast visible when a city search or refresh fails. Do not introduce a framework, API key, backend, or image dependency. Log issues to issues.md.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Open-Meteo returns parallel arrays: time, weather code, max, min. The app validates that they line up and turns them into five clean day objects before rendering. If anything is malformed, the app shows a safe error and keeps the last good forecast. Ask Copilot to show you where this boundary lives in weather-api.js.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 throwaway idea: replace the five cards with a carousel. Look at it, then run /rewind, pick that turn, and choose Conversation + files. The default, Conversation only, leaves your files changed. This is how you explore without fear.
Full prompt: Replace the five forecast cards with a single horizontal carousel that shows one day at a time. This is a throwaway experiment that I'll undo, so don't change PLAN.md and don't ask me questions; just make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test and verify. About 13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Unit tests cover the modules. Playwright covers real browser behavior, with geolocation and Open-Meteo mocked so results are deterministic. A verifier script checks the running app and the live API contract. And /review gives a critical second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Deterministic mocks mean the tests pass or fail for real reasons, not because the weather changed. Full prompt:
Read "Local Tooling and Tests" in PLAN.md. Add tests for every listed behavior. Use Node's built-in test runner for pure module tests when practical. Add Playwright as a pinned development dependency for browser behavior and use its bundled Chromium, not a branded Chrome channel. Browser tests must mock geolocation and Open-Meteo responses deterministically for success, no-result, malformed-payload, and network-failure cases. They must assert exactly five cards, city search, unit refetch, preference persistence, retry behavior, accessible names, and visible keyboard focus. Add test and test:e2e package scripts and tell me the exact one-time Chromium install command. Do not weaken application behavior to make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agent reads the code with fresh eyes. Ask for file and line evidence so you can check each claim. Then use the follow-up: "Fix the high-confidence correctness, accessibility, security, and reliability findings from that review. Add a test for each fix, then rerun the unit tests, browser tests, and scripts/verify-app.mjs."
Before this, generate scripts/verify-app.mjs from the README prompt and inspect it before running it: node scripts/verify-app.mjs --base-url http://localhost:&lt;your-port&gt;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deploy to Azure.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intentionally small. One resource group with one Azure Static Web App on the Free tier, created by Bicep through azd. The browser loads static files from Static Web Apps and calls Open-Meteo directly. There is no backend, container, database, deployment token, or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Azure Skills plugin gives the agent current Bicep schemas and azd guidance, so it is not guessing at API versions. Confirm the plugin is available first. Full prompt ends with: Log real generation or validation issues to issues.md.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useful habits in agentic deployment. Before creating anything, ask for a read-only review that returns READY or NOT READY, a PASS or FAIL table with file and line evidence, and the smallest fix for each blocker. The README has the full prompt. Do not deploy while any required check is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azd provisions the Static Web App and publishes the dist folder. Then run the checked-in verifier against the live site. The journey also has an optional deployed-browser verifier with Playwright that saves a screenshot. Finally, do a quick manual pass in a real browser: search a city, switch units, reload, and switch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running on Azure Static Web Apps, in the dark theme with Fahrenheit selected for Phoenix. Everything came from the plan, a handful of prompts, and your review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at $0, tear down what you created so your subscription stays tidy. azd down with force and purge deletes the resource group. Confirm with az group exists, which should return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Plans become prompts. Plan mode and rewind make the loop safe. Evidence comes from tests and verifiers. Deploy only after a review, verify the live result, and clean up. If you want more, try the assignment in the README: add a compact or comfortable density control with a Playwright test. Next up: AIMarket, a full-stack marketplace with AI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787301"/>
            <a:ext cx="711101"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6" name="Text 3"/>
          <p:cNvSpPr/>
          <p:nvPr/>
        </p:nvSpPr>
        <p:spPr>
          <a:xfrm>
            <a:off x="482501" y="1053852"/>
            <a:ext cx="7772400" cy="152400"/>
          </a:xfrm>
          <a:prstGeom prst="rect">
            <a:avLst/>
          </a:prstGeom>
          <a:noFill/>
          <a:ln/>
        </p:spPr>
        <p:txBody>
          <a:bodyPr wrap="square" lIns="0" tIns="0" rIns="0" bIns="0" rtlCol="0" anchor="t"/>
          <a:lstStyle/>
          <a:p>
            <a:pPr algn="l" indent="0" marL="0">
              <a:spcAft>
                <a:spcPts val="600"/>
              </a:spcAft>
              <a:buNone/>
            </a:pPr>
            <a:r>
              <a:rPr lang="en-US" sz="1100" b="1" dirty="0">
                <a:solidFill>
                  <a:srgbClr val="1A7F37"/>
                </a:solidFill>
                <a:latin typeface="Arial" pitchFamily="34" charset="0"/>
                <a:ea typeface="Arial" pitchFamily="34" charset="-122"/>
                <a:cs typeface="Arial" pitchFamily="34" charset="-120"/>
              </a:rPr>
              <a:t>AGENTIC JOURNEY · GITHUB AND AZURE</a:t>
            </a:r>
            <a:endParaRPr lang="en-US" sz="1100" dirty="0"/>
          </a:p>
        </p:txBody>
      </p:sp>
      <p:sp>
        <p:nvSpPr>
          <p:cNvPr id="7" name="Text 4"/>
          <p:cNvSpPr/>
          <p:nvPr/>
        </p:nvSpPr>
        <p:spPr>
          <a:xfrm>
            <a:off x="482501" y="1282452"/>
            <a:ext cx="7772400" cy="584150"/>
          </a:xfrm>
          <a:prstGeom prst="rect">
            <a:avLst/>
          </a:prstGeom>
          <a:noFill/>
          <a:ln/>
        </p:spPr>
        <p:txBody>
          <a:bodyPr wrap="square" lIns="0" tIns="0" rIns="0" bIns="0" rtlCol="0" anchor="t"/>
          <a:lstStyle/>
          <a:p>
            <a:pPr algn="l" indent="0" marL="0">
              <a:lnSpc>
                <a:spcPts val="4600"/>
              </a:lnSpc>
              <a:buNone/>
            </a:pPr>
            <a:r>
              <a:rPr lang="en-US" sz="4000" b="1" dirty="0">
                <a:solidFill>
                  <a:srgbClr val="1F2328"/>
                </a:solidFill>
                <a:latin typeface="Arial" pitchFamily="34" charset="0"/>
                <a:ea typeface="Arial" pitchFamily="34" charset="-122"/>
                <a:cs typeface="Arial" pitchFamily="34" charset="-120"/>
              </a:rPr>
              <a:t>WeatherView</a:t>
            </a:r>
            <a:endParaRPr lang="en-US" sz="4000" dirty="0"/>
          </a:p>
        </p:txBody>
      </p:sp>
      <p:sp>
        <p:nvSpPr>
          <p:cNvPr id="8" name="Text 5"/>
          <p:cNvSpPr/>
          <p:nvPr/>
        </p:nvSpPr>
        <p:spPr>
          <a:xfrm>
            <a:off x="482501" y="2019002"/>
            <a:ext cx="7772400" cy="558701"/>
          </a:xfrm>
          <a:prstGeom prst="rect">
            <a:avLst/>
          </a:prstGeom>
          <a:noFill/>
          <a:ln/>
        </p:spPr>
        <p:txBody>
          <a:bodyPr wrap="square" lIns="0" tIns="0" rIns="0" bIns="0" rtlCol="0" anchor="t"/>
          <a:lstStyle/>
          <a:p>
            <a:pPr algn="l" indent="0" marL="0">
              <a:lnSpc>
                <a:spcPts val="2200"/>
              </a:lnSpc>
              <a:spcBef>
                <a:spcPts val="1200"/>
              </a:spcBef>
              <a:buNone/>
            </a:pPr>
            <a:r>
              <a:rPr lang="en-US" sz="1600" dirty="0">
                <a:solidFill>
                  <a:srgbClr val="59636E"/>
                </a:solidFill>
                <a:latin typeface="Arial" pitchFamily="34" charset="0"/>
                <a:ea typeface="Arial" pitchFamily="34" charset="-122"/>
                <a:cs typeface="Arial" pitchFamily="34" charset="-120"/>
              </a:rPr>
              <a:t>What if a one-page product plan could become a polished, accessible weather app running on Azure, with no backend at all?</a:t>
            </a:r>
            <a:endParaRPr lang="en-US" sz="1600" dirty="0"/>
          </a:p>
        </p:txBody>
      </p:sp>
      <p:sp>
        <p:nvSpPr>
          <p:cNvPr id="9" name="Text 6"/>
          <p:cNvSpPr/>
          <p:nvPr/>
        </p:nvSpPr>
        <p:spPr>
          <a:xfrm>
            <a:off x="482501" y="3022550"/>
            <a:ext cx="355550" cy="355550"/>
          </a:xfrm>
          <a:prstGeom prst="roundRect">
            <a:avLst>
              <a:gd name="adj" fmla="val 21432"/>
            </a:avLst>
          </a:prstGeom>
          <a:solidFill>
            <a:srgbClr val="DDF4FF"/>
          </a:solidFill>
          <a:ln/>
        </p:spPr>
        <p:txBody>
          <a:bodyPr wrap="square" rtlCol="0" anchor="ctr"/>
          <a:lstStyle/>
          <a:p>
            <a:pPr indent="0" marL="0">
              <a:buNone/>
            </a:pPr>
            <a:endParaRPr lang="en-US" dirty="0"/>
          </a:p>
        </p:txBody>
      </p:sp>
      <p:pic>
        <p:nvPicPr>
          <p:cNvPr id="10" name="Image 1" descr="/Users/danwahlin/.copilot/session-state/a2da67da-2d7a-45f2-aa6a-2a42a7b82a72/files/build/icons/GoClock-0969DA.png">    </p:cNvPr>
          <p:cNvPicPr>
            <a:picLocks noChangeAspect="1"/>
          </p:cNvPicPr>
          <p:nvPr/>
        </p:nvPicPr>
        <p:blipFill>
          <a:blip r:embed="rId2"/>
          <a:stretch>
            <a:fillRect/>
          </a:stretch>
        </p:blipFill>
        <p:spPr>
          <a:xfrm>
            <a:off x="558701" y="3098750"/>
            <a:ext cx="203150" cy="203150"/>
          </a:xfrm>
          <a:prstGeom prst="rect">
            <a:avLst/>
          </a:prstGeom>
        </p:spPr>
      </p:pic>
      <p:sp>
        <p:nvSpPr>
          <p:cNvPr id="11" name="Text 7"/>
          <p:cNvSpPr/>
          <p:nvPr/>
        </p:nvSpPr>
        <p:spPr>
          <a:xfrm>
            <a:off x="952351" y="3051125"/>
            <a:ext cx="812155" cy="114300"/>
          </a:xfrm>
          <a:prstGeom prst="rect">
            <a:avLst/>
          </a:prstGeom>
          <a:noFill/>
          <a:ln/>
        </p:spPr>
        <p:txBody>
          <a:bodyPr wrap="square" lIns="0" tIns="0" rIns="0" bIns="0" rtlCol="0" anchor="t"/>
          <a:lstStyle/>
          <a:p>
            <a:pPr algn="l" indent="0" marL="0">
              <a:buNone/>
            </a:pPr>
            <a:r>
              <a:rPr lang="en-US" sz="850" b="1" dirty="0">
                <a:solidFill>
                  <a:srgbClr val="59636E"/>
                </a:solidFill>
                <a:latin typeface="Arial" pitchFamily="34" charset="0"/>
                <a:ea typeface="Arial" pitchFamily="34" charset="-122"/>
                <a:cs typeface="Arial" pitchFamily="34" charset="-120"/>
              </a:rPr>
              <a:t>SESSION</a:t>
            </a:r>
            <a:endParaRPr lang="en-US" sz="850" dirty="0"/>
          </a:p>
        </p:txBody>
      </p:sp>
      <p:sp>
        <p:nvSpPr>
          <p:cNvPr id="12" name="Text 8"/>
          <p:cNvSpPr/>
          <p:nvPr/>
        </p:nvSpPr>
        <p:spPr>
          <a:xfrm>
            <a:off x="952351" y="3178076"/>
            <a:ext cx="812155" cy="171450"/>
          </a:xfrm>
          <a:prstGeom prst="rect">
            <a:avLst/>
          </a:prstGeom>
          <a:noFill/>
          <a:ln/>
        </p:spPr>
        <p:txBody>
          <a:bodyPr wrap="square" lIns="0" tIns="0" rIns="0" bIns="0" rtlCol="0" anchor="t"/>
          <a:lstStyle/>
          <a:p>
            <a:pPr algn="l" indent="0" marL="0">
              <a:buNone/>
            </a:pPr>
            <a:r>
              <a:rPr lang="en-US" sz="1200" b="1" dirty="0">
                <a:solidFill>
                  <a:srgbClr val="1F2328"/>
                </a:solidFill>
                <a:latin typeface="Arial" pitchFamily="34" charset="0"/>
                <a:ea typeface="Arial" pitchFamily="34" charset="-122"/>
                <a:cs typeface="Arial" pitchFamily="34" charset="-120"/>
              </a:rPr>
              <a:t>60 minutes</a:t>
            </a:r>
            <a:endParaRPr lang="en-US" sz="1200" dirty="0"/>
          </a:p>
        </p:txBody>
      </p:sp>
      <p:sp>
        <p:nvSpPr>
          <p:cNvPr id="13" name="Text 9"/>
          <p:cNvSpPr/>
          <p:nvPr/>
        </p:nvSpPr>
        <p:spPr>
          <a:xfrm>
            <a:off x="2129582" y="3022550"/>
            <a:ext cx="355550" cy="355550"/>
          </a:xfrm>
          <a:prstGeom prst="roundRect">
            <a:avLst>
              <a:gd name="adj" fmla="val 21432"/>
            </a:avLst>
          </a:prstGeom>
          <a:solidFill>
            <a:srgbClr val="DAFBE1"/>
          </a:solidFill>
          <a:ln/>
        </p:spPr>
        <p:txBody>
          <a:bodyPr wrap="square" rtlCol="0" anchor="ctr"/>
          <a:lstStyle/>
          <a:p>
            <a:pPr indent="0" marL="0">
              <a:buNone/>
            </a:pPr>
            <a:endParaRPr lang="en-US" dirty="0"/>
          </a:p>
        </p:txBody>
      </p:sp>
      <p:pic>
        <p:nvPicPr>
          <p:cNvPr id="14" name="Image 2" descr="/Users/danwahlin/.copilot/session-state/a2da67da-2d7a-45f2-aa6a-2a42a7b82a72/files/build/icons/GoCreditCard-1A7F37.png">    </p:cNvPr>
          <p:cNvPicPr>
            <a:picLocks noChangeAspect="1"/>
          </p:cNvPicPr>
          <p:nvPr/>
        </p:nvPicPr>
        <p:blipFill>
          <a:blip r:embed="rId3"/>
          <a:stretch>
            <a:fillRect/>
          </a:stretch>
        </p:blipFill>
        <p:spPr>
          <a:xfrm>
            <a:off x="2205782" y="3098750"/>
            <a:ext cx="203150" cy="203150"/>
          </a:xfrm>
          <a:prstGeom prst="rect">
            <a:avLst/>
          </a:prstGeom>
        </p:spPr>
      </p:pic>
      <p:sp>
        <p:nvSpPr>
          <p:cNvPr id="15" name="Text 10"/>
          <p:cNvSpPr/>
          <p:nvPr/>
        </p:nvSpPr>
        <p:spPr>
          <a:xfrm>
            <a:off x="2599432" y="3051125"/>
            <a:ext cx="1339069" cy="114300"/>
          </a:xfrm>
          <a:prstGeom prst="rect">
            <a:avLst/>
          </a:prstGeom>
          <a:noFill/>
          <a:ln/>
        </p:spPr>
        <p:txBody>
          <a:bodyPr wrap="square" lIns="0" tIns="0" rIns="0" bIns="0" rtlCol="0" anchor="t"/>
          <a:lstStyle/>
          <a:p>
            <a:pPr algn="l" indent="0" marL="0">
              <a:buNone/>
            </a:pPr>
            <a:r>
              <a:rPr lang="en-US" sz="850" b="1" dirty="0">
                <a:solidFill>
                  <a:srgbClr val="59636E"/>
                </a:solidFill>
                <a:latin typeface="Arial" pitchFamily="34" charset="0"/>
                <a:ea typeface="Arial" pitchFamily="34" charset="-122"/>
                <a:cs typeface="Arial" pitchFamily="34" charset="-120"/>
              </a:rPr>
              <a:t>COST IF LEFT RUNNING</a:t>
            </a:r>
            <a:endParaRPr lang="en-US" sz="850" dirty="0"/>
          </a:p>
        </p:txBody>
      </p:sp>
      <p:sp>
        <p:nvSpPr>
          <p:cNvPr id="16" name="Text 11"/>
          <p:cNvSpPr/>
          <p:nvPr/>
        </p:nvSpPr>
        <p:spPr>
          <a:xfrm>
            <a:off x="2599432" y="3178076"/>
            <a:ext cx="1339069" cy="171450"/>
          </a:xfrm>
          <a:prstGeom prst="rect">
            <a:avLst/>
          </a:prstGeom>
          <a:noFill/>
          <a:ln/>
        </p:spPr>
        <p:txBody>
          <a:bodyPr wrap="square" lIns="0" tIns="0" rIns="0" bIns="0" rtlCol="0" anchor="t"/>
          <a:lstStyle/>
          <a:p>
            <a:pPr algn="l" indent="0" marL="0">
              <a:buNone/>
            </a:pPr>
            <a:r>
              <a:rPr lang="en-US" sz="1200" b="1" dirty="0">
                <a:solidFill>
                  <a:srgbClr val="1F2328"/>
                </a:solidFill>
                <a:latin typeface="Arial" pitchFamily="34" charset="0"/>
                <a:ea typeface="Arial" pitchFamily="34" charset="-122"/>
                <a:cs typeface="Arial" pitchFamily="34" charset="-120"/>
              </a:rPr>
              <a:t>$0 on the Free tier</a:t>
            </a:r>
            <a:endParaRPr lang="en-US" sz="1200" dirty="0"/>
          </a:p>
        </p:txBody>
      </p:sp>
      <p:sp>
        <p:nvSpPr>
          <p:cNvPr id="17" name="Text 12"/>
          <p:cNvSpPr/>
          <p:nvPr/>
        </p:nvSpPr>
        <p:spPr>
          <a:xfrm>
            <a:off x="4293245" y="3022550"/>
            <a:ext cx="355550" cy="355550"/>
          </a:xfrm>
          <a:prstGeom prst="roundRect">
            <a:avLst>
              <a:gd name="adj" fmla="val 21432"/>
            </a:avLst>
          </a:prstGeom>
          <a:solidFill>
            <a:srgbClr val="FBEFFF"/>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Cloud-8250DF.png">    </p:cNvPr>
          <p:cNvPicPr>
            <a:picLocks noChangeAspect="1"/>
          </p:cNvPicPr>
          <p:nvPr/>
        </p:nvPicPr>
        <p:blipFill>
          <a:blip r:embed="rId4"/>
          <a:stretch>
            <a:fillRect/>
          </a:stretch>
        </p:blipFill>
        <p:spPr>
          <a:xfrm>
            <a:off x="4369445" y="3098750"/>
            <a:ext cx="203150" cy="203150"/>
          </a:xfrm>
          <a:prstGeom prst="rect">
            <a:avLst/>
          </a:prstGeom>
        </p:spPr>
      </p:pic>
      <p:sp>
        <p:nvSpPr>
          <p:cNvPr id="19" name="Text 13"/>
          <p:cNvSpPr/>
          <p:nvPr/>
        </p:nvSpPr>
        <p:spPr>
          <a:xfrm>
            <a:off x="4763095" y="3051125"/>
            <a:ext cx="1692926" cy="114300"/>
          </a:xfrm>
          <a:prstGeom prst="rect">
            <a:avLst/>
          </a:prstGeom>
          <a:noFill/>
          <a:ln/>
        </p:spPr>
        <p:txBody>
          <a:bodyPr wrap="square" lIns="0" tIns="0" rIns="0" bIns="0" rtlCol="0" anchor="t"/>
          <a:lstStyle/>
          <a:p>
            <a:pPr algn="l" indent="0" marL="0">
              <a:buNone/>
            </a:pPr>
            <a:r>
              <a:rPr lang="en-US" sz="850" b="1" dirty="0">
                <a:solidFill>
                  <a:srgbClr val="59636E"/>
                </a:solidFill>
                <a:latin typeface="Arial" pitchFamily="34" charset="0"/>
                <a:ea typeface="Arial" pitchFamily="34" charset="-122"/>
                <a:cs typeface="Arial" pitchFamily="34" charset="-120"/>
              </a:rPr>
              <a:t>RUNS ON</a:t>
            </a:r>
            <a:endParaRPr lang="en-US" sz="850" dirty="0"/>
          </a:p>
        </p:txBody>
      </p:sp>
      <p:sp>
        <p:nvSpPr>
          <p:cNvPr id="20" name="Text 14"/>
          <p:cNvSpPr/>
          <p:nvPr/>
        </p:nvSpPr>
        <p:spPr>
          <a:xfrm>
            <a:off x="4763095" y="3178076"/>
            <a:ext cx="1692926" cy="171450"/>
          </a:xfrm>
          <a:prstGeom prst="rect">
            <a:avLst/>
          </a:prstGeom>
          <a:noFill/>
          <a:ln/>
        </p:spPr>
        <p:txBody>
          <a:bodyPr wrap="square" lIns="0" tIns="0" rIns="0" bIns="0" rtlCol="0" anchor="t"/>
          <a:lstStyle/>
          <a:p>
            <a:pPr algn="l" indent="0" marL="0">
              <a:buNone/>
            </a:pPr>
            <a:r>
              <a:rPr lang="en-US" sz="1200" b="1" dirty="0">
                <a:solidFill>
                  <a:srgbClr val="1F2328"/>
                </a:solidFill>
                <a:latin typeface="Arial" pitchFamily="34" charset="0"/>
                <a:ea typeface="Arial" pitchFamily="34" charset="-122"/>
                <a:cs typeface="Arial" pitchFamily="34" charset="-120"/>
              </a:rPr>
              <a:t>Azure Static Web Apps</a:t>
            </a:r>
            <a:endParaRPr lang="en-US" sz="1200" dirty="0"/>
          </a:p>
        </p:txBody>
      </p:sp>
      <p:sp>
        <p:nvSpPr>
          <p:cNvPr id="21" name="Text 15"/>
          <p:cNvSpPr/>
          <p:nvPr/>
        </p:nvSpPr>
        <p:spPr>
          <a:xfrm>
            <a:off x="482501" y="3759101"/>
            <a:ext cx="8342275" cy="133350"/>
          </a:xfrm>
          <a:prstGeom prst="rect">
            <a:avLst/>
          </a:prstGeom>
          <a:noFill/>
          <a:ln/>
        </p:spPr>
        <p:txBody>
          <a:bodyPr wrap="square" lIns="0" tIns="0" rIns="0" bIns="0" rtlCol="0" anchor="t"/>
          <a:lstStyle/>
          <a:p>
            <a:pPr algn="l" indent="0" marL="0">
              <a:buNone/>
            </a:pPr>
            <a:r>
              <a:rPr lang="en-US" sz="900" b="1" dirty="0">
                <a:solidFill>
                  <a:srgbClr val="59636E"/>
                </a:solidFill>
                <a:latin typeface="Arial" pitchFamily="34" charset="0"/>
                <a:ea typeface="Arial" pitchFamily="34" charset="-122"/>
                <a:cs typeface="Arial" pitchFamily="34" charset="-120"/>
              </a:rPr>
              <a:t>IN THIS SESSION</a:t>
            </a:r>
            <a:endParaRPr lang="en-US" sz="900" dirty="0"/>
          </a:p>
        </p:txBody>
      </p:sp>
      <p:sp>
        <p:nvSpPr>
          <p:cNvPr id="22" name="Text 16"/>
          <p:cNvSpPr/>
          <p:nvPr/>
        </p:nvSpPr>
        <p:spPr>
          <a:xfrm>
            <a:off x="482501" y="3981301"/>
            <a:ext cx="1356568" cy="336352"/>
          </a:xfrm>
          <a:prstGeom prst="roundRect">
            <a:avLst>
              <a:gd name="adj" fmla="val 52861"/>
            </a:avLst>
          </a:prstGeom>
          <a:solidFill>
            <a:srgbClr val="DDF4FF"/>
          </a:solidFill>
          <a:ln w="9525">
            <a:solidFill>
              <a:srgbClr val="9CD7FF"/>
            </a:solidFill>
          </a:ln>
        </p:spPr>
        <p:txBody>
          <a:bodyPr wrap="square" rtlCol="0" anchor="ctr"/>
          <a:lstStyle/>
          <a:p>
            <a:pPr indent="0" marL="0">
              <a:buNone/>
            </a:pPr>
            <a:endParaRPr lang="en-US" dirty="0"/>
          </a:p>
        </p:txBody>
      </p:sp>
      <p:sp>
        <p:nvSpPr>
          <p:cNvPr id="23" name="Text 17"/>
          <p:cNvSpPr/>
          <p:nvPr/>
        </p:nvSpPr>
        <p:spPr>
          <a:xfrm>
            <a:off x="568226" y="4054227"/>
            <a:ext cx="190500" cy="190500"/>
          </a:xfrm>
          <a:prstGeom prst="roundRect">
            <a:avLst>
              <a:gd name="adj" fmla="val 480000"/>
            </a:avLst>
          </a:prstGeom>
          <a:solidFill>
            <a:srgbClr val="0969DA"/>
          </a:solidFill>
          <a:ln/>
        </p:spPr>
        <p:txBody>
          <a:bodyPr wrap="square" rtlCol="0" anchor="ctr"/>
          <a:lstStyle/>
          <a:p>
            <a:pPr indent="0" marL="0">
              <a:buNone/>
            </a:pPr>
            <a:endParaRPr lang="en-US" dirty="0"/>
          </a:p>
        </p:txBody>
      </p:sp>
      <p:sp>
        <p:nvSpPr>
          <p:cNvPr id="24" name="Text 18"/>
          <p:cNvSpPr/>
          <p:nvPr/>
        </p:nvSpPr>
        <p:spPr>
          <a:xfrm>
            <a:off x="634633" y="4092327"/>
            <a:ext cx="57686" cy="114300"/>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25" name="Text 19"/>
          <p:cNvSpPr/>
          <p:nvPr/>
        </p:nvSpPr>
        <p:spPr>
          <a:xfrm>
            <a:off x="834926" y="4078039"/>
            <a:ext cx="885021"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Plan and build</a:t>
            </a:r>
            <a:endParaRPr lang="en-US" sz="1000" dirty="0"/>
          </a:p>
        </p:txBody>
      </p:sp>
      <p:sp>
        <p:nvSpPr>
          <p:cNvPr id="26" name="Text 20"/>
          <p:cNvSpPr/>
          <p:nvPr/>
        </p:nvSpPr>
        <p:spPr>
          <a:xfrm>
            <a:off x="1940570" y="3981301"/>
            <a:ext cx="1375767" cy="336352"/>
          </a:xfrm>
          <a:prstGeom prst="roundRect">
            <a:avLst>
              <a:gd name="adj" fmla="val 52861"/>
            </a:avLst>
          </a:prstGeom>
          <a:solidFill>
            <a:srgbClr val="FBEFFF"/>
          </a:solidFill>
          <a:ln w="9525">
            <a:solidFill>
              <a:srgbClr val="E0C5FF"/>
            </a:solidFill>
          </a:ln>
        </p:spPr>
        <p:txBody>
          <a:bodyPr wrap="square" rtlCol="0" anchor="ctr"/>
          <a:lstStyle/>
          <a:p>
            <a:pPr indent="0" marL="0">
              <a:buNone/>
            </a:pPr>
            <a:endParaRPr lang="en-US" dirty="0"/>
          </a:p>
        </p:txBody>
      </p:sp>
      <p:sp>
        <p:nvSpPr>
          <p:cNvPr id="27" name="Text 21"/>
          <p:cNvSpPr/>
          <p:nvPr/>
        </p:nvSpPr>
        <p:spPr>
          <a:xfrm>
            <a:off x="2026295" y="4054227"/>
            <a:ext cx="190500" cy="190500"/>
          </a:xfrm>
          <a:prstGeom prst="roundRect">
            <a:avLst>
              <a:gd name="adj" fmla="val 480000"/>
            </a:avLst>
          </a:prstGeom>
          <a:solidFill>
            <a:srgbClr val="8250DF"/>
          </a:solidFill>
          <a:ln/>
        </p:spPr>
        <p:txBody>
          <a:bodyPr wrap="square" rtlCol="0" anchor="ctr"/>
          <a:lstStyle/>
          <a:p>
            <a:pPr indent="0" marL="0">
              <a:buNone/>
            </a:pPr>
            <a:endParaRPr lang="en-US" dirty="0"/>
          </a:p>
        </p:txBody>
      </p:sp>
      <p:sp>
        <p:nvSpPr>
          <p:cNvPr id="28" name="Text 22"/>
          <p:cNvSpPr/>
          <p:nvPr/>
        </p:nvSpPr>
        <p:spPr>
          <a:xfrm>
            <a:off x="2092702" y="4092327"/>
            <a:ext cx="57686" cy="114300"/>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29" name="Text 23"/>
          <p:cNvSpPr/>
          <p:nvPr/>
        </p:nvSpPr>
        <p:spPr>
          <a:xfrm>
            <a:off x="2292995" y="4078039"/>
            <a:ext cx="904604"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Test and verify</a:t>
            </a:r>
            <a:endParaRPr lang="en-US" sz="1000" dirty="0"/>
          </a:p>
        </p:txBody>
      </p:sp>
      <p:sp>
        <p:nvSpPr>
          <p:cNvPr id="30" name="Text 24"/>
          <p:cNvSpPr/>
          <p:nvPr/>
        </p:nvSpPr>
        <p:spPr>
          <a:xfrm>
            <a:off x="3417838" y="3981301"/>
            <a:ext cx="1450777" cy="336352"/>
          </a:xfrm>
          <a:prstGeom prst="roundRect">
            <a:avLst>
              <a:gd name="adj" fmla="val 52861"/>
            </a:avLst>
          </a:prstGeom>
          <a:solidFill>
            <a:srgbClr val="DAFBE1"/>
          </a:solidFill>
          <a:ln w="9525">
            <a:solidFill>
              <a:srgbClr val="8CE7A5"/>
            </a:solidFill>
          </a:ln>
        </p:spPr>
        <p:txBody>
          <a:bodyPr wrap="square" rtlCol="0" anchor="ctr"/>
          <a:lstStyle/>
          <a:p>
            <a:pPr indent="0" marL="0">
              <a:buNone/>
            </a:pPr>
            <a:endParaRPr lang="en-US" dirty="0"/>
          </a:p>
        </p:txBody>
      </p:sp>
      <p:sp>
        <p:nvSpPr>
          <p:cNvPr id="31" name="Text 25"/>
          <p:cNvSpPr/>
          <p:nvPr/>
        </p:nvSpPr>
        <p:spPr>
          <a:xfrm>
            <a:off x="3503563" y="4054227"/>
            <a:ext cx="190500" cy="190500"/>
          </a:xfrm>
          <a:prstGeom prst="roundRect">
            <a:avLst>
              <a:gd name="adj" fmla="val 480000"/>
            </a:avLst>
          </a:prstGeom>
          <a:solidFill>
            <a:srgbClr val="1A7F37"/>
          </a:solidFill>
          <a:ln/>
        </p:spPr>
        <p:txBody>
          <a:bodyPr wrap="square" rtlCol="0" anchor="ctr"/>
          <a:lstStyle/>
          <a:p>
            <a:pPr indent="0" marL="0">
              <a:buNone/>
            </a:pPr>
            <a:endParaRPr lang="en-US" dirty="0"/>
          </a:p>
        </p:txBody>
      </p:sp>
      <p:sp>
        <p:nvSpPr>
          <p:cNvPr id="32" name="Text 26"/>
          <p:cNvSpPr/>
          <p:nvPr/>
        </p:nvSpPr>
        <p:spPr>
          <a:xfrm>
            <a:off x="3569970" y="4092327"/>
            <a:ext cx="57686" cy="114300"/>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33" name="Text 27"/>
          <p:cNvSpPr/>
          <p:nvPr/>
        </p:nvSpPr>
        <p:spPr>
          <a:xfrm>
            <a:off x="3770263" y="4078039"/>
            <a:ext cx="981114"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Deploy to Azure</a:t>
            </a:r>
            <a:endParaRPr lang="en-US" sz="1000" dirty="0"/>
          </a:p>
        </p:txBody>
      </p:sp>
      <p:sp>
        <p:nvSpPr>
          <p:cNvPr id="34" name="Text 28"/>
          <p:cNvSpPr/>
          <p:nvPr/>
        </p:nvSpPr>
        <p:spPr>
          <a:xfrm>
            <a:off x="482501" y="4724400"/>
            <a:ext cx="2396237"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github.com/microsoft/agentic-journeys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WHERE WE ARE HEADED</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A five-day forecast, built from a plan</a:t>
            </a:r>
            <a:endParaRPr lang="en-US" sz="2600" dirty="0"/>
          </a:p>
        </p:txBody>
      </p:sp>
      <p:sp>
        <p:nvSpPr>
          <p:cNvPr id="7" name="Text 4"/>
          <p:cNvSpPr/>
          <p:nvPr/>
        </p:nvSpPr>
        <p:spPr>
          <a:xfrm>
            <a:off x="1308646" y="1222177"/>
            <a:ext cx="6526411" cy="3575000"/>
          </a:xfrm>
          <a:prstGeom prst="roundRect">
            <a:avLst>
              <a:gd name="adj" fmla="val 2842"/>
            </a:avLst>
          </a:prstGeom>
          <a:solidFill>
            <a:srgbClr val="FFFFFF"/>
          </a:solidFill>
          <a:ln w="9525">
            <a:solidFill>
              <a:srgbClr val="D1D9E0"/>
            </a:solidFill>
          </a:ln>
          <a:effectLst>
            <a:outerShdw sx="100000" sy="100000" kx="0" ky="0" algn="bl" rotWithShape="0" blurRad="38100" dist="9525" dir="5400000">
              <a:srgbClr val="1f2328">
                <a:alpha val="14000"/>
              </a:srgbClr>
            </a:outerShdw>
          </a:effectLst>
        </p:spPr>
        <p:txBody>
          <a:bodyPr wrap="square" rtlCol="0" anchor="ctr"/>
          <a:lstStyle/>
          <a:p>
            <a:pPr indent="0" marL="0">
              <a:buNone/>
            </a:pPr>
            <a:endParaRPr lang="en-US" dirty="0"/>
          </a:p>
        </p:txBody>
      </p:sp>
      <p:pic>
        <p:nvPicPr>
          <p:cNvPr id="8" name="Image 1" descr="/Users/danwahlin/.copilot/session-state/a2da67da-2d7a-45f2-aa6a-2a42a7b82a72/files/build/img/weather-weather-view-hero.png">    </p:cNvPr>
          <p:cNvPicPr>
            <a:picLocks noChangeAspect="1"/>
          </p:cNvPicPr>
          <p:nvPr/>
        </p:nvPicPr>
        <p:blipFill>
          <a:blip r:embed="rId2"/>
          <a:stretch>
            <a:fillRect/>
          </a:stretch>
        </p:blipFill>
        <p:spPr>
          <a:xfrm>
            <a:off x="1356271" y="1269802"/>
            <a:ext cx="6431161" cy="3479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THE JOURNEY</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Five steps from plan to Azure</a:t>
            </a:r>
            <a:endParaRPr lang="en-US" sz="2600" dirty="0"/>
          </a:p>
        </p:txBody>
      </p:sp>
      <p:pic>
        <p:nvPicPr>
          <p:cNvPr id="7" name="Image 1" descr="/Users/danwahlin/.copilot/session-state/a2da67da-2d7a-45f2-aa6a-2a42a7b82a72/files/build/img/weather-weather-view-at-a-glance.png">    </p:cNvPr>
          <p:cNvPicPr>
            <a:picLocks noChangeAspect="1"/>
          </p:cNvPicPr>
          <p:nvPr/>
        </p:nvPicPr>
        <p:blipFill>
          <a:blip r:embed="rId2"/>
          <a:stretch>
            <a:fillRect/>
          </a:stretch>
        </p:blipFill>
        <p:spPr>
          <a:xfrm>
            <a:off x="486966" y="1219051"/>
            <a:ext cx="8169771" cy="3581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THE AGENTIC LOOP</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Generate. Inspect. Test. Refine.</a:t>
            </a:r>
            <a:endParaRPr lang="en-US" sz="2600" dirty="0"/>
          </a:p>
        </p:txBody>
      </p:sp>
      <p:sp>
        <p:nvSpPr>
          <p:cNvPr id="7" name="Text 4"/>
          <p:cNvSpPr/>
          <p:nvPr/>
        </p:nvSpPr>
        <p:spPr>
          <a:xfrm>
            <a:off x="482501" y="980777"/>
            <a:ext cx="7772400" cy="228600"/>
          </a:xfrm>
          <a:prstGeom prst="rect">
            <a:avLst/>
          </a:prstGeom>
          <a:noFill/>
          <a:ln/>
        </p:spPr>
        <p:txBody>
          <a:bodyPr wrap="square" lIns="0" tIns="0" rIns="0" bIns="0" rtlCol="0" anchor="t"/>
          <a:lstStyle/>
          <a:p>
            <a:pPr algn="l" indent="0" marL="0">
              <a:lnSpc>
                <a:spcPts val="1800"/>
              </a:lnSpc>
              <a:spcBef>
                <a:spcPts val="500"/>
              </a:spcBef>
              <a:buNone/>
            </a:pPr>
            <a:r>
              <a:rPr lang="en-US" sz="1400" dirty="0">
                <a:solidFill>
                  <a:srgbClr val="59636E"/>
                </a:solidFill>
                <a:latin typeface="Arial" pitchFamily="34" charset="0"/>
                <a:ea typeface="Arial" pitchFamily="34" charset="-122"/>
                <a:cs typeface="Arial" pitchFamily="34" charset="-120"/>
              </a:rPr>
              <a:t>You stay in the loop the whole way.</a:t>
            </a:r>
            <a:endParaRPr lang="en-US" sz="1400" dirty="0"/>
          </a:p>
        </p:txBody>
      </p:sp>
      <p:pic>
        <p:nvPicPr>
          <p:cNvPr id="8" name="Image 1" descr="/Users/danwahlin/.copilot/session-state/a2da67da-2d7a-45f2-aa6a-2a42a7b82a72/files/build/img/weather-weather-view-agentic-workflow.png">    </p:cNvPr>
          <p:cNvPicPr>
            <a:picLocks noChangeAspect="1"/>
          </p:cNvPicPr>
          <p:nvPr/>
        </p:nvPicPr>
        <p:blipFill>
          <a:blip r:embed="rId2"/>
          <a:stretch>
            <a:fillRect/>
          </a:stretch>
        </p:blipFill>
        <p:spPr>
          <a:xfrm>
            <a:off x="2501801" y="1549301"/>
            <a:ext cx="4140101" cy="31749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0969DA"/>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0969DA"/>
                </a:solidFill>
                <a:latin typeface="Arial" pitchFamily="34" charset="0"/>
                <a:ea typeface="Arial" pitchFamily="34" charset="-122"/>
                <a:cs typeface="Arial" pitchFamily="34" charset="-120"/>
              </a:rPr>
              <a:t>01</a:t>
            </a:r>
            <a:endParaRPr lang="en-US" sz="6400" dirty="0"/>
          </a:p>
        </p:txBody>
      </p:sp>
      <p:sp>
        <p:nvSpPr>
          <p:cNvPr id="7" name="Text 4"/>
          <p:cNvSpPr/>
          <p:nvPr/>
        </p:nvSpPr>
        <p:spPr>
          <a:xfrm>
            <a:off x="558701" y="1828651"/>
            <a:ext cx="3886200" cy="142875"/>
          </a:xfrm>
          <a:prstGeom prst="rect">
            <a:avLst/>
          </a:prstGeom>
          <a:noFill/>
          <a:ln/>
        </p:spPr>
        <p:txBody>
          <a:bodyPr wrap="square" lIns="0" tIns="0" rIns="0" bIns="0" rtlCol="0" anchor="t"/>
          <a:lstStyle/>
          <a:p>
            <a:pPr algn="l" indent="0" marL="0">
              <a:spcBef>
                <a:spcPts val="800"/>
              </a:spcBef>
              <a:buNone/>
            </a:pPr>
            <a:r>
              <a:rPr lang="en-US" sz="1000" b="1" dirty="0">
                <a:solidFill>
                  <a:srgbClr val="59636E"/>
                </a:solidFill>
                <a:latin typeface="Arial" pitchFamily="34" charset="0"/>
                <a:ea typeface="Arial" pitchFamily="34" charset="-122"/>
                <a:cs typeface="Arial" pitchFamily="34" charset="-120"/>
              </a:rPr>
              <a:t>SECTION 1 OF 3</a:t>
            </a:r>
            <a:endParaRPr lang="en-US" sz="1000" dirty="0"/>
          </a:p>
        </p:txBody>
      </p:sp>
      <p:sp>
        <p:nvSpPr>
          <p:cNvPr id="8" name="Text 5"/>
          <p:cNvSpPr/>
          <p:nvPr/>
        </p:nvSpPr>
        <p:spPr>
          <a:xfrm>
            <a:off x="558701" y="2034927"/>
            <a:ext cx="3886200" cy="444550"/>
          </a:xfrm>
          <a:prstGeom prst="rect">
            <a:avLst/>
          </a:prstGeom>
          <a:noFill/>
          <a:ln/>
        </p:spPr>
        <p:txBody>
          <a:bodyPr wrap="square" lIns="0" tIns="0" rIns="0" bIns="0" rtlCol="0" anchor="t"/>
          <a:lstStyle/>
          <a:p>
            <a:pPr algn="l" indent="0" marL="0">
              <a:lnSpc>
                <a:spcPts val="3500"/>
              </a:lnSpc>
              <a:spcBef>
                <a:spcPts val="500"/>
              </a:spcBef>
              <a:buNone/>
            </a:pPr>
            <a:r>
              <a:rPr lang="en-US" sz="3000" b="1" dirty="0">
                <a:solidFill>
                  <a:srgbClr val="1F2328"/>
                </a:solidFill>
                <a:latin typeface="Arial" pitchFamily="34" charset="0"/>
                <a:ea typeface="Arial" pitchFamily="34" charset="-122"/>
                <a:cs typeface="Arial" pitchFamily="34" charset="-120"/>
              </a:rPr>
              <a:t>Plan and build</a:t>
            </a:r>
            <a:endParaRPr lang="en-US" sz="3000" dirty="0"/>
          </a:p>
        </p:txBody>
      </p:sp>
      <p:sp>
        <p:nvSpPr>
          <p:cNvPr id="9" name="Text 6"/>
          <p:cNvSpPr/>
          <p:nvPr/>
        </p:nvSpPr>
        <p:spPr>
          <a:xfrm>
            <a:off x="558701" y="2606427"/>
            <a:ext cx="3886200" cy="482501"/>
          </a:xfrm>
          <a:prstGeom prst="rect">
            <a:avLst/>
          </a:prstGeom>
          <a:noFill/>
          <a:ln/>
        </p:spPr>
        <p:txBody>
          <a:bodyPr wrap="square" lIns="0" tIns="0" rIns="0" bIns="0" rtlCol="0" anchor="t"/>
          <a:lstStyle/>
          <a:p>
            <a:pPr algn="l" indent="0" marL="0">
              <a:lnSpc>
                <a:spcPts val="1900"/>
              </a:lnSpc>
              <a:spcBef>
                <a:spcPts val="1000"/>
              </a:spcBef>
              <a:buNone/>
            </a:pPr>
            <a:r>
              <a:rPr lang="en-US" sz="1400" dirty="0">
                <a:solidFill>
                  <a:srgbClr val="59636E"/>
                </a:solidFill>
                <a:latin typeface="Arial" pitchFamily="34" charset="0"/>
                <a:ea typeface="Arial" pitchFamily="34" charset="-122"/>
                <a:cs typeface="Arial" pitchFamily="34" charset="-120"/>
              </a:rPr>
              <a:t>Start from the plan. Ask for a plan before any code, then build in small, reviewable steps.</a:t>
            </a:r>
            <a:endParaRPr lang="en-US" sz="1400" dirty="0"/>
          </a:p>
        </p:txBody>
      </p:sp>
      <p:sp>
        <p:nvSpPr>
          <p:cNvPr id="10" name="Text 7"/>
          <p:cNvSpPr/>
          <p:nvPr/>
        </p:nvSpPr>
        <p:spPr>
          <a:xfrm>
            <a:off x="5486400" y="914400"/>
            <a:ext cx="2793950" cy="2793950"/>
          </a:xfrm>
          <a:prstGeom prst="roundRect">
            <a:avLst>
              <a:gd name="adj" fmla="val 32728"/>
            </a:avLst>
          </a:prstGeom>
          <a:solidFill>
            <a:srgbClr val="DDF4FF"/>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FileCode-0969DA.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1270099" cy="336352"/>
          </a:xfrm>
          <a:prstGeom prst="roundRect">
            <a:avLst>
              <a:gd name="adj" fmla="val 52861"/>
            </a:avLst>
          </a:prstGeom>
          <a:solidFill>
            <a:srgbClr val="0969DA"/>
          </a:solidFill>
          <a:ln w="9525">
            <a:solidFill>
              <a:srgbClr val="0969DA"/>
            </a:solidFill>
          </a:ln>
        </p:spPr>
        <p:txBody>
          <a:bodyPr wrap="square" rtlCol="0" anchor="ctr"/>
          <a:lstStyle/>
          <a:p>
            <a:pPr indent="0" marL="0">
              <a:buNone/>
            </a:pPr>
            <a:endParaRPr lang="en-US" dirty="0"/>
          </a:p>
        </p:txBody>
      </p:sp>
      <p:sp>
        <p:nvSpPr>
          <p:cNvPr id="13" name="Text 9"/>
          <p:cNvSpPr/>
          <p:nvPr/>
        </p:nvSpPr>
        <p:spPr>
          <a:xfrm>
            <a:off x="644426" y="4441627"/>
            <a:ext cx="190500" cy="190500"/>
          </a:xfrm>
          <a:prstGeom prst="roundRect">
            <a:avLst>
              <a:gd name="adj" fmla="val 480000"/>
            </a:avLst>
          </a:prstGeom>
          <a:solidFill>
            <a:srgbClr val="FFFFFF"/>
          </a:solidFill>
          <a:ln/>
        </p:spPr>
        <p:txBody>
          <a:bodyPr wrap="square" rtlCol="0" anchor="ctr"/>
          <a:lstStyle/>
          <a:p>
            <a:pPr indent="0" marL="0">
              <a:buNone/>
            </a:pPr>
            <a:endParaRPr lang="en-US" dirty="0"/>
          </a:p>
        </p:txBody>
      </p:sp>
      <p:sp>
        <p:nvSpPr>
          <p:cNvPr id="14" name="Text 10"/>
          <p:cNvSpPr/>
          <p:nvPr/>
        </p:nvSpPr>
        <p:spPr>
          <a:xfrm>
            <a:off x="710833" y="4479727"/>
            <a:ext cx="57686" cy="114300"/>
          </a:xfrm>
          <a:prstGeom prst="rect">
            <a:avLst/>
          </a:prstGeom>
          <a:noFill/>
          <a:ln/>
        </p:spPr>
        <p:txBody>
          <a:bodyPr wrap="square" lIns="0" tIns="0" rIns="0" bIns="0" rtlCol="0" anchor="t"/>
          <a:lstStyle/>
          <a:p>
            <a:pPr algn="ctr" indent="0" marL="0">
              <a:buNone/>
            </a:pPr>
            <a:r>
              <a:rPr lang="en-US" sz="800" b="1" dirty="0">
                <a:solidFill>
                  <a:srgbClr val="0969DA"/>
                </a:solidFill>
                <a:latin typeface="Arial" pitchFamily="34" charset="0"/>
                <a:ea typeface="Arial" pitchFamily="34" charset="-122"/>
                <a:cs typeface="Arial" pitchFamily="34" charset="-120"/>
              </a:rPr>
              <a:t>1</a:t>
            </a:r>
            <a:endParaRPr lang="en-US" sz="800" dirty="0"/>
          </a:p>
        </p:txBody>
      </p:sp>
      <p:sp>
        <p:nvSpPr>
          <p:cNvPr id="15" name="Text 11"/>
          <p:cNvSpPr/>
          <p:nvPr/>
        </p:nvSpPr>
        <p:spPr>
          <a:xfrm>
            <a:off x="911126" y="4470202"/>
            <a:ext cx="796823"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Plan and build</a:t>
            </a:r>
            <a:endParaRPr lang="en-US" sz="900" dirty="0"/>
          </a:p>
        </p:txBody>
      </p:sp>
      <p:sp>
        <p:nvSpPr>
          <p:cNvPr id="16" name="Text 12"/>
          <p:cNvSpPr/>
          <p:nvPr/>
        </p:nvSpPr>
        <p:spPr>
          <a:xfrm>
            <a:off x="1930301" y="4368701"/>
            <a:ext cx="1287214"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2016026"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8" name="Text 14"/>
          <p:cNvSpPr/>
          <p:nvPr/>
        </p:nvSpPr>
        <p:spPr>
          <a:xfrm>
            <a:off x="2082433"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2</a:t>
            </a:r>
            <a:endParaRPr lang="en-US" sz="800" dirty="0"/>
          </a:p>
        </p:txBody>
      </p:sp>
      <p:sp>
        <p:nvSpPr>
          <p:cNvPr id="19" name="Text 15"/>
          <p:cNvSpPr/>
          <p:nvPr/>
        </p:nvSpPr>
        <p:spPr>
          <a:xfrm>
            <a:off x="2282726" y="4470202"/>
            <a:ext cx="81428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Test and verify</a:t>
            </a:r>
            <a:endParaRPr lang="en-US" sz="900" dirty="0"/>
          </a:p>
        </p:txBody>
      </p:sp>
      <p:sp>
        <p:nvSpPr>
          <p:cNvPr id="20" name="Text 16"/>
          <p:cNvSpPr/>
          <p:nvPr/>
        </p:nvSpPr>
        <p:spPr>
          <a:xfrm>
            <a:off x="3319016" y="4368701"/>
            <a:ext cx="1354782"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404741"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22" name="Text 18"/>
          <p:cNvSpPr/>
          <p:nvPr/>
        </p:nvSpPr>
        <p:spPr>
          <a:xfrm>
            <a:off x="3471148"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3</a:t>
            </a:r>
            <a:endParaRPr lang="en-US" sz="800" dirty="0"/>
          </a:p>
        </p:txBody>
      </p:sp>
      <p:sp>
        <p:nvSpPr>
          <p:cNvPr id="23" name="Text 19"/>
          <p:cNvSpPr/>
          <p:nvPr/>
        </p:nvSpPr>
        <p:spPr>
          <a:xfrm>
            <a:off x="3671441" y="4470202"/>
            <a:ext cx="88320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Deploy to Azure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GET STARTED</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Work in your own copy</a:t>
            </a:r>
            <a:endParaRPr lang="en-US" sz="2600" dirty="0"/>
          </a:p>
        </p:txBody>
      </p:sp>
      <p:sp>
        <p:nvSpPr>
          <p:cNvPr id="7" name="Text 4"/>
          <p:cNvSpPr/>
          <p:nvPr/>
        </p:nvSpPr>
        <p:spPr>
          <a:xfrm>
            <a:off x="888802" y="2071390"/>
            <a:ext cx="7365950" cy="1432173"/>
          </a:xfrm>
          <a:prstGeom prst="roundRect">
            <a:avLst>
              <a:gd name="adj" fmla="val 7094"/>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888802" y="2071390"/>
            <a:ext cx="7365950"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015752" y="2153841"/>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168003" y="2153841"/>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320254" y="2153841"/>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574006" y="2141190"/>
            <a:ext cx="528584" cy="114300"/>
          </a:xfrm>
          <a:prstGeom prst="rect">
            <a:avLst/>
          </a:prstGeom>
          <a:noFill/>
          <a:ln/>
        </p:spPr>
        <p:txBody>
          <a:bodyPr wrap="square" lIns="0" tIns="0" rIns="0" bIns="0" rtlCol="0" anchor="t"/>
          <a:lstStyle/>
          <a:p>
            <a:pPr algn="l" indent="0" marL="0">
              <a:buNone/>
            </a:pPr>
            <a:r>
              <a:rPr lang="en-US" sz="850" dirty="0">
                <a:solidFill>
                  <a:srgbClr val="8B949E"/>
                </a:solidFill>
                <a:latin typeface="Courier New" pitchFamily="34" charset="0"/>
                <a:ea typeface="Courier New" pitchFamily="34" charset="-122"/>
                <a:cs typeface="Courier New" pitchFamily="34" charset="-120"/>
              </a:rPr>
              <a:t>Terminal</a:t>
            </a:r>
            <a:endParaRPr lang="en-US" sz="850" dirty="0"/>
          </a:p>
        </p:txBody>
      </p:sp>
      <p:sp>
        <p:nvSpPr>
          <p:cNvPr id="13" name="Text 10"/>
          <p:cNvSpPr/>
          <p:nvPr/>
        </p:nvSpPr>
        <p:spPr>
          <a:xfrm>
            <a:off x="1117402" y="2502991"/>
            <a:ext cx="7046925" cy="265807"/>
          </a:xfrm>
          <a:prstGeom prst="rect">
            <a:avLst/>
          </a:prstGeom>
          <a:noFill/>
          <a:ln/>
        </p:spPr>
        <p:txBody>
          <a:bodyPr wrap="square" lIns="0" tIns="0" rIns="0" bIns="0" rtlCol="0" anchor="t"/>
          <a:lstStyle/>
          <a:p>
            <a:pPr algn="l" indent="0" marL="0">
              <a:lnSpc>
                <a:spcPts val="2092"/>
              </a:lnSpc>
              <a:buNone/>
            </a:pPr>
            <a:r>
              <a:rPr lang="en-US" sz="1350" b="1" dirty="0">
                <a:solidFill>
                  <a:srgbClr val="3FB950"/>
                </a:solidFill>
                <a:latin typeface="Courier New" pitchFamily="34" charset="0"/>
                <a:ea typeface="Courier New" pitchFamily="34" charset="-122"/>
                <a:cs typeface="Courier New" pitchFamily="34" charset="-120"/>
              </a:rPr>
              <a:t>$</a:t>
            </a:r>
            <a:pPr algn="l" indent="0" marL="0">
              <a:lnSpc>
                <a:spcPts val="2092"/>
              </a:lnSpc>
              <a:buNone/>
            </a:pPr>
            <a:r>
              <a:rPr lang="en-US" sz="1350" dirty="0">
                <a:solidFill>
                  <a:srgbClr val="E6EDF3"/>
                </a:solidFill>
                <a:latin typeface="Courier New" pitchFamily="34" charset="0"/>
                <a:ea typeface="Courier New" pitchFamily="34" charset="-122"/>
                <a:cs typeface="Courier New" pitchFamily="34" charset="-120"/>
              </a:rPr>
              <a:t> node .github/scripts/create-workspace.mjs weather-view</a:t>
            </a:r>
            <a:endParaRPr lang="en-US" sz="1350" dirty="0"/>
          </a:p>
        </p:txBody>
      </p:sp>
      <p:sp>
        <p:nvSpPr>
          <p:cNvPr id="14" name="Text 11"/>
          <p:cNvSpPr/>
          <p:nvPr/>
        </p:nvSpPr>
        <p:spPr>
          <a:xfrm>
            <a:off x="1117402" y="2768798"/>
            <a:ext cx="7046925" cy="265807"/>
          </a:xfrm>
          <a:prstGeom prst="rect">
            <a:avLst/>
          </a:prstGeom>
          <a:noFill/>
          <a:ln/>
        </p:spPr>
        <p:txBody>
          <a:bodyPr wrap="square" lIns="0" tIns="0" rIns="0" bIns="0" rtlCol="0" anchor="t"/>
          <a:lstStyle/>
          <a:p>
            <a:pPr algn="l" indent="0" marL="0">
              <a:lnSpc>
                <a:spcPts val="2092"/>
              </a:lnSpc>
              <a:buNone/>
            </a:pPr>
            <a:r>
              <a:rPr lang="en-US" sz="1350" b="1" dirty="0">
                <a:solidFill>
                  <a:srgbClr val="3FB950"/>
                </a:solidFill>
                <a:latin typeface="Courier New" pitchFamily="34" charset="0"/>
                <a:ea typeface="Courier New" pitchFamily="34" charset="-122"/>
                <a:cs typeface="Courier New" pitchFamily="34" charset="-120"/>
              </a:rPr>
              <a:t>$</a:t>
            </a:r>
            <a:pPr algn="l" indent="0" marL="0">
              <a:lnSpc>
                <a:spcPts val="2092"/>
              </a:lnSpc>
              <a:buNone/>
            </a:pPr>
            <a:r>
              <a:rPr lang="en-US" sz="1350" dirty="0">
                <a:solidFill>
                  <a:srgbClr val="E6EDF3"/>
                </a:solidFill>
                <a:latin typeface="Courier New" pitchFamily="34" charset="0"/>
                <a:ea typeface="Courier New" pitchFamily="34" charset="-122"/>
                <a:cs typeface="Courier New" pitchFamily="34" charset="-120"/>
              </a:rPr>
              <a:t> cd ../weather-view-workspace/journeys/weather-view</a:t>
            </a:r>
            <a:endParaRPr lang="en-US" sz="1350" dirty="0"/>
          </a:p>
        </p:txBody>
      </p:sp>
      <p:sp>
        <p:nvSpPr>
          <p:cNvPr id="15" name="Text 12"/>
          <p:cNvSpPr/>
          <p:nvPr/>
        </p:nvSpPr>
        <p:spPr>
          <a:xfrm>
            <a:off x="1117402" y="3034605"/>
            <a:ext cx="7046925" cy="265807"/>
          </a:xfrm>
          <a:prstGeom prst="rect">
            <a:avLst/>
          </a:prstGeom>
          <a:noFill/>
          <a:ln/>
        </p:spPr>
        <p:txBody>
          <a:bodyPr wrap="square" lIns="0" tIns="0" rIns="0" bIns="0" rtlCol="0" anchor="t"/>
          <a:lstStyle/>
          <a:p>
            <a:pPr algn="l" indent="0" marL="0">
              <a:lnSpc>
                <a:spcPts val="2092"/>
              </a:lnSpc>
              <a:buNone/>
            </a:pPr>
            <a:r>
              <a:rPr lang="en-US" sz="1350" b="1" dirty="0">
                <a:solidFill>
                  <a:srgbClr val="3FB950"/>
                </a:solidFill>
                <a:latin typeface="Courier New" pitchFamily="34" charset="0"/>
                <a:ea typeface="Courier New" pitchFamily="34" charset="-122"/>
                <a:cs typeface="Courier New" pitchFamily="34" charset="-120"/>
              </a:rPr>
              <a:t>$</a:t>
            </a:r>
            <a:pPr algn="l" indent="0" marL="0">
              <a:lnSpc>
                <a:spcPts val="2092"/>
              </a:lnSpc>
              <a:buNone/>
            </a:pPr>
            <a:r>
              <a:rPr lang="en-US" sz="1350" dirty="0">
                <a:solidFill>
                  <a:srgbClr val="E6EDF3"/>
                </a:solidFill>
                <a:latin typeface="Courier New" pitchFamily="34" charset="0"/>
                <a:ea typeface="Courier New" pitchFamily="34" charset="-122"/>
                <a:cs typeface="Courier New" pitchFamily="34" charset="-120"/>
              </a:rPr>
              <a:t> copilot</a:t>
            </a:r>
            <a:endParaRPr lang="en-US" sz="1350" dirty="0"/>
          </a:p>
        </p:txBody>
      </p:sp>
      <p:pic>
        <p:nvPicPr>
          <p:cNvPr id="16" name="Image 1" descr="/Users/danwahlin/.copilot/session-state/a2da67da-2d7a-45f2-aa6a-2a42a7b82a72/files/build/icons/GoRepoForked-0969DA.png">    </p:cNvPr>
          <p:cNvPicPr>
            <a:picLocks noChangeAspect="1"/>
          </p:cNvPicPr>
          <p:nvPr/>
        </p:nvPicPr>
        <p:blipFill>
          <a:blip r:embed="rId2"/>
          <a:stretch>
            <a:fillRect/>
          </a:stretch>
        </p:blipFill>
        <p:spPr>
          <a:xfrm>
            <a:off x="888802" y="3744813"/>
            <a:ext cx="190500" cy="190500"/>
          </a:xfrm>
          <a:prstGeom prst="rect">
            <a:avLst/>
          </a:prstGeom>
        </p:spPr>
      </p:pic>
      <p:sp>
        <p:nvSpPr>
          <p:cNvPr id="17" name="Text 13"/>
          <p:cNvSpPr/>
          <p:nvPr/>
        </p:nvSpPr>
        <p:spPr>
          <a:xfrm>
            <a:off x="1180802" y="3732163"/>
            <a:ext cx="5439921" cy="215950"/>
          </a:xfrm>
          <a:prstGeom prst="rect">
            <a:avLst/>
          </a:prstGeom>
          <a:noFill/>
          <a:ln/>
        </p:spPr>
        <p:txBody>
          <a:bodyPr wrap="square" lIns="0" tIns="0" rIns="0" bIns="0" rtlCol="0" anchor="t"/>
          <a:lstStyle/>
          <a:p>
            <a:pPr algn="l" indent="0" marL="0">
              <a:lnSpc>
                <a:spcPts val="1700"/>
              </a:lnSpc>
              <a:buNone/>
            </a:pPr>
            <a:r>
              <a:rPr lang="en-US" sz="1250" dirty="0">
                <a:solidFill>
                  <a:srgbClr val="1F2328"/>
                </a:solidFill>
                <a:latin typeface="Arial" pitchFamily="34" charset="0"/>
                <a:ea typeface="Arial" pitchFamily="34" charset="-122"/>
                <a:cs typeface="Arial" pitchFamily="34" charset="-120"/>
              </a:rPr>
              <a:t>An isolated workspace keeps experiments away from the original repository.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THE STACK</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No framework. No backend. No API key.</a:t>
            </a:r>
            <a:endParaRPr lang="en-US" sz="2600" dirty="0"/>
          </a:p>
        </p:txBody>
      </p:sp>
      <p:pic>
        <p:nvPicPr>
          <p:cNvPr id="7" name="Image 1" descr="/Users/danwahlin/.copilot/session-state/a2da67da-2d7a-45f2-aa6a-2a42a7b82a72/files/build/img/weather-weather-view-build.png">    </p:cNvPr>
          <p:cNvPicPr>
            <a:picLocks noChangeAspect="1"/>
          </p:cNvPicPr>
          <p:nvPr/>
        </p:nvPicPr>
        <p:blipFill>
          <a:blip r:embed="rId2"/>
          <a:stretch>
            <a:fillRect/>
          </a:stretch>
        </p:blipFill>
        <p:spPr>
          <a:xfrm>
            <a:off x="482501" y="2113806"/>
            <a:ext cx="8178701" cy="179189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PLAN FIRST</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Ask for a plan, not code</a:t>
            </a:r>
            <a:endParaRPr lang="en-US" sz="2600" dirty="0"/>
          </a:p>
        </p:txBody>
      </p:sp>
      <p:sp>
        <p:nvSpPr>
          <p:cNvPr id="7" name="Text 4"/>
          <p:cNvSpPr/>
          <p:nvPr/>
        </p:nvSpPr>
        <p:spPr>
          <a:xfrm>
            <a:off x="634901" y="1853952"/>
            <a:ext cx="7873901" cy="1956346"/>
          </a:xfrm>
          <a:prstGeom prst="roundRect">
            <a:avLst>
              <a:gd name="adj" fmla="val 5193"/>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58714"/>
            <a:ext cx="7873901" cy="0"/>
          </a:xfrm>
          <a:prstGeom prst="line">
            <a:avLst/>
          </a:prstGeom>
          <a:noFill/>
          <a:ln w="9525">
            <a:solidFill>
              <a:srgbClr val="E0C5FF"/>
            </a:solidFill>
            <a:prstDash val="solid"/>
          </a:ln>
        </p:spPr>
      </p:sp>
      <p:sp>
        <p:nvSpPr>
          <p:cNvPr id="9" name="Shape 6"/>
          <p:cNvSpPr/>
          <p:nvPr/>
        </p:nvSpPr>
        <p:spPr>
          <a:xfrm>
            <a:off x="8504039" y="1853952"/>
            <a:ext cx="0" cy="1956346"/>
          </a:xfrm>
          <a:prstGeom prst="line">
            <a:avLst/>
          </a:prstGeom>
          <a:noFill/>
          <a:ln w="9525">
            <a:solidFill>
              <a:srgbClr val="E0C5FF"/>
            </a:solidFill>
            <a:prstDash val="solid"/>
          </a:ln>
        </p:spPr>
      </p:sp>
      <p:sp>
        <p:nvSpPr>
          <p:cNvPr id="10" name="Shape 7"/>
          <p:cNvSpPr/>
          <p:nvPr/>
        </p:nvSpPr>
        <p:spPr>
          <a:xfrm>
            <a:off x="634901" y="3805535"/>
            <a:ext cx="7873901" cy="0"/>
          </a:xfrm>
          <a:prstGeom prst="line">
            <a:avLst/>
          </a:prstGeom>
          <a:noFill/>
          <a:ln w="9525">
            <a:solidFill>
              <a:srgbClr val="E0C5FF"/>
            </a:solidFill>
            <a:prstDash val="solid"/>
          </a:ln>
        </p:spPr>
      </p:sp>
      <p:sp>
        <p:nvSpPr>
          <p:cNvPr id="11" name="Shape 8"/>
          <p:cNvSpPr/>
          <p:nvPr/>
        </p:nvSpPr>
        <p:spPr>
          <a:xfrm>
            <a:off x="663476" y="1853952"/>
            <a:ext cx="0" cy="1956346"/>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066627"/>
            <a:ext cx="165050" cy="165050"/>
          </a:xfrm>
          <a:prstGeom prst="rect">
            <a:avLst/>
          </a:prstGeom>
        </p:spPr>
      </p:pic>
      <p:sp>
        <p:nvSpPr>
          <p:cNvPr id="13" name="Text 9"/>
          <p:cNvSpPr/>
          <p:nvPr/>
        </p:nvSpPr>
        <p:spPr>
          <a:xfrm>
            <a:off x="1187202" y="2082403"/>
            <a:ext cx="498830" cy="133350"/>
          </a:xfrm>
          <a:prstGeom prst="rect">
            <a:avLst/>
          </a:prstGeom>
          <a:noFill/>
          <a:ln/>
        </p:spPr>
        <p:txBody>
          <a:bodyPr wrap="square" lIns="0" tIns="0" rIns="0" bIns="0" rtlCol="0" anchor="t"/>
          <a:lstStyle/>
          <a:p>
            <a:pPr algn="l" indent="0" marL="0">
              <a:buNone/>
            </a:pPr>
            <a:r>
              <a:rPr lang="en-US" sz="900" b="1" dirty="0">
                <a:solidFill>
                  <a:srgbClr val="8250DF"/>
                </a:solidFill>
                <a:latin typeface="Arial" pitchFamily="34" charset="0"/>
                <a:ea typeface="Arial" pitchFamily="34" charset="-122"/>
                <a:cs typeface="Arial" pitchFamily="34" charset="-120"/>
              </a:rPr>
              <a:t>PROMPT</a:t>
            </a:r>
            <a:endParaRPr lang="en-US" sz="900" dirty="0"/>
          </a:p>
        </p:txBody>
      </p:sp>
      <p:sp>
        <p:nvSpPr>
          <p:cNvPr id="14" name="Text 10"/>
          <p:cNvSpPr/>
          <p:nvPr/>
        </p:nvSpPr>
        <p:spPr>
          <a:xfrm>
            <a:off x="945952" y="2345829"/>
            <a:ext cx="7445413" cy="1226344"/>
          </a:xfrm>
          <a:prstGeom prst="rect">
            <a:avLst/>
          </a:prstGeom>
          <a:noFill/>
          <a:ln/>
        </p:spPr>
        <p:txBody>
          <a:bodyPr wrap="square" lIns="0" tIns="0" rIns="0" bIns="0" rtlCol="0" anchor="t"/>
          <a:lstStyle/>
          <a:p>
            <a:pPr algn="l" indent="0" marL="0">
              <a:lnSpc>
                <a:spcPts val="2414"/>
              </a:lnSpc>
              <a:buNone/>
            </a:pPr>
            <a:r>
              <a:rPr lang="en-US" sz="1700" b="1" dirty="0">
                <a:solidFill>
                  <a:srgbClr val="1F2328"/>
                </a:solidFill>
                <a:latin typeface="Arial" pitchFamily="34" charset="0"/>
                <a:ea typeface="Arial" pitchFamily="34" charset="-122"/>
                <a:cs typeface="Arial" pitchFamily="34" charset="-120"/>
              </a:rPr>
              <a:t>@PLAN.md</a:t>
            </a:r>
            <a:pPr algn="l" indent="0" marL="0">
              <a:lnSpc>
                <a:spcPts val="2414"/>
              </a:lnSpc>
              <a:buNone/>
            </a:pPr>
            <a:r>
              <a:rPr lang="en-US" sz="1700" dirty="0">
                <a:solidFill>
                  <a:srgbClr val="1F2328"/>
                </a:solidFill>
                <a:latin typeface="Arial" pitchFamily="34" charset="0"/>
                <a:ea typeface="Arial" pitchFamily="34" charset="-122"/>
                <a:cs typeface="Arial" pitchFamily="34" charset="-120"/>
              </a:rPr>
              <a:t> Plan how you'll build the WeatherView app shell described in "Choose Your Stack," "Project Structure," "Product Experience," and "Accessibility and Performance." List each file you'll create and what it will contain. </a:t>
            </a:r>
            <a:pPr algn="l" indent="0" marL="0">
              <a:lnSpc>
                <a:spcPts val="2414"/>
              </a:lnSpc>
              <a:buNone/>
            </a:pPr>
            <a:r>
              <a:rPr lang="en-US" sz="1700" b="1" dirty="0">
                <a:solidFill>
                  <a:srgbClr val="1F2328"/>
                </a:solidFill>
                <a:latin typeface="Arial" pitchFamily="34" charset="0"/>
                <a:ea typeface="Arial" pitchFamily="34" charset="-122"/>
                <a:cs typeface="Arial" pitchFamily="34" charset="-120"/>
              </a:rPr>
              <a:t>Don't write any code yet.</a:t>
            </a:r>
            <a:endParaRPr lang="en-US" sz="1700" dirty="0"/>
          </a:p>
        </p:txBody>
      </p:sp>
      <p:pic>
        <p:nvPicPr>
          <p:cNvPr id="15" name="Image 2" descr="/Users/danwahlin/.copilot/session-state/a2da67da-2d7a-45f2-aa6a-2a42a7b82a72/files/build/icons/GoEye-0969DA.png">    </p:cNvPr>
          <p:cNvPicPr>
            <a:picLocks noChangeAspect="1"/>
          </p:cNvPicPr>
          <p:nvPr/>
        </p:nvPicPr>
        <p:blipFill>
          <a:blip r:embed="rId3"/>
          <a:stretch>
            <a:fillRect/>
          </a:stretch>
        </p:blipFill>
        <p:spPr>
          <a:xfrm>
            <a:off x="634901" y="4026098"/>
            <a:ext cx="177701" cy="177701"/>
          </a:xfrm>
          <a:prstGeom prst="rect">
            <a:avLst/>
          </a:prstGeom>
        </p:spPr>
      </p:pic>
      <p:sp>
        <p:nvSpPr>
          <p:cNvPr id="16" name="Text 11"/>
          <p:cNvSpPr/>
          <p:nvPr/>
        </p:nvSpPr>
        <p:spPr>
          <a:xfrm>
            <a:off x="914102" y="4013448"/>
            <a:ext cx="5646375" cy="203150"/>
          </a:xfrm>
          <a:prstGeom prst="rect">
            <a:avLst/>
          </a:prstGeom>
          <a:noFill/>
          <a:ln/>
        </p:spPr>
        <p:txBody>
          <a:bodyPr wrap="square" lIns="0" tIns="0" rIns="0" bIns="0" rtlCol="0" anchor="t"/>
          <a:lstStyle/>
          <a:p>
            <a:pPr algn="l" indent="0" marL="0">
              <a:lnSpc>
                <a:spcPts val="1600"/>
              </a:lnSpc>
              <a:buNone/>
            </a:pPr>
            <a:r>
              <a:rPr lang="en-US" sz="1200" dirty="0">
                <a:solidFill>
                  <a:srgbClr val="59636E"/>
                </a:solidFill>
                <a:latin typeface="Arial" pitchFamily="34" charset="0"/>
                <a:ea typeface="Arial" pitchFamily="34" charset="-122"/>
                <a:cs typeface="Arial" pitchFamily="34" charset="-120"/>
              </a:rPr>
              <a:t>Switch to </a:t>
            </a:r>
            <a:pPr algn="l" indent="0" marL="0">
              <a:lnSpc>
                <a:spcPts val="1600"/>
              </a:lnSpc>
              <a:buNone/>
            </a:pPr>
            <a:r>
              <a:rPr lang="en-US" sz="1200" b="1" dirty="0">
                <a:solidFill>
                  <a:srgbClr val="59636E"/>
                </a:solidFill>
                <a:latin typeface="Arial" pitchFamily="34" charset="0"/>
                <a:ea typeface="Arial" pitchFamily="34" charset="-122"/>
                <a:cs typeface="Arial" pitchFamily="34" charset="-120"/>
              </a:rPr>
              <a:t>Plan mode</a:t>
            </a:r>
            <a:pPr algn="l" indent="0" marL="0">
              <a:lnSpc>
                <a:spcPts val="1600"/>
              </a:lnSpc>
              <a:buNone/>
            </a:pPr>
            <a:r>
              <a:rPr lang="en-US" sz="1200" dirty="0">
                <a:solidFill>
                  <a:srgbClr val="59636E"/>
                </a:solidFill>
                <a:latin typeface="Arial" pitchFamily="34" charset="0"/>
                <a:ea typeface="Arial" pitchFamily="34" charset="-122"/>
                <a:cs typeface="Arial" pitchFamily="34" charset="-120"/>
              </a:rPr>
              <a:t> (Shift+Tab). Review the file list before you approve anything.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BUILD THE SHELL</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Build what you just planned</a:t>
            </a:r>
            <a:endParaRPr lang="en-US" sz="2600" dirty="0"/>
          </a:p>
        </p:txBody>
      </p:sp>
      <p:sp>
        <p:nvSpPr>
          <p:cNvPr id="7" name="Text 4"/>
          <p:cNvSpPr/>
          <p:nvPr/>
        </p:nvSpPr>
        <p:spPr>
          <a:xfrm>
            <a:off x="634901" y="1722834"/>
            <a:ext cx="7873901" cy="2624733"/>
          </a:xfrm>
          <a:prstGeom prst="roundRect">
            <a:avLst>
              <a:gd name="adj" fmla="val 3871"/>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727597"/>
            <a:ext cx="7873901" cy="0"/>
          </a:xfrm>
          <a:prstGeom prst="line">
            <a:avLst/>
          </a:prstGeom>
          <a:noFill/>
          <a:ln w="9525">
            <a:solidFill>
              <a:srgbClr val="E0C5FF"/>
            </a:solidFill>
            <a:prstDash val="solid"/>
          </a:ln>
        </p:spPr>
      </p:sp>
      <p:sp>
        <p:nvSpPr>
          <p:cNvPr id="9" name="Shape 6"/>
          <p:cNvSpPr/>
          <p:nvPr/>
        </p:nvSpPr>
        <p:spPr>
          <a:xfrm>
            <a:off x="8504039" y="1722834"/>
            <a:ext cx="0" cy="2624733"/>
          </a:xfrm>
          <a:prstGeom prst="line">
            <a:avLst/>
          </a:prstGeom>
          <a:noFill/>
          <a:ln w="9525">
            <a:solidFill>
              <a:srgbClr val="E0C5FF"/>
            </a:solidFill>
            <a:prstDash val="solid"/>
          </a:ln>
        </p:spPr>
      </p:sp>
      <p:sp>
        <p:nvSpPr>
          <p:cNvPr id="10" name="Shape 7"/>
          <p:cNvSpPr/>
          <p:nvPr/>
        </p:nvSpPr>
        <p:spPr>
          <a:xfrm>
            <a:off x="634901" y="4342805"/>
            <a:ext cx="7873901" cy="0"/>
          </a:xfrm>
          <a:prstGeom prst="line">
            <a:avLst/>
          </a:prstGeom>
          <a:noFill/>
          <a:ln w="9525">
            <a:solidFill>
              <a:srgbClr val="E0C5FF"/>
            </a:solidFill>
            <a:prstDash val="solid"/>
          </a:ln>
        </p:spPr>
      </p:sp>
      <p:sp>
        <p:nvSpPr>
          <p:cNvPr id="11" name="Shape 8"/>
          <p:cNvSpPr/>
          <p:nvPr/>
        </p:nvSpPr>
        <p:spPr>
          <a:xfrm>
            <a:off x="663476" y="1722834"/>
            <a:ext cx="0" cy="262473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1935510"/>
            <a:ext cx="165050" cy="165050"/>
          </a:xfrm>
          <a:prstGeom prst="rect">
            <a:avLst/>
          </a:prstGeom>
        </p:spPr>
      </p:pic>
      <p:sp>
        <p:nvSpPr>
          <p:cNvPr id="13" name="Text 9"/>
          <p:cNvSpPr/>
          <p:nvPr/>
        </p:nvSpPr>
        <p:spPr>
          <a:xfrm>
            <a:off x="1187202" y="1951286"/>
            <a:ext cx="1220054" cy="133350"/>
          </a:xfrm>
          <a:prstGeom prst="rect">
            <a:avLst/>
          </a:prstGeom>
          <a:noFill/>
          <a:ln/>
        </p:spPr>
        <p:txBody>
          <a:bodyPr wrap="square" lIns="0" tIns="0" rIns="0" bIns="0" rtlCol="0" anchor="t"/>
          <a:lstStyle/>
          <a:p>
            <a:pPr algn="l" indent="0" marL="0">
              <a:buNone/>
            </a:pPr>
            <a:r>
              <a:rPr lang="en-US" sz="900" dirty="0">
                <a:solidFill>
                  <a:srgbClr val="8250DF"/>
                </a:solidFill>
                <a:latin typeface="Arial" pitchFamily="34" charset="0"/>
                <a:ea typeface="Arial" pitchFamily="34" charset="-122"/>
                <a:cs typeface="Arial" pitchFamily="34" charset="-120"/>
              </a:rPr>
              <a:t>PROMPT</a:t>
            </a:r>
            <a:pPr algn="l" indent="0" marL="0">
              <a:buNone/>
            </a:pPr>
            <a:r>
              <a:rPr lang="en-US" sz="900" b="1" dirty="0">
                <a:solidFill>
                  <a:srgbClr val="818B98"/>
                </a:solidFill>
                <a:latin typeface="Arial" pitchFamily="34" charset="0"/>
                <a:ea typeface="Arial" pitchFamily="34" charset="-122"/>
                <a:cs typeface="Arial" pitchFamily="34" charset="-120"/>
              </a:rPr>
              <a:t> · ABRIDGED</a:t>
            </a:r>
            <a:endParaRPr lang="en-US" sz="900" dirty="0"/>
          </a:p>
        </p:txBody>
      </p:sp>
      <p:sp>
        <p:nvSpPr>
          <p:cNvPr id="14" name="Text 10"/>
          <p:cNvSpPr/>
          <p:nvPr/>
        </p:nvSpPr>
        <p:spPr>
          <a:xfrm>
            <a:off x="945952" y="2202061"/>
            <a:ext cx="7445413" cy="730448"/>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Build the app shell you just planned: create index.html, styles.css, package.json, app.js, weather-api.js, and weather-maps.js as PLAN.md specifies. For this step, build the semantic app shell and responsive visual system only:</a:t>
            </a:r>
            <a:endParaRPr lang="en-US" sz="1350" dirty="0"/>
          </a:p>
        </p:txBody>
      </p:sp>
      <p:sp>
        <p:nvSpPr>
          <p:cNvPr id="15" name="Text 11"/>
          <p:cNvSpPr/>
          <p:nvPr/>
        </p:nvSpPr>
        <p:spPr>
          <a:xfrm>
            <a:off x="996702" y="3077468"/>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16" name="Text 12"/>
          <p:cNvSpPr/>
          <p:nvPr/>
        </p:nvSpPr>
        <p:spPr>
          <a:xfrm>
            <a:off x="1148953" y="2983260"/>
            <a:ext cx="4135160"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header, labeled city search, °C/°F and theme controls</a:t>
            </a:r>
            <a:endParaRPr lang="en-US" sz="1350" dirty="0"/>
          </a:p>
        </p:txBody>
      </p:sp>
      <p:sp>
        <p:nvSpPr>
          <p:cNvPr id="17" name="Text 13"/>
          <p:cNvSpPr/>
          <p:nvPr/>
        </p:nvSpPr>
        <p:spPr>
          <a:xfrm>
            <a:off x="996702" y="3371701"/>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18" name="Text 14"/>
          <p:cNvSpPr/>
          <p:nvPr/>
        </p:nvSpPr>
        <p:spPr>
          <a:xfrm>
            <a:off x="1148953" y="3277493"/>
            <a:ext cx="4393683"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aria-live status region and five realistic placeholder cards</a:t>
            </a:r>
            <a:endParaRPr lang="en-US" sz="1350" dirty="0"/>
          </a:p>
        </p:txBody>
      </p:sp>
      <p:sp>
        <p:nvSpPr>
          <p:cNvPr id="19" name="Text 15"/>
          <p:cNvSpPr/>
          <p:nvPr/>
        </p:nvSpPr>
        <p:spPr>
          <a:xfrm>
            <a:off x="996702" y="3665934"/>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20" name="Text 16"/>
          <p:cNvSpPr/>
          <p:nvPr/>
        </p:nvSpPr>
        <p:spPr>
          <a:xfrm>
            <a:off x="1148953" y="3571726"/>
            <a:ext cx="4491142"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design tokens, visible focus, reduced motion, both themes</a:t>
            </a:r>
            <a:endParaRPr lang="en-US" sz="1350" dirty="0"/>
          </a:p>
        </p:txBody>
      </p:sp>
      <p:sp>
        <p:nvSpPr>
          <p:cNvPr id="21" name="Text 17"/>
          <p:cNvSpPr/>
          <p:nvPr/>
        </p:nvSpPr>
        <p:spPr>
          <a:xfrm>
            <a:off x="945952" y="3865959"/>
            <a:ext cx="7445413" cy="243483"/>
          </a:xfrm>
          <a:prstGeom prst="rect">
            <a:avLst/>
          </a:prstGeom>
          <a:noFill/>
          <a:ln/>
        </p:spPr>
        <p:txBody>
          <a:bodyPr wrap="square" lIns="0" tIns="0" rIns="0" bIns="0" rtlCol="0" anchor="t"/>
          <a:lstStyle/>
          <a:p>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Do not call external APIs yet.</a:t>
            </a:r>
            <a:pPr algn="l" indent="0" marL="0">
              <a:lnSpc>
                <a:spcPts val="1917"/>
              </a:lnSpc>
              <a:buNone/>
            </a:pPr>
            <a:r>
              <a:rPr lang="en-US" sz="1350" dirty="0">
                <a:solidFill>
                  <a:srgbClr val="1F2328"/>
                </a:solidFill>
                <a:latin typeface="Arial" pitchFamily="34" charset="0"/>
                <a:ea typeface="Arial" pitchFamily="34" charset="-122"/>
                <a:cs typeface="Arial" pitchFamily="34" charset="-120"/>
              </a:rPr>
              <a:t> … Log issues to issues.md.</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ADD LIVE WEATHER</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Now make it real</a:t>
            </a:r>
            <a:endParaRPr lang="en-US" sz="2600" dirty="0"/>
          </a:p>
        </p:txBody>
      </p:sp>
      <p:sp>
        <p:nvSpPr>
          <p:cNvPr id="7" name="Text 4"/>
          <p:cNvSpPr/>
          <p:nvPr/>
        </p:nvSpPr>
        <p:spPr>
          <a:xfrm>
            <a:off x="634901" y="1697534"/>
            <a:ext cx="7873901" cy="2675483"/>
          </a:xfrm>
          <a:prstGeom prst="roundRect">
            <a:avLst>
              <a:gd name="adj" fmla="val 3797"/>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702296"/>
            <a:ext cx="7873901" cy="0"/>
          </a:xfrm>
          <a:prstGeom prst="line">
            <a:avLst/>
          </a:prstGeom>
          <a:noFill/>
          <a:ln w="9525">
            <a:solidFill>
              <a:srgbClr val="E0C5FF"/>
            </a:solidFill>
            <a:prstDash val="solid"/>
          </a:ln>
        </p:spPr>
      </p:sp>
      <p:sp>
        <p:nvSpPr>
          <p:cNvPr id="9" name="Shape 6"/>
          <p:cNvSpPr/>
          <p:nvPr/>
        </p:nvSpPr>
        <p:spPr>
          <a:xfrm>
            <a:off x="8504039" y="1697534"/>
            <a:ext cx="0" cy="2675483"/>
          </a:xfrm>
          <a:prstGeom prst="line">
            <a:avLst/>
          </a:prstGeom>
          <a:noFill/>
          <a:ln w="9525">
            <a:solidFill>
              <a:srgbClr val="E0C5FF"/>
            </a:solidFill>
            <a:prstDash val="solid"/>
          </a:ln>
        </p:spPr>
      </p:sp>
      <p:sp>
        <p:nvSpPr>
          <p:cNvPr id="10" name="Shape 7"/>
          <p:cNvSpPr/>
          <p:nvPr/>
        </p:nvSpPr>
        <p:spPr>
          <a:xfrm>
            <a:off x="634901" y="4368254"/>
            <a:ext cx="7873901" cy="0"/>
          </a:xfrm>
          <a:prstGeom prst="line">
            <a:avLst/>
          </a:prstGeom>
          <a:noFill/>
          <a:ln w="9525">
            <a:solidFill>
              <a:srgbClr val="E0C5FF"/>
            </a:solidFill>
            <a:prstDash val="solid"/>
          </a:ln>
        </p:spPr>
      </p:sp>
      <p:sp>
        <p:nvSpPr>
          <p:cNvPr id="11" name="Shape 8"/>
          <p:cNvSpPr/>
          <p:nvPr/>
        </p:nvSpPr>
        <p:spPr>
          <a:xfrm>
            <a:off x="663476" y="1697534"/>
            <a:ext cx="0" cy="267548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1910209"/>
            <a:ext cx="165050" cy="165050"/>
          </a:xfrm>
          <a:prstGeom prst="rect">
            <a:avLst/>
          </a:prstGeom>
        </p:spPr>
      </p:pic>
      <p:sp>
        <p:nvSpPr>
          <p:cNvPr id="13" name="Text 9"/>
          <p:cNvSpPr/>
          <p:nvPr/>
        </p:nvSpPr>
        <p:spPr>
          <a:xfrm>
            <a:off x="1187202" y="1925985"/>
            <a:ext cx="1220054" cy="133350"/>
          </a:xfrm>
          <a:prstGeom prst="rect">
            <a:avLst/>
          </a:prstGeom>
          <a:noFill/>
          <a:ln/>
        </p:spPr>
        <p:txBody>
          <a:bodyPr wrap="square" lIns="0" tIns="0" rIns="0" bIns="0" rtlCol="0" anchor="t"/>
          <a:lstStyle/>
          <a:p>
            <a:pPr algn="l" indent="0" marL="0">
              <a:buNone/>
            </a:pPr>
            <a:r>
              <a:rPr lang="en-US" sz="900" dirty="0">
                <a:solidFill>
                  <a:srgbClr val="8250DF"/>
                </a:solidFill>
                <a:latin typeface="Arial" pitchFamily="34" charset="0"/>
                <a:ea typeface="Arial" pitchFamily="34" charset="-122"/>
                <a:cs typeface="Arial" pitchFamily="34" charset="-120"/>
              </a:rPr>
              <a:t>PROMPT</a:t>
            </a:r>
            <a:pPr algn="l" indent="0" marL="0">
              <a:buNone/>
            </a:pPr>
            <a:r>
              <a:rPr lang="en-US" sz="900" b="1" dirty="0">
                <a:solidFill>
                  <a:srgbClr val="818B98"/>
                </a:solidFill>
                <a:latin typeface="Arial" pitchFamily="34" charset="0"/>
                <a:ea typeface="Arial" pitchFamily="34" charset="-122"/>
                <a:cs typeface="Arial" pitchFamily="34" charset="-120"/>
              </a:rPr>
              <a:t> · ABRIDGED</a:t>
            </a:r>
            <a:endParaRPr lang="en-US" sz="900" dirty="0"/>
          </a:p>
        </p:txBody>
      </p:sp>
      <p:sp>
        <p:nvSpPr>
          <p:cNvPr id="14" name="Text 10"/>
          <p:cNvSpPr/>
          <p:nvPr/>
        </p:nvSpPr>
        <p:spPr>
          <a:xfrm>
            <a:off x="945952" y="2176760"/>
            <a:ext cx="7445413" cy="486966"/>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Read "Primary User Flow," "City Search," "Weather Data," "Weather Code Mapping," "Caching," and "Application States and Resilience" in PLAN.md. Implement the real WeatherView behavior:</a:t>
            </a:r>
            <a:endParaRPr lang="en-US" sz="1350" dirty="0"/>
          </a:p>
        </p:txBody>
      </p:sp>
      <p:sp>
        <p:nvSpPr>
          <p:cNvPr id="15" name="Text 11"/>
          <p:cNvSpPr/>
          <p:nvPr/>
        </p:nvSpPr>
        <p:spPr>
          <a:xfrm>
            <a:off x="996702" y="2808684"/>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16" name="Text 12"/>
          <p:cNvSpPr/>
          <p:nvPr/>
        </p:nvSpPr>
        <p:spPr>
          <a:xfrm>
            <a:off x="1148953" y="2714476"/>
            <a:ext cx="2634570"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geolocation with a Seattle fallback</a:t>
            </a:r>
            <a:endParaRPr lang="en-US" sz="1350" dirty="0"/>
          </a:p>
        </p:txBody>
      </p:sp>
      <p:sp>
        <p:nvSpPr>
          <p:cNvPr id="17" name="Text 13"/>
          <p:cNvSpPr/>
          <p:nvPr/>
        </p:nvSpPr>
        <p:spPr>
          <a:xfrm>
            <a:off x="996702" y="3102918"/>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18" name="Text 14"/>
          <p:cNvSpPr/>
          <p:nvPr/>
        </p:nvSpPr>
        <p:spPr>
          <a:xfrm>
            <a:off x="1148953" y="3008709"/>
            <a:ext cx="3528548"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Open-Meteo city search and five-day forecast</a:t>
            </a:r>
            <a:endParaRPr lang="en-US" sz="1350" dirty="0"/>
          </a:p>
        </p:txBody>
      </p:sp>
      <p:sp>
        <p:nvSpPr>
          <p:cNvPr id="19" name="Text 15"/>
          <p:cNvSpPr/>
          <p:nvPr/>
        </p:nvSpPr>
        <p:spPr>
          <a:xfrm>
            <a:off x="996702" y="3397151"/>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20" name="Text 16"/>
          <p:cNvSpPr/>
          <p:nvPr/>
        </p:nvSpPr>
        <p:spPr>
          <a:xfrm>
            <a:off x="1148953" y="3302943"/>
            <a:ext cx="3995348"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strict payload validation and normalized day objects</a:t>
            </a:r>
            <a:endParaRPr lang="en-US" sz="1350" dirty="0"/>
          </a:p>
        </p:txBody>
      </p:sp>
      <p:sp>
        <p:nvSpPr>
          <p:cNvPr id="21" name="Text 17"/>
          <p:cNvSpPr/>
          <p:nvPr/>
        </p:nvSpPr>
        <p:spPr>
          <a:xfrm>
            <a:off x="996702" y="3691384"/>
            <a:ext cx="50750" cy="50750"/>
          </a:xfrm>
          <a:prstGeom prst="roundRect">
            <a:avLst>
              <a:gd name="adj" fmla="val 1801773"/>
            </a:avLst>
          </a:prstGeom>
          <a:solidFill>
            <a:srgbClr val="8250DF"/>
          </a:solidFill>
          <a:ln/>
        </p:spPr>
        <p:txBody>
          <a:bodyPr wrap="square" rtlCol="0" anchor="ctr"/>
          <a:lstStyle/>
          <a:p>
            <a:pPr indent="0" marL="0">
              <a:buNone/>
            </a:pPr>
            <a:endParaRPr lang="en-US" dirty="0"/>
          </a:p>
        </p:txBody>
      </p:sp>
      <p:sp>
        <p:nvSpPr>
          <p:cNvPr id="22" name="Text 18"/>
          <p:cNvSpPr/>
          <p:nvPr/>
        </p:nvSpPr>
        <p:spPr>
          <a:xfrm>
            <a:off x="1148953" y="3597176"/>
            <a:ext cx="5093199" cy="243483"/>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loading, no-result, malformed-data, network-error, and retry states</a:t>
            </a:r>
            <a:endParaRPr lang="en-US" sz="1350" dirty="0"/>
          </a:p>
        </p:txBody>
      </p:sp>
      <p:sp>
        <p:nvSpPr>
          <p:cNvPr id="23" name="Text 19"/>
          <p:cNvSpPr/>
          <p:nvPr/>
        </p:nvSpPr>
        <p:spPr>
          <a:xfrm>
            <a:off x="945952" y="3891409"/>
            <a:ext cx="7445413" cy="243483"/>
          </a:xfrm>
          <a:prstGeom prst="rect">
            <a:avLst/>
          </a:prstGeom>
          <a:noFill/>
          <a:ln/>
        </p:spPr>
        <p:txBody>
          <a:bodyPr wrap="square" lIns="0" tIns="0" rIns="0" bIns="0" rtlCol="0" anchor="t"/>
          <a:lstStyle/>
          <a:p>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Keep the previous successful forecast visible when a search fails.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KEY IDEA</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Validate at the boundary</a:t>
            </a:r>
            <a:endParaRPr lang="en-US" sz="2600" dirty="0"/>
          </a:p>
        </p:txBody>
      </p:sp>
      <p:sp>
        <p:nvSpPr>
          <p:cNvPr id="7" name="Text 4"/>
          <p:cNvSpPr/>
          <p:nvPr/>
        </p:nvSpPr>
        <p:spPr>
          <a:xfrm>
            <a:off x="482501" y="980777"/>
            <a:ext cx="7772400" cy="228600"/>
          </a:xfrm>
          <a:prstGeom prst="rect">
            <a:avLst/>
          </a:prstGeom>
          <a:noFill/>
          <a:ln/>
        </p:spPr>
        <p:txBody>
          <a:bodyPr wrap="square" lIns="0" tIns="0" rIns="0" bIns="0" rtlCol="0" anchor="t"/>
          <a:lstStyle/>
          <a:p>
            <a:pPr algn="l" indent="0" marL="0">
              <a:lnSpc>
                <a:spcPts val="1800"/>
              </a:lnSpc>
              <a:spcBef>
                <a:spcPts val="500"/>
              </a:spcBef>
              <a:buNone/>
            </a:pPr>
            <a:r>
              <a:rPr lang="en-US" sz="1400" dirty="0">
                <a:solidFill>
                  <a:srgbClr val="59636E"/>
                </a:solidFill>
                <a:latin typeface="Arial" pitchFamily="34" charset="0"/>
                <a:ea typeface="Arial" pitchFamily="34" charset="-122"/>
                <a:cs typeface="Arial" pitchFamily="34" charset="-120"/>
              </a:rPr>
              <a:t>Bad data never reaches the UI. The last good forecast stays.</a:t>
            </a:r>
            <a:endParaRPr lang="en-US" sz="1400" dirty="0"/>
          </a:p>
        </p:txBody>
      </p:sp>
      <p:pic>
        <p:nvPicPr>
          <p:cNvPr id="8" name="Image 1" descr="/Users/danwahlin/.copilot/session-state/a2da67da-2d7a-45f2-aa6a-2a42a7b82a72/files/build/img/weather-normalization-boundary.png">    </p:cNvPr>
          <p:cNvPicPr>
            <a:picLocks noChangeAspect="1"/>
          </p:cNvPicPr>
          <p:nvPr/>
        </p:nvPicPr>
        <p:blipFill>
          <a:blip r:embed="rId2"/>
          <a:stretch>
            <a:fillRect/>
          </a:stretch>
        </p:blipFill>
        <p:spPr>
          <a:xfrm>
            <a:off x="1790551" y="1549301"/>
            <a:ext cx="5562600" cy="31749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SAFE EXPERIMENTS</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Try anything. Rewind it.</a:t>
            </a:r>
            <a:endParaRPr lang="en-US" sz="2600" dirty="0"/>
          </a:p>
        </p:txBody>
      </p:sp>
      <p:sp>
        <p:nvSpPr>
          <p:cNvPr id="7" name="Text 4"/>
          <p:cNvSpPr/>
          <p:nvPr/>
        </p:nvSpPr>
        <p:spPr>
          <a:xfrm>
            <a:off x="738039" y="2238821"/>
            <a:ext cx="4825901" cy="1541711"/>
          </a:xfrm>
          <a:prstGeom prst="roundRect">
            <a:avLst>
              <a:gd name="adj" fmla="val 6590"/>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738039" y="2243584"/>
            <a:ext cx="4825901" cy="0"/>
          </a:xfrm>
          <a:prstGeom prst="line">
            <a:avLst/>
          </a:prstGeom>
          <a:noFill/>
          <a:ln w="9525">
            <a:solidFill>
              <a:srgbClr val="E0C5FF"/>
            </a:solidFill>
            <a:prstDash val="solid"/>
          </a:ln>
        </p:spPr>
      </p:sp>
      <p:sp>
        <p:nvSpPr>
          <p:cNvPr id="9" name="Shape 6"/>
          <p:cNvSpPr/>
          <p:nvPr/>
        </p:nvSpPr>
        <p:spPr>
          <a:xfrm>
            <a:off x="5559177" y="2238821"/>
            <a:ext cx="0" cy="1541711"/>
          </a:xfrm>
          <a:prstGeom prst="line">
            <a:avLst/>
          </a:prstGeom>
          <a:noFill/>
          <a:ln w="9525">
            <a:solidFill>
              <a:srgbClr val="E0C5FF"/>
            </a:solidFill>
            <a:prstDash val="solid"/>
          </a:ln>
        </p:spPr>
      </p:sp>
      <p:sp>
        <p:nvSpPr>
          <p:cNvPr id="10" name="Shape 7"/>
          <p:cNvSpPr/>
          <p:nvPr/>
        </p:nvSpPr>
        <p:spPr>
          <a:xfrm>
            <a:off x="738039" y="3775770"/>
            <a:ext cx="4825901" cy="0"/>
          </a:xfrm>
          <a:prstGeom prst="line">
            <a:avLst/>
          </a:prstGeom>
          <a:noFill/>
          <a:ln w="9525">
            <a:solidFill>
              <a:srgbClr val="E0C5FF"/>
            </a:solidFill>
            <a:prstDash val="solid"/>
          </a:ln>
        </p:spPr>
      </p:sp>
      <p:sp>
        <p:nvSpPr>
          <p:cNvPr id="11" name="Shape 8"/>
          <p:cNvSpPr/>
          <p:nvPr/>
        </p:nvSpPr>
        <p:spPr>
          <a:xfrm>
            <a:off x="766614" y="2238821"/>
            <a:ext cx="0" cy="1541711"/>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1049089" y="2451497"/>
            <a:ext cx="165050" cy="165050"/>
          </a:xfrm>
          <a:prstGeom prst="rect">
            <a:avLst/>
          </a:prstGeom>
        </p:spPr>
      </p:pic>
      <p:sp>
        <p:nvSpPr>
          <p:cNvPr id="13" name="Text 9"/>
          <p:cNvSpPr/>
          <p:nvPr/>
        </p:nvSpPr>
        <p:spPr>
          <a:xfrm>
            <a:off x="1290340" y="2467273"/>
            <a:ext cx="498830" cy="133350"/>
          </a:xfrm>
          <a:prstGeom prst="rect">
            <a:avLst/>
          </a:prstGeom>
          <a:noFill/>
          <a:ln/>
        </p:spPr>
        <p:txBody>
          <a:bodyPr wrap="square" lIns="0" tIns="0" rIns="0" bIns="0" rtlCol="0" anchor="t"/>
          <a:lstStyle/>
          <a:p>
            <a:pPr algn="l" indent="0" marL="0">
              <a:buNone/>
            </a:pPr>
            <a:r>
              <a:rPr lang="en-US" sz="900" b="1" dirty="0">
                <a:solidFill>
                  <a:srgbClr val="8250DF"/>
                </a:solidFill>
                <a:latin typeface="Arial" pitchFamily="34" charset="0"/>
                <a:ea typeface="Arial" pitchFamily="34" charset="-122"/>
                <a:cs typeface="Arial" pitchFamily="34" charset="-120"/>
              </a:rPr>
              <a:t>PROMPT</a:t>
            </a:r>
            <a:endParaRPr lang="en-US" sz="900" dirty="0"/>
          </a:p>
        </p:txBody>
      </p:sp>
      <p:sp>
        <p:nvSpPr>
          <p:cNvPr id="14" name="Text 10"/>
          <p:cNvSpPr/>
          <p:nvPr/>
        </p:nvSpPr>
        <p:spPr>
          <a:xfrm>
            <a:off x="1049089" y="2730698"/>
            <a:ext cx="4336453" cy="811709"/>
          </a:xfrm>
          <a:prstGeom prst="rect">
            <a:avLst/>
          </a:prstGeom>
          <a:noFill/>
          <a:ln/>
        </p:spPr>
        <p:txBody>
          <a:bodyPr wrap="square" lIns="0" tIns="0" rIns="0" bIns="0" rtlCol="0" anchor="t"/>
          <a:lstStyle/>
          <a:p>
            <a:pPr algn="l" indent="0" marL="0">
              <a:lnSpc>
                <a:spcPts val="2130"/>
              </a:lnSpc>
              <a:buNone/>
            </a:pPr>
            <a:r>
              <a:rPr lang="en-US" sz="1500" dirty="0">
                <a:solidFill>
                  <a:srgbClr val="1F2328"/>
                </a:solidFill>
                <a:latin typeface="Arial" pitchFamily="34" charset="0"/>
                <a:ea typeface="Arial" pitchFamily="34" charset="-122"/>
                <a:cs typeface="Arial" pitchFamily="34" charset="-120"/>
              </a:rPr>
              <a:t>Replace the five forecast cards with a single horizontal carousel that shows one day at a time. This is a </a:t>
            </a:r>
            <a:pPr algn="l" indent="0" marL="0">
              <a:lnSpc>
                <a:spcPts val="2130"/>
              </a:lnSpc>
              <a:buNone/>
            </a:pPr>
            <a:r>
              <a:rPr lang="en-US" sz="1500" b="1" dirty="0">
                <a:solidFill>
                  <a:srgbClr val="1F2328"/>
                </a:solidFill>
                <a:latin typeface="Arial" pitchFamily="34" charset="0"/>
                <a:ea typeface="Arial" pitchFamily="34" charset="-122"/>
                <a:cs typeface="Arial" pitchFamily="34" charset="-120"/>
              </a:rPr>
              <a:t>throwaway experiment</a:t>
            </a:r>
            <a:pPr algn="l" indent="0" marL="0">
              <a:lnSpc>
                <a:spcPts val="2130"/>
              </a:lnSpc>
              <a:buNone/>
            </a:pPr>
            <a:r>
              <a:rPr lang="en-US" sz="1500" dirty="0">
                <a:solidFill>
                  <a:srgbClr val="1F2328"/>
                </a:solidFill>
                <a:latin typeface="Arial" pitchFamily="34" charset="0"/>
                <a:ea typeface="Arial" pitchFamily="34" charset="-122"/>
                <a:cs typeface="Arial" pitchFamily="34" charset="-120"/>
              </a:rPr>
              <a:t> that I'll undo.</a:t>
            </a:r>
            <a:endParaRPr lang="en-US" sz="1500" dirty="0"/>
          </a:p>
        </p:txBody>
      </p:sp>
      <p:sp>
        <p:nvSpPr>
          <p:cNvPr id="15" name="Text 11"/>
          <p:cNvSpPr/>
          <p:nvPr/>
        </p:nvSpPr>
        <p:spPr>
          <a:xfrm>
            <a:off x="5894040" y="2823865"/>
            <a:ext cx="336855" cy="371475"/>
          </a:xfrm>
          <a:prstGeom prst="rect">
            <a:avLst/>
          </a:prstGeom>
          <a:noFill/>
          <a:ln/>
        </p:spPr>
        <p:txBody>
          <a:bodyPr wrap="square" lIns="0" tIns="0" rIns="0" bIns="0" rtlCol="0" anchor="t"/>
          <a:lstStyle/>
          <a:p>
            <a:pPr algn="l" indent="0" marL="0">
              <a:buNone/>
            </a:pPr>
            <a:r>
              <a:rPr lang="en-US" sz="2600" dirty="0">
                <a:solidFill>
                  <a:srgbClr val="818B98"/>
                </a:solidFill>
                <a:latin typeface="Arial" pitchFamily="34" charset="0"/>
                <a:ea typeface="Arial" pitchFamily="34" charset="-122"/>
                <a:cs typeface="Arial" pitchFamily="34" charset="-120"/>
              </a:rPr>
              <a:t>→</a:t>
            </a:r>
            <a:endParaRPr lang="en-US" sz="2600" dirty="0"/>
          </a:p>
        </p:txBody>
      </p:sp>
      <p:sp>
        <p:nvSpPr>
          <p:cNvPr id="16" name="Text 12"/>
          <p:cNvSpPr/>
          <p:nvPr/>
        </p:nvSpPr>
        <p:spPr>
          <a:xfrm>
            <a:off x="7035403" y="2204889"/>
            <a:ext cx="888950" cy="888950"/>
          </a:xfrm>
          <a:prstGeom prst="roundRect">
            <a:avLst>
              <a:gd name="adj" fmla="val 8572"/>
            </a:avLst>
          </a:prstGeom>
          <a:solidFill>
            <a:srgbClr val="DDF4FF"/>
          </a:solidFill>
          <a:ln/>
        </p:spPr>
        <p:txBody>
          <a:bodyPr wrap="square" rtlCol="0" anchor="ctr"/>
          <a:lstStyle/>
          <a:p>
            <a:pPr indent="0" marL="0">
              <a:buNone/>
            </a:pPr>
            <a:endParaRPr lang="en-US" dirty="0"/>
          </a:p>
        </p:txBody>
      </p:sp>
      <p:pic>
        <p:nvPicPr>
          <p:cNvPr id="17" name="Image 2" descr="/Users/danwahlin/.copilot/session-state/a2da67da-2d7a-45f2-aa6a-2a42a7b82a72/files/build/icons/GoHistory-0969DA.png">    </p:cNvPr>
          <p:cNvPicPr>
            <a:picLocks noChangeAspect="1"/>
          </p:cNvPicPr>
          <p:nvPr/>
        </p:nvPicPr>
        <p:blipFill>
          <a:blip r:embed="rId3"/>
          <a:stretch>
            <a:fillRect/>
          </a:stretch>
        </p:blipFill>
        <p:spPr>
          <a:xfrm>
            <a:off x="7232154" y="2401639"/>
            <a:ext cx="495300" cy="495300"/>
          </a:xfrm>
          <a:prstGeom prst="rect">
            <a:avLst/>
          </a:prstGeom>
        </p:spPr>
      </p:pic>
      <p:sp>
        <p:nvSpPr>
          <p:cNvPr id="18" name="Text 13"/>
          <p:cNvSpPr/>
          <p:nvPr/>
        </p:nvSpPr>
        <p:spPr>
          <a:xfrm>
            <a:off x="6893123" y="3220789"/>
            <a:ext cx="1197132" cy="314325"/>
          </a:xfrm>
          <a:prstGeom prst="rect">
            <a:avLst/>
          </a:prstGeom>
          <a:noFill/>
          <a:ln/>
        </p:spPr>
        <p:txBody>
          <a:bodyPr wrap="square" lIns="0" tIns="0" rIns="0" bIns="0" rtlCol="0" anchor="t"/>
          <a:lstStyle/>
          <a:p>
            <a:pPr algn="l" indent="0" marL="0">
              <a:buNone/>
            </a:pPr>
            <a:r>
              <a:rPr lang="en-US" sz="2200" b="1" dirty="0">
                <a:solidFill>
                  <a:srgbClr val="0969DA"/>
                </a:solidFill>
                <a:latin typeface="Courier New" pitchFamily="34" charset="0"/>
                <a:ea typeface="Courier New" pitchFamily="34" charset="-122"/>
                <a:cs typeface="Courier New" pitchFamily="34" charset="-120"/>
              </a:rPr>
              <a:t>/rewind</a:t>
            </a:r>
            <a:endParaRPr lang="en-US" sz="2200" dirty="0"/>
          </a:p>
        </p:txBody>
      </p:sp>
      <p:sp>
        <p:nvSpPr>
          <p:cNvPr id="19" name="Text 14"/>
          <p:cNvSpPr/>
          <p:nvPr/>
        </p:nvSpPr>
        <p:spPr>
          <a:xfrm>
            <a:off x="6535879" y="3662065"/>
            <a:ext cx="1888147" cy="152400"/>
          </a:xfrm>
          <a:prstGeom prst="rect">
            <a:avLst/>
          </a:prstGeom>
          <a:noFill/>
          <a:ln/>
        </p:spPr>
        <p:txBody>
          <a:bodyPr wrap="square" lIns="0" tIns="0" rIns="0" bIns="0" rtlCol="0" anchor="t"/>
          <a:lstStyle/>
          <a:p>
            <a:pPr algn="ctr" indent="0" marL="0">
              <a:buNone/>
            </a:pPr>
            <a:r>
              <a:rPr lang="en-US" sz="1100" dirty="0">
                <a:solidFill>
                  <a:srgbClr val="59636E"/>
                </a:solidFill>
                <a:latin typeface="Arial" pitchFamily="34" charset="0"/>
                <a:ea typeface="Arial" pitchFamily="34" charset="-122"/>
                <a:cs typeface="Arial" pitchFamily="34" charset="-120"/>
              </a:rPr>
              <a:t>Choose </a:t>
            </a:r>
            <a:pPr algn="ctr" indent="0" marL="0">
              <a:buNone/>
            </a:pPr>
            <a:r>
              <a:rPr lang="en-US" sz="1100" b="1" dirty="0">
                <a:solidFill>
                  <a:srgbClr val="59636E"/>
                </a:solidFill>
                <a:latin typeface="Arial" pitchFamily="34" charset="0"/>
                <a:ea typeface="Arial" pitchFamily="34" charset="-122"/>
                <a:cs typeface="Arial" pitchFamily="34" charset="-120"/>
              </a:rPr>
              <a:t>Conversation + files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8250DF"/>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8250DF"/>
                </a:solidFill>
                <a:latin typeface="Arial" pitchFamily="34" charset="0"/>
                <a:ea typeface="Arial" pitchFamily="34" charset="-122"/>
                <a:cs typeface="Arial" pitchFamily="34" charset="-120"/>
              </a:rPr>
              <a:t>02</a:t>
            </a:r>
            <a:endParaRPr lang="en-US" sz="6400" dirty="0"/>
          </a:p>
        </p:txBody>
      </p:sp>
      <p:sp>
        <p:nvSpPr>
          <p:cNvPr id="7" name="Text 4"/>
          <p:cNvSpPr/>
          <p:nvPr/>
        </p:nvSpPr>
        <p:spPr>
          <a:xfrm>
            <a:off x="558701" y="1828651"/>
            <a:ext cx="3886200" cy="142875"/>
          </a:xfrm>
          <a:prstGeom prst="rect">
            <a:avLst/>
          </a:prstGeom>
          <a:noFill/>
          <a:ln/>
        </p:spPr>
        <p:txBody>
          <a:bodyPr wrap="square" lIns="0" tIns="0" rIns="0" bIns="0" rtlCol="0" anchor="t"/>
          <a:lstStyle/>
          <a:p>
            <a:pPr algn="l" indent="0" marL="0">
              <a:spcBef>
                <a:spcPts val="800"/>
              </a:spcBef>
              <a:buNone/>
            </a:pPr>
            <a:r>
              <a:rPr lang="en-US" sz="1000" b="1" dirty="0">
                <a:solidFill>
                  <a:srgbClr val="59636E"/>
                </a:solidFill>
                <a:latin typeface="Arial" pitchFamily="34" charset="0"/>
                <a:ea typeface="Arial" pitchFamily="34" charset="-122"/>
                <a:cs typeface="Arial" pitchFamily="34" charset="-120"/>
              </a:rPr>
              <a:t>SECTION 2 OF 3</a:t>
            </a:r>
            <a:endParaRPr lang="en-US" sz="1000" dirty="0"/>
          </a:p>
        </p:txBody>
      </p:sp>
      <p:sp>
        <p:nvSpPr>
          <p:cNvPr id="8" name="Text 5"/>
          <p:cNvSpPr/>
          <p:nvPr/>
        </p:nvSpPr>
        <p:spPr>
          <a:xfrm>
            <a:off x="558701" y="2034927"/>
            <a:ext cx="3886200" cy="444550"/>
          </a:xfrm>
          <a:prstGeom prst="rect">
            <a:avLst/>
          </a:prstGeom>
          <a:noFill/>
          <a:ln/>
        </p:spPr>
        <p:txBody>
          <a:bodyPr wrap="square" lIns="0" tIns="0" rIns="0" bIns="0" rtlCol="0" anchor="t"/>
          <a:lstStyle/>
          <a:p>
            <a:pPr algn="l" indent="0" marL="0">
              <a:lnSpc>
                <a:spcPts val="3500"/>
              </a:lnSpc>
              <a:spcBef>
                <a:spcPts val="500"/>
              </a:spcBef>
              <a:buNone/>
            </a:pPr>
            <a:r>
              <a:rPr lang="en-US" sz="3000" b="1" dirty="0">
                <a:solidFill>
                  <a:srgbClr val="1F2328"/>
                </a:solidFill>
                <a:latin typeface="Arial" pitchFamily="34" charset="0"/>
                <a:ea typeface="Arial" pitchFamily="34" charset="-122"/>
                <a:cs typeface="Arial" pitchFamily="34" charset="-120"/>
              </a:rPr>
              <a:t>Test and verify</a:t>
            </a:r>
            <a:endParaRPr lang="en-US" sz="3000" dirty="0"/>
          </a:p>
        </p:txBody>
      </p:sp>
      <p:sp>
        <p:nvSpPr>
          <p:cNvPr id="9" name="Text 6"/>
          <p:cNvSpPr/>
          <p:nvPr/>
        </p:nvSpPr>
        <p:spPr>
          <a:xfrm>
            <a:off x="558701" y="2606427"/>
            <a:ext cx="3886200" cy="482501"/>
          </a:xfrm>
          <a:prstGeom prst="rect">
            <a:avLst/>
          </a:prstGeom>
          <a:noFill/>
          <a:ln/>
        </p:spPr>
        <p:txBody>
          <a:bodyPr wrap="square" lIns="0" tIns="0" rIns="0" bIns="0" rtlCol="0" anchor="t"/>
          <a:lstStyle/>
          <a:p>
            <a:pPr algn="l" indent="0" marL="0">
              <a:lnSpc>
                <a:spcPts val="1900"/>
              </a:lnSpc>
              <a:spcBef>
                <a:spcPts val="1000"/>
              </a:spcBef>
              <a:buNone/>
            </a:pPr>
            <a:r>
              <a:rPr lang="en-US" sz="1400" dirty="0">
                <a:solidFill>
                  <a:srgbClr val="59636E"/>
                </a:solidFill>
                <a:latin typeface="Arial" pitchFamily="34" charset="0"/>
                <a:ea typeface="Arial" pitchFamily="34" charset="-122"/>
                <a:cs typeface="Arial" pitchFamily="34" charset="-120"/>
              </a:rPr>
              <a:t>A confident answer is not proof. Tests and a verifier turn the plan into evidence.</a:t>
            </a:r>
            <a:endParaRPr lang="en-US" sz="1400" dirty="0"/>
          </a:p>
        </p:txBody>
      </p:sp>
      <p:sp>
        <p:nvSpPr>
          <p:cNvPr id="10" name="Text 7"/>
          <p:cNvSpPr/>
          <p:nvPr/>
        </p:nvSpPr>
        <p:spPr>
          <a:xfrm>
            <a:off x="5486400" y="914400"/>
            <a:ext cx="2793950" cy="2793950"/>
          </a:xfrm>
          <a:prstGeom prst="roundRect">
            <a:avLst>
              <a:gd name="adj" fmla="val 32728"/>
            </a:avLst>
          </a:prstGeom>
          <a:solidFill>
            <a:srgbClr val="FBEFFF"/>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Beaker-8250DF.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1270099"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0833"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1</a:t>
            </a:r>
            <a:endParaRPr lang="en-US" sz="800" dirty="0"/>
          </a:p>
        </p:txBody>
      </p:sp>
      <p:sp>
        <p:nvSpPr>
          <p:cNvPr id="15" name="Text 11"/>
          <p:cNvSpPr/>
          <p:nvPr/>
        </p:nvSpPr>
        <p:spPr>
          <a:xfrm>
            <a:off x="911126" y="4470202"/>
            <a:ext cx="796823"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Plan and build</a:t>
            </a:r>
            <a:endParaRPr lang="en-US" sz="900" dirty="0"/>
          </a:p>
        </p:txBody>
      </p:sp>
      <p:sp>
        <p:nvSpPr>
          <p:cNvPr id="16" name="Text 12"/>
          <p:cNvSpPr/>
          <p:nvPr/>
        </p:nvSpPr>
        <p:spPr>
          <a:xfrm>
            <a:off x="1930301" y="4368701"/>
            <a:ext cx="1287214" cy="336352"/>
          </a:xfrm>
          <a:prstGeom prst="roundRect">
            <a:avLst>
              <a:gd name="adj" fmla="val 52861"/>
            </a:avLst>
          </a:prstGeom>
          <a:solidFill>
            <a:srgbClr val="8250DF"/>
          </a:solidFill>
          <a:ln w="9525">
            <a:solidFill>
              <a:srgbClr val="8250DF"/>
            </a:solidFill>
          </a:ln>
        </p:spPr>
        <p:txBody>
          <a:bodyPr wrap="square" rtlCol="0" anchor="ctr"/>
          <a:lstStyle/>
          <a:p>
            <a:pPr indent="0" marL="0">
              <a:buNone/>
            </a:pPr>
            <a:endParaRPr lang="en-US" dirty="0"/>
          </a:p>
        </p:txBody>
      </p:sp>
      <p:sp>
        <p:nvSpPr>
          <p:cNvPr id="17" name="Text 13"/>
          <p:cNvSpPr/>
          <p:nvPr/>
        </p:nvSpPr>
        <p:spPr>
          <a:xfrm>
            <a:off x="2016026" y="4441627"/>
            <a:ext cx="190500" cy="190500"/>
          </a:xfrm>
          <a:prstGeom prst="roundRect">
            <a:avLst>
              <a:gd name="adj" fmla="val 480000"/>
            </a:avLst>
          </a:prstGeom>
          <a:solidFill>
            <a:srgbClr val="FFFFFF"/>
          </a:solidFill>
          <a:ln/>
        </p:spPr>
        <p:txBody>
          <a:bodyPr wrap="square" rtlCol="0" anchor="ctr"/>
          <a:lstStyle/>
          <a:p>
            <a:pPr indent="0" marL="0">
              <a:buNone/>
            </a:pPr>
            <a:endParaRPr lang="en-US" dirty="0"/>
          </a:p>
        </p:txBody>
      </p:sp>
      <p:sp>
        <p:nvSpPr>
          <p:cNvPr id="18" name="Text 14"/>
          <p:cNvSpPr/>
          <p:nvPr/>
        </p:nvSpPr>
        <p:spPr>
          <a:xfrm>
            <a:off x="2082433" y="4479727"/>
            <a:ext cx="57686" cy="114300"/>
          </a:xfrm>
          <a:prstGeom prst="rect">
            <a:avLst/>
          </a:prstGeom>
          <a:noFill/>
          <a:ln/>
        </p:spPr>
        <p:txBody>
          <a:bodyPr wrap="square" lIns="0" tIns="0" rIns="0" bIns="0" rtlCol="0" anchor="t"/>
          <a:lstStyle/>
          <a:p>
            <a:pPr algn="ctr" indent="0" marL="0">
              <a:buNone/>
            </a:pPr>
            <a:r>
              <a:rPr lang="en-US" sz="800" b="1" dirty="0">
                <a:solidFill>
                  <a:srgbClr val="8250DF"/>
                </a:solidFill>
                <a:latin typeface="Arial" pitchFamily="34" charset="0"/>
                <a:ea typeface="Arial" pitchFamily="34" charset="-122"/>
                <a:cs typeface="Arial" pitchFamily="34" charset="-120"/>
              </a:rPr>
              <a:t>2</a:t>
            </a:r>
            <a:endParaRPr lang="en-US" sz="800" dirty="0"/>
          </a:p>
        </p:txBody>
      </p:sp>
      <p:sp>
        <p:nvSpPr>
          <p:cNvPr id="19" name="Text 15"/>
          <p:cNvSpPr/>
          <p:nvPr/>
        </p:nvSpPr>
        <p:spPr>
          <a:xfrm>
            <a:off x="2282726" y="4470202"/>
            <a:ext cx="814280"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Test and verify</a:t>
            </a:r>
            <a:endParaRPr lang="en-US" sz="900" dirty="0"/>
          </a:p>
        </p:txBody>
      </p:sp>
      <p:sp>
        <p:nvSpPr>
          <p:cNvPr id="20" name="Text 16"/>
          <p:cNvSpPr/>
          <p:nvPr/>
        </p:nvSpPr>
        <p:spPr>
          <a:xfrm>
            <a:off x="3319016" y="4368701"/>
            <a:ext cx="1354782"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404741"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22" name="Text 18"/>
          <p:cNvSpPr/>
          <p:nvPr/>
        </p:nvSpPr>
        <p:spPr>
          <a:xfrm>
            <a:off x="3471148"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3</a:t>
            </a:r>
            <a:endParaRPr lang="en-US" sz="800" dirty="0"/>
          </a:p>
        </p:txBody>
      </p:sp>
      <p:sp>
        <p:nvSpPr>
          <p:cNvPr id="23" name="Text 19"/>
          <p:cNvSpPr/>
          <p:nvPr/>
        </p:nvSpPr>
        <p:spPr>
          <a:xfrm>
            <a:off x="3671441" y="4470202"/>
            <a:ext cx="88320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Deploy to Azure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LAYERS OF EVIDENCE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Four ways to prove it works</a:t>
            </a:r>
            <a:endParaRPr lang="en-US" sz="2600" dirty="0"/>
          </a:p>
        </p:txBody>
      </p:sp>
      <p:sp>
        <p:nvSpPr>
          <p:cNvPr id="7" name="Text 4"/>
          <p:cNvSpPr/>
          <p:nvPr/>
        </p:nvSpPr>
        <p:spPr>
          <a:xfrm>
            <a:off x="1092101" y="1877764"/>
            <a:ext cx="634901" cy="634901"/>
          </a:xfrm>
          <a:prstGeom prst="roundRect">
            <a:avLst>
              <a:gd name="adj" fmla="val 12002"/>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Beaker-0969DA.png">    </p:cNvPr>
          <p:cNvPicPr>
            <a:picLocks noChangeAspect="1"/>
          </p:cNvPicPr>
          <p:nvPr/>
        </p:nvPicPr>
        <p:blipFill>
          <a:blip r:embed="rId2"/>
          <a:stretch>
            <a:fillRect/>
          </a:stretch>
        </p:blipFill>
        <p:spPr>
          <a:xfrm>
            <a:off x="1231702" y="2017365"/>
            <a:ext cx="355550" cy="355550"/>
          </a:xfrm>
          <a:prstGeom prst="rect">
            <a:avLst/>
          </a:prstGeom>
        </p:spPr>
      </p:pic>
      <p:sp>
        <p:nvSpPr>
          <p:cNvPr id="9" name="Text 5"/>
          <p:cNvSpPr/>
          <p:nvPr/>
        </p:nvSpPr>
        <p:spPr>
          <a:xfrm>
            <a:off x="1025941" y="2614166"/>
            <a:ext cx="767221"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Unit tests</a:t>
            </a:r>
            <a:endParaRPr lang="en-US" sz="1300" dirty="0"/>
          </a:p>
        </p:txBody>
      </p:sp>
      <p:sp>
        <p:nvSpPr>
          <p:cNvPr id="10" name="Text 6"/>
          <p:cNvSpPr/>
          <p:nvPr/>
        </p:nvSpPr>
        <p:spPr>
          <a:xfrm>
            <a:off x="476863" y="2922091"/>
            <a:ext cx="1865376" cy="360164"/>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Node test runner for the pure modules</a:t>
            </a:r>
            <a:endParaRPr lang="en-US" sz="1050" dirty="0"/>
          </a:p>
        </p:txBody>
      </p:sp>
      <p:sp>
        <p:nvSpPr>
          <p:cNvPr id="11" name="Text 7"/>
          <p:cNvSpPr/>
          <p:nvPr/>
        </p:nvSpPr>
        <p:spPr>
          <a:xfrm>
            <a:off x="2359869" y="2076152"/>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2" name="Text 8"/>
          <p:cNvSpPr/>
          <p:nvPr/>
        </p:nvSpPr>
        <p:spPr>
          <a:xfrm>
            <a:off x="3200251" y="1877764"/>
            <a:ext cx="634901" cy="634901"/>
          </a:xfrm>
          <a:prstGeom prst="roundRect">
            <a:avLst>
              <a:gd name="adj" fmla="val 12002"/>
            </a:avLst>
          </a:prstGeom>
          <a:solidFill>
            <a:srgbClr val="FBEFFF"/>
          </a:solidFill>
          <a:ln/>
        </p:spPr>
        <p:txBody>
          <a:bodyPr wrap="square" rtlCol="0" anchor="ctr"/>
          <a:lstStyle/>
          <a:p>
            <a:pPr indent="0" marL="0">
              <a:buNone/>
            </a:pPr>
            <a:endParaRPr lang="en-US" dirty="0"/>
          </a:p>
        </p:txBody>
      </p:sp>
      <p:pic>
        <p:nvPicPr>
          <p:cNvPr id="13" name="Image 2" descr="/Users/danwahlin/.copilot/session-state/a2da67da-2d7a-45f2-aa6a-2a42a7b82a72/files/build/icons/GoBrowser-8250DF.png">    </p:cNvPr>
          <p:cNvPicPr>
            <a:picLocks noChangeAspect="1"/>
          </p:cNvPicPr>
          <p:nvPr/>
        </p:nvPicPr>
        <p:blipFill>
          <a:blip r:embed="rId3"/>
          <a:stretch>
            <a:fillRect/>
          </a:stretch>
        </p:blipFill>
        <p:spPr>
          <a:xfrm>
            <a:off x="3339852" y="2017365"/>
            <a:ext cx="355550" cy="355550"/>
          </a:xfrm>
          <a:prstGeom prst="rect">
            <a:avLst/>
          </a:prstGeom>
        </p:spPr>
      </p:pic>
      <p:sp>
        <p:nvSpPr>
          <p:cNvPr id="14" name="Text 9"/>
          <p:cNvSpPr/>
          <p:nvPr/>
        </p:nvSpPr>
        <p:spPr>
          <a:xfrm>
            <a:off x="2960882" y="2614166"/>
            <a:ext cx="1113639"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Browser tests</a:t>
            </a:r>
            <a:endParaRPr lang="en-US" sz="1300" dirty="0"/>
          </a:p>
        </p:txBody>
      </p:sp>
      <p:sp>
        <p:nvSpPr>
          <p:cNvPr id="15" name="Text 10"/>
          <p:cNvSpPr/>
          <p:nvPr/>
        </p:nvSpPr>
        <p:spPr>
          <a:xfrm>
            <a:off x="2585014" y="2922091"/>
            <a:ext cx="1865376" cy="360164"/>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Playwright with mocked weather</a:t>
            </a:r>
            <a:endParaRPr lang="en-US" sz="1050" dirty="0"/>
          </a:p>
        </p:txBody>
      </p:sp>
      <p:sp>
        <p:nvSpPr>
          <p:cNvPr id="16" name="Text 11"/>
          <p:cNvSpPr/>
          <p:nvPr/>
        </p:nvSpPr>
        <p:spPr>
          <a:xfrm>
            <a:off x="4468020" y="2076152"/>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7" name="Text 12"/>
          <p:cNvSpPr/>
          <p:nvPr/>
        </p:nvSpPr>
        <p:spPr>
          <a:xfrm>
            <a:off x="5308402" y="1877764"/>
            <a:ext cx="634901" cy="634901"/>
          </a:xfrm>
          <a:prstGeom prst="roundRect">
            <a:avLst>
              <a:gd name="adj" fmla="val 12002"/>
            </a:avLst>
          </a:prstGeom>
          <a:solidFill>
            <a:srgbClr val="DAFBE1"/>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Checklist-1A7F37.png">    </p:cNvPr>
          <p:cNvPicPr>
            <a:picLocks noChangeAspect="1"/>
          </p:cNvPicPr>
          <p:nvPr/>
        </p:nvPicPr>
        <p:blipFill>
          <a:blip r:embed="rId4"/>
          <a:stretch>
            <a:fillRect/>
          </a:stretch>
        </p:blipFill>
        <p:spPr>
          <a:xfrm>
            <a:off x="5448002" y="2017365"/>
            <a:ext cx="355550" cy="355550"/>
          </a:xfrm>
          <a:prstGeom prst="rect">
            <a:avLst/>
          </a:prstGeom>
        </p:spPr>
      </p:pic>
      <p:sp>
        <p:nvSpPr>
          <p:cNvPr id="19" name="Text 13"/>
          <p:cNvSpPr/>
          <p:nvPr/>
        </p:nvSpPr>
        <p:spPr>
          <a:xfrm>
            <a:off x="5340307" y="2614166"/>
            <a:ext cx="571089"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Verifier</a:t>
            </a:r>
            <a:endParaRPr lang="en-US" sz="1300" dirty="0"/>
          </a:p>
        </p:txBody>
      </p:sp>
      <p:sp>
        <p:nvSpPr>
          <p:cNvPr id="20" name="Text 14"/>
          <p:cNvSpPr/>
          <p:nvPr/>
        </p:nvSpPr>
        <p:spPr>
          <a:xfrm>
            <a:off x="4987210" y="2922091"/>
            <a:ext cx="1277285" cy="180082"/>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scripts/verify-app.mjs</a:t>
            </a:r>
            <a:endParaRPr lang="en-US" sz="1050" dirty="0"/>
          </a:p>
        </p:txBody>
      </p:sp>
      <p:sp>
        <p:nvSpPr>
          <p:cNvPr id="21" name="Text 15"/>
          <p:cNvSpPr/>
          <p:nvPr/>
        </p:nvSpPr>
        <p:spPr>
          <a:xfrm>
            <a:off x="6576170" y="2076152"/>
            <a:ext cx="207365" cy="238125"/>
          </a:xfrm>
          <a:prstGeom prst="rect">
            <a:avLst/>
          </a:prstGeom>
          <a:noFill/>
          <a:ln/>
        </p:spPr>
        <p:txBody>
          <a:bodyPr wrap="square" lIns="0" tIns="0" rIns="0" bIns="0" rtlCol="0" anchor="t"/>
          <a:lstStyle/>
          <a:p>
            <a:pPr algn="ctr"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22" name="Text 16"/>
          <p:cNvSpPr/>
          <p:nvPr/>
        </p:nvSpPr>
        <p:spPr>
          <a:xfrm>
            <a:off x="7416552" y="1877764"/>
            <a:ext cx="634901" cy="634901"/>
          </a:xfrm>
          <a:prstGeom prst="roundRect">
            <a:avLst>
              <a:gd name="adj" fmla="val 12002"/>
            </a:avLst>
          </a:prstGeom>
          <a:solidFill>
            <a:srgbClr val="FFF1E5"/>
          </a:solidFill>
          <a:ln/>
        </p:spPr>
        <p:txBody>
          <a:bodyPr wrap="square" rtlCol="0" anchor="ctr"/>
          <a:lstStyle/>
          <a:p>
            <a:pPr indent="0" marL="0">
              <a:buNone/>
            </a:pPr>
            <a:endParaRPr lang="en-US" dirty="0"/>
          </a:p>
        </p:txBody>
      </p:sp>
      <p:pic>
        <p:nvPicPr>
          <p:cNvPr id="23" name="Image 4" descr="/Users/danwahlin/.copilot/session-state/a2da67da-2d7a-45f2-aa6a-2a42a7b82a72/files/build/icons/GoCodeReview-BC4C00.png">    </p:cNvPr>
          <p:cNvPicPr>
            <a:picLocks noChangeAspect="1"/>
          </p:cNvPicPr>
          <p:nvPr/>
        </p:nvPicPr>
        <p:blipFill>
          <a:blip r:embed="rId5"/>
          <a:stretch>
            <a:fillRect/>
          </a:stretch>
        </p:blipFill>
        <p:spPr>
          <a:xfrm>
            <a:off x="7556153" y="2017365"/>
            <a:ext cx="355550" cy="355550"/>
          </a:xfrm>
          <a:prstGeom prst="rect">
            <a:avLst/>
          </a:prstGeom>
        </p:spPr>
      </p:pic>
      <p:sp>
        <p:nvSpPr>
          <p:cNvPr id="24" name="Text 17"/>
          <p:cNvSpPr/>
          <p:nvPr/>
        </p:nvSpPr>
        <p:spPr>
          <a:xfrm>
            <a:off x="7448458" y="2614166"/>
            <a:ext cx="571089" cy="206425"/>
          </a:xfrm>
          <a:prstGeom prst="rect">
            <a:avLst/>
          </a:prstGeom>
          <a:noFill/>
          <a:ln/>
        </p:spPr>
        <p:txBody>
          <a:bodyPr wrap="square" lIns="0" tIns="0" rIns="0" bIns="0" rtlCol="0" anchor="t"/>
          <a:lstStyle/>
          <a:p>
            <a:pPr algn="ctr" indent="0" marL="0">
              <a:lnSpc>
                <a:spcPts val="1625"/>
              </a:lnSpc>
              <a:buNone/>
            </a:pPr>
            <a:r>
              <a:rPr lang="en-US" sz="1300" b="1" dirty="0">
                <a:solidFill>
                  <a:srgbClr val="1F2328"/>
                </a:solidFill>
                <a:latin typeface="Arial" pitchFamily="34" charset="0"/>
                <a:ea typeface="Arial" pitchFamily="34" charset="-122"/>
                <a:cs typeface="Arial" pitchFamily="34" charset="-120"/>
              </a:rPr>
              <a:t>/review</a:t>
            </a:r>
            <a:endParaRPr lang="en-US" sz="1300" dirty="0"/>
          </a:p>
        </p:txBody>
      </p:sp>
      <p:sp>
        <p:nvSpPr>
          <p:cNvPr id="25" name="Text 18"/>
          <p:cNvSpPr/>
          <p:nvPr/>
        </p:nvSpPr>
        <p:spPr>
          <a:xfrm>
            <a:off x="6841544" y="2922091"/>
            <a:ext cx="1784768" cy="180082"/>
          </a:xfrm>
          <a:prstGeom prst="rect">
            <a:avLst/>
          </a:prstGeom>
          <a:noFill/>
          <a:ln/>
        </p:spPr>
        <p:txBody>
          <a:bodyPr wrap="square" lIns="0" tIns="0" rIns="0" bIns="0" rtlCol="0" anchor="t"/>
          <a:lstStyle/>
          <a:p>
            <a:pPr algn="ctr" indent="0" marL="0">
              <a:lnSpc>
                <a:spcPts val="1418"/>
              </a:lnSpc>
              <a:buNone/>
            </a:pPr>
            <a:r>
              <a:rPr lang="en-US" sz="1050" dirty="0">
                <a:solidFill>
                  <a:srgbClr val="59636E"/>
                </a:solidFill>
                <a:latin typeface="Arial" pitchFamily="34" charset="0"/>
                <a:ea typeface="Arial" pitchFamily="34" charset="-122"/>
                <a:cs typeface="Arial" pitchFamily="34" charset="-120"/>
              </a:rPr>
              <a:t>A second opinion on the code</a:t>
            </a:r>
            <a:endParaRPr lang="en-US" sz="1050" dirty="0"/>
          </a:p>
        </p:txBody>
      </p:sp>
      <p:sp>
        <p:nvSpPr>
          <p:cNvPr id="26" name="Text 19"/>
          <p:cNvSpPr/>
          <p:nvPr/>
        </p:nvSpPr>
        <p:spPr>
          <a:xfrm>
            <a:off x="2017216" y="3714006"/>
            <a:ext cx="5109270" cy="427732"/>
          </a:xfrm>
          <a:prstGeom prst="roundRect">
            <a:avLst>
              <a:gd name="adj" fmla="val 17815"/>
            </a:avLst>
          </a:prstGeom>
          <a:solidFill>
            <a:srgbClr val="FBEFFF"/>
          </a:solidFill>
          <a:ln w="9525">
            <a:solidFill>
              <a:srgbClr val="E0C5FF"/>
            </a:solidFill>
          </a:ln>
        </p:spPr>
        <p:txBody>
          <a:bodyPr wrap="square" rtlCol="0" anchor="ctr"/>
          <a:lstStyle/>
          <a:p>
            <a:pPr indent="0" marL="0">
              <a:buNone/>
            </a:pPr>
            <a:endParaRPr lang="en-US" dirty="0"/>
          </a:p>
        </p:txBody>
      </p:sp>
      <p:pic>
        <p:nvPicPr>
          <p:cNvPr id="27" name="Image 5" descr="/Users/danwahlin/.copilot/session-state/a2da67da-2d7a-45f2-aa6a-2a42a7b82a72/files/build/icons/GoShieldCheck-8250DF.png">    </p:cNvPr>
          <p:cNvPicPr>
            <a:picLocks noChangeAspect="1"/>
          </p:cNvPicPr>
          <p:nvPr/>
        </p:nvPicPr>
        <p:blipFill>
          <a:blip r:embed="rId6"/>
          <a:stretch>
            <a:fillRect/>
          </a:stretch>
        </p:blipFill>
        <p:spPr>
          <a:xfrm>
            <a:off x="2179141" y="3839021"/>
            <a:ext cx="177701" cy="177701"/>
          </a:xfrm>
          <a:prstGeom prst="rect">
            <a:avLst/>
          </a:prstGeom>
        </p:spPr>
      </p:pic>
      <p:sp>
        <p:nvSpPr>
          <p:cNvPr id="28" name="Text 20"/>
          <p:cNvSpPr/>
          <p:nvPr/>
        </p:nvSpPr>
        <p:spPr>
          <a:xfrm>
            <a:off x="2458343" y="3825032"/>
            <a:ext cx="4596342" cy="205680"/>
          </a:xfrm>
          <a:prstGeom prst="rect">
            <a:avLst/>
          </a:prstGeom>
          <a:noFill/>
          <a:ln/>
        </p:spPr>
        <p:txBody>
          <a:bodyPr wrap="square" lIns="0" tIns="0" rIns="0" bIns="0" rtlCol="0" anchor="t"/>
          <a:lstStyle/>
          <a:p>
            <a:pPr algn="l" indent="0" marL="0">
              <a:lnSpc>
                <a:spcPts val="1620"/>
              </a:lnSpc>
              <a:buNone/>
            </a:pPr>
            <a:r>
              <a:rPr lang="en-US" sz="1200" dirty="0">
                <a:solidFill>
                  <a:srgbClr val="1F2328"/>
                </a:solidFill>
                <a:latin typeface="Arial" pitchFamily="34" charset="0"/>
                <a:ea typeface="Arial" pitchFamily="34" charset="-122"/>
                <a:cs typeface="Arial" pitchFamily="34" charset="-120"/>
              </a:rPr>
              <a:t>Every fix gets a test. </a:t>
            </a:r>
            <a:pPr algn="l" indent="0" marL="0">
              <a:lnSpc>
                <a:spcPts val="1620"/>
              </a:lnSpc>
              <a:buNone/>
            </a:pPr>
            <a:r>
              <a:rPr lang="en-US" sz="1200" b="1" dirty="0">
                <a:solidFill>
                  <a:srgbClr val="1F2328"/>
                </a:solidFill>
                <a:latin typeface="Arial" pitchFamily="34" charset="0"/>
                <a:ea typeface="Arial" pitchFamily="34" charset="-122"/>
                <a:cs typeface="Arial" pitchFamily="34" charset="-120"/>
              </a:rPr>
              <a:t>Never weaken the app to make a test pass.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GENERATE TESTS</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Make the plan testable</a:t>
            </a:r>
            <a:endParaRPr lang="en-US" sz="2600" dirty="0"/>
          </a:p>
        </p:txBody>
      </p:sp>
      <p:sp>
        <p:nvSpPr>
          <p:cNvPr id="7" name="Text 4"/>
          <p:cNvSpPr/>
          <p:nvPr/>
        </p:nvSpPr>
        <p:spPr>
          <a:xfrm>
            <a:off x="634901" y="2067818"/>
            <a:ext cx="7873901" cy="1934766"/>
          </a:xfrm>
          <a:prstGeom prst="roundRect">
            <a:avLst>
              <a:gd name="adj" fmla="val 5251"/>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2072580"/>
            <a:ext cx="7873901" cy="0"/>
          </a:xfrm>
          <a:prstGeom prst="line">
            <a:avLst/>
          </a:prstGeom>
          <a:noFill/>
          <a:ln w="9525">
            <a:solidFill>
              <a:srgbClr val="E0C5FF"/>
            </a:solidFill>
            <a:prstDash val="solid"/>
          </a:ln>
        </p:spPr>
      </p:sp>
      <p:sp>
        <p:nvSpPr>
          <p:cNvPr id="9" name="Shape 6"/>
          <p:cNvSpPr/>
          <p:nvPr/>
        </p:nvSpPr>
        <p:spPr>
          <a:xfrm>
            <a:off x="8504039" y="2067818"/>
            <a:ext cx="0" cy="1934766"/>
          </a:xfrm>
          <a:prstGeom prst="line">
            <a:avLst/>
          </a:prstGeom>
          <a:noFill/>
          <a:ln w="9525">
            <a:solidFill>
              <a:srgbClr val="E0C5FF"/>
            </a:solidFill>
            <a:prstDash val="solid"/>
          </a:ln>
        </p:spPr>
      </p:sp>
      <p:sp>
        <p:nvSpPr>
          <p:cNvPr id="10" name="Shape 7"/>
          <p:cNvSpPr/>
          <p:nvPr/>
        </p:nvSpPr>
        <p:spPr>
          <a:xfrm>
            <a:off x="634901" y="3997821"/>
            <a:ext cx="7873901" cy="0"/>
          </a:xfrm>
          <a:prstGeom prst="line">
            <a:avLst/>
          </a:prstGeom>
          <a:noFill/>
          <a:ln w="9525">
            <a:solidFill>
              <a:srgbClr val="E0C5FF"/>
            </a:solidFill>
            <a:prstDash val="solid"/>
          </a:ln>
        </p:spPr>
      </p:sp>
      <p:sp>
        <p:nvSpPr>
          <p:cNvPr id="11" name="Shape 8"/>
          <p:cNvSpPr/>
          <p:nvPr/>
        </p:nvSpPr>
        <p:spPr>
          <a:xfrm>
            <a:off x="663476" y="2067818"/>
            <a:ext cx="0" cy="1934766"/>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280493"/>
            <a:ext cx="165050" cy="165050"/>
          </a:xfrm>
          <a:prstGeom prst="rect">
            <a:avLst/>
          </a:prstGeom>
        </p:spPr>
      </p:pic>
      <p:sp>
        <p:nvSpPr>
          <p:cNvPr id="13" name="Text 9"/>
          <p:cNvSpPr/>
          <p:nvPr/>
        </p:nvSpPr>
        <p:spPr>
          <a:xfrm>
            <a:off x="1187202" y="2296269"/>
            <a:ext cx="1220054" cy="133350"/>
          </a:xfrm>
          <a:prstGeom prst="rect">
            <a:avLst/>
          </a:prstGeom>
          <a:noFill/>
          <a:ln/>
        </p:spPr>
        <p:txBody>
          <a:bodyPr wrap="square" lIns="0" tIns="0" rIns="0" bIns="0" rtlCol="0" anchor="t"/>
          <a:lstStyle/>
          <a:p>
            <a:pPr algn="l" indent="0" marL="0">
              <a:buNone/>
            </a:pPr>
            <a:r>
              <a:rPr lang="en-US" sz="900" dirty="0">
                <a:solidFill>
                  <a:srgbClr val="8250DF"/>
                </a:solidFill>
                <a:latin typeface="Arial" pitchFamily="34" charset="0"/>
                <a:ea typeface="Arial" pitchFamily="34" charset="-122"/>
                <a:cs typeface="Arial" pitchFamily="34" charset="-120"/>
              </a:rPr>
              <a:t>PROMPT</a:t>
            </a:r>
            <a:pPr algn="l" indent="0" marL="0">
              <a:buNone/>
            </a:pPr>
            <a:r>
              <a:rPr lang="en-US" sz="900" b="1" dirty="0">
                <a:solidFill>
                  <a:srgbClr val="818B98"/>
                </a:solidFill>
                <a:latin typeface="Arial" pitchFamily="34" charset="0"/>
                <a:ea typeface="Arial" pitchFamily="34" charset="-122"/>
                <a:cs typeface="Arial" pitchFamily="34" charset="-120"/>
              </a:rPr>
              <a:t> · ABRIDGED</a:t>
            </a:r>
            <a:endParaRPr lang="en-US" sz="900" dirty="0"/>
          </a:p>
        </p:txBody>
      </p:sp>
      <p:sp>
        <p:nvSpPr>
          <p:cNvPr id="14" name="Text 10"/>
          <p:cNvSpPr/>
          <p:nvPr/>
        </p:nvSpPr>
        <p:spPr>
          <a:xfrm>
            <a:off x="945952" y="2547045"/>
            <a:ext cx="7445413" cy="1217414"/>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Read "Local Tooling and Tests" in PLAN.md. Add tests for every listed behavior. … Browser tests must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mock geolocation and Open-Meteo responses deterministically</a:t>
            </a:r>
            <a:pPr algn="l" indent="0" marL="0">
              <a:lnSpc>
                <a:spcPts val="1917"/>
              </a:lnSpc>
              <a:buNone/>
            </a:pPr>
            <a:r>
              <a:rPr lang="en-US" sz="1350" dirty="0">
                <a:solidFill>
                  <a:srgbClr val="1F2328"/>
                </a:solidFill>
                <a:latin typeface="Arial" pitchFamily="34" charset="0"/>
                <a:ea typeface="Arial" pitchFamily="34" charset="-122"/>
                <a:cs typeface="Arial" pitchFamily="34" charset="-120"/>
              </a:rPr>
              <a:t> for success, no-result, malformed-payload, and network-failure cases. They must assert exactly five cards, city search, unit refetch, preference persistence, retry behavior, accessible names, and visible keyboard focus. …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Do not weaken application behavior to make tests pass.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8250DF"/>
                </a:solidFill>
                <a:latin typeface="Arial" pitchFamily="34" charset="0"/>
                <a:ea typeface="Arial" pitchFamily="34" charset="-122"/>
                <a:cs typeface="Arial" pitchFamily="34" charset="-120"/>
              </a:rPr>
              <a:t>SECOND OPINION</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Review against the plan</a:t>
            </a:r>
            <a:endParaRPr lang="en-US" sz="2600" dirty="0"/>
          </a:p>
        </p:txBody>
      </p:sp>
      <p:sp>
        <p:nvSpPr>
          <p:cNvPr id="7" name="Text 4"/>
          <p:cNvSpPr/>
          <p:nvPr/>
        </p:nvSpPr>
        <p:spPr>
          <a:xfrm>
            <a:off x="634901" y="1790700"/>
            <a:ext cx="7873901" cy="2082850"/>
          </a:xfrm>
          <a:prstGeom prst="roundRect">
            <a:avLst>
              <a:gd name="adj" fmla="val 4878"/>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795462"/>
            <a:ext cx="7873901" cy="0"/>
          </a:xfrm>
          <a:prstGeom prst="line">
            <a:avLst/>
          </a:prstGeom>
          <a:noFill/>
          <a:ln w="9525">
            <a:solidFill>
              <a:srgbClr val="E0C5FF"/>
            </a:solidFill>
            <a:prstDash val="solid"/>
          </a:ln>
        </p:spPr>
      </p:sp>
      <p:sp>
        <p:nvSpPr>
          <p:cNvPr id="9" name="Shape 6"/>
          <p:cNvSpPr/>
          <p:nvPr/>
        </p:nvSpPr>
        <p:spPr>
          <a:xfrm>
            <a:off x="8504039" y="1790700"/>
            <a:ext cx="0" cy="2082850"/>
          </a:xfrm>
          <a:prstGeom prst="line">
            <a:avLst/>
          </a:prstGeom>
          <a:noFill/>
          <a:ln w="9525">
            <a:solidFill>
              <a:srgbClr val="E0C5FF"/>
            </a:solidFill>
            <a:prstDash val="solid"/>
          </a:ln>
        </p:spPr>
      </p:sp>
      <p:sp>
        <p:nvSpPr>
          <p:cNvPr id="10" name="Shape 7"/>
          <p:cNvSpPr/>
          <p:nvPr/>
        </p:nvSpPr>
        <p:spPr>
          <a:xfrm>
            <a:off x="634901" y="3868787"/>
            <a:ext cx="7873901" cy="0"/>
          </a:xfrm>
          <a:prstGeom prst="line">
            <a:avLst/>
          </a:prstGeom>
          <a:noFill/>
          <a:ln w="9525">
            <a:solidFill>
              <a:srgbClr val="E0C5FF"/>
            </a:solidFill>
            <a:prstDash val="solid"/>
          </a:ln>
        </p:spPr>
      </p:sp>
      <p:sp>
        <p:nvSpPr>
          <p:cNvPr id="11" name="Shape 8"/>
          <p:cNvSpPr/>
          <p:nvPr/>
        </p:nvSpPr>
        <p:spPr>
          <a:xfrm>
            <a:off x="663476" y="1790700"/>
            <a:ext cx="0" cy="2082850"/>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003375"/>
            <a:ext cx="165050" cy="165050"/>
          </a:xfrm>
          <a:prstGeom prst="rect">
            <a:avLst/>
          </a:prstGeom>
        </p:spPr>
      </p:pic>
      <p:sp>
        <p:nvSpPr>
          <p:cNvPr id="13" name="Text 9"/>
          <p:cNvSpPr/>
          <p:nvPr/>
        </p:nvSpPr>
        <p:spPr>
          <a:xfrm>
            <a:off x="1187202" y="2019151"/>
            <a:ext cx="498830" cy="133350"/>
          </a:xfrm>
          <a:prstGeom prst="rect">
            <a:avLst/>
          </a:prstGeom>
          <a:noFill/>
          <a:ln/>
        </p:spPr>
        <p:txBody>
          <a:bodyPr wrap="square" lIns="0" tIns="0" rIns="0" bIns="0" rtlCol="0" anchor="t"/>
          <a:lstStyle/>
          <a:p>
            <a:pPr algn="l" indent="0" marL="0">
              <a:buNone/>
            </a:pPr>
            <a:r>
              <a:rPr lang="en-US" sz="900" b="1" dirty="0">
                <a:solidFill>
                  <a:srgbClr val="8250DF"/>
                </a:solidFill>
                <a:latin typeface="Arial" pitchFamily="34" charset="0"/>
                <a:ea typeface="Arial" pitchFamily="34" charset="-122"/>
                <a:cs typeface="Arial" pitchFamily="34" charset="-120"/>
              </a:rPr>
              <a:t>PROMPT</a:t>
            </a:r>
            <a:endParaRPr lang="en-US" sz="900" dirty="0"/>
          </a:p>
        </p:txBody>
      </p:sp>
      <p:sp>
        <p:nvSpPr>
          <p:cNvPr id="14" name="Text 10"/>
          <p:cNvSpPr/>
          <p:nvPr/>
        </p:nvSpPr>
        <p:spPr>
          <a:xfrm>
            <a:off x="945952" y="2282577"/>
            <a:ext cx="7445413" cy="1352848"/>
          </a:xfrm>
          <a:prstGeom prst="rect">
            <a:avLst/>
          </a:prstGeom>
          <a:noFill/>
          <a:ln/>
        </p:spPr>
        <p:txBody>
          <a:bodyPr wrap="square" lIns="0" tIns="0" rIns="0" bIns="0" rtlCol="0" anchor="t"/>
          <a:lstStyle/>
          <a:p>
            <a:pPr algn="l" indent="0" marL="0">
              <a:lnSpc>
                <a:spcPts val="2130"/>
              </a:lnSpc>
              <a:buNone/>
            </a:pPr>
            <a:r>
              <a:rPr lang="en-US" sz="1500" b="1" dirty="0">
                <a:solidFill>
                  <a:srgbClr val="1F2328"/>
                </a:solidFill>
                <a:latin typeface="Arial" pitchFamily="34" charset="0"/>
                <a:ea typeface="Arial" pitchFamily="34" charset="-122"/>
                <a:cs typeface="Arial" pitchFamily="34" charset="-120"/>
              </a:rPr>
              <a:t>/review</a:t>
            </a:r>
            <a:pPr algn="l" indent="0" marL="0">
              <a:lnSpc>
                <a:spcPts val="2130"/>
              </a:lnSpc>
              <a:buNone/>
            </a:pPr>
            <a:r>
              <a:rPr lang="en-US" sz="1500" dirty="0">
                <a:solidFill>
                  <a:srgbClr val="1F2328"/>
                </a:solidFill>
                <a:latin typeface="Arial" pitchFamily="34" charset="0"/>
                <a:ea typeface="Arial" pitchFamily="34" charset="-122"/>
                <a:cs typeface="Arial" pitchFamily="34" charset="-120"/>
              </a:rPr>
              <a:t> Review the completed WeatherView implementation against PLAN.md. Skip the "Azure Deployment" section; Phase 3 builds it. Focus on correctness, accessibility, resilience, performance, browser security, and test gaps. Identify missing or incorrectly implemented requirements with file and line evidence. Do not suggest a framework rewrite.</a:t>
            </a:r>
            <a:endParaRPr lang="en-US" sz="1500" dirty="0"/>
          </a:p>
        </p:txBody>
      </p:sp>
      <p:pic>
        <p:nvPicPr>
          <p:cNvPr id="15" name="Image 2" descr="/Users/danwahlin/.copilot/session-state/a2da67da-2d7a-45f2-aa6a-2a42a7b82a72/files/build/icons/GoEye-8250DF.png">    </p:cNvPr>
          <p:cNvPicPr>
            <a:picLocks noChangeAspect="1"/>
          </p:cNvPicPr>
          <p:nvPr/>
        </p:nvPicPr>
        <p:blipFill>
          <a:blip r:embed="rId3"/>
          <a:stretch>
            <a:fillRect/>
          </a:stretch>
        </p:blipFill>
        <p:spPr>
          <a:xfrm>
            <a:off x="634901" y="4089350"/>
            <a:ext cx="177701" cy="177701"/>
          </a:xfrm>
          <a:prstGeom prst="rect">
            <a:avLst/>
          </a:prstGeom>
        </p:spPr>
      </p:pic>
      <p:sp>
        <p:nvSpPr>
          <p:cNvPr id="16" name="Text 11"/>
          <p:cNvSpPr/>
          <p:nvPr/>
        </p:nvSpPr>
        <p:spPr>
          <a:xfrm>
            <a:off x="914102" y="4076700"/>
            <a:ext cx="5771918" cy="203150"/>
          </a:xfrm>
          <a:prstGeom prst="rect">
            <a:avLst/>
          </a:prstGeom>
          <a:noFill/>
          <a:ln/>
        </p:spPr>
        <p:txBody>
          <a:bodyPr wrap="square" lIns="0" tIns="0" rIns="0" bIns="0" rtlCol="0" anchor="t"/>
          <a:lstStyle/>
          <a:p>
            <a:pPr algn="l" indent="0" marL="0">
              <a:lnSpc>
                <a:spcPts val="1600"/>
              </a:lnSpc>
              <a:buNone/>
            </a:pPr>
            <a:r>
              <a:rPr lang="en-US" sz="1200" dirty="0">
                <a:solidFill>
                  <a:srgbClr val="59636E"/>
                </a:solidFill>
                <a:latin typeface="Arial" pitchFamily="34" charset="0"/>
                <a:ea typeface="Arial" pitchFamily="34" charset="-122"/>
                <a:cs typeface="Arial" pitchFamily="34" charset="-120"/>
              </a:rPr>
              <a:t>Then fix the high-confidence findings, </a:t>
            </a:r>
            <a:pPr algn="l" indent="0" marL="0">
              <a:lnSpc>
                <a:spcPts val="1600"/>
              </a:lnSpc>
              <a:buNone/>
            </a:pPr>
            <a:r>
              <a:rPr lang="en-US" sz="1200" b="1" dirty="0">
                <a:solidFill>
                  <a:srgbClr val="59636E"/>
                </a:solidFill>
                <a:latin typeface="Arial" pitchFamily="34" charset="0"/>
                <a:ea typeface="Arial" pitchFamily="34" charset="-122"/>
                <a:cs typeface="Arial" pitchFamily="34" charset="-120"/>
              </a:rPr>
              <a:t>add a test for each fix</a:t>
            </a:r>
            <a:pPr algn="l" indent="0" marL="0">
              <a:lnSpc>
                <a:spcPts val="1600"/>
              </a:lnSpc>
              <a:buNone/>
            </a:pPr>
            <a:r>
              <a:rPr lang="en-US" sz="1200" dirty="0">
                <a:solidFill>
                  <a:srgbClr val="59636E"/>
                </a:solidFill>
                <a:latin typeface="Arial" pitchFamily="34" charset="0"/>
                <a:ea typeface="Arial" pitchFamily="34" charset="-122"/>
                <a:cs typeface="Arial" pitchFamily="34" charset="-120"/>
              </a:rPr>
              <a:t>, and rerun everything.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1A7F37"/>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1A7F37"/>
                </a:solidFill>
                <a:latin typeface="Arial" pitchFamily="34" charset="0"/>
                <a:ea typeface="Arial" pitchFamily="34" charset="-122"/>
                <a:cs typeface="Arial" pitchFamily="34" charset="-120"/>
              </a:rPr>
              <a:t>03</a:t>
            </a:r>
            <a:endParaRPr lang="en-US" sz="6400" dirty="0"/>
          </a:p>
        </p:txBody>
      </p:sp>
      <p:sp>
        <p:nvSpPr>
          <p:cNvPr id="7" name="Text 4"/>
          <p:cNvSpPr/>
          <p:nvPr/>
        </p:nvSpPr>
        <p:spPr>
          <a:xfrm>
            <a:off x="558701" y="1828651"/>
            <a:ext cx="3886200" cy="142875"/>
          </a:xfrm>
          <a:prstGeom prst="rect">
            <a:avLst/>
          </a:prstGeom>
          <a:noFill/>
          <a:ln/>
        </p:spPr>
        <p:txBody>
          <a:bodyPr wrap="square" lIns="0" tIns="0" rIns="0" bIns="0" rtlCol="0" anchor="t"/>
          <a:lstStyle/>
          <a:p>
            <a:pPr algn="l" indent="0" marL="0">
              <a:spcBef>
                <a:spcPts val="800"/>
              </a:spcBef>
              <a:buNone/>
            </a:pPr>
            <a:r>
              <a:rPr lang="en-US" sz="1000" b="1" dirty="0">
                <a:solidFill>
                  <a:srgbClr val="59636E"/>
                </a:solidFill>
                <a:latin typeface="Arial" pitchFamily="34" charset="0"/>
                <a:ea typeface="Arial" pitchFamily="34" charset="-122"/>
                <a:cs typeface="Arial" pitchFamily="34" charset="-120"/>
              </a:rPr>
              <a:t>SECTION 3 OF 3</a:t>
            </a:r>
            <a:endParaRPr lang="en-US" sz="1000" dirty="0"/>
          </a:p>
        </p:txBody>
      </p:sp>
      <p:sp>
        <p:nvSpPr>
          <p:cNvPr id="8" name="Text 5"/>
          <p:cNvSpPr/>
          <p:nvPr/>
        </p:nvSpPr>
        <p:spPr>
          <a:xfrm>
            <a:off x="558701" y="2034927"/>
            <a:ext cx="3886200" cy="444550"/>
          </a:xfrm>
          <a:prstGeom prst="rect">
            <a:avLst/>
          </a:prstGeom>
          <a:noFill/>
          <a:ln/>
        </p:spPr>
        <p:txBody>
          <a:bodyPr wrap="square" lIns="0" tIns="0" rIns="0" bIns="0" rtlCol="0" anchor="t"/>
          <a:lstStyle/>
          <a:p>
            <a:pPr algn="l" indent="0" marL="0">
              <a:lnSpc>
                <a:spcPts val="3500"/>
              </a:lnSpc>
              <a:spcBef>
                <a:spcPts val="500"/>
              </a:spcBef>
              <a:buNone/>
            </a:pPr>
            <a:r>
              <a:rPr lang="en-US" sz="3000" b="1" dirty="0">
                <a:solidFill>
                  <a:srgbClr val="1F2328"/>
                </a:solidFill>
                <a:latin typeface="Arial" pitchFamily="34" charset="0"/>
                <a:ea typeface="Arial" pitchFamily="34" charset="-122"/>
                <a:cs typeface="Arial" pitchFamily="34" charset="-120"/>
              </a:rPr>
              <a:t>Deploy to Azure</a:t>
            </a:r>
            <a:endParaRPr lang="en-US" sz="3000" dirty="0"/>
          </a:p>
        </p:txBody>
      </p:sp>
      <p:sp>
        <p:nvSpPr>
          <p:cNvPr id="9" name="Text 6"/>
          <p:cNvSpPr/>
          <p:nvPr/>
        </p:nvSpPr>
        <p:spPr>
          <a:xfrm>
            <a:off x="558701" y="2606427"/>
            <a:ext cx="3886200" cy="723751"/>
          </a:xfrm>
          <a:prstGeom prst="rect">
            <a:avLst/>
          </a:prstGeom>
          <a:noFill/>
          <a:ln/>
        </p:spPr>
        <p:txBody>
          <a:bodyPr wrap="square" lIns="0" tIns="0" rIns="0" bIns="0" rtlCol="0" anchor="t"/>
          <a:lstStyle/>
          <a:p>
            <a:pPr algn="l" indent="0" marL="0">
              <a:lnSpc>
                <a:spcPts val="1900"/>
              </a:lnSpc>
              <a:spcBef>
                <a:spcPts val="1000"/>
              </a:spcBef>
              <a:buNone/>
            </a:pPr>
            <a:r>
              <a:rPr lang="en-US" sz="1400" dirty="0">
                <a:solidFill>
                  <a:srgbClr val="59636E"/>
                </a:solidFill>
                <a:latin typeface="Arial" pitchFamily="34" charset="0"/>
                <a:ea typeface="Arial" pitchFamily="34" charset="-122"/>
                <a:cs typeface="Arial" pitchFamily="34" charset="-120"/>
              </a:rPr>
              <a:t>Let the agent write the Bicep, review it before anything is created, then ship with one command.</a:t>
            </a:r>
            <a:endParaRPr lang="en-US" sz="1400" dirty="0"/>
          </a:p>
        </p:txBody>
      </p:sp>
      <p:sp>
        <p:nvSpPr>
          <p:cNvPr id="10" name="Text 7"/>
          <p:cNvSpPr/>
          <p:nvPr/>
        </p:nvSpPr>
        <p:spPr>
          <a:xfrm>
            <a:off x="4854476" y="1283791"/>
            <a:ext cx="3803600" cy="2181820"/>
          </a:xfrm>
          <a:prstGeom prst="roundRect">
            <a:avLst>
              <a:gd name="adj" fmla="val 4657"/>
            </a:avLst>
          </a:prstGeom>
          <a:solidFill>
            <a:srgbClr val="FFFFFF"/>
          </a:solidFill>
          <a:ln w="9525">
            <a:solidFill>
              <a:srgbClr val="D1D9E0"/>
            </a:solidFill>
          </a:ln>
          <a:effectLst>
            <a:outerShdw sx="100000" sy="100000" kx="0" ky="0" algn="bl" rotWithShape="0" blurRad="38100" dist="9525" dir="5400000">
              <a:srgbClr val="1f2328">
                <a:alpha val="14000"/>
              </a:srgbClr>
            </a:outerShdw>
          </a:effectLst>
        </p:spPr>
        <p:txBody>
          <a:bodyPr wrap="square" rtlCol="0" anchor="ctr"/>
          <a:lstStyle/>
          <a:p>
            <a:pPr indent="0" marL="0">
              <a:buNone/>
            </a:pPr>
            <a:endParaRPr lang="en-US" dirty="0"/>
          </a:p>
        </p:txBody>
      </p:sp>
      <p:pic>
        <p:nvPicPr>
          <p:cNvPr id="11" name="Image 1" descr="/Users/danwahlin/.copilot/session-state/a2da67da-2d7a-45f2-aa6a-2a42a7b82a72/files/build/img/weather-weather-view-azure.png">    </p:cNvPr>
          <p:cNvPicPr>
            <a:picLocks noChangeAspect="1"/>
          </p:cNvPicPr>
          <p:nvPr/>
        </p:nvPicPr>
        <p:blipFill>
          <a:blip r:embed="rId2"/>
          <a:stretch>
            <a:fillRect/>
          </a:stretch>
        </p:blipFill>
        <p:spPr>
          <a:xfrm>
            <a:off x="4902101" y="1331416"/>
            <a:ext cx="3708350" cy="2086570"/>
          </a:xfrm>
          <a:prstGeom prst="rect">
            <a:avLst/>
          </a:prstGeom>
        </p:spPr>
      </p:pic>
      <p:sp>
        <p:nvSpPr>
          <p:cNvPr id="12" name="Text 8"/>
          <p:cNvSpPr/>
          <p:nvPr/>
        </p:nvSpPr>
        <p:spPr>
          <a:xfrm>
            <a:off x="558701" y="4368701"/>
            <a:ext cx="1270099"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0833"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1</a:t>
            </a:r>
            <a:endParaRPr lang="en-US" sz="800" dirty="0"/>
          </a:p>
        </p:txBody>
      </p:sp>
      <p:sp>
        <p:nvSpPr>
          <p:cNvPr id="15" name="Text 11"/>
          <p:cNvSpPr/>
          <p:nvPr/>
        </p:nvSpPr>
        <p:spPr>
          <a:xfrm>
            <a:off x="911126" y="4470202"/>
            <a:ext cx="796823"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Plan and build</a:t>
            </a:r>
            <a:endParaRPr lang="en-US" sz="900" dirty="0"/>
          </a:p>
        </p:txBody>
      </p:sp>
      <p:sp>
        <p:nvSpPr>
          <p:cNvPr id="16" name="Text 12"/>
          <p:cNvSpPr/>
          <p:nvPr/>
        </p:nvSpPr>
        <p:spPr>
          <a:xfrm>
            <a:off x="1930301" y="4368701"/>
            <a:ext cx="1287214" cy="336352"/>
          </a:xfrm>
          <a:prstGeom prst="roundRect">
            <a:avLst>
              <a:gd name="adj" fmla="val 52861"/>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2016026" y="4441627"/>
            <a:ext cx="190500" cy="190500"/>
          </a:xfrm>
          <a:prstGeom prst="roundRect">
            <a:avLst>
              <a:gd name="adj" fmla="val 480000"/>
            </a:avLst>
          </a:prstGeom>
          <a:solidFill>
            <a:srgbClr val="F6F8FA"/>
          </a:solidFill>
          <a:ln/>
        </p:spPr>
        <p:txBody>
          <a:bodyPr wrap="square" rtlCol="0" anchor="ctr"/>
          <a:lstStyle/>
          <a:p>
            <a:pPr indent="0" marL="0">
              <a:buNone/>
            </a:pPr>
            <a:endParaRPr lang="en-US" dirty="0"/>
          </a:p>
        </p:txBody>
      </p:sp>
      <p:sp>
        <p:nvSpPr>
          <p:cNvPr id="18" name="Text 14"/>
          <p:cNvSpPr/>
          <p:nvPr/>
        </p:nvSpPr>
        <p:spPr>
          <a:xfrm>
            <a:off x="2082433" y="4479727"/>
            <a:ext cx="57686" cy="114300"/>
          </a:xfrm>
          <a:prstGeom prst="rect">
            <a:avLst/>
          </a:prstGeom>
          <a:noFill/>
          <a:ln/>
        </p:spPr>
        <p:txBody>
          <a:bodyPr wrap="square" lIns="0" tIns="0" rIns="0" bIns="0" rtlCol="0" anchor="t"/>
          <a:lstStyle/>
          <a:p>
            <a:pPr algn="ctr" indent="0" marL="0">
              <a:buNone/>
            </a:pPr>
            <a:r>
              <a:rPr lang="en-US" sz="800" b="1" dirty="0">
                <a:solidFill>
                  <a:srgbClr val="818B98"/>
                </a:solidFill>
                <a:latin typeface="Arial" pitchFamily="34" charset="0"/>
                <a:ea typeface="Arial" pitchFamily="34" charset="-122"/>
                <a:cs typeface="Arial" pitchFamily="34" charset="-120"/>
              </a:rPr>
              <a:t>2</a:t>
            </a:r>
            <a:endParaRPr lang="en-US" sz="800" dirty="0"/>
          </a:p>
        </p:txBody>
      </p:sp>
      <p:sp>
        <p:nvSpPr>
          <p:cNvPr id="19" name="Text 15"/>
          <p:cNvSpPr/>
          <p:nvPr/>
        </p:nvSpPr>
        <p:spPr>
          <a:xfrm>
            <a:off x="2282726" y="4470202"/>
            <a:ext cx="814280" cy="133350"/>
          </a:xfrm>
          <a:prstGeom prst="rect">
            <a:avLst/>
          </a:prstGeom>
          <a:noFill/>
          <a:ln/>
        </p:spPr>
        <p:txBody>
          <a:bodyPr wrap="square" lIns="0" tIns="0" rIns="0" bIns="0" rtlCol="0" anchor="t"/>
          <a:lstStyle/>
          <a:p>
            <a:pPr algn="l" indent="0" marL="0">
              <a:buNone/>
            </a:pPr>
            <a:r>
              <a:rPr lang="en-US" sz="900" b="1" dirty="0">
                <a:solidFill>
                  <a:srgbClr val="818B98"/>
                </a:solidFill>
                <a:latin typeface="Arial" pitchFamily="34" charset="0"/>
                <a:ea typeface="Arial" pitchFamily="34" charset="-122"/>
                <a:cs typeface="Arial" pitchFamily="34" charset="-120"/>
              </a:rPr>
              <a:t>Test and verify</a:t>
            </a:r>
            <a:endParaRPr lang="en-US" sz="900" dirty="0"/>
          </a:p>
        </p:txBody>
      </p:sp>
      <p:sp>
        <p:nvSpPr>
          <p:cNvPr id="20" name="Text 16"/>
          <p:cNvSpPr/>
          <p:nvPr/>
        </p:nvSpPr>
        <p:spPr>
          <a:xfrm>
            <a:off x="3319016" y="4368701"/>
            <a:ext cx="1354782" cy="336352"/>
          </a:xfrm>
          <a:prstGeom prst="roundRect">
            <a:avLst>
              <a:gd name="adj" fmla="val 52861"/>
            </a:avLst>
          </a:prstGeom>
          <a:solidFill>
            <a:srgbClr val="1A7F37"/>
          </a:solidFill>
          <a:ln w="9525">
            <a:solidFill>
              <a:srgbClr val="1A7F37"/>
            </a:solidFill>
          </a:ln>
        </p:spPr>
        <p:txBody>
          <a:bodyPr wrap="square" rtlCol="0" anchor="ctr"/>
          <a:lstStyle/>
          <a:p>
            <a:pPr indent="0" marL="0">
              <a:buNone/>
            </a:pPr>
            <a:endParaRPr lang="en-US" dirty="0"/>
          </a:p>
        </p:txBody>
      </p:sp>
      <p:sp>
        <p:nvSpPr>
          <p:cNvPr id="21" name="Text 17"/>
          <p:cNvSpPr/>
          <p:nvPr/>
        </p:nvSpPr>
        <p:spPr>
          <a:xfrm>
            <a:off x="3404741" y="4441627"/>
            <a:ext cx="190500" cy="190500"/>
          </a:xfrm>
          <a:prstGeom prst="roundRect">
            <a:avLst>
              <a:gd name="adj" fmla="val 480000"/>
            </a:avLst>
          </a:prstGeom>
          <a:solidFill>
            <a:srgbClr val="FFFFFF"/>
          </a:solidFill>
          <a:ln/>
        </p:spPr>
        <p:txBody>
          <a:bodyPr wrap="square" rtlCol="0" anchor="ctr"/>
          <a:lstStyle/>
          <a:p>
            <a:pPr indent="0" marL="0">
              <a:buNone/>
            </a:pPr>
            <a:endParaRPr lang="en-US" dirty="0"/>
          </a:p>
        </p:txBody>
      </p:sp>
      <p:sp>
        <p:nvSpPr>
          <p:cNvPr id="22" name="Text 18"/>
          <p:cNvSpPr/>
          <p:nvPr/>
        </p:nvSpPr>
        <p:spPr>
          <a:xfrm>
            <a:off x="3471148" y="4479727"/>
            <a:ext cx="57686" cy="114300"/>
          </a:xfrm>
          <a:prstGeom prst="rect">
            <a:avLst/>
          </a:prstGeom>
          <a:noFill/>
          <a:ln/>
        </p:spPr>
        <p:txBody>
          <a:bodyPr wrap="square" lIns="0" tIns="0" rIns="0" bIns="0" rtlCol="0" anchor="t"/>
          <a:lstStyle/>
          <a:p>
            <a:pPr algn="ctr" indent="0" marL="0">
              <a:buNone/>
            </a:pPr>
            <a:r>
              <a:rPr lang="en-US" sz="800" b="1" dirty="0">
                <a:solidFill>
                  <a:srgbClr val="1A7F37"/>
                </a:solidFill>
                <a:latin typeface="Arial" pitchFamily="34" charset="0"/>
                <a:ea typeface="Arial" pitchFamily="34" charset="-122"/>
                <a:cs typeface="Arial" pitchFamily="34" charset="-120"/>
              </a:rPr>
              <a:t>3</a:t>
            </a:r>
            <a:endParaRPr lang="en-US" sz="800" dirty="0"/>
          </a:p>
        </p:txBody>
      </p:sp>
      <p:sp>
        <p:nvSpPr>
          <p:cNvPr id="23" name="Text 19"/>
          <p:cNvSpPr/>
          <p:nvPr/>
        </p:nvSpPr>
        <p:spPr>
          <a:xfrm>
            <a:off x="3671441" y="4470202"/>
            <a:ext cx="883200" cy="133350"/>
          </a:xfrm>
          <a:prstGeom prst="rect">
            <a:avLst/>
          </a:prstGeom>
          <a:noFill/>
          <a:ln/>
        </p:spPr>
        <p:txBody>
          <a:bodyPr wrap="square" lIns="0" tIns="0" rIns="0" bIns="0" rtlCol="0" anchor="t"/>
          <a:lstStyle/>
          <a:p>
            <a:pPr algn="l" indent="0" marL="0">
              <a:buNone/>
            </a:pPr>
            <a:r>
              <a:rPr lang="en-US" sz="900" b="1" dirty="0">
                <a:solidFill>
                  <a:srgbClr val="FFFFFF"/>
                </a:solidFill>
                <a:latin typeface="Arial" pitchFamily="34" charset="0"/>
                <a:ea typeface="Arial" pitchFamily="34" charset="-122"/>
                <a:cs typeface="Arial" pitchFamily="34" charset="-120"/>
              </a:rPr>
              <a:t>Deploy to Azure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ARCHITECTURE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Static files, global hosting</a:t>
            </a:r>
            <a:endParaRPr lang="en-US" sz="2600" dirty="0"/>
          </a:p>
        </p:txBody>
      </p:sp>
      <p:sp>
        <p:nvSpPr>
          <p:cNvPr id="7" name="Text 4"/>
          <p:cNvSpPr/>
          <p:nvPr/>
        </p:nvSpPr>
        <p:spPr>
          <a:xfrm>
            <a:off x="1337965" y="2479625"/>
            <a:ext cx="1650950" cy="1060252"/>
          </a:xfrm>
          <a:prstGeom prst="roundRect">
            <a:avLst>
              <a:gd name="adj" fmla="val 9583"/>
            </a:avLst>
          </a:prstGeom>
          <a:solidFill>
            <a:srgbClr val="FFFFFF"/>
          </a:solidFill>
          <a:ln w="9525">
            <a:solidFill>
              <a:srgbClr val="E0C5FF"/>
            </a:solidFill>
          </a:ln>
        </p:spPr>
        <p:txBody>
          <a:bodyPr wrap="square" rtlCol="0" anchor="ctr"/>
          <a:lstStyle/>
          <a:p>
            <a:pPr indent="0" marL="0">
              <a:buNone/>
            </a:pPr>
            <a:endParaRPr lang="en-US" dirty="0"/>
          </a:p>
        </p:txBody>
      </p:sp>
      <p:sp>
        <p:nvSpPr>
          <p:cNvPr id="8" name="Text 5"/>
          <p:cNvSpPr/>
          <p:nvPr/>
        </p:nvSpPr>
        <p:spPr>
          <a:xfrm>
            <a:off x="1972866" y="2603450"/>
            <a:ext cx="381000" cy="381000"/>
          </a:xfrm>
          <a:prstGeom prst="roundRect">
            <a:avLst>
              <a:gd name="adj" fmla="val 20000"/>
            </a:avLst>
          </a:prstGeom>
          <a:solidFill>
            <a:srgbClr val="FBEFFF"/>
          </a:solidFill>
          <a:ln/>
        </p:spPr>
        <p:txBody>
          <a:bodyPr wrap="square" rtlCol="0" anchor="ctr"/>
          <a:lstStyle/>
          <a:p>
            <a:pPr indent="0" marL="0">
              <a:buNone/>
            </a:pPr>
            <a:endParaRPr lang="en-US" dirty="0"/>
          </a:p>
        </p:txBody>
      </p:sp>
      <p:pic>
        <p:nvPicPr>
          <p:cNvPr id="9" name="Image 1" descr="/Users/danwahlin/.copilot/session-state/a2da67da-2d7a-45f2-aa6a-2a42a7b82a72/files/build/icons/GoBrowser-8250DF.png">    </p:cNvPr>
          <p:cNvPicPr>
            <a:picLocks noChangeAspect="1"/>
          </p:cNvPicPr>
          <p:nvPr/>
        </p:nvPicPr>
        <p:blipFill>
          <a:blip r:embed="rId2"/>
          <a:stretch>
            <a:fillRect/>
          </a:stretch>
        </p:blipFill>
        <p:spPr>
          <a:xfrm>
            <a:off x="2055465" y="2686050"/>
            <a:ext cx="215801" cy="215801"/>
          </a:xfrm>
          <a:prstGeom prst="rect">
            <a:avLst/>
          </a:prstGeom>
        </p:spPr>
      </p:pic>
      <p:sp>
        <p:nvSpPr>
          <p:cNvPr id="10" name="Text 6"/>
          <p:cNvSpPr/>
          <p:nvPr/>
        </p:nvSpPr>
        <p:spPr>
          <a:xfrm>
            <a:off x="1891180" y="3047851"/>
            <a:ext cx="544372"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Browser</a:t>
            </a:r>
            <a:endParaRPr lang="en-US" sz="1050" dirty="0"/>
          </a:p>
        </p:txBody>
      </p:sp>
      <p:sp>
        <p:nvSpPr>
          <p:cNvPr id="11" name="Text 7"/>
          <p:cNvSpPr/>
          <p:nvPr/>
        </p:nvSpPr>
        <p:spPr>
          <a:xfrm>
            <a:off x="1551593" y="3276302"/>
            <a:ext cx="1223546"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HTML, CSS, JS modules</a:t>
            </a:r>
            <a:endParaRPr lang="en-US" sz="850" dirty="0"/>
          </a:p>
        </p:txBody>
      </p:sp>
      <p:sp>
        <p:nvSpPr>
          <p:cNvPr id="12" name="Text 8"/>
          <p:cNvSpPr/>
          <p:nvPr/>
        </p:nvSpPr>
        <p:spPr>
          <a:xfrm>
            <a:off x="3223323" y="2397026"/>
            <a:ext cx="318486" cy="104775"/>
          </a:xfrm>
          <a:prstGeom prst="rect">
            <a:avLst/>
          </a:prstGeom>
          <a:noFill/>
          <a:ln/>
        </p:spPr>
        <p:txBody>
          <a:bodyPr wrap="square" lIns="0" tIns="0" rIns="0" bIns="0" rtlCol="0" anchor="t"/>
          <a:lstStyle/>
          <a:p>
            <a:pPr algn="ctr" indent="0" marL="0">
              <a:buNone/>
            </a:pPr>
            <a:r>
              <a:rPr lang="en-US" sz="750" dirty="0">
                <a:solidFill>
                  <a:srgbClr val="59636E"/>
                </a:solidFill>
                <a:latin typeface="Arial" pitchFamily="34" charset="0"/>
                <a:ea typeface="Arial" pitchFamily="34" charset="-122"/>
                <a:cs typeface="Arial" pitchFamily="34" charset="-120"/>
              </a:rPr>
              <a:t>HTTPS</a:t>
            </a:r>
            <a:endParaRPr lang="en-US" sz="750" dirty="0"/>
          </a:p>
        </p:txBody>
      </p:sp>
      <p:sp>
        <p:nvSpPr>
          <p:cNvPr id="13" name="Text 9"/>
          <p:cNvSpPr/>
          <p:nvPr/>
        </p:nvSpPr>
        <p:spPr>
          <a:xfrm>
            <a:off x="3278883" y="2501801"/>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4" name="Text 10"/>
          <p:cNvSpPr/>
          <p:nvPr/>
        </p:nvSpPr>
        <p:spPr>
          <a:xfrm>
            <a:off x="3209662" y="3289102"/>
            <a:ext cx="345659" cy="104775"/>
          </a:xfrm>
          <a:prstGeom prst="rect">
            <a:avLst/>
          </a:prstGeom>
          <a:noFill/>
          <a:ln/>
        </p:spPr>
        <p:txBody>
          <a:bodyPr wrap="square" lIns="0" tIns="0" rIns="0" bIns="0" rtlCol="0" anchor="t"/>
          <a:lstStyle/>
          <a:p>
            <a:pPr algn="ctr" indent="0" marL="0">
              <a:buNone/>
            </a:pPr>
            <a:r>
              <a:rPr lang="en-US" sz="750" dirty="0">
                <a:solidFill>
                  <a:srgbClr val="59636E"/>
                </a:solidFill>
                <a:latin typeface="Arial" pitchFamily="34" charset="0"/>
                <a:ea typeface="Arial" pitchFamily="34" charset="-122"/>
                <a:cs typeface="Arial" pitchFamily="34" charset="-120"/>
              </a:rPr>
              <a:t>forecast</a:t>
            </a:r>
            <a:endParaRPr lang="en-US" sz="750" dirty="0"/>
          </a:p>
        </p:txBody>
      </p:sp>
      <p:sp>
        <p:nvSpPr>
          <p:cNvPr id="15" name="Text 11"/>
          <p:cNvSpPr/>
          <p:nvPr/>
        </p:nvSpPr>
        <p:spPr>
          <a:xfrm>
            <a:off x="3278883" y="3393877"/>
            <a:ext cx="207365" cy="228600"/>
          </a:xfrm>
          <a:prstGeom prst="rect">
            <a:avLst/>
          </a:prstGeom>
          <a:noFill/>
          <a:ln/>
        </p:spPr>
        <p:txBody>
          <a:bodyPr wrap="square" lIns="0" tIns="0" rIns="0" bIns="0" rtlCol="0" anchor="t"/>
          <a:lstStyle/>
          <a:p>
            <a:pPr algn="ctr" indent="0" marL="0">
              <a:lnSpc>
                <a:spcPts val="1800"/>
              </a:lnSpc>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16" name="Text 12"/>
          <p:cNvSpPr/>
          <p:nvPr/>
        </p:nvSpPr>
        <p:spPr>
          <a:xfrm>
            <a:off x="3776216" y="1590824"/>
            <a:ext cx="2235101" cy="1599902"/>
          </a:xfrm>
          <a:prstGeom prst="roundRect">
            <a:avLst>
              <a:gd name="adj" fmla="val 7938"/>
            </a:avLst>
          </a:prstGeom>
          <a:solidFill>
            <a:srgbClr val="DDF4FF"/>
          </a:solidFill>
          <a:ln w="9525">
            <a:solidFill>
              <a:srgbClr val="9CD7FF"/>
            </a:solidFill>
          </a:ln>
        </p:spPr>
        <p:txBody>
          <a:bodyPr wrap="square" rtlCol="0" anchor="ctr"/>
          <a:lstStyle/>
          <a:p>
            <a:pPr indent="0" marL="0">
              <a:buNone/>
            </a:pPr>
            <a:endParaRPr lang="en-US" dirty="0"/>
          </a:p>
        </p:txBody>
      </p:sp>
      <p:pic>
        <p:nvPicPr>
          <p:cNvPr id="17" name="Image 2" descr="/Users/danwahlin/.copilot/session-state/a2da67da-2d7a-45f2-aa6a-2a42a7b82a72/files/build/icons/GoCloud-0969DA.png">    </p:cNvPr>
          <p:cNvPicPr>
            <a:picLocks noChangeAspect="1"/>
          </p:cNvPicPr>
          <p:nvPr/>
        </p:nvPicPr>
        <p:blipFill>
          <a:blip r:embed="rId3"/>
          <a:stretch>
            <a:fillRect/>
          </a:stretch>
        </p:blipFill>
        <p:spPr>
          <a:xfrm>
            <a:off x="3938141" y="1752749"/>
            <a:ext cx="139601" cy="139601"/>
          </a:xfrm>
          <a:prstGeom prst="rect">
            <a:avLst/>
          </a:prstGeom>
        </p:spPr>
      </p:pic>
      <p:sp>
        <p:nvSpPr>
          <p:cNvPr id="18" name="Text 13"/>
          <p:cNvSpPr/>
          <p:nvPr/>
        </p:nvSpPr>
        <p:spPr>
          <a:xfrm>
            <a:off x="4141143" y="1765399"/>
            <a:ext cx="1467951" cy="114300"/>
          </a:xfrm>
          <a:prstGeom prst="rect">
            <a:avLst/>
          </a:prstGeom>
          <a:noFill/>
          <a:ln/>
        </p:spPr>
        <p:txBody>
          <a:bodyPr wrap="square" lIns="0" tIns="0" rIns="0" bIns="0" rtlCol="0" anchor="t"/>
          <a:lstStyle/>
          <a:p>
            <a:pPr algn="l" indent="0" marL="0">
              <a:buNone/>
            </a:pPr>
            <a:r>
              <a:rPr lang="en-US" sz="850" b="1" dirty="0">
                <a:solidFill>
                  <a:srgbClr val="0969DA"/>
                </a:solidFill>
                <a:latin typeface="Arial" pitchFamily="34" charset="0"/>
                <a:ea typeface="Arial" pitchFamily="34" charset="-122"/>
                <a:cs typeface="Arial" pitchFamily="34" charset="-120"/>
              </a:rPr>
              <a:t>AZURE RESOURCE GROUP</a:t>
            </a:r>
            <a:endParaRPr lang="en-US" sz="850" dirty="0"/>
          </a:p>
        </p:txBody>
      </p:sp>
      <p:sp>
        <p:nvSpPr>
          <p:cNvPr id="19" name="Text 14"/>
          <p:cNvSpPr/>
          <p:nvPr/>
        </p:nvSpPr>
        <p:spPr>
          <a:xfrm>
            <a:off x="3941266" y="1968550"/>
            <a:ext cx="1905000" cy="1060252"/>
          </a:xfrm>
          <a:prstGeom prst="roundRect">
            <a:avLst>
              <a:gd name="adj" fmla="val 9583"/>
            </a:avLst>
          </a:prstGeom>
          <a:solidFill>
            <a:srgbClr val="FFFFFF"/>
          </a:solidFill>
          <a:ln w="9525">
            <a:solidFill>
              <a:srgbClr val="9CD7FF"/>
            </a:solidFill>
          </a:ln>
        </p:spPr>
        <p:txBody>
          <a:bodyPr wrap="square" rtlCol="0" anchor="ctr"/>
          <a:lstStyle/>
          <a:p>
            <a:pPr indent="0" marL="0">
              <a:buNone/>
            </a:pPr>
            <a:endParaRPr lang="en-US" dirty="0"/>
          </a:p>
        </p:txBody>
      </p:sp>
      <p:sp>
        <p:nvSpPr>
          <p:cNvPr id="20" name="Text 15"/>
          <p:cNvSpPr/>
          <p:nvPr/>
        </p:nvSpPr>
        <p:spPr>
          <a:xfrm>
            <a:off x="4703266" y="2092375"/>
            <a:ext cx="381000" cy="381000"/>
          </a:xfrm>
          <a:prstGeom prst="roundRect">
            <a:avLst>
              <a:gd name="adj" fmla="val 20000"/>
            </a:avLst>
          </a:prstGeom>
          <a:solidFill>
            <a:srgbClr val="DDF4FF"/>
          </a:solidFill>
          <a:ln/>
        </p:spPr>
        <p:txBody>
          <a:bodyPr wrap="square" rtlCol="0" anchor="ctr"/>
          <a:lstStyle/>
          <a:p>
            <a:pPr indent="0" marL="0">
              <a:buNone/>
            </a:pPr>
            <a:endParaRPr lang="en-US" dirty="0"/>
          </a:p>
        </p:txBody>
      </p:sp>
      <p:pic>
        <p:nvPicPr>
          <p:cNvPr id="21" name="Image 3" descr="/Users/danwahlin/.copilot/session-state/a2da67da-2d7a-45f2-aa6a-2a42a7b82a72/files/build/icons/GoGlobe-0969DA.png">    </p:cNvPr>
          <p:cNvPicPr>
            <a:picLocks noChangeAspect="1"/>
          </p:cNvPicPr>
          <p:nvPr/>
        </p:nvPicPr>
        <p:blipFill>
          <a:blip r:embed="rId4"/>
          <a:stretch>
            <a:fillRect/>
          </a:stretch>
        </p:blipFill>
        <p:spPr>
          <a:xfrm>
            <a:off x="4785866" y="2174974"/>
            <a:ext cx="215801" cy="215801"/>
          </a:xfrm>
          <a:prstGeom prst="rect">
            <a:avLst/>
          </a:prstGeom>
        </p:spPr>
      </p:pic>
      <p:sp>
        <p:nvSpPr>
          <p:cNvPr id="22" name="Text 16"/>
          <p:cNvSpPr/>
          <p:nvPr/>
        </p:nvSpPr>
        <p:spPr>
          <a:xfrm>
            <a:off x="4360932" y="2536775"/>
            <a:ext cx="1065669"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Static Web Apps</a:t>
            </a:r>
            <a:endParaRPr lang="en-US" sz="1050" dirty="0"/>
          </a:p>
        </p:txBody>
      </p:sp>
      <p:sp>
        <p:nvSpPr>
          <p:cNvPr id="23" name="Text 17"/>
          <p:cNvSpPr/>
          <p:nvPr/>
        </p:nvSpPr>
        <p:spPr>
          <a:xfrm>
            <a:off x="4688830" y="2765227"/>
            <a:ext cx="409873"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Free tier</a:t>
            </a:r>
            <a:endParaRPr lang="en-US" sz="850" dirty="0"/>
          </a:p>
        </p:txBody>
      </p:sp>
      <p:sp>
        <p:nvSpPr>
          <p:cNvPr id="24" name="Text 18"/>
          <p:cNvSpPr/>
          <p:nvPr/>
        </p:nvSpPr>
        <p:spPr>
          <a:xfrm>
            <a:off x="3776216" y="3368427"/>
            <a:ext cx="2235101" cy="1060252"/>
          </a:xfrm>
          <a:prstGeom prst="roundRect">
            <a:avLst>
              <a:gd name="adj" fmla="val 9583"/>
            </a:avLst>
          </a:prstGeom>
          <a:solidFill>
            <a:srgbClr val="FFFFFF"/>
          </a:solidFill>
          <a:ln w="9525">
            <a:solidFill>
              <a:srgbClr val="FFC49B"/>
            </a:solidFill>
          </a:ln>
        </p:spPr>
        <p:txBody>
          <a:bodyPr wrap="square" rtlCol="0" anchor="ctr"/>
          <a:lstStyle/>
          <a:p>
            <a:pPr indent="0" marL="0">
              <a:buNone/>
            </a:pPr>
            <a:endParaRPr lang="en-US" dirty="0"/>
          </a:p>
        </p:txBody>
      </p:sp>
      <p:sp>
        <p:nvSpPr>
          <p:cNvPr id="25" name="Text 19"/>
          <p:cNvSpPr/>
          <p:nvPr/>
        </p:nvSpPr>
        <p:spPr>
          <a:xfrm>
            <a:off x="4703266" y="3492252"/>
            <a:ext cx="381000" cy="381000"/>
          </a:xfrm>
          <a:prstGeom prst="roundRect">
            <a:avLst>
              <a:gd name="adj" fmla="val 20000"/>
            </a:avLst>
          </a:prstGeom>
          <a:solidFill>
            <a:srgbClr val="FFF1E5"/>
          </a:solidFill>
          <a:ln/>
        </p:spPr>
        <p:txBody>
          <a:bodyPr wrap="square" rtlCol="0" anchor="ctr"/>
          <a:lstStyle/>
          <a:p>
            <a:pPr indent="0" marL="0">
              <a:buNone/>
            </a:pPr>
            <a:endParaRPr lang="en-US" dirty="0"/>
          </a:p>
        </p:txBody>
      </p:sp>
      <p:pic>
        <p:nvPicPr>
          <p:cNvPr id="26" name="Image 4" descr="/Users/danwahlin/.copilot/session-state/a2da67da-2d7a-45f2-aa6a-2a42a7b82a72/files/build/icons/GoSun-BC4C00.png">    </p:cNvPr>
          <p:cNvPicPr>
            <a:picLocks noChangeAspect="1"/>
          </p:cNvPicPr>
          <p:nvPr/>
        </p:nvPicPr>
        <p:blipFill>
          <a:blip r:embed="rId5"/>
          <a:stretch>
            <a:fillRect/>
          </a:stretch>
        </p:blipFill>
        <p:spPr>
          <a:xfrm>
            <a:off x="4785866" y="3574852"/>
            <a:ext cx="215801" cy="215801"/>
          </a:xfrm>
          <a:prstGeom prst="rect">
            <a:avLst/>
          </a:prstGeom>
        </p:spPr>
      </p:pic>
      <p:sp>
        <p:nvSpPr>
          <p:cNvPr id="27" name="Text 20"/>
          <p:cNvSpPr/>
          <p:nvPr/>
        </p:nvSpPr>
        <p:spPr>
          <a:xfrm>
            <a:off x="4500746" y="3936653"/>
            <a:ext cx="785893" cy="165050"/>
          </a:xfrm>
          <a:prstGeom prst="rect">
            <a:avLst/>
          </a:prstGeom>
          <a:noFill/>
          <a:ln/>
        </p:spPr>
        <p:txBody>
          <a:bodyPr wrap="square" lIns="0" tIns="0" rIns="0" bIns="0" rtlCol="0" anchor="t"/>
          <a:lstStyle/>
          <a:p>
            <a:pPr algn="ctr" indent="0" marL="0">
              <a:lnSpc>
                <a:spcPts val="1300"/>
              </a:lnSpc>
              <a:buNone/>
            </a:pPr>
            <a:r>
              <a:rPr lang="en-US" sz="1050" b="1" dirty="0">
                <a:solidFill>
                  <a:srgbClr val="1F2328"/>
                </a:solidFill>
                <a:latin typeface="Arial" pitchFamily="34" charset="0"/>
                <a:ea typeface="Arial" pitchFamily="34" charset="-122"/>
                <a:cs typeface="Arial" pitchFamily="34" charset="-120"/>
              </a:rPr>
              <a:t>Open-Meteo</a:t>
            </a:r>
            <a:endParaRPr lang="en-US" sz="1050" dirty="0"/>
          </a:p>
        </p:txBody>
      </p:sp>
      <p:sp>
        <p:nvSpPr>
          <p:cNvPr id="28" name="Text 21"/>
          <p:cNvSpPr/>
          <p:nvPr/>
        </p:nvSpPr>
        <p:spPr>
          <a:xfrm>
            <a:off x="4193036" y="4165104"/>
            <a:ext cx="1401461" cy="139750"/>
          </a:xfrm>
          <a:prstGeom prst="rect">
            <a:avLst/>
          </a:prstGeom>
          <a:noFill/>
          <a:ln/>
        </p:spPr>
        <p:txBody>
          <a:bodyPr wrap="square" lIns="0" tIns="0" rIns="0" bIns="0" rtlCol="0" anchor="t"/>
          <a:lstStyle/>
          <a:p>
            <a:pPr algn="ctr" indent="0" marL="0">
              <a:lnSpc>
                <a:spcPts val="1100"/>
              </a:lnSpc>
              <a:buNone/>
            </a:pPr>
            <a:r>
              <a:rPr lang="en-US" sz="850" dirty="0">
                <a:solidFill>
                  <a:srgbClr val="59636E"/>
                </a:solidFill>
                <a:latin typeface="Arial" pitchFamily="34" charset="0"/>
                <a:ea typeface="Arial" pitchFamily="34" charset="-122"/>
                <a:cs typeface="Arial" pitchFamily="34" charset="-120"/>
              </a:rPr>
              <a:t>Free geocoding and forecast</a:t>
            </a:r>
            <a:endParaRPr lang="en-US" sz="850" dirty="0"/>
          </a:p>
        </p:txBody>
      </p:sp>
      <p:sp>
        <p:nvSpPr>
          <p:cNvPr id="29" name="Text 22"/>
          <p:cNvSpPr/>
          <p:nvPr/>
        </p:nvSpPr>
        <p:spPr>
          <a:xfrm>
            <a:off x="6239768" y="2251174"/>
            <a:ext cx="207365" cy="238125"/>
          </a:xfrm>
          <a:prstGeom prst="rect">
            <a:avLst/>
          </a:prstGeom>
          <a:noFill/>
          <a:ln/>
        </p:spPr>
        <p:txBody>
          <a:bodyPr wrap="square" lIns="0" tIns="0" rIns="0" bIns="0" rtlCol="0" anchor="t"/>
          <a:lstStyle/>
          <a:p>
            <a:pPr algn="l" indent="0" marL="0">
              <a:buNone/>
            </a:pPr>
            <a:r>
              <a:rPr lang="en-US" sz="1600" dirty="0">
                <a:solidFill>
                  <a:srgbClr val="818B98"/>
                </a:solidFill>
                <a:latin typeface="Arial" pitchFamily="34" charset="0"/>
                <a:ea typeface="Arial" pitchFamily="34" charset="-122"/>
                <a:cs typeface="Arial" pitchFamily="34" charset="-120"/>
              </a:rPr>
              <a:t>←</a:t>
            </a:r>
            <a:endParaRPr lang="en-US" sz="1600" dirty="0"/>
          </a:p>
        </p:txBody>
      </p:sp>
      <p:sp>
        <p:nvSpPr>
          <p:cNvPr id="30" name="Text 23"/>
          <p:cNvSpPr/>
          <p:nvPr/>
        </p:nvSpPr>
        <p:spPr>
          <a:xfrm>
            <a:off x="6984653" y="1870174"/>
            <a:ext cx="507950" cy="507950"/>
          </a:xfrm>
          <a:prstGeom prst="roundRect">
            <a:avLst>
              <a:gd name="adj" fmla="val 15001"/>
            </a:avLst>
          </a:prstGeom>
          <a:solidFill>
            <a:srgbClr val="DAFBE1"/>
          </a:solidFill>
          <a:ln/>
        </p:spPr>
        <p:txBody>
          <a:bodyPr wrap="square" rtlCol="0" anchor="ctr"/>
          <a:lstStyle/>
          <a:p>
            <a:pPr indent="0" marL="0">
              <a:buNone/>
            </a:pPr>
            <a:endParaRPr lang="en-US" dirty="0"/>
          </a:p>
        </p:txBody>
      </p:sp>
      <p:pic>
        <p:nvPicPr>
          <p:cNvPr id="31" name="Image 5" descr="/Users/danwahlin/.copilot/session-state/a2da67da-2d7a-45f2-aa6a-2a42a7b82a72/files/build/icons/GoFileCode-1A7F37.png">    </p:cNvPr>
          <p:cNvPicPr>
            <a:picLocks noChangeAspect="1"/>
          </p:cNvPicPr>
          <p:nvPr/>
        </p:nvPicPr>
        <p:blipFill>
          <a:blip r:embed="rId6"/>
          <a:stretch>
            <a:fillRect/>
          </a:stretch>
        </p:blipFill>
        <p:spPr>
          <a:xfrm>
            <a:off x="7098953" y="1984474"/>
            <a:ext cx="279350" cy="279350"/>
          </a:xfrm>
          <a:prstGeom prst="rect">
            <a:avLst/>
          </a:prstGeom>
        </p:spPr>
      </p:pic>
      <p:sp>
        <p:nvSpPr>
          <p:cNvPr id="32" name="Text 24"/>
          <p:cNvSpPr/>
          <p:nvPr/>
        </p:nvSpPr>
        <p:spPr>
          <a:xfrm>
            <a:off x="6862532" y="2479625"/>
            <a:ext cx="752192" cy="152400"/>
          </a:xfrm>
          <a:prstGeom prst="rect">
            <a:avLst/>
          </a:prstGeom>
          <a:noFill/>
          <a:ln/>
        </p:spPr>
        <p:txBody>
          <a:bodyPr wrap="square" lIns="0" tIns="0" rIns="0" bIns="0" rtlCol="0" anchor="t"/>
          <a:lstStyle/>
          <a:p>
            <a:pPr algn="ctr" indent="0" marL="0">
              <a:buNone/>
            </a:pPr>
            <a:r>
              <a:rPr lang="en-US" sz="1050" b="1" dirty="0">
                <a:solidFill>
                  <a:srgbClr val="1F2328"/>
                </a:solidFill>
                <a:latin typeface="Arial" pitchFamily="34" charset="0"/>
                <a:ea typeface="Arial" pitchFamily="34" charset="-122"/>
                <a:cs typeface="Arial" pitchFamily="34" charset="-120"/>
              </a:rPr>
              <a:t>Bicep + azd</a:t>
            </a:r>
            <a:endParaRPr lang="en-US" sz="1050" dirty="0"/>
          </a:p>
        </p:txBody>
      </p:sp>
      <p:sp>
        <p:nvSpPr>
          <p:cNvPr id="33" name="Text 25"/>
          <p:cNvSpPr/>
          <p:nvPr/>
        </p:nvSpPr>
        <p:spPr>
          <a:xfrm>
            <a:off x="6660326" y="2733526"/>
            <a:ext cx="1156752" cy="114300"/>
          </a:xfrm>
          <a:prstGeom prst="rect">
            <a:avLst/>
          </a:prstGeom>
          <a:noFill/>
          <a:ln/>
        </p:spPr>
        <p:txBody>
          <a:bodyPr wrap="square" lIns="0" tIns="0" rIns="0" bIns="0" rtlCol="0" anchor="t"/>
          <a:lstStyle/>
          <a:p>
            <a:pPr algn="ctr" indent="0" marL="0">
              <a:buNone/>
            </a:pPr>
            <a:r>
              <a:rPr lang="en-US" sz="850" dirty="0">
                <a:solidFill>
                  <a:srgbClr val="59636E"/>
                </a:solidFill>
                <a:latin typeface="Arial" pitchFamily="34" charset="0"/>
                <a:ea typeface="Arial" pitchFamily="34" charset="-122"/>
                <a:cs typeface="Arial" pitchFamily="34" charset="-120"/>
              </a:rPr>
              <a:t>Generated by the agent</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GENERATE INFRASTRUCTURE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Let Azure Skills write the Bicep</a:t>
            </a:r>
            <a:endParaRPr lang="en-US" sz="2600" dirty="0"/>
          </a:p>
        </p:txBody>
      </p:sp>
      <p:sp>
        <p:nvSpPr>
          <p:cNvPr id="7" name="Text 4"/>
          <p:cNvSpPr/>
          <p:nvPr/>
        </p:nvSpPr>
        <p:spPr>
          <a:xfrm>
            <a:off x="634901" y="1864668"/>
            <a:ext cx="7873901" cy="1934766"/>
          </a:xfrm>
          <a:prstGeom prst="roundRect">
            <a:avLst>
              <a:gd name="adj" fmla="val 5251"/>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69430"/>
            <a:ext cx="7873901" cy="0"/>
          </a:xfrm>
          <a:prstGeom prst="line">
            <a:avLst/>
          </a:prstGeom>
          <a:noFill/>
          <a:ln w="9525">
            <a:solidFill>
              <a:srgbClr val="E0C5FF"/>
            </a:solidFill>
            <a:prstDash val="solid"/>
          </a:ln>
        </p:spPr>
      </p:sp>
      <p:sp>
        <p:nvSpPr>
          <p:cNvPr id="9" name="Shape 6"/>
          <p:cNvSpPr/>
          <p:nvPr/>
        </p:nvSpPr>
        <p:spPr>
          <a:xfrm>
            <a:off x="8504039" y="1864668"/>
            <a:ext cx="0" cy="1934766"/>
          </a:xfrm>
          <a:prstGeom prst="line">
            <a:avLst/>
          </a:prstGeom>
          <a:noFill/>
          <a:ln w="9525">
            <a:solidFill>
              <a:srgbClr val="E0C5FF"/>
            </a:solidFill>
            <a:prstDash val="solid"/>
          </a:ln>
        </p:spPr>
      </p:sp>
      <p:sp>
        <p:nvSpPr>
          <p:cNvPr id="10" name="Shape 7"/>
          <p:cNvSpPr/>
          <p:nvPr/>
        </p:nvSpPr>
        <p:spPr>
          <a:xfrm>
            <a:off x="634901" y="3794671"/>
            <a:ext cx="7873901" cy="0"/>
          </a:xfrm>
          <a:prstGeom prst="line">
            <a:avLst/>
          </a:prstGeom>
          <a:noFill/>
          <a:ln w="9525">
            <a:solidFill>
              <a:srgbClr val="E0C5FF"/>
            </a:solidFill>
            <a:prstDash val="solid"/>
          </a:ln>
        </p:spPr>
      </p:sp>
      <p:sp>
        <p:nvSpPr>
          <p:cNvPr id="11" name="Shape 8"/>
          <p:cNvSpPr/>
          <p:nvPr/>
        </p:nvSpPr>
        <p:spPr>
          <a:xfrm>
            <a:off x="663476" y="1864668"/>
            <a:ext cx="0" cy="1934766"/>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45952" y="2077343"/>
            <a:ext cx="165050" cy="165050"/>
          </a:xfrm>
          <a:prstGeom prst="rect">
            <a:avLst/>
          </a:prstGeom>
        </p:spPr>
      </p:pic>
      <p:sp>
        <p:nvSpPr>
          <p:cNvPr id="13" name="Text 9"/>
          <p:cNvSpPr/>
          <p:nvPr/>
        </p:nvSpPr>
        <p:spPr>
          <a:xfrm>
            <a:off x="1187202" y="2093119"/>
            <a:ext cx="498830" cy="133350"/>
          </a:xfrm>
          <a:prstGeom prst="rect">
            <a:avLst/>
          </a:prstGeom>
          <a:noFill/>
          <a:ln/>
        </p:spPr>
        <p:txBody>
          <a:bodyPr wrap="square" lIns="0" tIns="0" rIns="0" bIns="0" rtlCol="0" anchor="t"/>
          <a:lstStyle/>
          <a:p>
            <a:pPr algn="l" indent="0" marL="0">
              <a:buNone/>
            </a:pPr>
            <a:r>
              <a:rPr lang="en-US" sz="900" b="1" dirty="0">
                <a:solidFill>
                  <a:srgbClr val="8250DF"/>
                </a:solidFill>
                <a:latin typeface="Arial" pitchFamily="34" charset="0"/>
                <a:ea typeface="Arial" pitchFamily="34" charset="-122"/>
                <a:cs typeface="Arial" pitchFamily="34" charset="-120"/>
              </a:rPr>
              <a:t>PROMPT</a:t>
            </a:r>
            <a:endParaRPr lang="en-US" sz="900" dirty="0"/>
          </a:p>
        </p:txBody>
      </p:sp>
      <p:sp>
        <p:nvSpPr>
          <p:cNvPr id="14" name="Text 10"/>
          <p:cNvSpPr/>
          <p:nvPr/>
        </p:nvSpPr>
        <p:spPr>
          <a:xfrm>
            <a:off x="945952" y="2343894"/>
            <a:ext cx="7445413" cy="1217414"/>
          </a:xfrm>
          <a:prstGeom prst="rect">
            <a:avLst/>
          </a:prstGeom>
          <a:noFill/>
          <a:ln/>
        </p:spPr>
        <p:txBody>
          <a:bodyPr wrap="square" lIns="0" tIns="0" rIns="0" bIns="0" rtlCol="0" anchor="t"/>
          <a:lstStyle/>
          <a:p>
            <a:pPr algn="l" indent="0" marL="0">
              <a:lnSpc>
                <a:spcPts val="1917"/>
              </a:lnSpc>
              <a:buNone/>
            </a:pPr>
            <a:r>
              <a:rPr lang="en-US" sz="1350" dirty="0">
                <a:solidFill>
                  <a:srgbClr val="1F2328"/>
                </a:solidFill>
                <a:latin typeface="Arial" pitchFamily="34" charset="0"/>
                <a:ea typeface="Arial" pitchFamily="34" charset="-122"/>
                <a:cs typeface="Arial" pitchFamily="34" charset="-120"/>
              </a:rPr>
              <a:t>Read the "Azure Deployment" section in PLAN.md. Use the installed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Azure Skills plugin</a:t>
            </a:r>
            <a:pPr algn="l" indent="0" marL="0">
              <a:lnSpc>
                <a:spcPts val="1917"/>
              </a:lnSpc>
              <a:buNone/>
            </a:pPr>
            <a:r>
              <a:rPr lang="en-US" sz="1350" dirty="0">
                <a:solidFill>
                  <a:srgbClr val="1F2328"/>
                </a:solidFill>
                <a:latin typeface="Arial" pitchFamily="34" charset="0"/>
                <a:ea typeface="Arial" pitchFamily="34" charset="-122"/>
                <a:cs typeface="Arial" pitchFamily="34" charset="-120"/>
              </a:rPr>
              <a:t>, including current Bicep schema and azd infrastructure guidance, to create everything that section specifies: the Bicep in infra/, main.parameters.json, azure.yaml, scripts/build-static.mjs with its npm build script, and staticwebapp.config.json. Follow the section's contracts exactly, and </a:t>
            </a:r>
            <a:pPr algn="l" indent="0" marL="0">
              <a:lnSpc>
                <a:spcPts val="1917"/>
              </a:lnSpc>
              <a:buNone/>
            </a:pPr>
            <a:r>
              <a:rPr lang="en-US" sz="1350" b="1" dirty="0">
                <a:solidFill>
                  <a:srgbClr val="1F2328"/>
                </a:solidFill>
                <a:latin typeface="Arial" pitchFamily="34" charset="0"/>
                <a:ea typeface="Arial" pitchFamily="34" charset="-122"/>
                <a:cs typeface="Arial" pitchFamily="34" charset="-120"/>
              </a:rPr>
              <a:t>do not create anything the section prohibits.</a:t>
            </a:r>
            <a:endParaRPr lang="en-US" sz="1350" dirty="0"/>
          </a:p>
        </p:txBody>
      </p:sp>
      <p:pic>
        <p:nvPicPr>
          <p:cNvPr id="15" name="Image 2" descr="/Users/danwahlin/.copilot/session-state/a2da67da-2d7a-45f2-aa6a-2a42a7b82a72/files/build/icons/GoPlug-1A7F37.png">    </p:cNvPr>
          <p:cNvPicPr>
            <a:picLocks noChangeAspect="1"/>
          </p:cNvPicPr>
          <p:nvPr/>
        </p:nvPicPr>
        <p:blipFill>
          <a:blip r:embed="rId3"/>
          <a:stretch>
            <a:fillRect/>
          </a:stretch>
        </p:blipFill>
        <p:spPr>
          <a:xfrm>
            <a:off x="634901" y="4015234"/>
            <a:ext cx="177701" cy="177701"/>
          </a:xfrm>
          <a:prstGeom prst="rect">
            <a:avLst/>
          </a:prstGeom>
        </p:spPr>
      </p:pic>
      <p:sp>
        <p:nvSpPr>
          <p:cNvPr id="16" name="Text 11"/>
          <p:cNvSpPr/>
          <p:nvPr/>
        </p:nvSpPr>
        <p:spPr>
          <a:xfrm>
            <a:off x="914102" y="4002584"/>
            <a:ext cx="3322094" cy="203150"/>
          </a:xfrm>
          <a:prstGeom prst="rect">
            <a:avLst/>
          </a:prstGeom>
          <a:noFill/>
          <a:ln/>
        </p:spPr>
        <p:txBody>
          <a:bodyPr wrap="square" lIns="0" tIns="0" rIns="0" bIns="0" rtlCol="0" anchor="t"/>
          <a:lstStyle/>
          <a:p>
            <a:pPr algn="l" indent="0" marL="0">
              <a:lnSpc>
                <a:spcPts val="1600"/>
              </a:lnSpc>
              <a:buNone/>
            </a:pPr>
            <a:r>
              <a:rPr lang="en-US" sz="1200" dirty="0">
                <a:solidFill>
                  <a:srgbClr val="59636E"/>
                </a:solidFill>
                <a:latin typeface="Arial" pitchFamily="34" charset="0"/>
                <a:ea typeface="Arial" pitchFamily="34" charset="-122"/>
                <a:cs typeface="Arial" pitchFamily="34" charset="-120"/>
              </a:rPr>
              <a:t>Install once: </a:t>
            </a:r>
            <a:pPr algn="l" indent="0" marL="0">
              <a:lnSpc>
                <a:spcPts val="1600"/>
              </a:lnSpc>
              <a:buNone/>
            </a:pPr>
            <a:r>
              <a:rPr lang="en-US" sz="1200" b="1" dirty="0">
                <a:solidFill>
                  <a:srgbClr val="59636E"/>
                </a:solidFill>
                <a:latin typeface="Arial" pitchFamily="34" charset="0"/>
                <a:ea typeface="Arial" pitchFamily="34" charset="-122"/>
                <a:cs typeface="Arial" pitchFamily="34" charset="-120"/>
              </a:rPr>
              <a:t>/plugin install azure@azure-skills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888950" y="1154311"/>
            <a:ext cx="558701" cy="558701"/>
          </a:xfrm>
          <a:prstGeom prst="roundRect">
            <a:avLst>
              <a:gd name="adj" fmla="val 13639"/>
            </a:avLst>
          </a:prstGeom>
          <a:solidFill>
            <a:srgbClr val="DAFBE1"/>
          </a:solidFill>
          <a:ln/>
        </p:spPr>
        <p:txBody>
          <a:bodyPr wrap="square" rtlCol="0" anchor="ctr"/>
          <a:lstStyle/>
          <a:p>
            <a:pPr indent="0" marL="0">
              <a:buNone/>
            </a:pPr>
            <a:endParaRPr lang="en-US" dirty="0"/>
          </a:p>
        </p:txBody>
      </p:sp>
      <p:pic>
        <p:nvPicPr>
          <p:cNvPr id="6" name="Image 1" descr="/Users/danwahlin/.copilot/session-state/a2da67da-2d7a-45f2-aa6a-2a42a7b82a72/files/build/icons/GoShieldCheck-1A7F37.png">    </p:cNvPr>
          <p:cNvPicPr>
            <a:picLocks noChangeAspect="1"/>
          </p:cNvPicPr>
          <p:nvPr/>
        </p:nvPicPr>
        <p:blipFill>
          <a:blip r:embed="rId2"/>
          <a:stretch>
            <a:fillRect/>
          </a:stretch>
        </p:blipFill>
        <p:spPr>
          <a:xfrm>
            <a:off x="1009501" y="1274862"/>
            <a:ext cx="317450" cy="317450"/>
          </a:xfrm>
          <a:prstGeom prst="rect">
            <a:avLst/>
          </a:prstGeom>
        </p:spPr>
      </p:pic>
      <p:sp>
        <p:nvSpPr>
          <p:cNvPr id="7" name="Text 3"/>
          <p:cNvSpPr/>
          <p:nvPr/>
        </p:nvSpPr>
        <p:spPr>
          <a:xfrm>
            <a:off x="888950" y="1941612"/>
            <a:ext cx="7513269" cy="142875"/>
          </a:xfrm>
          <a:prstGeom prst="rect">
            <a:avLst/>
          </a:prstGeom>
          <a:noFill/>
          <a:ln/>
        </p:spPr>
        <p:txBody>
          <a:bodyPr wrap="square" lIns="0" tIns="0" rIns="0" bIns="0" rtlCol="0" anchor="t"/>
          <a:lstStyle/>
          <a:p>
            <a:pPr algn="l" indent="0" marL="0">
              <a:spcAft>
                <a:spcPts val="1000"/>
              </a:spcAft>
              <a:buNone/>
            </a:pPr>
            <a:r>
              <a:rPr lang="en-US" sz="1000" b="1" dirty="0">
                <a:solidFill>
                  <a:srgbClr val="1A7F37"/>
                </a:solidFill>
                <a:latin typeface="Arial" pitchFamily="34" charset="0"/>
                <a:ea typeface="Arial" pitchFamily="34" charset="-122"/>
                <a:cs typeface="Arial" pitchFamily="34" charset="-120"/>
              </a:rPr>
              <a:t>BEFORE YOU DEPLOY</a:t>
            </a:r>
            <a:endParaRPr lang="en-US" sz="1000" dirty="0"/>
          </a:p>
        </p:txBody>
      </p:sp>
      <p:sp>
        <p:nvSpPr>
          <p:cNvPr id="8" name="Text 4"/>
          <p:cNvSpPr/>
          <p:nvPr/>
        </p:nvSpPr>
        <p:spPr>
          <a:xfrm>
            <a:off x="888950" y="2211437"/>
            <a:ext cx="7513269" cy="1015901"/>
          </a:xfrm>
          <a:prstGeom prst="rect">
            <a:avLst/>
          </a:prstGeom>
          <a:noFill/>
          <a:ln/>
        </p:spPr>
        <p:txBody>
          <a:bodyPr wrap="square" lIns="0" tIns="0" rIns="0" bIns="0" rtlCol="0" anchor="t"/>
          <a:lstStyle/>
          <a:p>
            <a:pPr algn="l" indent="0" marL="0">
              <a:lnSpc>
                <a:spcPts val="4000"/>
              </a:lnSpc>
              <a:buNone/>
            </a:pPr>
            <a:r>
              <a:rPr lang="en-US" sz="3200" b="1" dirty="0">
                <a:solidFill>
                  <a:srgbClr val="1F2328"/>
                </a:solidFill>
                <a:latin typeface="Arial" pitchFamily="34" charset="0"/>
                <a:ea typeface="Arial" pitchFamily="34" charset="-122"/>
                <a:cs typeface="Arial" pitchFamily="34" charset="-120"/>
              </a:rPr>
              <a:t>Ask for READY or NOT READY, with evidence.</a:t>
            </a:r>
            <a:endParaRPr lang="en-US" sz="3200" dirty="0"/>
          </a:p>
        </p:txBody>
      </p:sp>
      <p:sp>
        <p:nvSpPr>
          <p:cNvPr id="9" name="Text 5"/>
          <p:cNvSpPr/>
          <p:nvPr/>
        </p:nvSpPr>
        <p:spPr>
          <a:xfrm>
            <a:off x="888950" y="3430488"/>
            <a:ext cx="7513269" cy="558701"/>
          </a:xfrm>
          <a:prstGeom prst="rect">
            <a:avLst/>
          </a:prstGeom>
          <a:noFill/>
          <a:ln/>
        </p:spPr>
        <p:txBody>
          <a:bodyPr wrap="square" lIns="0" tIns="0" rIns="0" bIns="0" rtlCol="0" anchor="t"/>
          <a:lstStyle/>
          <a:p>
            <a:pPr algn="l" indent="0" marL="0">
              <a:lnSpc>
                <a:spcPts val="2200"/>
              </a:lnSpc>
              <a:spcBef>
                <a:spcPts val="1600"/>
              </a:spcBef>
              <a:buNone/>
            </a:pPr>
            <a:r>
              <a:rPr lang="en-US" sz="1600" dirty="0">
                <a:solidFill>
                  <a:srgbClr val="59636E"/>
                </a:solidFill>
                <a:latin typeface="Arial" pitchFamily="34" charset="0"/>
                <a:ea typeface="Arial" pitchFamily="34" charset="-122"/>
                <a:cs typeface="Arial" pitchFamily="34" charset="-120"/>
              </a:rPr>
              <a:t>A read-only pre-deployment review checks every requirement and runs azd provision --preview. Nothing is created.</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SHIP IT</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One command to deploy</a:t>
            </a:r>
            <a:endParaRPr lang="en-US" sz="2600" dirty="0"/>
          </a:p>
        </p:txBody>
      </p:sp>
      <p:sp>
        <p:nvSpPr>
          <p:cNvPr id="7" name="Text 4"/>
          <p:cNvSpPr/>
          <p:nvPr/>
        </p:nvSpPr>
        <p:spPr>
          <a:xfrm>
            <a:off x="1015901" y="1847701"/>
            <a:ext cx="7111901" cy="1879402"/>
          </a:xfrm>
          <a:prstGeom prst="roundRect">
            <a:avLst>
              <a:gd name="adj" fmla="val 5406"/>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1847701"/>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1930152"/>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1930152"/>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1930152"/>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1917502"/>
            <a:ext cx="528584" cy="114300"/>
          </a:xfrm>
          <a:prstGeom prst="rect">
            <a:avLst/>
          </a:prstGeom>
          <a:noFill/>
          <a:ln/>
        </p:spPr>
        <p:txBody>
          <a:bodyPr wrap="square" lIns="0" tIns="0" rIns="0" bIns="0" rtlCol="0" anchor="t"/>
          <a:lstStyle/>
          <a:p>
            <a:pPr algn="l" indent="0" marL="0">
              <a:buNone/>
            </a:pPr>
            <a:r>
              <a:rPr lang="en-US" sz="850" dirty="0">
                <a:solidFill>
                  <a:srgbClr val="8B949E"/>
                </a:solidFill>
                <a:latin typeface="Courier New" pitchFamily="34" charset="0"/>
                <a:ea typeface="Courier New" pitchFamily="34" charset="-122"/>
                <a:cs typeface="Courier New" pitchFamily="34" charset="-120"/>
              </a:rPr>
              <a:t>Terminal</a:t>
            </a:r>
            <a:endParaRPr lang="en-US" sz="850" dirty="0"/>
          </a:p>
        </p:txBody>
      </p:sp>
      <p:sp>
        <p:nvSpPr>
          <p:cNvPr id="13" name="Text 10"/>
          <p:cNvSpPr/>
          <p:nvPr/>
        </p:nvSpPr>
        <p:spPr>
          <a:xfrm>
            <a:off x="1244501" y="2279303"/>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azd up</a:t>
            </a:r>
            <a:endParaRPr lang="en-US" sz="1400" dirty="0"/>
          </a:p>
        </p:txBody>
      </p:sp>
      <p:sp>
        <p:nvSpPr>
          <p:cNvPr id="14" name="Text 11"/>
          <p:cNvSpPr/>
          <p:nvPr/>
        </p:nvSpPr>
        <p:spPr>
          <a:xfrm>
            <a:off x="1244501" y="2697063"/>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node ../../.github/scripts/verify-weather-view.mjs</a:t>
            </a:r>
            <a:endParaRPr lang="en-US" sz="1400" dirty="0"/>
          </a:p>
        </p:txBody>
      </p:sp>
      <p:sp>
        <p:nvSpPr>
          <p:cNvPr id="15" name="Text 12"/>
          <p:cNvSpPr/>
          <p:nvPr/>
        </p:nvSpPr>
        <p:spPr>
          <a:xfrm>
            <a:off x="1244501" y="2972693"/>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PASS: WeatherView assets and five-day</a:t>
            </a:r>
            <a:endParaRPr lang="en-US" sz="1400" dirty="0"/>
          </a:p>
        </p:txBody>
      </p:sp>
      <p:sp>
        <p:nvSpPr>
          <p:cNvPr id="16" name="Text 13"/>
          <p:cNvSpPr/>
          <p:nvPr/>
        </p:nvSpPr>
        <p:spPr>
          <a:xfrm>
            <a:off x="1244501" y="3248323"/>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Open-Meteo contract verified</a:t>
            </a:r>
            <a:endParaRPr lang="en-US" sz="1400" dirty="0"/>
          </a:p>
        </p:txBody>
      </p:sp>
      <p:pic>
        <p:nvPicPr>
          <p:cNvPr id="17" name="Image 1" descr="/Users/danwahlin/.copilot/session-state/a2da67da-2d7a-45f2-aa6a-2a42a7b82a72/files/build/icons/GoBrowser-0969DA.png">    </p:cNvPr>
          <p:cNvPicPr>
            <a:picLocks noChangeAspect="1"/>
          </p:cNvPicPr>
          <p:nvPr/>
        </p:nvPicPr>
        <p:blipFill>
          <a:blip r:embed="rId2"/>
          <a:stretch>
            <a:fillRect/>
          </a:stretch>
        </p:blipFill>
        <p:spPr>
          <a:xfrm>
            <a:off x="1015901" y="3968353"/>
            <a:ext cx="190500" cy="190500"/>
          </a:xfrm>
          <a:prstGeom prst="rect">
            <a:avLst/>
          </a:prstGeom>
        </p:spPr>
      </p:pic>
      <p:sp>
        <p:nvSpPr>
          <p:cNvPr id="18" name="Text 14"/>
          <p:cNvSpPr/>
          <p:nvPr/>
        </p:nvSpPr>
        <p:spPr>
          <a:xfrm>
            <a:off x="1307902" y="3955703"/>
            <a:ext cx="5283866" cy="215950"/>
          </a:xfrm>
          <a:prstGeom prst="rect">
            <a:avLst/>
          </a:prstGeom>
          <a:noFill/>
          <a:ln/>
        </p:spPr>
        <p:txBody>
          <a:bodyPr wrap="square" lIns="0" tIns="0" rIns="0" bIns="0" rtlCol="0" anchor="t"/>
          <a:lstStyle/>
          <a:p>
            <a:pPr algn="l" indent="0" marL="0">
              <a:lnSpc>
                <a:spcPts val="1700"/>
              </a:lnSpc>
              <a:buNone/>
            </a:pPr>
            <a:r>
              <a:rPr lang="en-US" sz="1250" dirty="0">
                <a:solidFill>
                  <a:srgbClr val="1F2328"/>
                </a:solidFill>
                <a:latin typeface="Arial" pitchFamily="34" charset="0"/>
                <a:ea typeface="Arial" pitchFamily="34" charset="-122"/>
                <a:cs typeface="Arial" pitchFamily="34" charset="-120"/>
              </a:rPr>
              <a:t>Then open the URL from </a:t>
            </a:r>
            <a:pPr algn="l" indent="0" marL="0">
              <a:lnSpc>
                <a:spcPts val="1700"/>
              </a:lnSpc>
              <a:buNone/>
            </a:pPr>
            <a:r>
              <a:rPr lang="en-US" sz="1250" b="1" dirty="0">
                <a:solidFill>
                  <a:srgbClr val="1F2328"/>
                </a:solidFill>
                <a:latin typeface="Arial" pitchFamily="34" charset="0"/>
                <a:ea typeface="Arial" pitchFamily="34" charset="-122"/>
                <a:cs typeface="Arial" pitchFamily="34" charset="-120"/>
              </a:rPr>
              <a:t>azd env get-value WEB_URL</a:t>
            </a:r>
            <a:pPr algn="l" indent="0" marL="0">
              <a:lnSpc>
                <a:spcPts val="1700"/>
              </a:lnSpc>
              <a:buNone/>
            </a:pPr>
            <a:r>
              <a:rPr lang="en-US" sz="1250" dirty="0">
                <a:solidFill>
                  <a:srgbClr val="1F2328"/>
                </a:solidFill>
                <a:latin typeface="Arial" pitchFamily="34" charset="0"/>
                <a:ea typeface="Arial" pitchFamily="34" charset="-122"/>
                <a:cs typeface="Arial" pitchFamily="34" charset="-120"/>
              </a:rPr>
              <a:t> and click around.</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LIVE ON AZURE</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Same app, now global</a:t>
            </a:r>
            <a:endParaRPr lang="en-US" sz="2600" dirty="0"/>
          </a:p>
        </p:txBody>
      </p:sp>
      <p:sp>
        <p:nvSpPr>
          <p:cNvPr id="7" name="Text 4"/>
          <p:cNvSpPr/>
          <p:nvPr/>
        </p:nvSpPr>
        <p:spPr>
          <a:xfrm>
            <a:off x="1431131" y="1222177"/>
            <a:ext cx="6281291" cy="3575000"/>
          </a:xfrm>
          <a:prstGeom prst="roundRect">
            <a:avLst>
              <a:gd name="adj" fmla="val 2842"/>
            </a:avLst>
          </a:prstGeom>
          <a:solidFill>
            <a:srgbClr val="FFFFFF"/>
          </a:solidFill>
          <a:ln w="9525">
            <a:solidFill>
              <a:srgbClr val="D1D9E0"/>
            </a:solidFill>
          </a:ln>
          <a:effectLst>
            <a:outerShdw sx="100000" sy="100000" kx="0" ky="0" algn="bl" rotWithShape="0" blurRad="38100" dist="9525" dir="5400000">
              <a:srgbClr val="1f2328">
                <a:alpha val="14000"/>
              </a:srgbClr>
            </a:outerShdw>
          </a:effectLst>
        </p:spPr>
        <p:txBody>
          <a:bodyPr wrap="square" rtlCol="0" anchor="ctr"/>
          <a:lstStyle/>
          <a:p>
            <a:pPr indent="0" marL="0">
              <a:buNone/>
            </a:pPr>
            <a:endParaRPr lang="en-US" dirty="0"/>
          </a:p>
        </p:txBody>
      </p:sp>
      <p:pic>
        <p:nvPicPr>
          <p:cNvPr id="8" name="Image 1" descr="/Users/danwahlin/.copilot/session-state/a2da67da-2d7a-45f2-aa6a-2a42a7b82a72/files/build/img/weather-weather-view-azure.png">    </p:cNvPr>
          <p:cNvPicPr>
            <a:picLocks noChangeAspect="1"/>
          </p:cNvPicPr>
          <p:nvPr/>
        </p:nvPicPr>
        <p:blipFill>
          <a:blip r:embed="rId2"/>
          <a:stretch>
            <a:fillRect/>
          </a:stretch>
        </p:blipFill>
        <p:spPr>
          <a:xfrm>
            <a:off x="1478756" y="1269802"/>
            <a:ext cx="6186041" cy="34797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CLEAN UP</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Tear it down the same day</a:t>
            </a:r>
            <a:endParaRPr lang="en-US" sz="2600" dirty="0"/>
          </a:p>
        </p:txBody>
      </p:sp>
      <p:sp>
        <p:nvSpPr>
          <p:cNvPr id="7" name="Text 4"/>
          <p:cNvSpPr/>
          <p:nvPr/>
        </p:nvSpPr>
        <p:spPr>
          <a:xfrm>
            <a:off x="1015901" y="1803350"/>
            <a:ext cx="7111901" cy="1968252"/>
          </a:xfrm>
          <a:prstGeom prst="roundRect">
            <a:avLst>
              <a:gd name="adj" fmla="val 5162"/>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1803350"/>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1885801"/>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1885801"/>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1885801"/>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1873151"/>
            <a:ext cx="528584" cy="114300"/>
          </a:xfrm>
          <a:prstGeom prst="rect">
            <a:avLst/>
          </a:prstGeom>
          <a:noFill/>
          <a:ln/>
        </p:spPr>
        <p:txBody>
          <a:bodyPr wrap="square" lIns="0" tIns="0" rIns="0" bIns="0" rtlCol="0" anchor="t"/>
          <a:lstStyle/>
          <a:p>
            <a:pPr algn="l" indent="0" marL="0">
              <a:buNone/>
            </a:pPr>
            <a:r>
              <a:rPr lang="en-US" sz="850" dirty="0">
                <a:solidFill>
                  <a:srgbClr val="8B949E"/>
                </a:solidFill>
                <a:latin typeface="Courier New" pitchFamily="34" charset="0"/>
                <a:ea typeface="Courier New" pitchFamily="34" charset="-122"/>
                <a:cs typeface="Courier New" pitchFamily="34" charset="-120"/>
              </a:rPr>
              <a:t>Terminal</a:t>
            </a:r>
            <a:endParaRPr lang="en-US" sz="850" dirty="0"/>
          </a:p>
        </p:txBody>
      </p:sp>
      <p:sp>
        <p:nvSpPr>
          <p:cNvPr id="13" name="Text 10"/>
          <p:cNvSpPr/>
          <p:nvPr/>
        </p:nvSpPr>
        <p:spPr>
          <a:xfrm>
            <a:off x="1244501" y="2234952"/>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azd down --force --purge</a:t>
            </a:r>
            <a:endParaRPr lang="en-US" sz="1500" dirty="0"/>
          </a:p>
        </p:txBody>
      </p:sp>
      <p:sp>
        <p:nvSpPr>
          <p:cNvPr id="14" name="Text 11"/>
          <p:cNvSpPr/>
          <p:nvPr/>
        </p:nvSpPr>
        <p:spPr>
          <a:xfrm>
            <a:off x="1244501" y="2682627"/>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8B949E"/>
                </a:solidFill>
                <a:latin typeface="Courier New" pitchFamily="34" charset="0"/>
                <a:ea typeface="Courier New" pitchFamily="34" charset="-122"/>
                <a:cs typeface="Courier New" pitchFamily="34" charset="-120"/>
              </a:rPr>
              <a:t># Confirm it is really gone</a:t>
            </a:r>
            <a:endParaRPr lang="en-US" sz="1500" dirty="0"/>
          </a:p>
        </p:txBody>
      </p:sp>
      <p:sp>
        <p:nvSpPr>
          <p:cNvPr id="15" name="Text 12"/>
          <p:cNvSpPr/>
          <p:nvPr/>
        </p:nvSpPr>
        <p:spPr>
          <a:xfrm>
            <a:off x="1244501" y="2977902"/>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 group exists --name &lt;resource-group-name&gt;</a:t>
            </a:r>
            <a:endParaRPr lang="en-US" sz="1500" dirty="0"/>
          </a:p>
        </p:txBody>
      </p:sp>
      <p:sp>
        <p:nvSpPr>
          <p:cNvPr id="16" name="Text 13"/>
          <p:cNvSpPr/>
          <p:nvPr/>
        </p:nvSpPr>
        <p:spPr>
          <a:xfrm>
            <a:off x="1244501" y="3273177"/>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false</a:t>
            </a:r>
            <a:endParaRPr lang="en-US" sz="1500" dirty="0"/>
          </a:p>
        </p:txBody>
      </p:sp>
      <p:pic>
        <p:nvPicPr>
          <p:cNvPr id="17" name="Image 1" descr="/Users/danwahlin/.copilot/session-state/a2da67da-2d7a-45f2-aa6a-2a42a7b82a72/files/build/icons/GoAlert-9A6700.png">    </p:cNvPr>
          <p:cNvPicPr>
            <a:picLocks noChangeAspect="1"/>
          </p:cNvPicPr>
          <p:nvPr/>
        </p:nvPicPr>
        <p:blipFill>
          <a:blip r:embed="rId2"/>
          <a:stretch>
            <a:fillRect/>
          </a:stretch>
        </p:blipFill>
        <p:spPr>
          <a:xfrm>
            <a:off x="1015901" y="4012853"/>
            <a:ext cx="190500" cy="190500"/>
          </a:xfrm>
          <a:prstGeom prst="rect">
            <a:avLst/>
          </a:prstGeom>
        </p:spPr>
      </p:pic>
      <p:sp>
        <p:nvSpPr>
          <p:cNvPr id="18" name="Text 14"/>
          <p:cNvSpPr/>
          <p:nvPr/>
        </p:nvSpPr>
        <p:spPr>
          <a:xfrm>
            <a:off x="1307902" y="4000202"/>
            <a:ext cx="4822380" cy="215950"/>
          </a:xfrm>
          <a:prstGeom prst="rect">
            <a:avLst/>
          </a:prstGeom>
          <a:noFill/>
          <a:ln/>
        </p:spPr>
        <p:txBody>
          <a:bodyPr wrap="square" lIns="0" tIns="0" rIns="0" bIns="0" rtlCol="0" anchor="t"/>
          <a:lstStyle/>
          <a:p>
            <a:pPr algn="l" indent="0" marL="0">
              <a:lnSpc>
                <a:spcPts val="1700"/>
              </a:lnSpc>
              <a:buNone/>
            </a:pPr>
            <a:r>
              <a:rPr lang="en-US" sz="1250" dirty="0">
                <a:solidFill>
                  <a:srgbClr val="1F2328"/>
                </a:solidFill>
                <a:latin typeface="Arial" pitchFamily="34" charset="0"/>
                <a:ea typeface="Arial" pitchFamily="34" charset="-122"/>
                <a:cs typeface="Arial" pitchFamily="34" charset="-120"/>
              </a:rPr>
              <a:t>The Free tier costs $0, but cleaning up is still a habit worth building.</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46466" y="152400"/>
            <a:ext cx="1113383" cy="266700"/>
          </a:xfrm>
          <a:prstGeom prst="roundRect">
            <a:avLst>
              <a:gd name="adj" fmla="val 23810"/>
            </a:avLst>
          </a:prstGeom>
          <a:solidFill>
            <a:srgbClr val="1A7F37"/>
          </a:solidFill>
          <a:ln/>
        </p:spPr>
        <p:txBody>
          <a:bodyPr wrap="square" rtlCol="0" anchor="ctr"/>
          <a:lstStyle/>
          <a:p>
            <a:pPr indent="0" marL="0">
              <a:buNone/>
            </a:pPr>
            <a:endParaRPr lang="en-US" dirty="0"/>
          </a:p>
        </p:txBody>
      </p:sp>
      <p:sp>
        <p:nvSpPr>
          <p:cNvPr id="3" name="Text 1"/>
          <p:cNvSpPr/>
          <p:nvPr/>
        </p:nvSpPr>
        <p:spPr>
          <a:xfrm>
            <a:off x="7564822" y="219075"/>
            <a:ext cx="8766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WEATHERVIEW</a:t>
            </a:r>
            <a:endParaRPr lang="en-US" sz="9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7772400" cy="142875"/>
          </a:xfrm>
          <a:prstGeom prst="rect">
            <a:avLst/>
          </a:prstGeom>
          <a:noFill/>
          <a:ln/>
        </p:spPr>
        <p:txBody>
          <a:bodyPr wrap="square" lIns="0" tIns="0" rIns="0" bIns="0" rtlCol="0" anchor="t"/>
          <a:lstStyle/>
          <a:p>
            <a:pPr algn="l" indent="0" marL="0">
              <a:buNone/>
            </a:pPr>
            <a:r>
              <a:rPr lang="en-US" sz="1000" b="1" dirty="0">
                <a:solidFill>
                  <a:srgbClr val="1A7F37"/>
                </a:solidFill>
                <a:latin typeface="Arial" pitchFamily="34" charset="0"/>
                <a:ea typeface="Arial" pitchFamily="34" charset="-122"/>
                <a:cs typeface="Arial" pitchFamily="34" charset="-120"/>
              </a:rPr>
              <a:t>KEY TAKEAWAYS</a:t>
            </a:r>
            <a:endParaRPr lang="en-US" sz="1000" dirty="0"/>
          </a:p>
        </p:txBody>
      </p:sp>
      <p:sp>
        <p:nvSpPr>
          <p:cNvPr id="6" name="Text 3"/>
          <p:cNvSpPr/>
          <p:nvPr/>
        </p:nvSpPr>
        <p:spPr>
          <a:xfrm>
            <a:off x="482501" y="523726"/>
            <a:ext cx="7772400" cy="393650"/>
          </a:xfrm>
          <a:prstGeom prst="rect">
            <a:avLst/>
          </a:prstGeom>
          <a:noFill/>
          <a:ln/>
        </p:spPr>
        <p:txBody>
          <a:bodyPr wrap="square" lIns="0" tIns="0" rIns="0" bIns="0" rtlCol="0" anchor="t"/>
          <a:lstStyle/>
          <a:p>
            <a:pPr algn="l" indent="0" marL="0">
              <a:lnSpc>
                <a:spcPts val="3100"/>
              </a:lnSpc>
              <a:spcBef>
                <a:spcPts val="400"/>
              </a:spcBef>
              <a:buNone/>
            </a:pPr>
            <a:r>
              <a:rPr lang="en-US" sz="2600" b="1" dirty="0">
                <a:solidFill>
                  <a:srgbClr val="1F2328"/>
                </a:solidFill>
                <a:latin typeface="Arial" pitchFamily="34" charset="0"/>
                <a:ea typeface="Arial" pitchFamily="34" charset="-122"/>
                <a:cs typeface="Arial" pitchFamily="34" charset="-120"/>
              </a:rPr>
              <a:t>What to remember</a:t>
            </a:r>
            <a:endParaRPr lang="en-US" sz="2600" dirty="0"/>
          </a:p>
        </p:txBody>
      </p:sp>
      <p:sp>
        <p:nvSpPr>
          <p:cNvPr id="7" name="Text 4"/>
          <p:cNvSpPr/>
          <p:nvPr/>
        </p:nvSpPr>
        <p:spPr>
          <a:xfrm>
            <a:off x="482501" y="1320701"/>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FileCode-0969DA.png">    </p:cNvPr>
          <p:cNvPicPr>
            <a:picLocks noChangeAspect="1"/>
          </p:cNvPicPr>
          <p:nvPr/>
        </p:nvPicPr>
        <p:blipFill>
          <a:blip r:embed="rId2"/>
          <a:stretch>
            <a:fillRect/>
          </a:stretch>
        </p:blipFill>
        <p:spPr>
          <a:xfrm>
            <a:off x="577751" y="1415951"/>
            <a:ext cx="241250" cy="241250"/>
          </a:xfrm>
          <a:prstGeom prst="rect">
            <a:avLst/>
          </a:prstGeom>
        </p:spPr>
      </p:pic>
      <p:sp>
        <p:nvSpPr>
          <p:cNvPr id="9" name="Text 5"/>
          <p:cNvSpPr/>
          <p:nvPr/>
        </p:nvSpPr>
        <p:spPr>
          <a:xfrm>
            <a:off x="1066651" y="1320701"/>
            <a:ext cx="3355035" cy="431899"/>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A clear plan turns into small, reviewable prompts.</a:t>
            </a:r>
            <a:endParaRPr lang="en-US" sz="1300" dirty="0"/>
          </a:p>
        </p:txBody>
      </p:sp>
      <p:sp>
        <p:nvSpPr>
          <p:cNvPr id="10" name="Text 6"/>
          <p:cNvSpPr/>
          <p:nvPr/>
        </p:nvSpPr>
        <p:spPr>
          <a:xfrm>
            <a:off x="4736902" y="1320701"/>
            <a:ext cx="431750" cy="431750"/>
          </a:xfrm>
          <a:prstGeom prst="roundRect">
            <a:avLst>
              <a:gd name="adj" fmla="val 17649"/>
            </a:avLst>
          </a:prstGeom>
          <a:solidFill>
            <a:srgbClr val="FBEFFF"/>
          </a:solidFill>
          <a:ln/>
        </p:spPr>
        <p:txBody>
          <a:bodyPr wrap="square" rtlCol="0" anchor="ctr"/>
          <a:lstStyle/>
          <a:p>
            <a:pPr indent="0" marL="0">
              <a:buNone/>
            </a:pPr>
            <a:endParaRPr lang="en-US" dirty="0"/>
          </a:p>
        </p:txBody>
      </p:sp>
      <p:pic>
        <p:nvPicPr>
          <p:cNvPr id="11" name="Image 2" descr="/Users/danwahlin/.copilot/session-state/a2da67da-2d7a-45f2-aa6a-2a42a7b82a72/files/build/icons/GoHistory-8250DF.png">    </p:cNvPr>
          <p:cNvPicPr>
            <a:picLocks noChangeAspect="1"/>
          </p:cNvPicPr>
          <p:nvPr/>
        </p:nvPicPr>
        <p:blipFill>
          <a:blip r:embed="rId3"/>
          <a:stretch>
            <a:fillRect/>
          </a:stretch>
        </p:blipFill>
        <p:spPr>
          <a:xfrm>
            <a:off x="4832152" y="1415951"/>
            <a:ext cx="241250" cy="241250"/>
          </a:xfrm>
          <a:prstGeom prst="rect">
            <a:avLst/>
          </a:prstGeom>
        </p:spPr>
      </p:pic>
      <p:sp>
        <p:nvSpPr>
          <p:cNvPr id="12" name="Text 7"/>
          <p:cNvSpPr/>
          <p:nvPr/>
        </p:nvSpPr>
        <p:spPr>
          <a:xfrm>
            <a:off x="5321052" y="1320701"/>
            <a:ext cx="3355035" cy="431899"/>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Plan before code. Rewind freely when you experiment.</a:t>
            </a:r>
            <a:endParaRPr lang="en-US" sz="1300" dirty="0"/>
          </a:p>
        </p:txBody>
      </p:sp>
      <p:sp>
        <p:nvSpPr>
          <p:cNvPr id="13" name="Text 8"/>
          <p:cNvSpPr/>
          <p:nvPr/>
        </p:nvSpPr>
        <p:spPr>
          <a:xfrm>
            <a:off x="482501" y="2082701"/>
            <a:ext cx="431750" cy="431750"/>
          </a:xfrm>
          <a:prstGeom prst="roundRect">
            <a:avLst>
              <a:gd name="adj" fmla="val 17649"/>
            </a:avLst>
          </a:prstGeom>
          <a:solidFill>
            <a:srgbClr val="DAFBE1"/>
          </a:solidFill>
          <a:ln/>
        </p:spPr>
        <p:txBody>
          <a:bodyPr wrap="square" rtlCol="0" anchor="ctr"/>
          <a:lstStyle/>
          <a:p>
            <a:pPr indent="0" marL="0">
              <a:buNone/>
            </a:pPr>
            <a:endParaRPr lang="en-US" dirty="0"/>
          </a:p>
        </p:txBody>
      </p:sp>
      <p:pic>
        <p:nvPicPr>
          <p:cNvPr id="14" name="Image 3" descr="/Users/danwahlin/.copilot/session-state/a2da67da-2d7a-45f2-aa6a-2a42a7b82a72/files/build/icons/GoBeaker-1A7F37.png">    </p:cNvPr>
          <p:cNvPicPr>
            <a:picLocks noChangeAspect="1"/>
          </p:cNvPicPr>
          <p:nvPr/>
        </p:nvPicPr>
        <p:blipFill>
          <a:blip r:embed="rId4"/>
          <a:stretch>
            <a:fillRect/>
          </a:stretch>
        </p:blipFill>
        <p:spPr>
          <a:xfrm>
            <a:off x="577751" y="2177951"/>
            <a:ext cx="241250" cy="241250"/>
          </a:xfrm>
          <a:prstGeom prst="rect">
            <a:avLst/>
          </a:prstGeom>
        </p:spPr>
      </p:pic>
      <p:sp>
        <p:nvSpPr>
          <p:cNvPr id="15" name="Text 9"/>
          <p:cNvSpPr/>
          <p:nvPr/>
        </p:nvSpPr>
        <p:spPr>
          <a:xfrm>
            <a:off x="1066651" y="2082701"/>
            <a:ext cx="3355035" cy="431899"/>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Tests and a verifier are the evidence, not the agent's confidence.</a:t>
            </a:r>
            <a:endParaRPr lang="en-US" sz="1300" dirty="0"/>
          </a:p>
        </p:txBody>
      </p:sp>
      <p:sp>
        <p:nvSpPr>
          <p:cNvPr id="16" name="Text 10"/>
          <p:cNvSpPr/>
          <p:nvPr/>
        </p:nvSpPr>
        <p:spPr>
          <a:xfrm>
            <a:off x="4736902" y="2082701"/>
            <a:ext cx="431750" cy="431750"/>
          </a:xfrm>
          <a:prstGeom prst="roundRect">
            <a:avLst>
              <a:gd name="adj" fmla="val 17649"/>
            </a:avLst>
          </a:prstGeom>
          <a:solidFill>
            <a:srgbClr val="FFF1E5"/>
          </a:solidFill>
          <a:ln/>
        </p:spPr>
        <p:txBody>
          <a:bodyPr wrap="square" rtlCol="0" anchor="ctr"/>
          <a:lstStyle/>
          <a:p>
            <a:pPr indent="0" marL="0">
              <a:buNone/>
            </a:pPr>
            <a:endParaRPr lang="en-US" dirty="0"/>
          </a:p>
        </p:txBody>
      </p:sp>
      <p:pic>
        <p:nvPicPr>
          <p:cNvPr id="17" name="Image 4" descr="/Users/danwahlin/.copilot/session-state/a2da67da-2d7a-45f2-aa6a-2a42a7b82a72/files/build/icons/GoCloud-BC4C00.png">    </p:cNvPr>
          <p:cNvPicPr>
            <a:picLocks noChangeAspect="1"/>
          </p:cNvPicPr>
          <p:nvPr/>
        </p:nvPicPr>
        <p:blipFill>
          <a:blip r:embed="rId5"/>
          <a:stretch>
            <a:fillRect/>
          </a:stretch>
        </p:blipFill>
        <p:spPr>
          <a:xfrm>
            <a:off x="4832152" y="2177951"/>
            <a:ext cx="241250" cy="241250"/>
          </a:xfrm>
          <a:prstGeom prst="rect">
            <a:avLst/>
          </a:prstGeom>
        </p:spPr>
      </p:pic>
      <p:sp>
        <p:nvSpPr>
          <p:cNvPr id="18" name="Text 11"/>
          <p:cNvSpPr/>
          <p:nvPr/>
        </p:nvSpPr>
        <p:spPr>
          <a:xfrm>
            <a:off x="5321052" y="2082701"/>
            <a:ext cx="3355035" cy="431899"/>
          </a:xfrm>
          <a:prstGeom prst="rect">
            <a:avLst/>
          </a:prstGeom>
          <a:noFill/>
          <a:ln/>
        </p:spPr>
        <p:txBody>
          <a:bodyPr wrap="square" lIns="0" tIns="0" rIns="0" bIns="0" rtlCol="0" anchor="t"/>
          <a:lstStyle/>
          <a:p>
            <a:pPr algn="l" indent="0" marL="0">
              <a:lnSpc>
                <a:spcPts val="1700"/>
              </a:lnSpc>
              <a:buNone/>
            </a:pPr>
            <a:r>
              <a:rPr lang="en-US" sz="1300" dirty="0">
                <a:solidFill>
                  <a:srgbClr val="1F2328"/>
                </a:solidFill>
                <a:latin typeface="Arial" pitchFamily="34" charset="0"/>
                <a:ea typeface="Arial" pitchFamily="34" charset="-122"/>
                <a:cs typeface="Arial" pitchFamily="34" charset="-120"/>
              </a:rPr>
              <a:t>Review before you deploy. Verify after. Clean up the same day.</a:t>
            </a:r>
            <a:endParaRPr lang="en-US" sz="1300" dirty="0"/>
          </a:p>
        </p:txBody>
      </p:sp>
      <p:sp>
        <p:nvSpPr>
          <p:cNvPr id="19" name="Text 12"/>
          <p:cNvSpPr/>
          <p:nvPr/>
        </p:nvSpPr>
        <p:spPr>
          <a:xfrm>
            <a:off x="482501" y="3886200"/>
            <a:ext cx="8178701" cy="711101"/>
          </a:xfrm>
          <a:prstGeom prst="roundRect">
            <a:avLst>
              <a:gd name="adj" fmla="val 14288"/>
            </a:avLst>
          </a:prstGeom>
          <a:solidFill>
            <a:srgbClr val="DDF4FF"/>
          </a:solidFill>
          <a:ln w="9525">
            <a:solidFill>
              <a:srgbClr val="9CD7FF"/>
            </a:solidFill>
          </a:ln>
        </p:spPr>
        <p:txBody>
          <a:bodyPr wrap="square" rtlCol="0" anchor="ctr"/>
          <a:lstStyle/>
          <a:p>
            <a:pPr indent="0" marL="0">
              <a:buNone/>
            </a:pPr>
            <a:endParaRPr lang="en-US" dirty="0"/>
          </a:p>
        </p:txBody>
      </p:sp>
      <p:sp>
        <p:nvSpPr>
          <p:cNvPr id="20" name="Text 13"/>
          <p:cNvSpPr/>
          <p:nvPr/>
        </p:nvSpPr>
        <p:spPr>
          <a:xfrm>
            <a:off x="669727" y="4051250"/>
            <a:ext cx="381000" cy="381000"/>
          </a:xfrm>
          <a:prstGeom prst="roundRect">
            <a:avLst>
              <a:gd name="adj" fmla="val 20000"/>
            </a:avLst>
          </a:prstGeom>
          <a:solidFill>
            <a:srgbClr val="DDF4FF"/>
          </a:solidFill>
          <a:ln/>
        </p:spPr>
        <p:txBody>
          <a:bodyPr wrap="square" rtlCol="0" anchor="ctr"/>
          <a:lstStyle/>
          <a:p>
            <a:pPr indent="0" marL="0">
              <a:buNone/>
            </a:pPr>
            <a:endParaRPr lang="en-US" dirty="0"/>
          </a:p>
        </p:txBody>
      </p:sp>
      <p:pic>
        <p:nvPicPr>
          <p:cNvPr id="21" name="Image 5" descr="/Users/danwahlin/.copilot/session-state/a2da67da-2d7a-45f2-aa6a-2a42a7b82a72/files/build/icons/GoArrowRight-0969DA.png">    </p:cNvPr>
          <p:cNvPicPr>
            <a:picLocks noChangeAspect="1"/>
          </p:cNvPicPr>
          <p:nvPr/>
        </p:nvPicPr>
        <p:blipFill>
          <a:blip r:embed="rId6"/>
          <a:stretch>
            <a:fillRect/>
          </a:stretch>
        </p:blipFill>
        <p:spPr>
          <a:xfrm>
            <a:off x="752326" y="4133850"/>
            <a:ext cx="215801" cy="215801"/>
          </a:xfrm>
          <a:prstGeom prst="rect">
            <a:avLst/>
          </a:prstGeom>
        </p:spPr>
      </p:pic>
      <p:sp>
        <p:nvSpPr>
          <p:cNvPr id="22" name="Text 14"/>
          <p:cNvSpPr/>
          <p:nvPr/>
        </p:nvSpPr>
        <p:spPr>
          <a:xfrm>
            <a:off x="1203127" y="4067175"/>
            <a:ext cx="4750880" cy="133350"/>
          </a:xfrm>
          <a:prstGeom prst="rect">
            <a:avLst/>
          </a:prstGeom>
          <a:noFill/>
          <a:ln/>
        </p:spPr>
        <p:txBody>
          <a:bodyPr wrap="square" lIns="0" tIns="0" rIns="0" bIns="0" rtlCol="0" anchor="t"/>
          <a:lstStyle/>
          <a:p>
            <a:pPr algn="l" indent="0" marL="0">
              <a:buNone/>
            </a:pPr>
            <a:r>
              <a:rPr lang="en-US" sz="900" b="1" dirty="0">
                <a:solidFill>
                  <a:srgbClr val="0969DA"/>
                </a:solidFill>
                <a:latin typeface="Arial" pitchFamily="34" charset="0"/>
                <a:ea typeface="Arial" pitchFamily="34" charset="-122"/>
                <a:cs typeface="Arial" pitchFamily="34" charset="-120"/>
              </a:rPr>
              <a:t>NEXT JOURNEY</a:t>
            </a:r>
            <a:endParaRPr lang="en-US" sz="900" dirty="0"/>
          </a:p>
        </p:txBody>
      </p:sp>
      <p:sp>
        <p:nvSpPr>
          <p:cNvPr id="23" name="Text 15"/>
          <p:cNvSpPr/>
          <p:nvPr/>
        </p:nvSpPr>
        <p:spPr>
          <a:xfrm>
            <a:off x="1203127" y="4225826"/>
            <a:ext cx="4750880" cy="190500"/>
          </a:xfrm>
          <a:prstGeom prst="rect">
            <a:avLst/>
          </a:prstGeom>
          <a:noFill/>
          <a:ln/>
        </p:spPr>
        <p:txBody>
          <a:bodyPr wrap="square" lIns="0" tIns="0" rIns="0" bIns="0" rtlCol="0" anchor="t"/>
          <a:lstStyle/>
          <a:p>
            <a:pPr algn="l" indent="0" marL="0">
              <a:buNone/>
            </a:pPr>
            <a:r>
              <a:rPr lang="en-US" sz="1250" b="1" dirty="0">
                <a:solidFill>
                  <a:srgbClr val="1F2328"/>
                </a:solidFill>
                <a:latin typeface="Arial" pitchFamily="34" charset="0"/>
                <a:ea typeface="Arial" pitchFamily="34" charset="-122"/>
                <a:cs typeface="Arial" pitchFamily="34" charset="-120"/>
              </a:rPr>
              <a:t>AIMarket</a:t>
            </a:r>
            <a:pPr algn="l" indent="0" marL="0">
              <a:buNone/>
            </a:pPr>
            <a:r>
              <a:rPr lang="en-US" sz="1250" dirty="0">
                <a:solidFill>
                  <a:srgbClr val="1F2328"/>
                </a:solidFill>
                <a:latin typeface="Arial" pitchFamily="34" charset="0"/>
                <a:ea typeface="Arial" pitchFamily="34" charset="-122"/>
                <a:cs typeface="Arial" pitchFamily="34" charset="-120"/>
              </a:rPr>
              <a:t> </a:t>
            </a:r>
            <a:pPr algn="l" indent="0" marL="0">
              <a:buNone/>
            </a:pPr>
            <a:r>
              <a:rPr lang="en-US" sz="1250" dirty="0">
                <a:solidFill>
                  <a:srgbClr val="59636E"/>
                </a:solidFill>
                <a:latin typeface="Arial" pitchFamily="34" charset="0"/>
                <a:ea typeface="Arial" pitchFamily="34" charset="-122"/>
                <a:cs typeface="Arial" pitchFamily="34" charset="-120"/>
              </a:rPr>
              <a:t>· Add an API, a React storefront, and AI search and chat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WeatherView: Agentic Journey</dc:title>
  <dc:subject>PptxGenJS Presentation</dc:subject>
  <dc:creator>GitHub and Azure Agentic Journeys</dc:creator>
  <cp:lastModifiedBy>GitHub and Azure Agentic Journeys</cp:lastModifiedBy>
  <cp:revision>1</cp:revision>
  <dcterms:created xsi:type="dcterms:W3CDTF">2026-09-30T08:27:21Z</dcterms:created>
  <dcterms:modified xsi:type="dcterms:W3CDTF">2026-09-30T08:27:21Z</dcterms:modified>
</cp:coreProperties>
</file>